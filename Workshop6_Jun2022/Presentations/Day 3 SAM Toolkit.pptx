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7"/>
  </p:notesMasterIdLst>
  <p:sldIdLst>
    <p:sldId id="261" r:id="rId2"/>
    <p:sldId id="273" r:id="rId3"/>
    <p:sldId id="274" r:id="rId4"/>
    <p:sldId id="308" r:id="rId5"/>
    <p:sldId id="279" r:id="rId6"/>
    <p:sldId id="280" r:id="rId7"/>
    <p:sldId id="351" r:id="rId8"/>
    <p:sldId id="352" r:id="rId9"/>
    <p:sldId id="401" r:id="rId10"/>
    <p:sldId id="402" r:id="rId11"/>
    <p:sldId id="403" r:id="rId12"/>
    <p:sldId id="404" r:id="rId13"/>
    <p:sldId id="405" r:id="rId14"/>
    <p:sldId id="283" r:id="rId15"/>
    <p:sldId id="278" r:id="rId16"/>
    <p:sldId id="364" r:id="rId17"/>
    <p:sldId id="407" r:id="rId18"/>
    <p:sldId id="408" r:id="rId19"/>
    <p:sldId id="409" r:id="rId20"/>
    <p:sldId id="414" r:id="rId21"/>
    <p:sldId id="411" r:id="rId22"/>
    <p:sldId id="415" r:id="rId23"/>
    <p:sldId id="412" r:id="rId24"/>
    <p:sldId id="413" r:id="rId25"/>
    <p:sldId id="416" r:id="rId26"/>
    <p:sldId id="417" r:id="rId27"/>
    <p:sldId id="418" r:id="rId28"/>
    <p:sldId id="419" r:id="rId29"/>
    <p:sldId id="376" r:id="rId30"/>
    <p:sldId id="379" r:id="rId31"/>
    <p:sldId id="385" r:id="rId32"/>
    <p:sldId id="420" r:id="rId33"/>
    <p:sldId id="386" r:id="rId34"/>
    <p:sldId id="378" r:id="rId35"/>
    <p:sldId id="387" r:id="rId36"/>
    <p:sldId id="388" r:id="rId37"/>
    <p:sldId id="389" r:id="rId38"/>
    <p:sldId id="395" r:id="rId39"/>
    <p:sldId id="390" r:id="rId40"/>
    <p:sldId id="396" r:id="rId41"/>
    <p:sldId id="397" r:id="rId42"/>
    <p:sldId id="381" r:id="rId43"/>
    <p:sldId id="424" r:id="rId44"/>
    <p:sldId id="425" r:id="rId45"/>
    <p:sldId id="426" r:id="rId4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hurlow, James (IFPRI)" initials="TJ(" lastIdx="1" clrIdx="0">
    <p:extLst>
      <p:ext uri="{19B8F6BF-5375-455C-9EA6-DF929625EA0E}">
        <p15:presenceInfo xmlns:p15="http://schemas.microsoft.com/office/powerpoint/2012/main" userId="S::J.Thurlow@cgiar.org::21a02b6a-1baf-4aa4-bf75-185c8473c16f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8EB8"/>
    <a:srgbClr val="5C8E3A"/>
    <a:srgbClr val="C34E2D"/>
    <a:srgbClr val="54544B"/>
    <a:srgbClr val="687D2E"/>
    <a:srgbClr val="C65911"/>
    <a:srgbClr val="8AA63D"/>
    <a:srgbClr val="366092"/>
    <a:srgbClr val="FFB300"/>
    <a:srgbClr val="B9B9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6D7817-E651-41C6-84CA-4E2A3E9923BA}" v="7" dt="2022-06-15T05:36:40.9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6" d="100"/>
          <a:sy n="46" d="100"/>
        </p:scale>
        <p:origin x="1399" y="3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urlow, James (IFPRI)" userId="21a02b6a-1baf-4aa4-bf75-185c8473c16f" providerId="ADAL" clId="{3C6D7817-E651-41C6-84CA-4E2A3E9923BA}"/>
    <pc:docChg chg="undo custSel addSld delSld modSld">
      <pc:chgData name="Thurlow, James (IFPRI)" userId="21a02b6a-1baf-4aa4-bf75-185c8473c16f" providerId="ADAL" clId="{3C6D7817-E651-41C6-84CA-4E2A3E9923BA}" dt="2022-06-15T05:37:17.065" v="2124" actId="20577"/>
      <pc:docMkLst>
        <pc:docMk/>
      </pc:docMkLst>
      <pc:sldChg chg="addSp delSp modSp mod">
        <pc:chgData name="Thurlow, James (IFPRI)" userId="21a02b6a-1baf-4aa4-bf75-185c8473c16f" providerId="ADAL" clId="{3C6D7817-E651-41C6-84CA-4E2A3E9923BA}" dt="2022-06-15T04:56:03.215" v="20" actId="478"/>
        <pc:sldMkLst>
          <pc:docMk/>
          <pc:sldMk cId="2335449147" sldId="261"/>
        </pc:sldMkLst>
        <pc:spChg chg="add del mod">
          <ac:chgData name="Thurlow, James (IFPRI)" userId="21a02b6a-1baf-4aa4-bf75-185c8473c16f" providerId="ADAL" clId="{3C6D7817-E651-41C6-84CA-4E2A3E9923BA}" dt="2022-06-15T04:55:59.817" v="19" actId="478"/>
          <ac:spMkLst>
            <pc:docMk/>
            <pc:sldMk cId="2335449147" sldId="261"/>
            <ac:spMk id="2" creationId="{00000000-0000-0000-0000-000000000000}"/>
          </ac:spMkLst>
        </pc:spChg>
        <pc:spChg chg="add del mod">
          <ac:chgData name="Thurlow, James (IFPRI)" userId="21a02b6a-1baf-4aa4-bf75-185c8473c16f" providerId="ADAL" clId="{3C6D7817-E651-41C6-84CA-4E2A3E9923BA}" dt="2022-06-15T04:52:16.755" v="1" actId="478"/>
          <ac:spMkLst>
            <pc:docMk/>
            <pc:sldMk cId="2335449147" sldId="261"/>
            <ac:spMk id="5" creationId="{E58AA3FE-B385-A849-4D19-AF2082F09353}"/>
          </ac:spMkLst>
        </pc:spChg>
        <pc:spChg chg="add del mod">
          <ac:chgData name="Thurlow, James (IFPRI)" userId="21a02b6a-1baf-4aa4-bf75-185c8473c16f" providerId="ADAL" clId="{3C6D7817-E651-41C6-84CA-4E2A3E9923BA}" dt="2022-06-15T04:56:03.215" v="20" actId="478"/>
          <ac:spMkLst>
            <pc:docMk/>
            <pc:sldMk cId="2335449147" sldId="261"/>
            <ac:spMk id="7" creationId="{379CDEE6-5B4D-033F-BD54-978FAC26381D}"/>
          </ac:spMkLst>
        </pc:spChg>
      </pc:sldChg>
      <pc:sldChg chg="modSp mod">
        <pc:chgData name="Thurlow, James (IFPRI)" userId="21a02b6a-1baf-4aa4-bf75-185c8473c16f" providerId="ADAL" clId="{3C6D7817-E651-41C6-84CA-4E2A3E9923BA}" dt="2022-06-15T04:57:02.808" v="34" actId="20577"/>
        <pc:sldMkLst>
          <pc:docMk/>
          <pc:sldMk cId="2017881247" sldId="308"/>
        </pc:sldMkLst>
        <pc:spChg chg="mod">
          <ac:chgData name="Thurlow, James (IFPRI)" userId="21a02b6a-1baf-4aa4-bf75-185c8473c16f" providerId="ADAL" clId="{3C6D7817-E651-41C6-84CA-4E2A3E9923BA}" dt="2022-06-15T04:56:45.275" v="26" actId="6549"/>
          <ac:spMkLst>
            <pc:docMk/>
            <pc:sldMk cId="2017881247" sldId="308"/>
            <ac:spMk id="6" creationId="{00000000-0000-0000-0000-000000000000}"/>
          </ac:spMkLst>
        </pc:spChg>
        <pc:spChg chg="mod">
          <ac:chgData name="Thurlow, James (IFPRI)" userId="21a02b6a-1baf-4aa4-bf75-185c8473c16f" providerId="ADAL" clId="{3C6D7817-E651-41C6-84CA-4E2A3E9923BA}" dt="2022-06-15T04:56:31.188" v="22" actId="6549"/>
          <ac:spMkLst>
            <pc:docMk/>
            <pc:sldMk cId="2017881247" sldId="308"/>
            <ac:spMk id="7" creationId="{00000000-0000-0000-0000-000000000000}"/>
          </ac:spMkLst>
        </pc:spChg>
        <pc:spChg chg="mod">
          <ac:chgData name="Thurlow, James (IFPRI)" userId="21a02b6a-1baf-4aa4-bf75-185c8473c16f" providerId="ADAL" clId="{3C6D7817-E651-41C6-84CA-4E2A3E9923BA}" dt="2022-06-15T04:56:38.463" v="24" actId="6549"/>
          <ac:spMkLst>
            <pc:docMk/>
            <pc:sldMk cId="2017881247" sldId="308"/>
            <ac:spMk id="8" creationId="{00000000-0000-0000-0000-000000000000}"/>
          </ac:spMkLst>
        </pc:spChg>
        <pc:spChg chg="mod">
          <ac:chgData name="Thurlow, James (IFPRI)" userId="21a02b6a-1baf-4aa4-bf75-185c8473c16f" providerId="ADAL" clId="{3C6D7817-E651-41C6-84CA-4E2A3E9923BA}" dt="2022-06-15T04:57:02.808" v="34" actId="20577"/>
          <ac:spMkLst>
            <pc:docMk/>
            <pc:sldMk cId="2017881247" sldId="308"/>
            <ac:spMk id="19" creationId="{00000000-0000-0000-0000-000000000000}"/>
          </ac:spMkLst>
        </pc:spChg>
      </pc:sldChg>
      <pc:sldChg chg="modSp mod">
        <pc:chgData name="Thurlow, James (IFPRI)" userId="21a02b6a-1baf-4aa4-bf75-185c8473c16f" providerId="ADAL" clId="{3C6D7817-E651-41C6-84CA-4E2A3E9923BA}" dt="2022-06-15T04:57:31.343" v="36" actId="6549"/>
        <pc:sldMkLst>
          <pc:docMk/>
          <pc:sldMk cId="2151453506" sldId="364"/>
        </pc:sldMkLst>
        <pc:spChg chg="mod">
          <ac:chgData name="Thurlow, James (IFPRI)" userId="21a02b6a-1baf-4aa4-bf75-185c8473c16f" providerId="ADAL" clId="{3C6D7817-E651-41C6-84CA-4E2A3E9923BA}" dt="2022-06-15T04:57:31.343" v="36" actId="6549"/>
          <ac:spMkLst>
            <pc:docMk/>
            <pc:sldMk cId="2151453506" sldId="364"/>
            <ac:spMk id="11" creationId="{D18B4A56-3490-4265-B387-DF4AEE87F3CF}"/>
          </ac:spMkLst>
        </pc:spChg>
      </pc:sldChg>
      <pc:sldChg chg="add del">
        <pc:chgData name="Thurlow, James (IFPRI)" userId="21a02b6a-1baf-4aa4-bf75-185c8473c16f" providerId="ADAL" clId="{3C6D7817-E651-41C6-84CA-4E2A3E9923BA}" dt="2022-06-15T04:52:45.654" v="3" actId="47"/>
        <pc:sldMkLst>
          <pc:docMk/>
          <pc:sldMk cId="3080464262" sldId="376"/>
        </pc:sldMkLst>
      </pc:sldChg>
      <pc:sldChg chg="addSp delSp modSp add mod">
        <pc:chgData name="Thurlow, James (IFPRI)" userId="21a02b6a-1baf-4aa4-bf75-185c8473c16f" providerId="ADAL" clId="{3C6D7817-E651-41C6-84CA-4E2A3E9923BA}" dt="2022-06-15T05:02:15.925" v="101" actId="1076"/>
        <pc:sldMkLst>
          <pc:docMk/>
          <pc:sldMk cId="1538679748" sldId="378"/>
        </pc:sldMkLst>
        <pc:spChg chg="mod">
          <ac:chgData name="Thurlow, James (IFPRI)" userId="21a02b6a-1baf-4aa4-bf75-185c8473c16f" providerId="ADAL" clId="{3C6D7817-E651-41C6-84CA-4E2A3E9923BA}" dt="2022-06-15T05:02:07.895" v="100" actId="20577"/>
          <ac:spMkLst>
            <pc:docMk/>
            <pc:sldMk cId="1538679748" sldId="378"/>
            <ac:spMk id="3" creationId="{2B72D06C-E617-460E-8584-BDA5474B6D2E}"/>
          </ac:spMkLst>
        </pc:spChg>
        <pc:spChg chg="mod">
          <ac:chgData name="Thurlow, James (IFPRI)" userId="21a02b6a-1baf-4aa4-bf75-185c8473c16f" providerId="ADAL" clId="{3C6D7817-E651-41C6-84CA-4E2A3E9923BA}" dt="2022-06-15T05:02:15.925" v="101" actId="1076"/>
          <ac:spMkLst>
            <pc:docMk/>
            <pc:sldMk cId="1538679748" sldId="378"/>
            <ac:spMk id="4" creationId="{6B6F9F98-376E-4923-9F68-3F66BD33B814}"/>
          </ac:spMkLst>
        </pc:spChg>
        <pc:picChg chg="del">
          <ac:chgData name="Thurlow, James (IFPRI)" userId="21a02b6a-1baf-4aa4-bf75-185c8473c16f" providerId="ADAL" clId="{3C6D7817-E651-41C6-84CA-4E2A3E9923BA}" dt="2022-06-15T05:01:37.958" v="73" actId="478"/>
          <ac:picMkLst>
            <pc:docMk/>
            <pc:sldMk cId="1538679748" sldId="378"/>
            <ac:picMk id="5" creationId="{3DB896B0-7221-4A46-BD52-EEA8E3089495}"/>
          </ac:picMkLst>
        </pc:picChg>
        <pc:picChg chg="add mod">
          <ac:chgData name="Thurlow, James (IFPRI)" userId="21a02b6a-1baf-4aa4-bf75-185c8473c16f" providerId="ADAL" clId="{3C6D7817-E651-41C6-84CA-4E2A3E9923BA}" dt="2022-06-15T05:01:43.225" v="77" actId="1076"/>
          <ac:picMkLst>
            <pc:docMk/>
            <pc:sldMk cId="1538679748" sldId="378"/>
            <ac:picMk id="7" creationId="{D08E90F7-63C4-5441-5F88-1DF7661142F3}"/>
          </ac:picMkLst>
        </pc:picChg>
      </pc:sldChg>
      <pc:sldChg chg="add">
        <pc:chgData name="Thurlow, James (IFPRI)" userId="21a02b6a-1baf-4aa4-bf75-185c8473c16f" providerId="ADAL" clId="{3C6D7817-E651-41C6-84CA-4E2A3E9923BA}" dt="2022-06-15T04:53:52.436" v="4"/>
        <pc:sldMkLst>
          <pc:docMk/>
          <pc:sldMk cId="1962599798" sldId="379"/>
        </pc:sldMkLst>
      </pc:sldChg>
      <pc:sldChg chg="modSp mod">
        <pc:chgData name="Thurlow, James (IFPRI)" userId="21a02b6a-1baf-4aa4-bf75-185c8473c16f" providerId="ADAL" clId="{3C6D7817-E651-41C6-84CA-4E2A3E9923BA}" dt="2022-06-15T05:24:42.649" v="1071" actId="20577"/>
        <pc:sldMkLst>
          <pc:docMk/>
          <pc:sldMk cId="1875177038" sldId="381"/>
        </pc:sldMkLst>
        <pc:spChg chg="mod">
          <ac:chgData name="Thurlow, James (IFPRI)" userId="21a02b6a-1baf-4aa4-bf75-185c8473c16f" providerId="ADAL" clId="{3C6D7817-E651-41C6-84CA-4E2A3E9923BA}" dt="2022-06-15T05:24:42.649" v="1071" actId="20577"/>
          <ac:spMkLst>
            <pc:docMk/>
            <pc:sldMk cId="1875177038" sldId="381"/>
            <ac:spMk id="3" creationId="{00000000-0000-0000-0000-000000000000}"/>
          </ac:spMkLst>
        </pc:spChg>
      </pc:sldChg>
      <pc:sldChg chg="modSp add mod">
        <pc:chgData name="Thurlow, James (IFPRI)" userId="21a02b6a-1baf-4aa4-bf75-185c8473c16f" providerId="ADAL" clId="{3C6D7817-E651-41C6-84CA-4E2A3E9923BA}" dt="2022-06-15T05:10:31.250" v="233" actId="20577"/>
        <pc:sldMkLst>
          <pc:docMk/>
          <pc:sldMk cId="4067242512" sldId="385"/>
        </pc:sldMkLst>
        <pc:spChg chg="mod">
          <ac:chgData name="Thurlow, James (IFPRI)" userId="21a02b6a-1baf-4aa4-bf75-185c8473c16f" providerId="ADAL" clId="{3C6D7817-E651-41C6-84CA-4E2A3E9923BA}" dt="2022-06-15T05:10:31.250" v="233" actId="20577"/>
          <ac:spMkLst>
            <pc:docMk/>
            <pc:sldMk cId="4067242512" sldId="385"/>
            <ac:spMk id="37" creationId="{DE04F86B-C96E-492D-921D-3FE2ED15783B}"/>
          </ac:spMkLst>
        </pc:spChg>
        <pc:spChg chg="mod">
          <ac:chgData name="Thurlow, James (IFPRI)" userId="21a02b6a-1baf-4aa4-bf75-185c8473c16f" providerId="ADAL" clId="{3C6D7817-E651-41C6-84CA-4E2A3E9923BA}" dt="2022-06-15T05:10:23.634" v="213" actId="20577"/>
          <ac:spMkLst>
            <pc:docMk/>
            <pc:sldMk cId="4067242512" sldId="385"/>
            <ac:spMk id="55" creationId="{6283FBEF-3D54-4D73-AAA8-FB0BD983E072}"/>
          </ac:spMkLst>
        </pc:spChg>
      </pc:sldChg>
      <pc:sldChg chg="addSp delSp modSp add mod">
        <pc:chgData name="Thurlow, James (IFPRI)" userId="21a02b6a-1baf-4aa4-bf75-185c8473c16f" providerId="ADAL" clId="{3C6D7817-E651-41C6-84CA-4E2A3E9923BA}" dt="2022-06-15T05:01:22.459" v="72" actId="1076"/>
        <pc:sldMkLst>
          <pc:docMk/>
          <pc:sldMk cId="3131100838" sldId="386"/>
        </pc:sldMkLst>
        <pc:spChg chg="mod">
          <ac:chgData name="Thurlow, James (IFPRI)" userId="21a02b6a-1baf-4aa4-bf75-185c8473c16f" providerId="ADAL" clId="{3C6D7817-E651-41C6-84CA-4E2A3E9923BA}" dt="2022-06-15T05:01:11.717" v="63" actId="14100"/>
          <ac:spMkLst>
            <pc:docMk/>
            <pc:sldMk cId="3131100838" sldId="386"/>
            <ac:spMk id="5" creationId="{9880DF3F-9117-40B3-81D6-AB73208EF637}"/>
          </ac:spMkLst>
        </pc:spChg>
        <pc:spChg chg="mod">
          <ac:chgData name="Thurlow, James (IFPRI)" userId="21a02b6a-1baf-4aa4-bf75-185c8473c16f" providerId="ADAL" clId="{3C6D7817-E651-41C6-84CA-4E2A3E9923BA}" dt="2022-06-15T05:01:22.459" v="72" actId="1076"/>
          <ac:spMkLst>
            <pc:docMk/>
            <pc:sldMk cId="3131100838" sldId="386"/>
            <ac:spMk id="6" creationId="{7F3F12AC-B550-4786-B81F-81A070A43E9A}"/>
          </ac:spMkLst>
        </pc:spChg>
        <pc:spChg chg="mod">
          <ac:chgData name="Thurlow, James (IFPRI)" userId="21a02b6a-1baf-4aa4-bf75-185c8473c16f" providerId="ADAL" clId="{3C6D7817-E651-41C6-84CA-4E2A3E9923BA}" dt="2022-06-15T05:01:16.137" v="71" actId="20577"/>
          <ac:spMkLst>
            <pc:docMk/>
            <pc:sldMk cId="3131100838" sldId="386"/>
            <ac:spMk id="9" creationId="{E0A399DB-3873-42BC-A3CC-BC4581D121D3}"/>
          </ac:spMkLst>
        </pc:spChg>
        <pc:picChg chg="del">
          <ac:chgData name="Thurlow, James (IFPRI)" userId="21a02b6a-1baf-4aa4-bf75-185c8473c16f" providerId="ADAL" clId="{3C6D7817-E651-41C6-84CA-4E2A3E9923BA}" dt="2022-06-15T05:00:42.309" v="53" actId="478"/>
          <ac:picMkLst>
            <pc:docMk/>
            <pc:sldMk cId="3131100838" sldId="386"/>
            <ac:picMk id="4" creationId="{A39401F2-66F8-41D9-A2C4-69D685D1FCFB}"/>
          </ac:picMkLst>
        </pc:picChg>
        <pc:picChg chg="add mod ord">
          <ac:chgData name="Thurlow, James (IFPRI)" userId="21a02b6a-1baf-4aa4-bf75-185c8473c16f" providerId="ADAL" clId="{3C6D7817-E651-41C6-84CA-4E2A3E9923BA}" dt="2022-06-15T05:01:03.362" v="60" actId="1076"/>
          <ac:picMkLst>
            <pc:docMk/>
            <pc:sldMk cId="3131100838" sldId="386"/>
            <ac:picMk id="7" creationId="{69049B03-A3C2-13EA-5424-C4D84AE9CC62}"/>
          </ac:picMkLst>
        </pc:picChg>
      </pc:sldChg>
      <pc:sldChg chg="addSp delSp modSp add mod">
        <pc:chgData name="Thurlow, James (IFPRI)" userId="21a02b6a-1baf-4aa4-bf75-185c8473c16f" providerId="ADAL" clId="{3C6D7817-E651-41C6-84CA-4E2A3E9923BA}" dt="2022-06-15T05:03:22.862" v="120" actId="1076"/>
        <pc:sldMkLst>
          <pc:docMk/>
          <pc:sldMk cId="2064518438" sldId="387"/>
        </pc:sldMkLst>
        <pc:spChg chg="mod">
          <ac:chgData name="Thurlow, James (IFPRI)" userId="21a02b6a-1baf-4aa4-bf75-185c8473c16f" providerId="ADAL" clId="{3C6D7817-E651-41C6-84CA-4E2A3E9923BA}" dt="2022-06-15T05:03:17.778" v="119" actId="1076"/>
          <ac:spMkLst>
            <pc:docMk/>
            <pc:sldMk cId="2064518438" sldId="387"/>
            <ac:spMk id="8" creationId="{004E5114-A5AD-43BF-8894-01D11B1070AC}"/>
          </ac:spMkLst>
        </pc:spChg>
        <pc:spChg chg="mod">
          <ac:chgData name="Thurlow, James (IFPRI)" userId="21a02b6a-1baf-4aa4-bf75-185c8473c16f" providerId="ADAL" clId="{3C6D7817-E651-41C6-84CA-4E2A3E9923BA}" dt="2022-06-15T05:03:22.862" v="120" actId="1076"/>
          <ac:spMkLst>
            <pc:docMk/>
            <pc:sldMk cId="2064518438" sldId="387"/>
            <ac:spMk id="9" creationId="{7E63B83C-639D-4992-980B-FFC7246E0521}"/>
          </ac:spMkLst>
        </pc:spChg>
        <pc:spChg chg="mod">
          <ac:chgData name="Thurlow, James (IFPRI)" userId="21a02b6a-1baf-4aa4-bf75-185c8473c16f" providerId="ADAL" clId="{3C6D7817-E651-41C6-84CA-4E2A3E9923BA}" dt="2022-06-15T05:03:14.006" v="118" actId="1076"/>
          <ac:spMkLst>
            <pc:docMk/>
            <pc:sldMk cId="2064518438" sldId="387"/>
            <ac:spMk id="10" creationId="{237BBEBF-3932-4628-8693-0099367BC256}"/>
          </ac:spMkLst>
        </pc:spChg>
        <pc:picChg chg="del">
          <ac:chgData name="Thurlow, James (IFPRI)" userId="21a02b6a-1baf-4aa4-bf75-185c8473c16f" providerId="ADAL" clId="{3C6D7817-E651-41C6-84CA-4E2A3E9923BA}" dt="2022-06-15T05:03:00.051" v="112" actId="478"/>
          <ac:picMkLst>
            <pc:docMk/>
            <pc:sldMk cId="2064518438" sldId="387"/>
            <ac:picMk id="4" creationId="{23C607BD-A826-4AB2-AF6B-5196DA2869CB}"/>
          </ac:picMkLst>
        </pc:picChg>
        <pc:picChg chg="add mod ord">
          <ac:chgData name="Thurlow, James (IFPRI)" userId="21a02b6a-1baf-4aa4-bf75-185c8473c16f" providerId="ADAL" clId="{3C6D7817-E651-41C6-84CA-4E2A3E9923BA}" dt="2022-06-15T05:03:10.841" v="117" actId="167"/>
          <ac:picMkLst>
            <pc:docMk/>
            <pc:sldMk cId="2064518438" sldId="387"/>
            <ac:picMk id="5" creationId="{67F20D9D-DE3A-4807-83B2-11680DA6756D}"/>
          </ac:picMkLst>
        </pc:picChg>
      </pc:sldChg>
      <pc:sldChg chg="addSp delSp modSp add mod">
        <pc:chgData name="Thurlow, James (IFPRI)" userId="21a02b6a-1baf-4aa4-bf75-185c8473c16f" providerId="ADAL" clId="{3C6D7817-E651-41C6-84CA-4E2A3E9923BA}" dt="2022-06-15T05:04:36.131" v="140" actId="1076"/>
        <pc:sldMkLst>
          <pc:docMk/>
          <pc:sldMk cId="1794843915" sldId="388"/>
        </pc:sldMkLst>
        <pc:spChg chg="mod">
          <ac:chgData name="Thurlow, James (IFPRI)" userId="21a02b6a-1baf-4aa4-bf75-185c8473c16f" providerId="ADAL" clId="{3C6D7817-E651-41C6-84CA-4E2A3E9923BA}" dt="2022-06-15T05:04:36.131" v="140" actId="1076"/>
          <ac:spMkLst>
            <pc:docMk/>
            <pc:sldMk cId="1794843915" sldId="388"/>
            <ac:spMk id="5" creationId="{6AA10036-B9AE-46BB-B8A7-F517B5A4D5CB}"/>
          </ac:spMkLst>
        </pc:spChg>
        <pc:spChg chg="mod">
          <ac:chgData name="Thurlow, James (IFPRI)" userId="21a02b6a-1baf-4aa4-bf75-185c8473c16f" providerId="ADAL" clId="{3C6D7817-E651-41C6-84CA-4E2A3E9923BA}" dt="2022-06-15T05:04:34.143" v="139" actId="1076"/>
          <ac:spMkLst>
            <pc:docMk/>
            <pc:sldMk cId="1794843915" sldId="388"/>
            <ac:spMk id="8" creationId="{AC74E88D-F6E7-45FB-A294-22B5012CF179}"/>
          </ac:spMkLst>
        </pc:spChg>
        <pc:spChg chg="mod">
          <ac:chgData name="Thurlow, James (IFPRI)" userId="21a02b6a-1baf-4aa4-bf75-185c8473c16f" providerId="ADAL" clId="{3C6D7817-E651-41C6-84CA-4E2A3E9923BA}" dt="2022-06-15T05:04:30.604" v="138" actId="14100"/>
          <ac:spMkLst>
            <pc:docMk/>
            <pc:sldMk cId="1794843915" sldId="388"/>
            <ac:spMk id="9" creationId="{436CEDCA-356A-46E6-A68B-86AAE816F973}"/>
          </ac:spMkLst>
        </pc:spChg>
        <pc:picChg chg="add mod ord">
          <ac:chgData name="Thurlow, James (IFPRI)" userId="21a02b6a-1baf-4aa4-bf75-185c8473c16f" providerId="ADAL" clId="{3C6D7817-E651-41C6-84CA-4E2A3E9923BA}" dt="2022-06-15T05:04:26.290" v="136" actId="167"/>
          <ac:picMkLst>
            <pc:docMk/>
            <pc:sldMk cId="1794843915" sldId="388"/>
            <ac:picMk id="6" creationId="{549CA91F-CE26-3E92-1B76-4F244073D099}"/>
          </ac:picMkLst>
        </pc:picChg>
        <pc:picChg chg="del">
          <ac:chgData name="Thurlow, James (IFPRI)" userId="21a02b6a-1baf-4aa4-bf75-185c8473c16f" providerId="ADAL" clId="{3C6D7817-E651-41C6-84CA-4E2A3E9923BA}" dt="2022-06-15T05:04:13.254" v="131" actId="478"/>
          <ac:picMkLst>
            <pc:docMk/>
            <pc:sldMk cId="1794843915" sldId="388"/>
            <ac:picMk id="7" creationId="{CDD6ABDC-A931-42BC-82F0-28EA7064334B}"/>
          </ac:picMkLst>
        </pc:picChg>
      </pc:sldChg>
      <pc:sldChg chg="addSp delSp modSp add mod">
        <pc:chgData name="Thurlow, James (IFPRI)" userId="21a02b6a-1baf-4aa4-bf75-185c8473c16f" providerId="ADAL" clId="{3C6D7817-E651-41C6-84CA-4E2A3E9923BA}" dt="2022-06-15T05:14:52.222" v="293" actId="1076"/>
        <pc:sldMkLst>
          <pc:docMk/>
          <pc:sldMk cId="2619662102" sldId="389"/>
        </pc:sldMkLst>
        <pc:spChg chg="mod">
          <ac:chgData name="Thurlow, James (IFPRI)" userId="21a02b6a-1baf-4aa4-bf75-185c8473c16f" providerId="ADAL" clId="{3C6D7817-E651-41C6-84CA-4E2A3E9923BA}" dt="2022-06-15T05:14:52.222" v="293" actId="1076"/>
          <ac:spMkLst>
            <pc:docMk/>
            <pc:sldMk cId="2619662102" sldId="389"/>
            <ac:spMk id="5" creationId="{D2B87694-AAF0-4ADE-97B8-AE0B4E8E5E55}"/>
          </ac:spMkLst>
        </pc:spChg>
        <pc:spChg chg="mod">
          <ac:chgData name="Thurlow, James (IFPRI)" userId="21a02b6a-1baf-4aa4-bf75-185c8473c16f" providerId="ADAL" clId="{3C6D7817-E651-41C6-84CA-4E2A3E9923BA}" dt="2022-06-15T05:05:56.457" v="161" actId="1076"/>
          <ac:spMkLst>
            <pc:docMk/>
            <pc:sldMk cId="2619662102" sldId="389"/>
            <ac:spMk id="6" creationId="{CECAAD6F-475C-4270-BA32-EBC97ADF013B}"/>
          </ac:spMkLst>
        </pc:spChg>
        <pc:spChg chg="mod">
          <ac:chgData name="Thurlow, James (IFPRI)" userId="21a02b6a-1baf-4aa4-bf75-185c8473c16f" providerId="ADAL" clId="{3C6D7817-E651-41C6-84CA-4E2A3E9923BA}" dt="2022-06-15T05:05:51.979" v="159" actId="14100"/>
          <ac:spMkLst>
            <pc:docMk/>
            <pc:sldMk cId="2619662102" sldId="389"/>
            <ac:spMk id="7" creationId="{D96D9C2E-D5FC-4283-BE37-DB1C3A909382}"/>
          </ac:spMkLst>
        </pc:spChg>
        <pc:picChg chg="del">
          <ac:chgData name="Thurlow, James (IFPRI)" userId="21a02b6a-1baf-4aa4-bf75-185c8473c16f" providerId="ADAL" clId="{3C6D7817-E651-41C6-84CA-4E2A3E9923BA}" dt="2022-06-15T05:05:29.229" v="151" actId="478"/>
          <ac:picMkLst>
            <pc:docMk/>
            <pc:sldMk cId="2619662102" sldId="389"/>
            <ac:picMk id="4" creationId="{9FBE27CB-93F5-4207-BB1F-11CFD5B24756}"/>
          </ac:picMkLst>
        </pc:picChg>
        <pc:picChg chg="add mod ord">
          <ac:chgData name="Thurlow, James (IFPRI)" userId="21a02b6a-1baf-4aa4-bf75-185c8473c16f" providerId="ADAL" clId="{3C6D7817-E651-41C6-84CA-4E2A3E9923BA}" dt="2022-06-15T05:05:47.014" v="157" actId="1076"/>
          <ac:picMkLst>
            <pc:docMk/>
            <pc:sldMk cId="2619662102" sldId="389"/>
            <ac:picMk id="9" creationId="{02450EE2-AD14-B546-F804-2F11E8D53721}"/>
          </ac:picMkLst>
        </pc:picChg>
      </pc:sldChg>
      <pc:sldChg chg="addSp delSp modSp add mod">
        <pc:chgData name="Thurlow, James (IFPRI)" userId="21a02b6a-1baf-4aa4-bf75-185c8473c16f" providerId="ADAL" clId="{3C6D7817-E651-41C6-84CA-4E2A3E9923BA}" dt="2022-06-15T05:10:08.817" v="211" actId="20577"/>
        <pc:sldMkLst>
          <pc:docMk/>
          <pc:sldMk cId="3400878943" sldId="390"/>
        </pc:sldMkLst>
        <pc:spChg chg="mod">
          <ac:chgData name="Thurlow, James (IFPRI)" userId="21a02b6a-1baf-4aa4-bf75-185c8473c16f" providerId="ADAL" clId="{3C6D7817-E651-41C6-84CA-4E2A3E9923BA}" dt="2022-06-15T05:10:08.817" v="211" actId="20577"/>
          <ac:spMkLst>
            <pc:docMk/>
            <pc:sldMk cId="3400878943" sldId="390"/>
            <ac:spMk id="3" creationId="{92F67E3F-1441-4FAC-B6BB-C20EFB3418CC}"/>
          </ac:spMkLst>
        </pc:spChg>
        <pc:spChg chg="mod">
          <ac:chgData name="Thurlow, James (IFPRI)" userId="21a02b6a-1baf-4aa4-bf75-185c8473c16f" providerId="ADAL" clId="{3C6D7817-E651-41C6-84CA-4E2A3E9923BA}" dt="2022-06-15T05:08:55.588" v="191" actId="14100"/>
          <ac:spMkLst>
            <pc:docMk/>
            <pc:sldMk cId="3400878943" sldId="390"/>
            <ac:spMk id="11" creationId="{58C6A8F7-A35D-4C93-AA1C-D6DDCE99D86E}"/>
          </ac:spMkLst>
        </pc:spChg>
        <pc:spChg chg="mod">
          <ac:chgData name="Thurlow, James (IFPRI)" userId="21a02b6a-1baf-4aa4-bf75-185c8473c16f" providerId="ADAL" clId="{3C6D7817-E651-41C6-84CA-4E2A3E9923BA}" dt="2022-06-15T05:09:58.295" v="202" actId="14100"/>
          <ac:spMkLst>
            <pc:docMk/>
            <pc:sldMk cId="3400878943" sldId="390"/>
            <ac:spMk id="12" creationId="{B502305B-920E-4BD4-B29A-0B2124A60F16}"/>
          </ac:spMkLst>
        </pc:spChg>
        <pc:spChg chg="mod">
          <ac:chgData name="Thurlow, James (IFPRI)" userId="21a02b6a-1baf-4aa4-bf75-185c8473c16f" providerId="ADAL" clId="{3C6D7817-E651-41C6-84CA-4E2A3E9923BA}" dt="2022-06-15T05:09:03.568" v="192" actId="1076"/>
          <ac:spMkLst>
            <pc:docMk/>
            <pc:sldMk cId="3400878943" sldId="390"/>
            <ac:spMk id="13" creationId="{29F37F24-176B-415D-ABAA-5A975DDE76D1}"/>
          </ac:spMkLst>
        </pc:spChg>
        <pc:picChg chg="add mod ord">
          <ac:chgData name="Thurlow, James (IFPRI)" userId="21a02b6a-1baf-4aa4-bf75-185c8473c16f" providerId="ADAL" clId="{3C6D7817-E651-41C6-84CA-4E2A3E9923BA}" dt="2022-06-15T05:08:47.804" v="189" actId="1076"/>
          <ac:picMkLst>
            <pc:docMk/>
            <pc:sldMk cId="3400878943" sldId="390"/>
            <ac:picMk id="5" creationId="{863498DB-2BCA-644C-CD98-5A20BE15F44E}"/>
          </ac:picMkLst>
        </pc:picChg>
        <pc:picChg chg="del">
          <ac:chgData name="Thurlow, James (IFPRI)" userId="21a02b6a-1baf-4aa4-bf75-185c8473c16f" providerId="ADAL" clId="{3C6D7817-E651-41C6-84CA-4E2A3E9923BA}" dt="2022-06-15T05:08:40.780" v="186" actId="478"/>
          <ac:picMkLst>
            <pc:docMk/>
            <pc:sldMk cId="3400878943" sldId="390"/>
            <ac:picMk id="7" creationId="{318BCB83-30B1-4C9E-8819-F390F31E0206}"/>
          </ac:picMkLst>
        </pc:picChg>
        <pc:picChg chg="add mod ord">
          <ac:chgData name="Thurlow, James (IFPRI)" userId="21a02b6a-1baf-4aa4-bf75-185c8473c16f" providerId="ADAL" clId="{3C6D7817-E651-41C6-84CA-4E2A3E9923BA}" dt="2022-06-15T05:09:49.460" v="200" actId="1076"/>
          <ac:picMkLst>
            <pc:docMk/>
            <pc:sldMk cId="3400878943" sldId="390"/>
            <ac:picMk id="8" creationId="{BA5E1602-A2EE-0CDE-1D10-8B5296D23021}"/>
          </ac:picMkLst>
        </pc:picChg>
        <pc:picChg chg="del">
          <ac:chgData name="Thurlow, James (IFPRI)" userId="21a02b6a-1baf-4aa4-bf75-185c8473c16f" providerId="ADAL" clId="{3C6D7817-E651-41C6-84CA-4E2A3E9923BA}" dt="2022-06-15T05:09:34.991" v="193" actId="478"/>
          <ac:picMkLst>
            <pc:docMk/>
            <pc:sldMk cId="3400878943" sldId="390"/>
            <ac:picMk id="10" creationId="{4A7A0BFE-799A-4FEE-A086-4EDB78B2D1D1}"/>
          </ac:picMkLst>
        </pc:picChg>
      </pc:sldChg>
      <pc:sldChg chg="addSp delSp modSp add mod">
        <pc:chgData name="Thurlow, James (IFPRI)" userId="21a02b6a-1baf-4aa4-bf75-185c8473c16f" providerId="ADAL" clId="{3C6D7817-E651-41C6-84CA-4E2A3E9923BA}" dt="2022-06-15T05:07:33.054" v="176" actId="20577"/>
        <pc:sldMkLst>
          <pc:docMk/>
          <pc:sldMk cId="1686570899" sldId="395"/>
        </pc:sldMkLst>
        <pc:spChg chg="mod">
          <ac:chgData name="Thurlow, James (IFPRI)" userId="21a02b6a-1baf-4aa4-bf75-185c8473c16f" providerId="ADAL" clId="{3C6D7817-E651-41C6-84CA-4E2A3E9923BA}" dt="2022-06-15T05:07:33.054" v="176" actId="20577"/>
          <ac:spMkLst>
            <pc:docMk/>
            <pc:sldMk cId="1686570899" sldId="395"/>
            <ac:spMk id="6" creationId="{384AF7B0-766E-48D6-81C6-7C6AABC0B303}"/>
          </ac:spMkLst>
        </pc:spChg>
        <pc:spChg chg="mod">
          <ac:chgData name="Thurlow, James (IFPRI)" userId="21a02b6a-1baf-4aa4-bf75-185c8473c16f" providerId="ADAL" clId="{3C6D7817-E651-41C6-84CA-4E2A3E9923BA}" dt="2022-06-15T05:07:15.243" v="170" actId="1076"/>
          <ac:spMkLst>
            <pc:docMk/>
            <pc:sldMk cId="1686570899" sldId="395"/>
            <ac:spMk id="9" creationId="{849B7E1B-0345-46F3-8132-196B7B0AE7F9}"/>
          </ac:spMkLst>
        </pc:spChg>
        <pc:spChg chg="del">
          <ac:chgData name="Thurlow, James (IFPRI)" userId="21a02b6a-1baf-4aa4-bf75-185c8473c16f" providerId="ADAL" clId="{3C6D7817-E651-41C6-84CA-4E2A3E9923BA}" dt="2022-06-15T05:06:37.884" v="162" actId="478"/>
          <ac:spMkLst>
            <pc:docMk/>
            <pc:sldMk cId="1686570899" sldId="395"/>
            <ac:spMk id="10" creationId="{B21BB45A-D087-4018-BC05-2B689FDE22B5}"/>
          </ac:spMkLst>
        </pc:spChg>
        <pc:spChg chg="mod">
          <ac:chgData name="Thurlow, James (IFPRI)" userId="21a02b6a-1baf-4aa4-bf75-185c8473c16f" providerId="ADAL" clId="{3C6D7817-E651-41C6-84CA-4E2A3E9923BA}" dt="2022-06-15T05:07:23.487" v="172" actId="14100"/>
          <ac:spMkLst>
            <pc:docMk/>
            <pc:sldMk cId="1686570899" sldId="395"/>
            <ac:spMk id="12" creationId="{91FDFFEC-B5EC-4276-BBEB-7C5A656BA107}"/>
          </ac:spMkLst>
        </pc:spChg>
        <pc:spChg chg="mod">
          <ac:chgData name="Thurlow, James (IFPRI)" userId="21a02b6a-1baf-4aa4-bf75-185c8473c16f" providerId="ADAL" clId="{3C6D7817-E651-41C6-84CA-4E2A3E9923BA}" dt="2022-06-15T05:07:07.572" v="168" actId="1076"/>
          <ac:spMkLst>
            <pc:docMk/>
            <pc:sldMk cId="1686570899" sldId="395"/>
            <ac:spMk id="13" creationId="{2D921CC0-9ECF-498B-B1E9-DEDE8260C9CE}"/>
          </ac:spMkLst>
        </pc:spChg>
        <pc:spChg chg="mod">
          <ac:chgData name="Thurlow, James (IFPRI)" userId="21a02b6a-1baf-4aa4-bf75-185c8473c16f" providerId="ADAL" clId="{3C6D7817-E651-41C6-84CA-4E2A3E9923BA}" dt="2022-06-15T05:07:02.893" v="167" actId="1076"/>
          <ac:spMkLst>
            <pc:docMk/>
            <pc:sldMk cId="1686570899" sldId="395"/>
            <ac:spMk id="14" creationId="{28E36431-96B6-484C-93AB-6DD410F8E341}"/>
          </ac:spMkLst>
        </pc:spChg>
        <pc:picChg chg="del">
          <ac:chgData name="Thurlow, James (IFPRI)" userId="21a02b6a-1baf-4aa4-bf75-185c8473c16f" providerId="ADAL" clId="{3C6D7817-E651-41C6-84CA-4E2A3E9923BA}" dt="2022-06-15T05:06:53.348" v="163" actId="478"/>
          <ac:picMkLst>
            <pc:docMk/>
            <pc:sldMk cId="1686570899" sldId="395"/>
            <ac:picMk id="4" creationId="{98033163-DEAB-4430-9C52-D4E863BFD596}"/>
          </ac:picMkLst>
        </pc:picChg>
        <pc:picChg chg="add mod ord">
          <ac:chgData name="Thurlow, James (IFPRI)" userId="21a02b6a-1baf-4aa4-bf75-185c8473c16f" providerId="ADAL" clId="{3C6D7817-E651-41C6-84CA-4E2A3E9923BA}" dt="2022-06-15T05:07:10.977" v="169" actId="1076"/>
          <ac:picMkLst>
            <pc:docMk/>
            <pc:sldMk cId="1686570899" sldId="395"/>
            <ac:picMk id="5" creationId="{9303B51F-0AED-96D1-3E4A-D49A373C9DD4}"/>
          </ac:picMkLst>
        </pc:picChg>
      </pc:sldChg>
      <pc:sldChg chg="addSp delSp modSp add mod">
        <pc:chgData name="Thurlow, James (IFPRI)" userId="21a02b6a-1baf-4aa4-bf75-185c8473c16f" providerId="ADAL" clId="{3C6D7817-E651-41C6-84CA-4E2A3E9923BA}" dt="2022-06-15T05:11:49.641" v="243" actId="1076"/>
        <pc:sldMkLst>
          <pc:docMk/>
          <pc:sldMk cId="1677629679" sldId="396"/>
        </pc:sldMkLst>
        <pc:spChg chg="mod">
          <ac:chgData name="Thurlow, James (IFPRI)" userId="21a02b6a-1baf-4aa4-bf75-185c8473c16f" providerId="ADAL" clId="{3C6D7817-E651-41C6-84CA-4E2A3E9923BA}" dt="2022-06-15T05:11:49.641" v="243" actId="1076"/>
          <ac:spMkLst>
            <pc:docMk/>
            <pc:sldMk cId="1677629679" sldId="396"/>
            <ac:spMk id="6" creationId="{2F14FA8E-F2BE-4635-896F-D4775AA73666}"/>
          </ac:spMkLst>
        </pc:spChg>
        <pc:spChg chg="mod">
          <ac:chgData name="Thurlow, James (IFPRI)" userId="21a02b6a-1baf-4aa4-bf75-185c8473c16f" providerId="ADAL" clId="{3C6D7817-E651-41C6-84CA-4E2A3E9923BA}" dt="2022-06-15T05:11:40.611" v="241" actId="1076"/>
          <ac:spMkLst>
            <pc:docMk/>
            <pc:sldMk cId="1677629679" sldId="396"/>
            <ac:spMk id="7" creationId="{27795C5B-5D48-46DB-8A2C-F2A9A9DDD248}"/>
          </ac:spMkLst>
        </pc:spChg>
        <pc:spChg chg="mod">
          <ac:chgData name="Thurlow, James (IFPRI)" userId="21a02b6a-1baf-4aa4-bf75-185c8473c16f" providerId="ADAL" clId="{3C6D7817-E651-41C6-84CA-4E2A3E9923BA}" dt="2022-06-15T05:11:45.456" v="242" actId="1076"/>
          <ac:spMkLst>
            <pc:docMk/>
            <pc:sldMk cId="1677629679" sldId="396"/>
            <ac:spMk id="8" creationId="{6B8C5C61-318B-4D3A-9DFC-8219ECA7FDB9}"/>
          </ac:spMkLst>
        </pc:spChg>
        <pc:spChg chg="mod">
          <ac:chgData name="Thurlow, James (IFPRI)" userId="21a02b6a-1baf-4aa4-bf75-185c8473c16f" providerId="ADAL" clId="{3C6D7817-E651-41C6-84CA-4E2A3E9923BA}" dt="2022-06-15T05:11:23.811" v="238" actId="1076"/>
          <ac:spMkLst>
            <pc:docMk/>
            <pc:sldMk cId="1677629679" sldId="396"/>
            <ac:spMk id="9" creationId="{829914FA-C03B-4F82-BD18-D605AC3C82D4}"/>
          </ac:spMkLst>
        </pc:spChg>
        <pc:picChg chg="add mod ord">
          <ac:chgData name="Thurlow, James (IFPRI)" userId="21a02b6a-1baf-4aa4-bf75-185c8473c16f" providerId="ADAL" clId="{3C6D7817-E651-41C6-84CA-4E2A3E9923BA}" dt="2022-06-15T05:11:26.637" v="239" actId="1076"/>
          <ac:picMkLst>
            <pc:docMk/>
            <pc:sldMk cId="1677629679" sldId="396"/>
            <ac:picMk id="5" creationId="{F8E6A96A-0B2F-85B5-6139-F287A322B7CB}"/>
          </ac:picMkLst>
        </pc:picChg>
        <pc:picChg chg="del">
          <ac:chgData name="Thurlow, James (IFPRI)" userId="21a02b6a-1baf-4aa4-bf75-185c8473c16f" providerId="ADAL" clId="{3C6D7817-E651-41C6-84CA-4E2A3E9923BA}" dt="2022-06-15T05:11:13.901" v="234" actId="478"/>
          <ac:picMkLst>
            <pc:docMk/>
            <pc:sldMk cId="1677629679" sldId="396"/>
            <ac:picMk id="11" creationId="{705FCF8B-8FBE-49E1-985B-7FABC03AB56D}"/>
          </ac:picMkLst>
        </pc:picChg>
      </pc:sldChg>
      <pc:sldChg chg="addSp delSp modSp add mod">
        <pc:chgData name="Thurlow, James (IFPRI)" userId="21a02b6a-1baf-4aa4-bf75-185c8473c16f" providerId="ADAL" clId="{3C6D7817-E651-41C6-84CA-4E2A3E9923BA}" dt="2022-06-15T05:14:40.948" v="292" actId="20577"/>
        <pc:sldMkLst>
          <pc:docMk/>
          <pc:sldMk cId="237680532" sldId="397"/>
        </pc:sldMkLst>
        <pc:spChg chg="mod">
          <ac:chgData name="Thurlow, James (IFPRI)" userId="21a02b6a-1baf-4aa4-bf75-185c8473c16f" providerId="ADAL" clId="{3C6D7817-E651-41C6-84CA-4E2A3E9923BA}" dt="2022-06-15T05:14:33.712" v="283" actId="14100"/>
          <ac:spMkLst>
            <pc:docMk/>
            <pc:sldMk cId="237680532" sldId="397"/>
            <ac:spMk id="3" creationId="{B2961FC5-219A-4123-A403-AAEAE81B2569}"/>
          </ac:spMkLst>
        </pc:spChg>
        <pc:spChg chg="mod">
          <ac:chgData name="Thurlow, James (IFPRI)" userId="21a02b6a-1baf-4aa4-bf75-185c8473c16f" providerId="ADAL" clId="{3C6D7817-E651-41C6-84CA-4E2A3E9923BA}" dt="2022-06-15T05:14:40.948" v="292" actId="20577"/>
          <ac:spMkLst>
            <pc:docMk/>
            <pc:sldMk cId="237680532" sldId="397"/>
            <ac:spMk id="5" creationId="{9BBD6983-E72F-4CE0-BF85-1EBCA5401471}"/>
          </ac:spMkLst>
        </pc:spChg>
        <pc:spChg chg="mod">
          <ac:chgData name="Thurlow, James (IFPRI)" userId="21a02b6a-1baf-4aa4-bf75-185c8473c16f" providerId="ADAL" clId="{3C6D7817-E651-41C6-84CA-4E2A3E9923BA}" dt="2022-06-15T05:13:45.555" v="254" actId="14100"/>
          <ac:spMkLst>
            <pc:docMk/>
            <pc:sldMk cId="237680532" sldId="397"/>
            <ac:spMk id="6" creationId="{D35E7854-91AD-4E5C-A943-1E467C635BD6}"/>
          </ac:spMkLst>
        </pc:spChg>
        <pc:spChg chg="add mod">
          <ac:chgData name="Thurlow, James (IFPRI)" userId="21a02b6a-1baf-4aa4-bf75-185c8473c16f" providerId="ADAL" clId="{3C6D7817-E651-41C6-84CA-4E2A3E9923BA}" dt="2022-06-15T05:14:17.025" v="265" actId="14100"/>
          <ac:spMkLst>
            <pc:docMk/>
            <pc:sldMk cId="237680532" sldId="397"/>
            <ac:spMk id="12" creationId="{B674C366-285B-8B9E-C0D1-4CC3BDD54FEE}"/>
          </ac:spMkLst>
        </pc:spChg>
        <pc:picChg chg="add mod ord">
          <ac:chgData name="Thurlow, James (IFPRI)" userId="21a02b6a-1baf-4aa4-bf75-185c8473c16f" providerId="ADAL" clId="{3C6D7817-E651-41C6-84CA-4E2A3E9923BA}" dt="2022-06-15T05:13:38.520" v="251" actId="1076"/>
          <ac:picMkLst>
            <pc:docMk/>
            <pc:sldMk cId="237680532" sldId="397"/>
            <ac:picMk id="7" creationId="{CEFCD9FF-15B3-2895-11A9-80C37AFB0780}"/>
          </ac:picMkLst>
        </pc:picChg>
        <pc:picChg chg="del mod">
          <ac:chgData name="Thurlow, James (IFPRI)" userId="21a02b6a-1baf-4aa4-bf75-185c8473c16f" providerId="ADAL" clId="{3C6D7817-E651-41C6-84CA-4E2A3E9923BA}" dt="2022-06-15T05:13:27.253" v="247" actId="478"/>
          <ac:picMkLst>
            <pc:docMk/>
            <pc:sldMk cId="237680532" sldId="397"/>
            <ac:picMk id="8" creationId="{2F79EBEB-04F2-4999-BF5F-6C554BBEBD45}"/>
          </ac:picMkLst>
        </pc:picChg>
        <pc:picChg chg="add del mod">
          <ac:chgData name="Thurlow, James (IFPRI)" userId="21a02b6a-1baf-4aa4-bf75-185c8473c16f" providerId="ADAL" clId="{3C6D7817-E651-41C6-84CA-4E2A3E9923BA}" dt="2022-06-15T05:13:57.914" v="257" actId="478"/>
          <ac:picMkLst>
            <pc:docMk/>
            <pc:sldMk cId="237680532" sldId="397"/>
            <ac:picMk id="9" creationId="{C663877D-B9C2-486F-A197-D2A7407145D6}"/>
          </ac:picMkLst>
        </pc:picChg>
        <pc:picChg chg="add mod">
          <ac:chgData name="Thurlow, James (IFPRI)" userId="21a02b6a-1baf-4aa4-bf75-185c8473c16f" providerId="ADAL" clId="{3C6D7817-E651-41C6-84CA-4E2A3E9923BA}" dt="2022-06-15T05:14:04.657" v="261" actId="1076"/>
          <ac:picMkLst>
            <pc:docMk/>
            <pc:sldMk cId="237680532" sldId="397"/>
            <ac:picMk id="11" creationId="{2D1F859C-6EE7-AC10-0BF6-7CEBA45987AD}"/>
          </ac:picMkLst>
        </pc:picChg>
      </pc:sldChg>
      <pc:sldChg chg="modSp mod">
        <pc:chgData name="Thurlow, James (IFPRI)" userId="21a02b6a-1baf-4aa4-bf75-185c8473c16f" providerId="ADAL" clId="{3C6D7817-E651-41C6-84CA-4E2A3E9923BA}" dt="2022-06-15T04:58:01.609" v="40" actId="6549"/>
        <pc:sldMkLst>
          <pc:docMk/>
          <pc:sldMk cId="2189227946" sldId="411"/>
        </pc:sldMkLst>
        <pc:spChg chg="mod">
          <ac:chgData name="Thurlow, James (IFPRI)" userId="21a02b6a-1baf-4aa4-bf75-185c8473c16f" providerId="ADAL" clId="{3C6D7817-E651-41C6-84CA-4E2A3E9923BA}" dt="2022-06-15T04:58:01.609" v="40" actId="6549"/>
          <ac:spMkLst>
            <pc:docMk/>
            <pc:sldMk cId="2189227946" sldId="411"/>
            <ac:spMk id="3" creationId="{B30921BB-6FA5-4126-9CF3-504644027E37}"/>
          </ac:spMkLst>
        </pc:spChg>
        <pc:spChg chg="mod">
          <ac:chgData name="Thurlow, James (IFPRI)" userId="21a02b6a-1baf-4aa4-bf75-185c8473c16f" providerId="ADAL" clId="{3C6D7817-E651-41C6-84CA-4E2A3E9923BA}" dt="2022-06-15T04:57:55.464" v="38" actId="6549"/>
          <ac:spMkLst>
            <pc:docMk/>
            <pc:sldMk cId="2189227946" sldId="411"/>
            <ac:spMk id="12" creationId="{44DDCF46-CE8C-4836-B0CC-FDA93027D41E}"/>
          </ac:spMkLst>
        </pc:spChg>
      </pc:sldChg>
      <pc:sldChg chg="modSp mod">
        <pc:chgData name="Thurlow, James (IFPRI)" userId="21a02b6a-1baf-4aa4-bf75-185c8473c16f" providerId="ADAL" clId="{3C6D7817-E651-41C6-84CA-4E2A3E9923BA}" dt="2022-06-15T04:58:32.631" v="46" actId="6549"/>
        <pc:sldMkLst>
          <pc:docMk/>
          <pc:sldMk cId="3988598075" sldId="413"/>
        </pc:sldMkLst>
        <pc:spChg chg="mod">
          <ac:chgData name="Thurlow, James (IFPRI)" userId="21a02b6a-1baf-4aa4-bf75-185c8473c16f" providerId="ADAL" clId="{3C6D7817-E651-41C6-84CA-4E2A3E9923BA}" dt="2022-06-15T04:58:32.631" v="46" actId="6549"/>
          <ac:spMkLst>
            <pc:docMk/>
            <pc:sldMk cId="3988598075" sldId="413"/>
            <ac:spMk id="3" creationId="{4D80E3B5-FDF1-4C5F-AD92-27BAC72A6437}"/>
          </ac:spMkLst>
        </pc:spChg>
      </pc:sldChg>
      <pc:sldChg chg="modSp mod">
        <pc:chgData name="Thurlow, James (IFPRI)" userId="21a02b6a-1baf-4aa4-bf75-185c8473c16f" providerId="ADAL" clId="{3C6D7817-E651-41C6-84CA-4E2A3E9923BA}" dt="2022-06-15T04:58:11.674" v="42" actId="6549"/>
        <pc:sldMkLst>
          <pc:docMk/>
          <pc:sldMk cId="1979266488" sldId="415"/>
        </pc:sldMkLst>
        <pc:spChg chg="mod">
          <ac:chgData name="Thurlow, James (IFPRI)" userId="21a02b6a-1baf-4aa4-bf75-185c8473c16f" providerId="ADAL" clId="{3C6D7817-E651-41C6-84CA-4E2A3E9923BA}" dt="2022-06-15T04:58:11.674" v="42" actId="6549"/>
          <ac:spMkLst>
            <pc:docMk/>
            <pc:sldMk cId="1979266488" sldId="415"/>
            <ac:spMk id="3" creationId="{B30921BB-6FA5-4126-9CF3-504644027E37}"/>
          </ac:spMkLst>
        </pc:spChg>
      </pc:sldChg>
      <pc:sldChg chg="modSp mod">
        <pc:chgData name="Thurlow, James (IFPRI)" userId="21a02b6a-1baf-4aa4-bf75-185c8473c16f" providerId="ADAL" clId="{3C6D7817-E651-41C6-84CA-4E2A3E9923BA}" dt="2022-06-15T04:59:11.405" v="48" actId="6549"/>
        <pc:sldMkLst>
          <pc:docMk/>
          <pc:sldMk cId="853305921" sldId="416"/>
        </pc:sldMkLst>
        <pc:spChg chg="mod">
          <ac:chgData name="Thurlow, James (IFPRI)" userId="21a02b6a-1baf-4aa4-bf75-185c8473c16f" providerId="ADAL" clId="{3C6D7817-E651-41C6-84CA-4E2A3E9923BA}" dt="2022-06-15T04:59:11.405" v="48" actId="6549"/>
          <ac:spMkLst>
            <pc:docMk/>
            <pc:sldMk cId="853305921" sldId="416"/>
            <ac:spMk id="3" creationId="{96A961E9-27F9-4F4C-86AF-EB7D9C547020}"/>
          </ac:spMkLst>
        </pc:spChg>
      </pc:sldChg>
      <pc:sldChg chg="modSp mod">
        <pc:chgData name="Thurlow, James (IFPRI)" userId="21a02b6a-1baf-4aa4-bf75-185c8473c16f" providerId="ADAL" clId="{3C6D7817-E651-41C6-84CA-4E2A3E9923BA}" dt="2022-06-15T04:59:28.222" v="50" actId="6549"/>
        <pc:sldMkLst>
          <pc:docMk/>
          <pc:sldMk cId="584340015" sldId="418"/>
        </pc:sldMkLst>
        <pc:spChg chg="mod">
          <ac:chgData name="Thurlow, James (IFPRI)" userId="21a02b6a-1baf-4aa4-bf75-185c8473c16f" providerId="ADAL" clId="{3C6D7817-E651-41C6-84CA-4E2A3E9923BA}" dt="2022-06-15T04:59:28.222" v="50" actId="6549"/>
          <ac:spMkLst>
            <pc:docMk/>
            <pc:sldMk cId="584340015" sldId="418"/>
            <ac:spMk id="3" creationId="{200E2AB2-245C-4741-902F-BB84C23213E9}"/>
          </ac:spMkLst>
        </pc:spChg>
      </pc:sldChg>
      <pc:sldChg chg="modSp mod">
        <pc:chgData name="Thurlow, James (IFPRI)" userId="21a02b6a-1baf-4aa4-bf75-185c8473c16f" providerId="ADAL" clId="{3C6D7817-E651-41C6-84CA-4E2A3E9923BA}" dt="2022-06-15T04:59:37.986" v="52" actId="6549"/>
        <pc:sldMkLst>
          <pc:docMk/>
          <pc:sldMk cId="3091487617" sldId="419"/>
        </pc:sldMkLst>
        <pc:spChg chg="mod">
          <ac:chgData name="Thurlow, James (IFPRI)" userId="21a02b6a-1baf-4aa4-bf75-185c8473c16f" providerId="ADAL" clId="{3C6D7817-E651-41C6-84CA-4E2A3E9923BA}" dt="2022-06-15T04:59:37.986" v="52" actId="6549"/>
          <ac:spMkLst>
            <pc:docMk/>
            <pc:sldMk cId="3091487617" sldId="419"/>
            <ac:spMk id="10" creationId="{B8F4B2F7-9E85-402D-A4EC-C91C4878D448}"/>
          </ac:spMkLst>
        </pc:spChg>
      </pc:sldChg>
      <pc:sldChg chg="add">
        <pc:chgData name="Thurlow, James (IFPRI)" userId="21a02b6a-1baf-4aa4-bf75-185c8473c16f" providerId="ADAL" clId="{3C6D7817-E651-41C6-84CA-4E2A3E9923BA}" dt="2022-06-15T04:53:52.436" v="4"/>
        <pc:sldMkLst>
          <pc:docMk/>
          <pc:sldMk cId="1160905977" sldId="420"/>
        </pc:sldMkLst>
      </pc:sldChg>
      <pc:sldChg chg="modSp new del mod">
        <pc:chgData name="Thurlow, James (IFPRI)" userId="21a02b6a-1baf-4aa4-bf75-185c8473c16f" providerId="ADAL" clId="{3C6D7817-E651-41C6-84CA-4E2A3E9923BA}" dt="2022-06-15T05:24:13.466" v="1048" actId="47"/>
        <pc:sldMkLst>
          <pc:docMk/>
          <pc:sldMk cId="1471535226" sldId="421"/>
        </pc:sldMkLst>
        <pc:spChg chg="mod">
          <ac:chgData name="Thurlow, James (IFPRI)" userId="21a02b6a-1baf-4aa4-bf75-185c8473c16f" providerId="ADAL" clId="{3C6D7817-E651-41C6-84CA-4E2A3E9923BA}" dt="2022-06-15T05:24:09.464" v="1045" actId="20577"/>
          <ac:spMkLst>
            <pc:docMk/>
            <pc:sldMk cId="1471535226" sldId="421"/>
            <ac:spMk id="2" creationId="{2934F2C2-9C80-6B6B-1C09-179914F03F4D}"/>
          </ac:spMkLst>
        </pc:spChg>
      </pc:sldChg>
      <pc:sldChg chg="new del">
        <pc:chgData name="Thurlow, James (IFPRI)" userId="21a02b6a-1baf-4aa4-bf75-185c8473c16f" providerId="ADAL" clId="{3C6D7817-E651-41C6-84CA-4E2A3E9923BA}" dt="2022-06-15T05:24:11.928" v="1046" actId="47"/>
        <pc:sldMkLst>
          <pc:docMk/>
          <pc:sldMk cId="2155121458" sldId="422"/>
        </pc:sldMkLst>
      </pc:sldChg>
      <pc:sldChg chg="new del">
        <pc:chgData name="Thurlow, James (IFPRI)" userId="21a02b6a-1baf-4aa4-bf75-185c8473c16f" providerId="ADAL" clId="{3C6D7817-E651-41C6-84CA-4E2A3E9923BA}" dt="2022-06-15T05:24:12.162" v="1047" actId="47"/>
        <pc:sldMkLst>
          <pc:docMk/>
          <pc:sldMk cId="4139374615" sldId="423"/>
        </pc:sldMkLst>
      </pc:sldChg>
      <pc:sldChg chg="addSp delSp modSp add mod">
        <pc:chgData name="Thurlow, James (IFPRI)" userId="21a02b6a-1baf-4aa4-bf75-185c8473c16f" providerId="ADAL" clId="{3C6D7817-E651-41C6-84CA-4E2A3E9923BA}" dt="2022-06-15T05:25:49.325" v="1087" actId="207"/>
        <pc:sldMkLst>
          <pc:docMk/>
          <pc:sldMk cId="1255249705" sldId="424"/>
        </pc:sldMkLst>
        <pc:spChg chg="mod">
          <ac:chgData name="Thurlow, James (IFPRI)" userId="21a02b6a-1baf-4aa4-bf75-185c8473c16f" providerId="ADAL" clId="{3C6D7817-E651-41C6-84CA-4E2A3E9923BA}" dt="2022-06-15T05:18:01.406" v="427" actId="6549"/>
          <ac:spMkLst>
            <pc:docMk/>
            <pc:sldMk cId="1255249705" sldId="424"/>
            <ac:spMk id="2" creationId="{F0417674-9037-4DEB-A74D-AE039EFFBBA2}"/>
          </ac:spMkLst>
        </pc:spChg>
        <pc:spChg chg="mod">
          <ac:chgData name="Thurlow, James (IFPRI)" userId="21a02b6a-1baf-4aa4-bf75-185c8473c16f" providerId="ADAL" clId="{3C6D7817-E651-41C6-84CA-4E2A3E9923BA}" dt="2022-06-15T05:25:49.325" v="1087" actId="207"/>
          <ac:spMkLst>
            <pc:docMk/>
            <pc:sldMk cId="1255249705" sldId="424"/>
            <ac:spMk id="3" creationId="{2B72D06C-E617-460E-8584-BDA5474B6D2E}"/>
          </ac:spMkLst>
        </pc:spChg>
        <pc:spChg chg="del">
          <ac:chgData name="Thurlow, James (IFPRI)" userId="21a02b6a-1baf-4aa4-bf75-185c8473c16f" providerId="ADAL" clId="{3C6D7817-E651-41C6-84CA-4E2A3E9923BA}" dt="2022-06-15T05:16:13.423" v="299" actId="478"/>
          <ac:spMkLst>
            <pc:docMk/>
            <pc:sldMk cId="1255249705" sldId="424"/>
            <ac:spMk id="4" creationId="{6B6F9F98-376E-4923-9F68-3F66BD33B814}"/>
          </ac:spMkLst>
        </pc:spChg>
        <pc:picChg chg="add mod">
          <ac:chgData name="Thurlow, James (IFPRI)" userId="21a02b6a-1baf-4aa4-bf75-185c8473c16f" providerId="ADAL" clId="{3C6D7817-E651-41C6-84CA-4E2A3E9923BA}" dt="2022-06-15T05:25:39.768" v="1081" actId="1076"/>
          <ac:picMkLst>
            <pc:docMk/>
            <pc:sldMk cId="1255249705" sldId="424"/>
            <ac:picMk id="6" creationId="{DDEA275A-36F5-431A-2D58-3B7B9D65F7FA}"/>
          </ac:picMkLst>
        </pc:picChg>
        <pc:picChg chg="del">
          <ac:chgData name="Thurlow, James (IFPRI)" userId="21a02b6a-1baf-4aa4-bf75-185c8473c16f" providerId="ADAL" clId="{3C6D7817-E651-41C6-84CA-4E2A3E9923BA}" dt="2022-06-15T05:16:11.637" v="298" actId="478"/>
          <ac:picMkLst>
            <pc:docMk/>
            <pc:sldMk cId="1255249705" sldId="424"/>
            <ac:picMk id="7" creationId="{D08E90F7-63C4-5441-5F88-1DF7661142F3}"/>
          </ac:picMkLst>
        </pc:picChg>
      </pc:sldChg>
      <pc:sldChg chg="modSp new mod">
        <pc:chgData name="Thurlow, James (IFPRI)" userId="21a02b6a-1baf-4aa4-bf75-185c8473c16f" providerId="ADAL" clId="{3C6D7817-E651-41C6-84CA-4E2A3E9923BA}" dt="2022-06-15T05:32:21.168" v="1993" actId="404"/>
        <pc:sldMkLst>
          <pc:docMk/>
          <pc:sldMk cId="2191645892" sldId="425"/>
        </pc:sldMkLst>
        <pc:spChg chg="mod">
          <ac:chgData name="Thurlow, James (IFPRI)" userId="21a02b6a-1baf-4aa4-bf75-185c8473c16f" providerId="ADAL" clId="{3C6D7817-E651-41C6-84CA-4E2A3E9923BA}" dt="2022-06-15T05:29:49.036" v="1573" actId="20577"/>
          <ac:spMkLst>
            <pc:docMk/>
            <pc:sldMk cId="2191645892" sldId="425"/>
            <ac:spMk id="2" creationId="{C98148BC-0FA0-6B89-D9F3-BFB58C752CEA}"/>
          </ac:spMkLst>
        </pc:spChg>
        <pc:spChg chg="mod">
          <ac:chgData name="Thurlow, James (IFPRI)" userId="21a02b6a-1baf-4aa4-bf75-185c8473c16f" providerId="ADAL" clId="{3C6D7817-E651-41C6-84CA-4E2A3E9923BA}" dt="2022-06-15T05:32:21.168" v="1993" actId="404"/>
          <ac:spMkLst>
            <pc:docMk/>
            <pc:sldMk cId="2191645892" sldId="425"/>
            <ac:spMk id="3" creationId="{F3A94A6D-8FA1-8C56-0B49-2A3EE7C44A17}"/>
          </ac:spMkLst>
        </pc:spChg>
      </pc:sldChg>
      <pc:sldChg chg="addSp delSp modSp new mod">
        <pc:chgData name="Thurlow, James (IFPRI)" userId="21a02b6a-1baf-4aa4-bf75-185c8473c16f" providerId="ADAL" clId="{3C6D7817-E651-41C6-84CA-4E2A3E9923BA}" dt="2022-06-15T05:37:17.065" v="2124" actId="20577"/>
        <pc:sldMkLst>
          <pc:docMk/>
          <pc:sldMk cId="1800557549" sldId="426"/>
        </pc:sldMkLst>
        <pc:spChg chg="mod">
          <ac:chgData name="Thurlow, James (IFPRI)" userId="21a02b6a-1baf-4aa4-bf75-185c8473c16f" providerId="ADAL" clId="{3C6D7817-E651-41C6-84CA-4E2A3E9923BA}" dt="2022-06-15T05:37:17.065" v="2124" actId="20577"/>
          <ac:spMkLst>
            <pc:docMk/>
            <pc:sldMk cId="1800557549" sldId="426"/>
            <ac:spMk id="2" creationId="{AE2F4AAB-67F0-F80F-0822-EE04A7689158}"/>
          </ac:spMkLst>
        </pc:spChg>
        <pc:spChg chg="add del mod">
          <ac:chgData name="Thurlow, James (IFPRI)" userId="21a02b6a-1baf-4aa4-bf75-185c8473c16f" providerId="ADAL" clId="{3C6D7817-E651-41C6-84CA-4E2A3E9923BA}" dt="2022-06-15T05:35:44.522" v="2045" actId="478"/>
          <ac:spMkLst>
            <pc:docMk/>
            <pc:sldMk cId="1800557549" sldId="426"/>
            <ac:spMk id="3" creationId="{ADAB2D58-6C56-0C41-424E-8D8A24FA7114}"/>
          </ac:spMkLst>
        </pc:spChg>
        <pc:spChg chg="add del mod">
          <ac:chgData name="Thurlow, James (IFPRI)" userId="21a02b6a-1baf-4aa4-bf75-185c8473c16f" providerId="ADAL" clId="{3C6D7817-E651-41C6-84CA-4E2A3E9923BA}" dt="2022-06-15T05:35:47.318" v="2046" actId="478"/>
          <ac:spMkLst>
            <pc:docMk/>
            <pc:sldMk cId="1800557549" sldId="426"/>
            <ac:spMk id="15" creationId="{367A1470-6601-2912-0649-F04134B42665}"/>
          </ac:spMkLst>
        </pc:spChg>
        <pc:spChg chg="add mod">
          <ac:chgData name="Thurlow, James (IFPRI)" userId="21a02b6a-1baf-4aa4-bf75-185c8473c16f" providerId="ADAL" clId="{3C6D7817-E651-41C6-84CA-4E2A3E9923BA}" dt="2022-06-15T05:36:37.879" v="2090" actId="6549"/>
          <ac:spMkLst>
            <pc:docMk/>
            <pc:sldMk cId="1800557549" sldId="426"/>
            <ac:spMk id="16" creationId="{A42D32D9-113E-C29A-4F11-431A0FF118C1}"/>
          </ac:spMkLst>
        </pc:spChg>
        <pc:spChg chg="add mod">
          <ac:chgData name="Thurlow, James (IFPRI)" userId="21a02b6a-1baf-4aa4-bf75-185c8473c16f" providerId="ADAL" clId="{3C6D7817-E651-41C6-84CA-4E2A3E9923BA}" dt="2022-06-15T05:36:34.835" v="2088" actId="20577"/>
          <ac:spMkLst>
            <pc:docMk/>
            <pc:sldMk cId="1800557549" sldId="426"/>
            <ac:spMk id="17" creationId="{375C1433-C9AE-CE69-B202-D7F7EAFDE1C2}"/>
          </ac:spMkLst>
        </pc:spChg>
        <pc:spChg chg="add mod">
          <ac:chgData name="Thurlow, James (IFPRI)" userId="21a02b6a-1baf-4aa4-bf75-185c8473c16f" providerId="ADAL" clId="{3C6D7817-E651-41C6-84CA-4E2A3E9923BA}" dt="2022-06-15T05:37:05.273" v="2103" actId="1076"/>
          <ac:spMkLst>
            <pc:docMk/>
            <pc:sldMk cId="1800557549" sldId="426"/>
            <ac:spMk id="18" creationId="{C415CF9E-6CAD-BBC0-19F3-8CA28B8B3E31}"/>
          </ac:spMkLst>
        </pc:spChg>
        <pc:picChg chg="add del">
          <ac:chgData name="Thurlow, James (IFPRI)" userId="21a02b6a-1baf-4aa4-bf75-185c8473c16f" providerId="ADAL" clId="{3C6D7817-E651-41C6-84CA-4E2A3E9923BA}" dt="2022-06-15T05:34:41.483" v="2032" actId="22"/>
          <ac:picMkLst>
            <pc:docMk/>
            <pc:sldMk cId="1800557549" sldId="426"/>
            <ac:picMk id="5" creationId="{3E08E64C-D783-A907-B169-5D8A20860605}"/>
          </ac:picMkLst>
        </pc:picChg>
        <pc:picChg chg="add mod">
          <ac:chgData name="Thurlow, James (IFPRI)" userId="21a02b6a-1baf-4aa4-bf75-185c8473c16f" providerId="ADAL" clId="{3C6D7817-E651-41C6-84CA-4E2A3E9923BA}" dt="2022-06-15T05:36:59.823" v="2101" actId="692"/>
          <ac:picMkLst>
            <pc:docMk/>
            <pc:sldMk cId="1800557549" sldId="426"/>
            <ac:picMk id="7" creationId="{99C36860-0EA4-214F-7F9F-9A0856EB8A46}"/>
          </ac:picMkLst>
        </pc:picChg>
        <pc:picChg chg="add del mod">
          <ac:chgData name="Thurlow, James (IFPRI)" userId="21a02b6a-1baf-4aa4-bf75-185c8473c16f" providerId="ADAL" clId="{3C6D7817-E651-41C6-84CA-4E2A3E9923BA}" dt="2022-06-15T05:35:15.636" v="2040" actId="478"/>
          <ac:picMkLst>
            <pc:docMk/>
            <pc:sldMk cId="1800557549" sldId="426"/>
            <ac:picMk id="9" creationId="{B958F4A5-8CB3-04C3-FAFB-AD3F767AF5AE}"/>
          </ac:picMkLst>
        </pc:picChg>
        <pc:picChg chg="add mod">
          <ac:chgData name="Thurlow, James (IFPRI)" userId="21a02b6a-1baf-4aa4-bf75-185c8473c16f" providerId="ADAL" clId="{3C6D7817-E651-41C6-84CA-4E2A3E9923BA}" dt="2022-06-15T05:37:02.634" v="2102" actId="1076"/>
          <ac:picMkLst>
            <pc:docMk/>
            <pc:sldMk cId="1800557549" sldId="426"/>
            <ac:picMk id="11" creationId="{12D3B3C6-2D12-B76B-46A0-5FD72A012C0D}"/>
          </ac:picMkLst>
        </pc:picChg>
        <pc:picChg chg="add mod">
          <ac:chgData name="Thurlow, James (IFPRI)" userId="21a02b6a-1baf-4aa4-bf75-185c8473c16f" providerId="ADAL" clId="{3C6D7817-E651-41C6-84CA-4E2A3E9923BA}" dt="2022-06-15T05:36:59.823" v="2101" actId="692"/>
          <ac:picMkLst>
            <pc:docMk/>
            <pc:sldMk cId="1800557549" sldId="426"/>
            <ac:picMk id="13" creationId="{3A1B09AC-3330-4B61-B2DB-C724ED97FD5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08C934-C7E8-4610-B2C7-5E22C7639776}" type="datetimeFigureOut">
              <a:rPr lang="en-US" smtClean="0"/>
              <a:t>6/15/2022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C72739-8F39-4090-97C2-B04BD67F46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7193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609600"/>
            <a:ext cx="9144000" cy="750278"/>
          </a:xfrm>
          <a:prstGeom prst="rect">
            <a:avLst/>
          </a:prstGeom>
          <a:solidFill>
            <a:srgbClr val="5454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 userDrawn="1"/>
        </p:nvSpPr>
        <p:spPr>
          <a:xfrm>
            <a:off x="0" y="343876"/>
            <a:ext cx="9144000" cy="265723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482096"/>
            <a:ext cx="7772400" cy="1853101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21154" y="4672746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622" y="1"/>
            <a:ext cx="2488908" cy="1359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588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121977"/>
            <a:ext cx="9144000" cy="10002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221998"/>
            <a:ext cx="9144000" cy="850288"/>
          </a:xfrm>
          <a:prstGeom prst="rect">
            <a:avLst/>
          </a:prstGeom>
          <a:solidFill>
            <a:srgbClr val="5454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278" y="221997"/>
            <a:ext cx="8077689" cy="850288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  <a:lvl2pPr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2pPr>
            <a:lvl3pPr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3pPr>
            <a:lvl4pPr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4pPr>
            <a:lvl5pPr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4514" y="0"/>
            <a:ext cx="769305" cy="107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891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221998"/>
            <a:ext cx="9144000" cy="850288"/>
          </a:xfrm>
          <a:prstGeom prst="rect">
            <a:avLst/>
          </a:prstGeom>
          <a:solidFill>
            <a:srgbClr val="5454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rgbClr val="54544B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 algn="l">
              <a:buNone/>
              <a:defRPr sz="2400" b="0">
                <a:solidFill>
                  <a:srgbClr val="54544B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0" y="121977"/>
            <a:ext cx="9144000" cy="10002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4514" y="0"/>
            <a:ext cx="769305" cy="107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8018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039FD7E3-E8B7-41B6-8E11-9BF22DB8AD7D}" type="datetimeFigureOut">
              <a:rPr lang="en-US" smtClean="0"/>
              <a:t>6/15/2022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9530BFE8-97C6-45A2-90EF-DB887EEA2C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156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039FD7E3-E8B7-41B6-8E11-9BF22DB8AD7D}" type="datetimeFigureOut">
              <a:rPr lang="en-US" smtClean="0"/>
              <a:t>6/15/2022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9530BFE8-97C6-45A2-90EF-DB887EEA2C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660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039FD7E3-E8B7-41B6-8E11-9BF22DB8AD7D}" type="datetimeFigureOut">
              <a:rPr lang="en-US" smtClean="0"/>
              <a:t>6/15/2022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9530BFE8-97C6-45A2-90EF-DB887EEA2C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482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039FD7E3-E8B7-41B6-8E11-9BF22DB8AD7D}" type="datetimeFigureOut">
              <a:rPr lang="en-US" smtClean="0"/>
              <a:t>6/15/2022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9530BFE8-97C6-45A2-90EF-DB887EEA2C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688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039FD7E3-E8B7-41B6-8E11-9BF22DB8AD7D}" type="datetimeFigureOut">
              <a:rPr lang="en-US" smtClean="0"/>
              <a:t>6/15/2022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9530BFE8-97C6-45A2-90EF-DB887EEA2C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8357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039FD7E3-E8B7-41B6-8E11-9BF22DB8AD7D}" type="datetimeFigureOut">
              <a:rPr lang="en-US" smtClean="0"/>
              <a:t>6/15/2022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9530BFE8-97C6-45A2-90EF-DB887EEA2C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2410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039FD7E3-E8B7-41B6-8E11-9BF22DB8AD7D}" type="datetimeFigureOut">
              <a:rPr lang="en-US" smtClean="0"/>
              <a:t>6/15/2022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9530BFE8-97C6-45A2-90EF-DB887EEA2C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443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039FD7E3-E8B7-41B6-8E11-9BF22DB8AD7D}" type="datetimeFigureOut">
              <a:rPr lang="en-US" smtClean="0"/>
              <a:t>6/15/2022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9530BFE8-97C6-45A2-90EF-DB887EEA2C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722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6280" y="138480"/>
            <a:ext cx="8835781" cy="10885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79" y="1301993"/>
            <a:ext cx="8835781" cy="53957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35692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Cambria" panose="02040503050406030204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569403" y="2502449"/>
            <a:ext cx="8005194" cy="1853101"/>
          </a:xfrm>
        </p:spPr>
        <p:txBody>
          <a:bodyPr>
            <a:normAutofit/>
          </a:bodyPr>
          <a:lstStyle/>
          <a:p>
            <a:r>
              <a:rPr lang="en-US" b="1" dirty="0"/>
              <a:t>Rwanda SAM Toolkit</a:t>
            </a:r>
            <a:br>
              <a:rPr lang="en-US" dirty="0"/>
            </a:br>
            <a:r>
              <a:rPr lang="en-US" sz="2800" dirty="0"/>
              <a:t>Standardized Approach to Building &amp; Updating SAMs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54491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527902" y="3049170"/>
            <a:ext cx="2601799" cy="381687"/>
          </a:xfrm>
          <a:prstGeom prst="rect">
            <a:avLst/>
          </a:prstGeom>
          <a:solidFill>
            <a:srgbClr val="C34E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27902" y="3430858"/>
            <a:ext cx="2601799" cy="738663"/>
          </a:xfrm>
          <a:prstGeom prst="rect">
            <a:avLst/>
          </a:prstGeom>
          <a:solidFill>
            <a:srgbClr val="C34E2D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5885458" y="3048321"/>
            <a:ext cx="2601799" cy="381687"/>
          </a:xfrm>
          <a:prstGeom prst="rect">
            <a:avLst/>
          </a:prstGeom>
          <a:solidFill>
            <a:srgbClr val="5C8E3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5885458" y="3430009"/>
            <a:ext cx="2601799" cy="1600438"/>
          </a:xfrm>
          <a:prstGeom prst="rect">
            <a:avLst/>
          </a:prstGeom>
          <a:solidFill>
            <a:srgbClr val="5C8E3A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3206680" y="3048321"/>
            <a:ext cx="2601799" cy="381687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3206680" y="3430009"/>
            <a:ext cx="2601799" cy="738663"/>
          </a:xfrm>
          <a:prstGeom prst="rect">
            <a:avLst/>
          </a:prstGeom>
          <a:solidFill>
            <a:srgbClr val="FFB3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527903" y="3049171"/>
            <a:ext cx="2601798" cy="3816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Macro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7901" y="3430857"/>
            <a:ext cx="2601800" cy="738664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r>
              <a:rPr lang="en-US" sz="1400" dirty="0">
                <a:solidFill>
                  <a:srgbClr val="54544B"/>
                </a:solidFill>
              </a:rPr>
              <a:t>National accounts (SNA 2008)</a:t>
            </a:r>
          </a:p>
          <a:p>
            <a:r>
              <a:rPr lang="en-US" sz="1400" dirty="0">
                <a:solidFill>
                  <a:srgbClr val="54544B"/>
                </a:solidFill>
              </a:rPr>
              <a:t>Balance of payments (IMF BOP6)</a:t>
            </a:r>
          </a:p>
          <a:p>
            <a:r>
              <a:rPr lang="en-US" sz="1400" dirty="0">
                <a:solidFill>
                  <a:srgbClr val="54544B"/>
                </a:solidFill>
              </a:rPr>
              <a:t>Gov. finance (IMF GFSM2014)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85459" y="3048322"/>
            <a:ext cx="2601798" cy="3816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Micro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85457" y="3430008"/>
            <a:ext cx="2601800" cy="1600438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r>
              <a:rPr lang="en-US" sz="1400" dirty="0">
                <a:solidFill>
                  <a:srgbClr val="54544B"/>
                </a:solidFill>
              </a:rPr>
              <a:t>Agriculture production (FAOSTAT)</a:t>
            </a:r>
          </a:p>
          <a:p>
            <a:r>
              <a:rPr lang="en-US" sz="1400" dirty="0">
                <a:solidFill>
                  <a:srgbClr val="54544B"/>
                </a:solidFill>
              </a:rPr>
              <a:t>Industrial + economic surveys</a:t>
            </a:r>
          </a:p>
          <a:p>
            <a:r>
              <a:rPr lang="en-US" sz="1400" dirty="0">
                <a:solidFill>
                  <a:srgbClr val="54544B"/>
                </a:solidFill>
              </a:rPr>
              <a:t>Energy balance (IEA)</a:t>
            </a:r>
          </a:p>
          <a:p>
            <a:r>
              <a:rPr lang="en-US" sz="1400" dirty="0">
                <a:solidFill>
                  <a:srgbClr val="54544B"/>
                </a:solidFill>
              </a:rPr>
              <a:t>Trade flows (COMTRADE)</a:t>
            </a:r>
          </a:p>
          <a:p>
            <a:r>
              <a:rPr lang="en-US" sz="1400" dirty="0">
                <a:solidFill>
                  <a:srgbClr val="54544B"/>
                </a:solidFill>
              </a:rPr>
              <a:t>Tariffs (TRAINS)</a:t>
            </a:r>
          </a:p>
          <a:p>
            <a:r>
              <a:rPr lang="en-US" sz="1400" dirty="0">
                <a:solidFill>
                  <a:srgbClr val="54544B"/>
                </a:solidFill>
              </a:rPr>
              <a:t>Labor force surveys</a:t>
            </a:r>
          </a:p>
          <a:p>
            <a:r>
              <a:rPr lang="en-US" sz="1400" dirty="0">
                <a:solidFill>
                  <a:srgbClr val="54544B"/>
                </a:solidFill>
              </a:rPr>
              <a:t>Household surveys (LSMS)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6681" y="3048322"/>
            <a:ext cx="2601798" cy="3816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Supply-use table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6679" y="3430008"/>
            <a:ext cx="2601800" cy="738664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r>
              <a:rPr lang="en-US" sz="1400" dirty="0">
                <a:solidFill>
                  <a:srgbClr val="54544B"/>
                </a:solidFill>
              </a:rPr>
              <a:t>Rebased national accounts</a:t>
            </a:r>
          </a:p>
          <a:p>
            <a:r>
              <a:rPr lang="en-US" sz="1400" dirty="0">
                <a:solidFill>
                  <a:srgbClr val="54544B"/>
                </a:solidFill>
              </a:rPr>
              <a:t>Agriculture censuses + surveys</a:t>
            </a:r>
          </a:p>
          <a:p>
            <a:r>
              <a:rPr lang="en-US" sz="1400" dirty="0">
                <a:solidFill>
                  <a:srgbClr val="54544B"/>
                </a:solidFill>
              </a:rPr>
              <a:t>Industrial firm surveys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SAM-Building Toolkit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4779" y="1301993"/>
            <a:ext cx="8557281" cy="1526048"/>
          </a:xfrm>
        </p:spPr>
        <p:txBody>
          <a:bodyPr>
            <a:normAutofit/>
          </a:bodyPr>
          <a:lstStyle/>
          <a:p>
            <a:pPr marL="0" indent="0">
              <a:buNone/>
              <a:tabLst>
                <a:tab pos="395288" algn="l"/>
              </a:tabLst>
            </a:pPr>
            <a:r>
              <a:rPr lang="en-US" b="1" dirty="0"/>
              <a:t>	Reconciles data from multiple sources</a:t>
            </a:r>
          </a:p>
          <a:p>
            <a:pPr lvl="1">
              <a:tabLst>
                <a:tab pos="395288" algn="l"/>
              </a:tabLst>
            </a:pPr>
            <a:r>
              <a:rPr lang="en-US" dirty="0"/>
              <a:t>Core toolkit tailored to national statistical reports</a:t>
            </a:r>
          </a:p>
          <a:p>
            <a:pPr lvl="1">
              <a:tabLst>
                <a:tab pos="395288" algn="l"/>
              </a:tabLst>
            </a:pPr>
            <a:r>
              <a:rPr lang="en-US" dirty="0"/>
              <a:t>Final data reconciliation uses cross-entropy estimation </a:t>
            </a:r>
          </a:p>
          <a:p>
            <a:pPr lvl="1">
              <a:tabLst>
                <a:tab pos="395288" algn="l"/>
              </a:tabLst>
            </a:pPr>
            <a:r>
              <a:rPr lang="en-US" dirty="0"/>
              <a:t>Coded in Microsoft Excel® and GAMS®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569" y="1301993"/>
            <a:ext cx="437944" cy="421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05094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883502" y="1741425"/>
            <a:ext cx="3713898" cy="461665"/>
          </a:xfrm>
          <a:prstGeom prst="rect">
            <a:avLst/>
          </a:prstGeom>
          <a:solidFill>
            <a:srgbClr val="C34E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83502" y="2203089"/>
            <a:ext cx="3713898" cy="646330"/>
          </a:xfrm>
          <a:prstGeom prst="rect">
            <a:avLst/>
          </a:prstGeom>
          <a:solidFill>
            <a:srgbClr val="C34E2D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83502" y="1741425"/>
            <a:ext cx="37138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Step 1: Macro SAM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3502" y="2203088"/>
            <a:ext cx="3713898" cy="646331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r>
              <a:rPr lang="en-US" dirty="0">
                <a:solidFill>
                  <a:srgbClr val="54544B"/>
                </a:solidFill>
              </a:rPr>
              <a:t>Single aggregate activity, commodity, labor and household accounts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0451" y="3074797"/>
            <a:ext cx="3713898" cy="461665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2740451" y="3536460"/>
            <a:ext cx="3713898" cy="646330"/>
          </a:xfrm>
          <a:prstGeom prst="rect">
            <a:avLst/>
          </a:prstGeom>
          <a:solidFill>
            <a:srgbClr val="FFB3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2740451" y="3074797"/>
            <a:ext cx="37138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Step 2: Supply-Use Table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0451" y="3536460"/>
            <a:ext cx="3713898" cy="646331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r>
              <a:rPr lang="en-US" dirty="0">
                <a:solidFill>
                  <a:srgbClr val="54544B"/>
                </a:solidFill>
              </a:rPr>
              <a:t>Disaggregate and balance activity and commodity accounts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97400" y="4408169"/>
            <a:ext cx="3713898" cy="461665"/>
          </a:xfrm>
          <a:prstGeom prst="rect">
            <a:avLst/>
          </a:prstGeom>
          <a:solidFill>
            <a:srgbClr val="5C8E3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4597400" y="4869832"/>
            <a:ext cx="3713898" cy="646330"/>
          </a:xfrm>
          <a:prstGeom prst="rect">
            <a:avLst/>
          </a:prstGeom>
          <a:solidFill>
            <a:srgbClr val="5C8E3A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4597400" y="4408169"/>
            <a:ext cx="37138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Step 3: Income Distribution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7400" y="4869832"/>
            <a:ext cx="3713898" cy="646331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r>
              <a:rPr lang="en-US" dirty="0">
                <a:solidFill>
                  <a:srgbClr val="54544B"/>
                </a:solidFill>
              </a:rPr>
              <a:t>Disaggregate and balance labor and household accounts </a:t>
            </a:r>
          </a:p>
        </p:txBody>
      </p:sp>
    </p:spTree>
    <p:extLst>
      <p:ext uri="{BB962C8B-B14F-4D97-AF65-F5344CB8AC3E}">
        <p14:creationId xmlns:p14="http://schemas.microsoft.com/office/powerpoint/2010/main" val="576495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Toolkit Files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3087114-B08E-4B20-AE6D-5E1215A1E4A8}"/>
              </a:ext>
            </a:extLst>
          </p:cNvPr>
          <p:cNvGrpSpPr/>
          <p:nvPr/>
        </p:nvGrpSpPr>
        <p:grpSpPr>
          <a:xfrm>
            <a:off x="203316" y="1870215"/>
            <a:ext cx="8712202" cy="4229675"/>
            <a:chOff x="203316" y="1870215"/>
            <a:chExt cx="8712202" cy="4229675"/>
          </a:xfrm>
        </p:grpSpPr>
        <p:sp>
          <p:nvSpPr>
            <p:cNvPr id="4" name="Text Box 2"/>
            <p:cNvSpPr txBox="1">
              <a:spLocks noChangeArrowheads="1"/>
            </p:cNvSpPr>
            <p:nvPr/>
          </p:nvSpPr>
          <p:spPr bwMode="auto">
            <a:xfrm>
              <a:off x="1819392" y="4434949"/>
              <a:ext cx="2419351" cy="814131"/>
            </a:xfrm>
            <a:prstGeom prst="rect">
              <a:avLst/>
            </a:prstGeom>
            <a:solidFill>
              <a:srgbClr val="C34E2D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spcAft>
                  <a:spcPts val="1000"/>
                </a:spcAft>
              </a:pPr>
              <a:r>
                <a:rPr lang="en-US" sz="1600" b="1" dirty="0">
                  <a:solidFill>
                    <a:schemeClr val="bg1"/>
                  </a:solidFill>
                  <a:latin typeface="Calibri" pitchFamily="34" charset="0"/>
                </a:rPr>
                <a:t>Build and Balance </a:t>
              </a:r>
              <a:r>
                <a:rPr lang="en-US" sz="1000" dirty="0">
                  <a:solidFill>
                    <a:schemeClr val="bg1"/>
                  </a:solidFill>
                  <a:latin typeface="Calibri" pitchFamily="34" charset="0"/>
                </a:rPr>
                <a:t>3household.gms</a:t>
              </a:r>
              <a:r>
                <a:rPr lang="en-US" sz="1600" dirty="0">
                  <a:solidFill>
                    <a:schemeClr val="bg1"/>
                  </a:solidFill>
                  <a:latin typeface="Calibri" pitchFamily="34" charset="0"/>
                </a:rPr>
                <a:t>                  </a:t>
              </a:r>
              <a:r>
                <a:rPr lang="en-US" sz="1000" dirty="0">
                  <a:solidFill>
                    <a:schemeClr val="bg1"/>
                  </a:solidFill>
                  <a:latin typeface="Calibri" pitchFamily="34" charset="0"/>
                </a:rPr>
                <a:t>4balance.gms</a:t>
              </a:r>
              <a:r>
                <a:rPr lang="en-US" sz="1600" dirty="0">
                  <a:solidFill>
                    <a:schemeClr val="bg1"/>
                  </a:solidFill>
                  <a:latin typeface="Calibri" pitchFamily="34" charset="0"/>
                </a:rPr>
                <a:t> </a:t>
              </a:r>
              <a:endParaRPr lang="en-US" sz="2800" dirty="0">
                <a:solidFill>
                  <a:schemeClr val="bg1"/>
                </a:solidFill>
              </a:endParaRPr>
            </a:p>
          </p:txBody>
        </p:sp>
        <p:sp>
          <p:nvSpPr>
            <p:cNvPr id="5" name="Text Box 3"/>
            <p:cNvSpPr txBox="1">
              <a:spLocks noChangeArrowheads="1"/>
            </p:cNvSpPr>
            <p:nvPr/>
          </p:nvSpPr>
          <p:spPr bwMode="auto">
            <a:xfrm>
              <a:off x="4664986" y="3632340"/>
              <a:ext cx="2412204" cy="584775"/>
            </a:xfrm>
            <a:prstGeom prst="rect">
              <a:avLst/>
            </a:prstGeom>
            <a:solidFill>
              <a:srgbClr val="0B8EB8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/>
                  </a:solidFill>
                  <a:latin typeface="Calibri" pitchFamily="34" charset="0"/>
                </a:rPr>
                <a:t>Process survey data </a:t>
              </a:r>
            </a:p>
            <a:p>
              <a:pPr algn="ctr"/>
              <a:r>
                <a:rPr lang="en-US" sz="1000" dirty="0">
                  <a:solidFill>
                    <a:schemeClr val="bg1"/>
                  </a:solidFill>
                  <a:latin typeface="Calibri" pitchFamily="34" charset="0"/>
                </a:rPr>
                <a:t>Stata do files</a:t>
              </a:r>
              <a:r>
                <a:rPr lang="en-US" sz="1600" dirty="0">
                  <a:solidFill>
                    <a:schemeClr val="bg1"/>
                  </a:solidFill>
                  <a:latin typeface="Calibri" pitchFamily="34" charset="0"/>
                </a:rPr>
                <a:t> 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6" name="Text Box 4"/>
            <p:cNvSpPr txBox="1">
              <a:spLocks noChangeArrowheads="1"/>
            </p:cNvSpPr>
            <p:nvPr/>
          </p:nvSpPr>
          <p:spPr bwMode="auto">
            <a:xfrm>
              <a:off x="4666574" y="4549915"/>
              <a:ext cx="2410616" cy="584775"/>
            </a:xfrm>
            <a:prstGeom prst="rect">
              <a:avLst/>
            </a:prstGeom>
            <a:solidFill>
              <a:srgbClr val="8AA63D"/>
            </a:solidFill>
            <a:ln w="9525">
              <a:noFill/>
              <a:prstDash val="dash"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>
                <a:spcAft>
                  <a:spcPts val="1000"/>
                </a:spcAft>
              </a:pPr>
              <a:r>
                <a:rPr lang="en-US" sz="1600" b="1" dirty="0">
                  <a:solidFill>
                    <a:schemeClr val="bg1"/>
                  </a:solidFill>
                  <a:latin typeface="Calibri" pitchFamily="34" charset="0"/>
                </a:rPr>
                <a:t>Prior Household SAM </a:t>
              </a:r>
              <a:r>
                <a:rPr lang="en-US" sz="1000" dirty="0">
                  <a:solidFill>
                    <a:schemeClr val="bg1"/>
                  </a:solidFill>
                  <a:latin typeface="Calibri" pitchFamily="34" charset="0"/>
                </a:rPr>
                <a:t>HHD_2017.xlsx</a:t>
              </a:r>
              <a:r>
                <a:rPr lang="en-US" sz="1600" dirty="0">
                  <a:solidFill>
                    <a:schemeClr val="bg1"/>
                  </a:solidFill>
                  <a:latin typeface="Calibri" pitchFamily="34" charset="0"/>
                </a:rPr>
                <a:t> </a:t>
              </a:r>
              <a:endParaRPr lang="en-US" sz="2800" dirty="0">
                <a:solidFill>
                  <a:schemeClr val="bg1"/>
                </a:solidFill>
              </a:endParaRPr>
            </a:p>
          </p:txBody>
        </p:sp>
        <p:sp>
          <p:nvSpPr>
            <p:cNvPr id="7" name="Text Box 5"/>
            <p:cNvSpPr txBox="1">
              <a:spLocks noChangeArrowheads="1"/>
            </p:cNvSpPr>
            <p:nvPr/>
          </p:nvSpPr>
          <p:spPr bwMode="auto">
            <a:xfrm>
              <a:off x="4666574" y="1870215"/>
              <a:ext cx="2419351" cy="584775"/>
            </a:xfrm>
            <a:prstGeom prst="rect">
              <a:avLst/>
            </a:prstGeom>
            <a:solidFill>
              <a:srgbClr val="8AA63D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/>
                  </a:solidFill>
                  <a:latin typeface="Calibri" pitchFamily="34" charset="0"/>
                </a:rPr>
                <a:t>SUT Coefficients </a:t>
              </a:r>
            </a:p>
            <a:p>
              <a:pPr algn="ctr"/>
              <a:r>
                <a:rPr lang="en-US" sz="1000" dirty="0">
                  <a:solidFill>
                    <a:schemeClr val="bg1"/>
                  </a:solidFill>
                  <a:latin typeface="Calibri" pitchFamily="34" charset="0"/>
                </a:rPr>
                <a:t>SUT_2017.xlsx</a:t>
              </a:r>
              <a:r>
                <a:rPr lang="en-US" sz="1600" dirty="0">
                  <a:solidFill>
                    <a:schemeClr val="bg1"/>
                  </a:solidFill>
                  <a:latin typeface="Calibri" pitchFamily="34" charset="0"/>
                </a:rPr>
                <a:t> </a:t>
              </a:r>
            </a:p>
          </p:txBody>
        </p:sp>
        <p:sp>
          <p:nvSpPr>
            <p:cNvPr id="8" name="Text Box 6"/>
            <p:cNvSpPr txBox="1">
              <a:spLocks noChangeArrowheads="1"/>
            </p:cNvSpPr>
            <p:nvPr/>
          </p:nvSpPr>
          <p:spPr bwMode="auto">
            <a:xfrm>
              <a:off x="4664985" y="2721115"/>
              <a:ext cx="2419351" cy="584775"/>
            </a:xfrm>
            <a:prstGeom prst="rect">
              <a:avLst/>
            </a:prstGeom>
            <a:solidFill>
              <a:srgbClr val="8AA63D"/>
            </a:solidFill>
            <a:ln w="9525">
              <a:noFill/>
              <a:prstDash val="dash"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>
                <a:spcAft>
                  <a:spcPts val="1000"/>
                </a:spcAft>
              </a:pPr>
              <a:r>
                <a:rPr lang="en-US" sz="1600" b="1" dirty="0">
                  <a:solidFill>
                    <a:schemeClr val="bg1"/>
                  </a:solidFill>
                  <a:latin typeface="Calibri" pitchFamily="34" charset="0"/>
                </a:rPr>
                <a:t>Prior National SAM </a:t>
              </a:r>
              <a:r>
                <a:rPr lang="en-US" sz="1000" dirty="0">
                  <a:solidFill>
                    <a:schemeClr val="bg1"/>
                  </a:solidFill>
                  <a:latin typeface="Calibri" pitchFamily="34" charset="0"/>
                </a:rPr>
                <a:t>NAT_2017.xlsx</a:t>
              </a:r>
              <a:r>
                <a:rPr lang="en-US" sz="1600" dirty="0">
                  <a:solidFill>
                    <a:schemeClr val="bg1"/>
                  </a:solidFill>
                  <a:latin typeface="Calibri" pitchFamily="34" charset="0"/>
                </a:rPr>
                <a:t> </a:t>
              </a:r>
              <a:endParaRPr lang="en-US" sz="2800" dirty="0">
                <a:solidFill>
                  <a:schemeClr val="bg1"/>
                </a:solidFill>
              </a:endParaRPr>
            </a:p>
          </p:txBody>
        </p:sp>
        <p:cxnSp>
          <p:nvCxnSpPr>
            <p:cNvPr id="9" name="AutoShape 7"/>
            <p:cNvCxnSpPr>
              <a:cxnSpLocks noChangeShapeType="1"/>
              <a:stCxn id="7" idx="2"/>
              <a:endCxn id="8" idx="0"/>
            </p:cNvCxnSpPr>
            <p:nvPr/>
          </p:nvCxnSpPr>
          <p:spPr bwMode="auto">
            <a:xfrm flipH="1">
              <a:off x="5874661" y="2454990"/>
              <a:ext cx="1589" cy="266125"/>
            </a:xfrm>
            <a:prstGeom prst="straightConnector1">
              <a:avLst/>
            </a:prstGeom>
            <a:noFill/>
            <a:ln w="9525">
              <a:solidFill>
                <a:srgbClr val="8AA63D"/>
              </a:solidFill>
              <a:round/>
              <a:headEnd/>
              <a:tailEnd type="triangle" w="lg" len="med"/>
            </a:ln>
          </p:spPr>
        </p:cxnSp>
        <p:cxnSp>
          <p:nvCxnSpPr>
            <p:cNvPr id="10" name="AutoShape 8"/>
            <p:cNvCxnSpPr>
              <a:cxnSpLocks noChangeShapeType="1"/>
              <a:stCxn id="8" idx="1"/>
              <a:endCxn id="14" idx="3"/>
            </p:cNvCxnSpPr>
            <p:nvPr/>
          </p:nvCxnSpPr>
          <p:spPr bwMode="auto">
            <a:xfrm flipH="1" flipV="1">
              <a:off x="4241125" y="3013502"/>
              <a:ext cx="423860" cy="1"/>
            </a:xfrm>
            <a:prstGeom prst="straightConnector1">
              <a:avLst/>
            </a:prstGeom>
            <a:noFill/>
            <a:ln w="9525">
              <a:solidFill>
                <a:srgbClr val="5C8E3A"/>
              </a:solidFill>
              <a:round/>
              <a:headEnd/>
              <a:tailEnd type="triangle" w="lg" len="med"/>
            </a:ln>
          </p:spPr>
        </p:cxnSp>
        <p:cxnSp>
          <p:nvCxnSpPr>
            <p:cNvPr id="11" name="AutoShape 9"/>
            <p:cNvCxnSpPr>
              <a:cxnSpLocks noChangeShapeType="1"/>
              <a:stCxn id="14" idx="2"/>
              <a:endCxn id="4" idx="0"/>
            </p:cNvCxnSpPr>
            <p:nvPr/>
          </p:nvCxnSpPr>
          <p:spPr bwMode="auto">
            <a:xfrm flipH="1">
              <a:off x="3029068" y="3429000"/>
              <a:ext cx="2382" cy="1005949"/>
            </a:xfrm>
            <a:prstGeom prst="straightConnector1">
              <a:avLst/>
            </a:prstGeom>
            <a:noFill/>
            <a:ln w="9525">
              <a:solidFill>
                <a:srgbClr val="C34E2D"/>
              </a:solidFill>
              <a:round/>
              <a:headEnd/>
              <a:tailEnd type="triangle" w="lg" len="med"/>
            </a:ln>
          </p:spPr>
        </p:cxnSp>
        <p:cxnSp>
          <p:nvCxnSpPr>
            <p:cNvPr id="12" name="AutoShape 10"/>
            <p:cNvCxnSpPr>
              <a:cxnSpLocks noChangeShapeType="1"/>
              <a:stCxn id="5" idx="2"/>
              <a:endCxn id="6" idx="0"/>
            </p:cNvCxnSpPr>
            <p:nvPr/>
          </p:nvCxnSpPr>
          <p:spPr bwMode="auto">
            <a:xfrm>
              <a:off x="5871088" y="4217115"/>
              <a:ext cx="794" cy="332800"/>
            </a:xfrm>
            <a:prstGeom prst="straightConnector1">
              <a:avLst/>
            </a:prstGeom>
            <a:noFill/>
            <a:ln w="9525">
              <a:solidFill>
                <a:srgbClr val="0B8EB8"/>
              </a:solidFill>
              <a:round/>
              <a:headEnd/>
              <a:tailEnd type="triangle" w="lg" len="med"/>
            </a:ln>
          </p:spPr>
        </p:cxnSp>
        <p:cxnSp>
          <p:nvCxnSpPr>
            <p:cNvPr id="13" name="AutoShape 11"/>
            <p:cNvCxnSpPr>
              <a:cxnSpLocks noChangeShapeType="1"/>
              <a:stCxn id="6" idx="1"/>
              <a:endCxn id="4" idx="3"/>
            </p:cNvCxnSpPr>
            <p:nvPr/>
          </p:nvCxnSpPr>
          <p:spPr bwMode="auto">
            <a:xfrm flipH="1" flipV="1">
              <a:off x="4238743" y="4842015"/>
              <a:ext cx="427831" cy="288"/>
            </a:xfrm>
            <a:prstGeom prst="straightConnector1">
              <a:avLst/>
            </a:prstGeom>
            <a:noFill/>
            <a:ln w="9525">
              <a:solidFill>
                <a:srgbClr val="5C8E3A"/>
              </a:solidFill>
              <a:round/>
              <a:headEnd/>
              <a:tailEnd type="triangle" w="lg" len="med"/>
            </a:ln>
          </p:spPr>
        </p:cxnSp>
        <p:sp>
          <p:nvSpPr>
            <p:cNvPr id="14" name="Text Box 12"/>
            <p:cNvSpPr txBox="1">
              <a:spLocks noChangeArrowheads="1"/>
            </p:cNvSpPr>
            <p:nvPr/>
          </p:nvSpPr>
          <p:spPr bwMode="auto">
            <a:xfrm>
              <a:off x="1821774" y="2598003"/>
              <a:ext cx="2419351" cy="830997"/>
            </a:xfrm>
            <a:prstGeom prst="rect">
              <a:avLst/>
            </a:prstGeom>
            <a:solidFill>
              <a:srgbClr val="C34E2D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/>
                  </a:solidFill>
                  <a:latin typeface="Calibri" pitchFamily="34" charset="0"/>
                </a:rPr>
                <a:t>Build and Balance </a:t>
              </a:r>
              <a:r>
                <a:rPr lang="en-US" sz="1000" dirty="0">
                  <a:solidFill>
                    <a:schemeClr val="bg1"/>
                  </a:solidFill>
                  <a:latin typeface="Calibri" pitchFamily="34" charset="0"/>
                </a:rPr>
                <a:t>1national.gms</a:t>
              </a:r>
              <a:r>
                <a:rPr lang="en-US" sz="1600" dirty="0">
                  <a:solidFill>
                    <a:schemeClr val="bg1"/>
                  </a:solidFill>
                  <a:latin typeface="Calibri" pitchFamily="34" charset="0"/>
                </a:rPr>
                <a:t>  </a:t>
              </a:r>
            </a:p>
            <a:p>
              <a:pPr algn="ctr"/>
              <a:r>
                <a:rPr lang="en-US" sz="1000" dirty="0">
                  <a:solidFill>
                    <a:schemeClr val="bg1"/>
                  </a:solidFill>
                  <a:latin typeface="Calibri" pitchFamily="34" charset="0"/>
                </a:rPr>
                <a:t>2balance.gms</a:t>
              </a:r>
              <a:r>
                <a:rPr lang="en-US" sz="1600" dirty="0">
                  <a:solidFill>
                    <a:schemeClr val="bg1"/>
                  </a:solidFill>
                  <a:latin typeface="Calibri" pitchFamily="34" charset="0"/>
                </a:rPr>
                <a:t> </a:t>
              </a:r>
              <a:endParaRPr lang="en-US" sz="2800" dirty="0">
                <a:solidFill>
                  <a:schemeClr val="bg1"/>
                </a:solidFill>
              </a:endParaRPr>
            </a:p>
          </p:txBody>
        </p:sp>
        <p:sp>
          <p:nvSpPr>
            <p:cNvPr id="15" name="Oval 14"/>
            <p:cNvSpPr>
              <a:spLocks noChangeArrowheads="1"/>
            </p:cNvSpPr>
            <p:nvPr/>
          </p:nvSpPr>
          <p:spPr bwMode="auto">
            <a:xfrm>
              <a:off x="7249679" y="2005732"/>
              <a:ext cx="779462" cy="349250"/>
            </a:xfrm>
            <a:prstGeom prst="ellipse">
              <a:avLst/>
            </a:prstGeom>
            <a:solidFill>
              <a:srgbClr val="FFB300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rgbClr val="54544B"/>
                </a:solidFill>
              </a:endParaRPr>
            </a:p>
          </p:txBody>
        </p:sp>
        <p:sp>
          <p:nvSpPr>
            <p:cNvPr id="16" name="Text Box 15"/>
            <p:cNvSpPr txBox="1">
              <a:spLocks noChangeArrowheads="1"/>
            </p:cNvSpPr>
            <p:nvPr/>
          </p:nvSpPr>
          <p:spPr bwMode="auto">
            <a:xfrm>
              <a:off x="7286191" y="2020020"/>
              <a:ext cx="838200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spcAft>
                  <a:spcPts val="1000"/>
                </a:spcAft>
              </a:pPr>
              <a:r>
                <a:rPr lang="en-US" sz="1600" b="1" dirty="0">
                  <a:solidFill>
                    <a:srgbClr val="54544B"/>
                  </a:solidFill>
                  <a:latin typeface="Calibri" pitchFamily="34" charset="0"/>
                </a:rPr>
                <a:t>Step 1</a:t>
              </a:r>
              <a:endParaRPr lang="en-US" sz="2800" b="1" dirty="0">
                <a:solidFill>
                  <a:srgbClr val="54544B"/>
                </a:solidFill>
              </a:endParaRPr>
            </a:p>
          </p:txBody>
        </p:sp>
        <p:sp>
          <p:nvSpPr>
            <p:cNvPr id="18" name="Text Box 26"/>
            <p:cNvSpPr txBox="1">
              <a:spLocks noChangeArrowheads="1"/>
            </p:cNvSpPr>
            <p:nvPr/>
          </p:nvSpPr>
          <p:spPr bwMode="auto">
            <a:xfrm>
              <a:off x="203316" y="2860111"/>
              <a:ext cx="1820863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Aft>
                  <a:spcPts val="1000"/>
                </a:spcAft>
              </a:pPr>
              <a:r>
                <a:rPr lang="en-US" sz="1600" b="1" u="sng" dirty="0">
                  <a:solidFill>
                    <a:srgbClr val="54544B"/>
                  </a:solidFill>
                </a:rPr>
                <a:t>GAMS</a:t>
              </a:r>
              <a:r>
                <a:rPr lang="en-US" sz="1600" dirty="0">
                  <a:solidFill>
                    <a:srgbClr val="54544B"/>
                  </a:solidFill>
                </a:rPr>
                <a:t>: Press F9</a:t>
              </a:r>
              <a:endParaRPr lang="en-US" sz="3600" dirty="0">
                <a:solidFill>
                  <a:srgbClr val="54544B"/>
                </a:solidFill>
              </a:endParaRPr>
            </a:p>
          </p:txBody>
        </p:sp>
        <p:sp>
          <p:nvSpPr>
            <p:cNvPr id="19" name="Text Box 27"/>
            <p:cNvSpPr txBox="1">
              <a:spLocks noChangeArrowheads="1"/>
            </p:cNvSpPr>
            <p:nvPr/>
          </p:nvSpPr>
          <p:spPr bwMode="auto">
            <a:xfrm>
              <a:off x="1821775" y="5515115"/>
              <a:ext cx="2419350" cy="584775"/>
            </a:xfrm>
            <a:prstGeom prst="rect">
              <a:avLst/>
            </a:prstGeom>
            <a:solidFill>
              <a:srgbClr val="8AA63D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/>
                  </a:solidFill>
                  <a:latin typeface="Calibri" pitchFamily="34" charset="0"/>
                </a:rPr>
                <a:t>Balanced SAMs  </a:t>
              </a:r>
            </a:p>
            <a:p>
              <a:pPr algn="ctr"/>
              <a:r>
                <a:rPr lang="en-US" sz="1000" dirty="0">
                  <a:solidFill>
                    <a:schemeClr val="bg1"/>
                  </a:solidFill>
                  <a:latin typeface="Calibri" pitchFamily="34" charset="0"/>
                </a:rPr>
                <a:t>SAM_2017.xlsx</a:t>
              </a:r>
              <a:r>
                <a:rPr lang="en-US" sz="1600" dirty="0">
                  <a:solidFill>
                    <a:schemeClr val="bg1"/>
                  </a:solidFill>
                  <a:latin typeface="Calibri" pitchFamily="34" charset="0"/>
                </a:rPr>
                <a:t> </a:t>
              </a:r>
              <a:endParaRPr lang="en-US" sz="2800" dirty="0">
                <a:solidFill>
                  <a:schemeClr val="bg1"/>
                </a:solidFill>
              </a:endParaRPr>
            </a:p>
          </p:txBody>
        </p:sp>
        <p:cxnSp>
          <p:nvCxnSpPr>
            <p:cNvPr id="20" name="AutoShape 28"/>
            <p:cNvCxnSpPr>
              <a:cxnSpLocks noChangeShapeType="1"/>
              <a:stCxn id="4" idx="2"/>
              <a:endCxn id="19" idx="0"/>
            </p:cNvCxnSpPr>
            <p:nvPr/>
          </p:nvCxnSpPr>
          <p:spPr bwMode="auto">
            <a:xfrm>
              <a:off x="3029068" y="5249080"/>
              <a:ext cx="2382" cy="266035"/>
            </a:xfrm>
            <a:prstGeom prst="straightConnector1">
              <a:avLst/>
            </a:prstGeom>
            <a:noFill/>
            <a:ln w="9525">
              <a:solidFill>
                <a:srgbClr val="C34E2D"/>
              </a:solidFill>
              <a:round/>
              <a:headEnd/>
              <a:tailEnd type="triangle" w="lg" len="med"/>
            </a:ln>
          </p:spPr>
        </p:cxnSp>
        <p:sp>
          <p:nvSpPr>
            <p:cNvPr id="21" name="Text Box 32"/>
            <p:cNvSpPr txBox="1">
              <a:spLocks noChangeArrowheads="1"/>
            </p:cNvSpPr>
            <p:nvPr/>
          </p:nvSpPr>
          <p:spPr bwMode="auto">
            <a:xfrm>
              <a:off x="7110922" y="4564995"/>
              <a:ext cx="1598613" cy="5540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spcAft>
                  <a:spcPts val="1000"/>
                </a:spcAft>
              </a:pPr>
              <a:r>
                <a:rPr lang="en-US" sz="1600" b="1" u="sng" dirty="0">
                  <a:solidFill>
                    <a:srgbClr val="54544B"/>
                  </a:solidFill>
                </a:rPr>
                <a:t>Excel</a:t>
              </a:r>
              <a:r>
                <a:rPr lang="en-US" sz="1600" dirty="0">
                  <a:solidFill>
                    <a:srgbClr val="54544B"/>
                  </a:solidFill>
                </a:rPr>
                <a:t>: Split households </a:t>
              </a:r>
              <a:endParaRPr lang="en-US" sz="3600" dirty="0">
                <a:solidFill>
                  <a:srgbClr val="54544B"/>
                </a:solidFill>
              </a:endParaRPr>
            </a:p>
          </p:txBody>
        </p:sp>
        <p:sp>
          <p:nvSpPr>
            <p:cNvPr id="22" name="Text Box 33"/>
            <p:cNvSpPr txBox="1">
              <a:spLocks noChangeArrowheads="1"/>
            </p:cNvSpPr>
            <p:nvPr/>
          </p:nvSpPr>
          <p:spPr bwMode="auto">
            <a:xfrm>
              <a:off x="242211" y="4672738"/>
              <a:ext cx="2209800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Aft>
                  <a:spcPts val="1000"/>
                </a:spcAft>
              </a:pPr>
              <a:r>
                <a:rPr lang="en-US" sz="1600" b="1" u="sng" dirty="0">
                  <a:solidFill>
                    <a:srgbClr val="54544B"/>
                  </a:solidFill>
                </a:rPr>
                <a:t>GAMS</a:t>
              </a:r>
              <a:r>
                <a:rPr lang="en-US" sz="1600" dirty="0">
                  <a:solidFill>
                    <a:srgbClr val="54544B"/>
                  </a:solidFill>
                </a:rPr>
                <a:t>: Press F9</a:t>
              </a:r>
              <a:endParaRPr lang="en-US" sz="3600" dirty="0">
                <a:solidFill>
                  <a:srgbClr val="54544B"/>
                </a:solidFill>
              </a:endParaRPr>
            </a:p>
          </p:txBody>
        </p:sp>
        <p:sp>
          <p:nvSpPr>
            <p:cNvPr id="24" name="Oval 14"/>
            <p:cNvSpPr>
              <a:spLocks noChangeArrowheads="1"/>
            </p:cNvSpPr>
            <p:nvPr/>
          </p:nvSpPr>
          <p:spPr bwMode="auto">
            <a:xfrm>
              <a:off x="323968" y="2440702"/>
              <a:ext cx="779462" cy="349250"/>
            </a:xfrm>
            <a:prstGeom prst="ellipse">
              <a:avLst/>
            </a:prstGeom>
            <a:solidFill>
              <a:srgbClr val="FFB300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rgbClr val="54544B"/>
                </a:solidFill>
              </a:endParaRPr>
            </a:p>
          </p:txBody>
        </p:sp>
        <p:sp>
          <p:nvSpPr>
            <p:cNvPr id="25" name="Text Box 15"/>
            <p:cNvSpPr txBox="1">
              <a:spLocks noChangeArrowheads="1"/>
            </p:cNvSpPr>
            <p:nvPr/>
          </p:nvSpPr>
          <p:spPr bwMode="auto">
            <a:xfrm>
              <a:off x="360480" y="2454990"/>
              <a:ext cx="838200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spcAft>
                  <a:spcPts val="1000"/>
                </a:spcAft>
              </a:pPr>
              <a:r>
                <a:rPr lang="en-US" sz="1600" b="1" dirty="0">
                  <a:solidFill>
                    <a:srgbClr val="54544B"/>
                  </a:solidFill>
                  <a:latin typeface="Calibri" pitchFamily="34" charset="0"/>
                </a:rPr>
                <a:t>Step 2</a:t>
              </a:r>
              <a:endParaRPr lang="en-US" sz="2800" b="1" dirty="0">
                <a:solidFill>
                  <a:srgbClr val="54544B"/>
                </a:solidFill>
              </a:endParaRPr>
            </a:p>
          </p:txBody>
        </p:sp>
        <p:sp>
          <p:nvSpPr>
            <p:cNvPr id="26" name="Oval 14"/>
            <p:cNvSpPr>
              <a:spLocks noChangeArrowheads="1"/>
            </p:cNvSpPr>
            <p:nvPr/>
          </p:nvSpPr>
          <p:spPr bwMode="auto">
            <a:xfrm>
              <a:off x="7198879" y="4177000"/>
              <a:ext cx="779462" cy="349250"/>
            </a:xfrm>
            <a:prstGeom prst="ellipse">
              <a:avLst/>
            </a:prstGeom>
            <a:solidFill>
              <a:srgbClr val="FFB300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rgbClr val="54544B"/>
                </a:solidFill>
              </a:endParaRPr>
            </a:p>
          </p:txBody>
        </p:sp>
        <p:sp>
          <p:nvSpPr>
            <p:cNvPr id="27" name="Text Box 15"/>
            <p:cNvSpPr txBox="1">
              <a:spLocks noChangeArrowheads="1"/>
            </p:cNvSpPr>
            <p:nvPr/>
          </p:nvSpPr>
          <p:spPr bwMode="auto">
            <a:xfrm>
              <a:off x="7235391" y="4191288"/>
              <a:ext cx="838200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spcAft>
                  <a:spcPts val="1000"/>
                </a:spcAft>
              </a:pPr>
              <a:r>
                <a:rPr lang="en-US" sz="1600" b="1">
                  <a:solidFill>
                    <a:srgbClr val="54544B"/>
                  </a:solidFill>
                  <a:latin typeface="Calibri" pitchFamily="34" charset="0"/>
                </a:rPr>
                <a:t>Step 3</a:t>
              </a:r>
              <a:endParaRPr lang="en-US" sz="2800" b="1">
                <a:solidFill>
                  <a:srgbClr val="54544B"/>
                </a:solidFill>
              </a:endParaRPr>
            </a:p>
          </p:txBody>
        </p:sp>
        <p:sp>
          <p:nvSpPr>
            <p:cNvPr id="28" name="Oval 14"/>
            <p:cNvSpPr>
              <a:spLocks noChangeArrowheads="1"/>
            </p:cNvSpPr>
            <p:nvPr/>
          </p:nvSpPr>
          <p:spPr bwMode="auto">
            <a:xfrm>
              <a:off x="360480" y="4276013"/>
              <a:ext cx="779463" cy="349250"/>
            </a:xfrm>
            <a:prstGeom prst="ellipse">
              <a:avLst/>
            </a:prstGeom>
            <a:solidFill>
              <a:srgbClr val="FFB300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rgbClr val="54544B"/>
                </a:solidFill>
              </a:endParaRPr>
            </a:p>
          </p:txBody>
        </p:sp>
        <p:sp>
          <p:nvSpPr>
            <p:cNvPr id="29" name="Text Box 15"/>
            <p:cNvSpPr txBox="1">
              <a:spLocks noChangeArrowheads="1"/>
            </p:cNvSpPr>
            <p:nvPr/>
          </p:nvSpPr>
          <p:spPr bwMode="auto">
            <a:xfrm>
              <a:off x="396993" y="4290301"/>
              <a:ext cx="838200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spcAft>
                  <a:spcPts val="1000"/>
                </a:spcAft>
              </a:pPr>
              <a:r>
                <a:rPr lang="en-US" sz="1600" b="1">
                  <a:solidFill>
                    <a:srgbClr val="54544B"/>
                  </a:solidFill>
                  <a:latin typeface="Calibri" pitchFamily="34" charset="0"/>
                </a:rPr>
                <a:t>Step 4</a:t>
              </a:r>
              <a:endParaRPr lang="en-US" sz="2800" b="1">
                <a:solidFill>
                  <a:srgbClr val="54544B"/>
                </a:solidFill>
              </a:endParaRPr>
            </a:p>
          </p:txBody>
        </p:sp>
        <p:sp>
          <p:nvSpPr>
            <p:cNvPr id="58" name="Text Box 32">
              <a:extLst>
                <a:ext uri="{FF2B5EF4-FFF2-40B4-BE49-F238E27FC236}">
                  <a16:creationId xmlns:a16="http://schemas.microsoft.com/office/drawing/2014/main" id="{3E059027-7BCB-4BAB-89F1-A8CFEC3C1B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10922" y="2722635"/>
              <a:ext cx="1804596" cy="5540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spcAft>
                  <a:spcPts val="1000"/>
                </a:spcAft>
              </a:pPr>
              <a:r>
                <a:rPr lang="en-US" sz="1600" b="1" u="sng" dirty="0">
                  <a:solidFill>
                    <a:srgbClr val="54544B"/>
                  </a:solidFill>
                </a:rPr>
                <a:t>Excel</a:t>
              </a:r>
              <a:r>
                <a:rPr lang="en-US" sz="1600" dirty="0">
                  <a:solidFill>
                    <a:srgbClr val="54544B"/>
                  </a:solidFill>
                </a:rPr>
                <a:t>: Build Macro SAM; split activities &amp; commodities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178812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77800" y="4121148"/>
            <a:ext cx="60858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54544B"/>
                </a:solidFill>
              </a:rPr>
              <a:t>Step 1: Macro SAM</a:t>
            </a:r>
            <a:endParaRPr lang="en-US" sz="2400" b="1" dirty="0">
              <a:solidFill>
                <a:srgbClr val="54544B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4767478"/>
            <a:ext cx="9144000" cy="461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77800" y="4767478"/>
            <a:ext cx="60858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54544B"/>
                </a:solidFill>
              </a:rPr>
              <a:t>Constructing aggregate accounts</a:t>
            </a:r>
            <a:endParaRPr lang="en-US" dirty="0">
              <a:solidFill>
                <a:srgbClr val="54544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3811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Sources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Three main data sources:</a:t>
            </a:r>
          </a:p>
          <a:p>
            <a:r>
              <a:rPr lang="en-US" dirty="0"/>
              <a:t>National Accounts (activity and commodity accounts)</a:t>
            </a:r>
          </a:p>
          <a:p>
            <a:r>
              <a:rPr lang="en-US" dirty="0"/>
              <a:t>Government Financial Statistics (spending and tax accounts)</a:t>
            </a:r>
          </a:p>
          <a:p>
            <a:r>
              <a:rPr lang="en-US" dirty="0"/>
              <a:t>Balance of Payments (external account)</a:t>
            </a:r>
          </a:p>
          <a:p>
            <a:endParaRPr lang="en-US" sz="12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38730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109DA-1E7B-4A90-8CA1-29170AA54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Worksheet Names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FA3E3D-4644-4F58-82B3-3A74D7BED4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Black &amp; gray sheets</a:t>
            </a:r>
          </a:p>
          <a:p>
            <a:pPr lvl="1"/>
            <a:r>
              <a:rPr lang="en-US" dirty="0"/>
              <a:t>Notes and GAMS parameters</a:t>
            </a:r>
          </a:p>
          <a:p>
            <a:endParaRPr lang="en-US" sz="1000" dirty="0"/>
          </a:p>
          <a:p>
            <a:r>
              <a:rPr lang="en-US" b="1" dirty="0">
                <a:solidFill>
                  <a:srgbClr val="0B8EB8"/>
                </a:solidFill>
              </a:rPr>
              <a:t>Blue sheets</a:t>
            </a:r>
          </a:p>
          <a:p>
            <a:pPr lvl="1"/>
            <a:r>
              <a:rPr lang="en-US" dirty="0"/>
              <a:t>Final data imported directly into GAMS</a:t>
            </a:r>
          </a:p>
          <a:p>
            <a:endParaRPr lang="en-US" sz="1000" dirty="0"/>
          </a:p>
          <a:p>
            <a:r>
              <a:rPr lang="en-US" b="1" dirty="0">
                <a:solidFill>
                  <a:srgbClr val="8AA63D"/>
                </a:solidFill>
              </a:rPr>
              <a:t>Green sheets</a:t>
            </a:r>
          </a:p>
          <a:p>
            <a:pPr lvl="1"/>
            <a:r>
              <a:rPr lang="en-US" dirty="0"/>
              <a:t>Working sheets with original data, transformed into GAMS-ready formats</a:t>
            </a:r>
          </a:p>
          <a:p>
            <a:pPr lvl="1"/>
            <a:r>
              <a:rPr lang="en-US" dirty="0"/>
              <a:t>Updated frequently (every year) – national accounts, trade flows, etc.</a:t>
            </a:r>
          </a:p>
          <a:p>
            <a:endParaRPr lang="en-US" sz="1000" dirty="0"/>
          </a:p>
          <a:p>
            <a:r>
              <a:rPr lang="en-US" b="1" dirty="0">
                <a:solidFill>
                  <a:srgbClr val="C34E2D"/>
                </a:solidFill>
              </a:rPr>
              <a:t>Red sheets</a:t>
            </a:r>
          </a:p>
          <a:p>
            <a:pPr lvl="1"/>
            <a:r>
              <a:rPr lang="en-US" dirty="0"/>
              <a:t>Working sheets with original data</a:t>
            </a:r>
          </a:p>
          <a:p>
            <a:pPr lvl="1"/>
            <a:r>
              <a:rPr lang="en-US" dirty="0"/>
              <a:t>Updated less frequently (every few years) – survey data, SUT coefficients</a:t>
            </a:r>
          </a:p>
          <a:p>
            <a:pPr lvl="1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5FF489-EDA8-4149-8A23-2F7CD8D0CC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280" y="6346969"/>
            <a:ext cx="8657439" cy="225177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CB3C9BC-EB11-4051-AD61-C17B18B7440B}"/>
              </a:ext>
            </a:extLst>
          </p:cNvPr>
          <p:cNvSpPr txBox="1"/>
          <p:nvPr/>
        </p:nvSpPr>
        <p:spPr>
          <a:xfrm>
            <a:off x="6593229" y="6006113"/>
            <a:ext cx="23074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srgbClr val="54544B"/>
                </a:solidFill>
              </a:rPr>
              <a:t>1NAT_X104_2017.xlsx</a:t>
            </a:r>
          </a:p>
        </p:txBody>
      </p:sp>
    </p:spTree>
    <p:extLst>
      <p:ext uri="{BB962C8B-B14F-4D97-AF65-F5344CB8AC3E}">
        <p14:creationId xmlns:p14="http://schemas.microsoft.com/office/powerpoint/2010/main" val="14184184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7347A-0C1A-413A-86BE-13650DAC4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Macro SAM Sheets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B8DB59D-B644-4C93-8786-D54C6D22BA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>
                <a:solidFill>
                  <a:schemeClr val="accent3">
                    <a:lumMod val="75000"/>
                  </a:schemeClr>
                </a:solidFill>
              </a:rPr>
              <a:t>wGFS</a:t>
            </a:r>
            <a:r>
              <a:rPr lang="en-US" b="1" dirty="0"/>
              <a:t>  </a:t>
            </a:r>
            <a:r>
              <a:rPr lang="en-US" dirty="0"/>
              <a:t>	Government Financial Statistics</a:t>
            </a:r>
          </a:p>
          <a:p>
            <a:r>
              <a:rPr lang="en-US" b="1" dirty="0" err="1">
                <a:solidFill>
                  <a:schemeClr val="accent3">
                    <a:lumMod val="75000"/>
                  </a:schemeClr>
                </a:solidFill>
              </a:rPr>
              <a:t>wBOP</a:t>
            </a:r>
            <a:r>
              <a:rPr lang="en-US" b="1" dirty="0"/>
              <a:t>   </a:t>
            </a:r>
            <a:r>
              <a:rPr lang="en-US" dirty="0"/>
              <a:t>	Balance of Payments</a:t>
            </a:r>
          </a:p>
          <a:p>
            <a:r>
              <a:rPr lang="en-US" b="1" dirty="0" err="1">
                <a:solidFill>
                  <a:schemeClr val="accent3">
                    <a:lumMod val="75000"/>
                  </a:schemeClr>
                </a:solidFill>
              </a:rPr>
              <a:t>wGDPe</a:t>
            </a:r>
            <a:r>
              <a:rPr lang="en-US" dirty="0"/>
              <a:t>   	National Accounts (GDP expenditure-side)</a:t>
            </a:r>
          </a:p>
          <a:p>
            <a:r>
              <a:rPr lang="en-US" b="1" dirty="0" err="1">
                <a:solidFill>
                  <a:schemeClr val="accent3">
                    <a:lumMod val="75000"/>
                  </a:schemeClr>
                </a:solidFill>
              </a:rPr>
              <a:t>wGDPp</a:t>
            </a:r>
            <a:r>
              <a:rPr lang="en-US" dirty="0"/>
              <a:t>	National Accounts (GDP production-side)</a:t>
            </a:r>
          </a:p>
          <a:p>
            <a:r>
              <a:rPr lang="en-US" b="1" dirty="0" err="1">
                <a:solidFill>
                  <a:schemeClr val="accent3">
                    <a:lumMod val="75000"/>
                  </a:schemeClr>
                </a:solidFill>
              </a:rPr>
              <a:t>wMAC</a:t>
            </a:r>
            <a:r>
              <a:rPr lang="en-US" dirty="0"/>
              <a:t>	Consolidation sheet for balancing Macro SAM</a:t>
            </a:r>
          </a:p>
          <a:p>
            <a:endParaRPr lang="en-US" sz="900" dirty="0"/>
          </a:p>
          <a:p>
            <a:r>
              <a:rPr lang="en-US" b="1" dirty="0">
                <a:solidFill>
                  <a:srgbClr val="0B8EB8"/>
                </a:solidFill>
              </a:rPr>
              <a:t>MAC</a:t>
            </a:r>
            <a:r>
              <a:rPr lang="en-US" b="1" dirty="0"/>
              <a:t> 	</a:t>
            </a:r>
            <a:r>
              <a:rPr lang="en-US" dirty="0"/>
              <a:t>	Final Macro SAM imported into GAMS</a:t>
            </a:r>
          </a:p>
          <a:p>
            <a:pPr lvl="1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4EE8A7-9073-4ED7-87BC-A42EE9527D59}"/>
              </a:ext>
            </a:extLst>
          </p:cNvPr>
          <p:cNvSpPr txBox="1"/>
          <p:nvPr/>
        </p:nvSpPr>
        <p:spPr>
          <a:xfrm>
            <a:off x="6593229" y="6006113"/>
            <a:ext cx="23074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srgbClr val="54544B"/>
                </a:solidFill>
              </a:rPr>
              <a:t>1NAT_X104_2017.xlsx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FA296BC-D0CD-4229-824E-DB2B0F2D62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280" y="6346969"/>
            <a:ext cx="8657439" cy="225177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377A91F-BFBE-439C-9733-56CE66282888}"/>
              </a:ext>
            </a:extLst>
          </p:cNvPr>
          <p:cNvSpPr/>
          <p:nvPr/>
        </p:nvSpPr>
        <p:spPr>
          <a:xfrm>
            <a:off x="2213472" y="6284229"/>
            <a:ext cx="2585032" cy="351774"/>
          </a:xfrm>
          <a:prstGeom prst="rect">
            <a:avLst/>
          </a:prstGeom>
          <a:noFill/>
          <a:ln w="44450">
            <a:solidFill>
              <a:srgbClr val="C659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1897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92E46-1E83-4D22-959E-845E9CB10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Action 1 | National Accounts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F6D775-EF68-42A2-8FA5-AABC3D820C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279" y="1301993"/>
            <a:ext cx="8835781" cy="754495"/>
          </a:xfrm>
        </p:spPr>
        <p:txBody>
          <a:bodyPr/>
          <a:lstStyle/>
          <a:p>
            <a:r>
              <a:rPr lang="en-US" dirty="0"/>
              <a:t>Enter data for new year (check year points to correct data)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18E105-C456-43E9-A518-2D08023B93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30" y="2440766"/>
            <a:ext cx="9059539" cy="162900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6ED3A5-4F01-41AC-AF29-16CCE8433C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30" y="4138807"/>
            <a:ext cx="9035971" cy="24304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2D9704D-0B42-4D2C-A93B-6F14F47A11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30" y="4844332"/>
            <a:ext cx="9035971" cy="1423349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B25E2C5-FBF8-4D7C-8CD6-8625AFBF09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30" y="6359256"/>
            <a:ext cx="9035971" cy="23324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F60BAEB-2EAE-49BF-AF41-335B46E51788}"/>
              </a:ext>
            </a:extLst>
          </p:cNvPr>
          <p:cNvSpPr txBox="1"/>
          <p:nvPr/>
        </p:nvSpPr>
        <p:spPr>
          <a:xfrm>
            <a:off x="0" y="4505842"/>
            <a:ext cx="47775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54544B"/>
                </a:solidFill>
              </a:rPr>
              <a:t>Gross Domestic Product by Expenditure Category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3CE6FA-26FC-4656-A87D-314A1FEAC696}"/>
              </a:ext>
            </a:extLst>
          </p:cNvPr>
          <p:cNvSpPr txBox="1"/>
          <p:nvPr/>
        </p:nvSpPr>
        <p:spPr>
          <a:xfrm>
            <a:off x="42230" y="2087201"/>
            <a:ext cx="47775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54544B"/>
                </a:solidFill>
              </a:rPr>
              <a:t>Gross Domestic Product by Production Sector</a:t>
            </a:r>
          </a:p>
        </p:txBody>
      </p:sp>
    </p:spTree>
    <p:extLst>
      <p:ext uri="{BB962C8B-B14F-4D97-AF65-F5344CB8AC3E}">
        <p14:creationId xmlns:p14="http://schemas.microsoft.com/office/powerpoint/2010/main" val="31487382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0992B-0043-4D9B-B461-AF6EE40E5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Action 2 | Balance of Payments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BF7B88-C3B7-434F-99CC-A984F6D66A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279" y="1301994"/>
            <a:ext cx="3911409" cy="3208372"/>
          </a:xfrm>
        </p:spPr>
        <p:txBody>
          <a:bodyPr>
            <a:normAutofit/>
          </a:bodyPr>
          <a:lstStyle/>
          <a:p>
            <a:r>
              <a:rPr lang="en-US" dirty="0"/>
              <a:t>Enter data for new year (check year)</a:t>
            </a:r>
          </a:p>
          <a:p>
            <a:endParaRPr lang="en-US" sz="700" dirty="0"/>
          </a:p>
          <a:p>
            <a:r>
              <a:rPr lang="en-US" dirty="0"/>
              <a:t>Generates T-Account used to construct Macro SAM</a:t>
            </a:r>
          </a:p>
          <a:p>
            <a:endParaRPr lang="en-US" sz="500" dirty="0"/>
          </a:p>
          <a:p>
            <a:r>
              <a:rPr lang="en-US" dirty="0"/>
              <a:t>Also compiles trade in services (used in Step 2)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79B29A-D990-441F-B957-C6675CC05D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43" y="4878963"/>
            <a:ext cx="8937514" cy="140403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77EC2A1-29C9-48A6-B037-C723E1AD21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43" y="6404638"/>
            <a:ext cx="8937514" cy="23136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D49D380-B500-4166-86CB-C2711F93AEDE}"/>
              </a:ext>
            </a:extLst>
          </p:cNvPr>
          <p:cNvSpPr txBox="1"/>
          <p:nvPr/>
        </p:nvSpPr>
        <p:spPr>
          <a:xfrm>
            <a:off x="103243" y="4510366"/>
            <a:ext cx="47316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54544B"/>
                </a:solidFill>
              </a:rPr>
              <a:t>Balance of Payments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FB95074-D0EE-47B0-9810-B2D1CE7CE3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8886" y="1552492"/>
            <a:ext cx="2181529" cy="2934109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9A63765-E858-4D13-BE5F-2E0E414AC1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1122" y="1562522"/>
            <a:ext cx="2219635" cy="3200847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AB0BEFC-EC6B-490D-968E-02A8123645C8}"/>
              </a:ext>
            </a:extLst>
          </p:cNvPr>
          <p:cNvSpPr txBox="1"/>
          <p:nvPr/>
        </p:nvSpPr>
        <p:spPr>
          <a:xfrm>
            <a:off x="4445903" y="1187879"/>
            <a:ext cx="20513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54544B"/>
                </a:solidFill>
              </a:rPr>
              <a:t>Macro SAM T-Account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3FAA97-3DA1-434D-9C47-C1946AAB411D}"/>
              </a:ext>
            </a:extLst>
          </p:cNvPr>
          <p:cNvSpPr txBox="1"/>
          <p:nvPr/>
        </p:nvSpPr>
        <p:spPr>
          <a:xfrm>
            <a:off x="6736138" y="1188172"/>
            <a:ext cx="17534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54544B"/>
                </a:solidFill>
              </a:rPr>
              <a:t>Trade in Services</a:t>
            </a:r>
          </a:p>
        </p:txBody>
      </p:sp>
    </p:spTree>
    <p:extLst>
      <p:ext uri="{BB962C8B-B14F-4D97-AF65-F5344CB8AC3E}">
        <p14:creationId xmlns:p14="http://schemas.microsoft.com/office/powerpoint/2010/main" val="38038757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75B36-1085-445B-B26F-F1443EDB6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Action 3 | Gov. Financial Statistics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A6F504-2E85-4E4C-BC17-470ACEE4C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280" y="1301994"/>
            <a:ext cx="3357736" cy="2645026"/>
          </a:xfrm>
        </p:spPr>
        <p:txBody>
          <a:bodyPr>
            <a:normAutofit/>
          </a:bodyPr>
          <a:lstStyle/>
          <a:p>
            <a:r>
              <a:rPr lang="en-US" dirty="0"/>
              <a:t>Enter data for new year (check year)</a:t>
            </a:r>
          </a:p>
          <a:p>
            <a:endParaRPr lang="en-US" sz="700" dirty="0"/>
          </a:p>
          <a:p>
            <a:r>
              <a:rPr lang="en-US" dirty="0"/>
              <a:t>Generates T-Account used to construct Macro SAM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37CDD7-0722-4502-A3A9-890B5A2A5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278" y="4741505"/>
            <a:ext cx="5868219" cy="162900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D7FD885-C42F-4587-9546-5B9C621A7E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278" y="6446348"/>
            <a:ext cx="8894471" cy="25583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191B24D-28DA-4588-BFC0-A6D5EED6C384}"/>
              </a:ext>
            </a:extLst>
          </p:cNvPr>
          <p:cNvSpPr txBox="1"/>
          <p:nvPr/>
        </p:nvSpPr>
        <p:spPr>
          <a:xfrm>
            <a:off x="94333" y="4395807"/>
            <a:ext cx="47316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54544B"/>
                </a:solidFill>
              </a:rPr>
              <a:t>Fiscal Accounts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79CCD41-23FF-4419-B586-E29A0D4CC2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1073" y="1327223"/>
            <a:ext cx="2143424" cy="3248478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E86F391-6659-4762-B7FE-87DEF7706701}"/>
              </a:ext>
            </a:extLst>
          </p:cNvPr>
          <p:cNvSpPr txBox="1"/>
          <p:nvPr/>
        </p:nvSpPr>
        <p:spPr>
          <a:xfrm>
            <a:off x="2000511" y="4088030"/>
            <a:ext cx="20513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54544B"/>
                </a:solidFill>
              </a:rPr>
              <a:t>Macro SAM T-Account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6AFFE78-D9DD-4B9A-9B58-E7F76D482E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7491" y="2238680"/>
            <a:ext cx="1695687" cy="255305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5A84F2A-A241-424A-B300-EC5171033835}"/>
              </a:ext>
            </a:extLst>
          </p:cNvPr>
          <p:cNvSpPr txBox="1"/>
          <p:nvPr/>
        </p:nvSpPr>
        <p:spPr>
          <a:xfrm>
            <a:off x="6682430" y="1666120"/>
            <a:ext cx="20513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54544B"/>
                </a:solidFill>
              </a:rPr>
              <a:t>Direct taxes are scaled to match national accounts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A8A0389-78D4-4874-ADDD-E76045D0A4F8}"/>
              </a:ext>
            </a:extLst>
          </p:cNvPr>
          <p:cNvSpPr txBox="1"/>
          <p:nvPr/>
        </p:nvSpPr>
        <p:spPr>
          <a:xfrm>
            <a:off x="6749542" y="4876371"/>
            <a:ext cx="205137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54544B"/>
                </a:solidFill>
              </a:rPr>
              <a:t>Additional information needed to separate personal and corporate (direct) taxes</a:t>
            </a:r>
          </a:p>
        </p:txBody>
      </p:sp>
    </p:spTree>
    <p:extLst>
      <p:ext uri="{BB962C8B-B14F-4D97-AF65-F5344CB8AC3E}">
        <p14:creationId xmlns:p14="http://schemas.microsoft.com/office/powerpoint/2010/main" val="12873151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0A40C-A649-493A-AB17-4B7365AF7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Action 4 | Final Macro SAM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82E05-1D1D-46D0-936A-E9EA0F9128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279" y="1301993"/>
            <a:ext cx="8835781" cy="1306983"/>
          </a:xfrm>
        </p:spPr>
        <p:txBody>
          <a:bodyPr/>
          <a:lstStyle/>
          <a:p>
            <a:r>
              <a:rPr lang="en-US" dirty="0"/>
              <a:t>Check that all three T-Accounts are balanced (difference = zero)</a:t>
            </a:r>
          </a:p>
          <a:p>
            <a:pPr lvl="1"/>
            <a:r>
              <a:rPr lang="en-US" dirty="0"/>
              <a:t>Error may be in original data (check previous worksheets)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E6D795-E8E1-46D8-A394-BC3310E80B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558" y="3022502"/>
            <a:ext cx="8774884" cy="3359031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AF5019-8454-4DAF-BE98-EAC810B847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558" y="6501779"/>
            <a:ext cx="8774884" cy="268448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25BD460-A08A-4C4B-B11F-480624D0833A}"/>
              </a:ext>
            </a:extLst>
          </p:cNvPr>
          <p:cNvSpPr txBox="1"/>
          <p:nvPr/>
        </p:nvSpPr>
        <p:spPr>
          <a:xfrm>
            <a:off x="184558" y="2654602"/>
            <a:ext cx="4118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54544B"/>
                </a:solidFill>
              </a:rPr>
              <a:t>Macro SAM</a:t>
            </a:r>
          </a:p>
        </p:txBody>
      </p:sp>
    </p:spTree>
    <p:extLst>
      <p:ext uri="{BB962C8B-B14F-4D97-AF65-F5344CB8AC3E}">
        <p14:creationId xmlns:p14="http://schemas.microsoft.com/office/powerpoint/2010/main" val="35388214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04ECF-AAFA-41DE-A586-8A75B8154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Action 4 | Final Macro SAM (2)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32E567-16BA-40FE-9D41-090D4A4594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109" y="2626337"/>
            <a:ext cx="8800120" cy="270076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9E33950-48B1-4242-ACA4-1F17D9A5D6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109" y="6459834"/>
            <a:ext cx="8774884" cy="268448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71E8DDD-0B2D-4E72-9621-E39DEF2C8BEA}"/>
              </a:ext>
            </a:extLst>
          </p:cNvPr>
          <p:cNvSpPr txBox="1"/>
          <p:nvPr/>
        </p:nvSpPr>
        <p:spPr>
          <a:xfrm>
            <a:off x="2336072" y="5462139"/>
            <a:ext cx="20513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C34E2D"/>
                </a:solidFill>
              </a:rPr>
              <a:t>Manually adjust enterprise savings rate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5DF4DD8-717B-49F4-9FB5-BE1462ABD999}"/>
              </a:ext>
            </a:extLst>
          </p:cNvPr>
          <p:cNvSpPr/>
          <p:nvPr/>
        </p:nvSpPr>
        <p:spPr>
          <a:xfrm>
            <a:off x="1747883" y="5147054"/>
            <a:ext cx="1817438" cy="268448"/>
          </a:xfrm>
          <a:prstGeom prst="rect">
            <a:avLst/>
          </a:prstGeom>
          <a:noFill/>
          <a:ln w="44450">
            <a:solidFill>
              <a:srgbClr val="C659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319CF9D-E821-4CDA-B507-AAAE00E96370}"/>
              </a:ext>
            </a:extLst>
          </p:cNvPr>
          <p:cNvSpPr/>
          <p:nvPr/>
        </p:nvSpPr>
        <p:spPr>
          <a:xfrm>
            <a:off x="8573549" y="2581420"/>
            <a:ext cx="416342" cy="2464557"/>
          </a:xfrm>
          <a:prstGeom prst="rect">
            <a:avLst/>
          </a:prstGeom>
          <a:noFill/>
          <a:ln w="44450">
            <a:solidFill>
              <a:srgbClr val="0B8E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CCB689-35B7-4DFA-94E5-F87EB3134C65}"/>
              </a:ext>
            </a:extLst>
          </p:cNvPr>
          <p:cNvSpPr txBox="1"/>
          <p:nvPr/>
        </p:nvSpPr>
        <p:spPr>
          <a:xfrm>
            <a:off x="6807665" y="1943409"/>
            <a:ext cx="22538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>
                <a:solidFill>
                  <a:srgbClr val="0B8EB8"/>
                </a:solidFill>
              </a:rPr>
              <a:t>Row and column totals should be effectively zero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E611B5A3-DEB4-477C-8380-9A603C8FD5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279" y="1301993"/>
            <a:ext cx="8835781" cy="1306983"/>
          </a:xfrm>
        </p:spPr>
        <p:txBody>
          <a:bodyPr/>
          <a:lstStyle/>
          <a:p>
            <a:r>
              <a:rPr lang="en-US" dirty="0"/>
              <a:t>Cross-entropy is NOT used to balance the Macro SAM</a:t>
            </a:r>
          </a:p>
        </p:txBody>
      </p:sp>
    </p:spTree>
    <p:extLst>
      <p:ext uri="{BB962C8B-B14F-4D97-AF65-F5344CB8AC3E}">
        <p14:creationId xmlns:p14="http://schemas.microsoft.com/office/powerpoint/2010/main" val="24143761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77800" y="4121148"/>
            <a:ext cx="60858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54544B"/>
                </a:solidFill>
              </a:rPr>
              <a:t>Step 2: Supply-Use Table</a:t>
            </a:r>
            <a:endParaRPr lang="en-US" sz="2400" b="1" dirty="0">
              <a:solidFill>
                <a:srgbClr val="54544B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77800" y="4767478"/>
            <a:ext cx="7886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54544B"/>
                </a:solidFill>
              </a:rPr>
              <a:t>Disaggregating activities and commodities</a:t>
            </a:r>
            <a:endParaRPr lang="en-US" dirty="0">
              <a:solidFill>
                <a:srgbClr val="54544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57441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Main data sources:</a:t>
            </a:r>
          </a:p>
          <a:p>
            <a:r>
              <a:rPr lang="en-US" dirty="0"/>
              <a:t>National accounts</a:t>
            </a:r>
          </a:p>
          <a:p>
            <a:r>
              <a:rPr lang="en-US" dirty="0"/>
              <a:t>Supply-use table</a:t>
            </a:r>
          </a:p>
          <a:p>
            <a:r>
              <a:rPr lang="en-US" dirty="0"/>
              <a:t>Agricultural and industrial production data </a:t>
            </a:r>
          </a:p>
          <a:p>
            <a:r>
              <a:rPr lang="en-US" dirty="0"/>
              <a:t>Trade and tax data</a:t>
            </a:r>
          </a:p>
          <a:p>
            <a:r>
              <a:rPr lang="en-US" dirty="0"/>
              <a:t>Household expenditure survey</a:t>
            </a:r>
          </a:p>
          <a:p>
            <a:endParaRPr lang="en-US" sz="1200" dirty="0"/>
          </a:p>
          <a:p>
            <a:pPr marL="0" indent="0">
              <a:buNone/>
            </a:pPr>
            <a:r>
              <a:rPr lang="en-US" b="1" dirty="0"/>
              <a:t>Inconsistent values across sources requires reconciliation:</a:t>
            </a:r>
          </a:p>
          <a:p>
            <a:r>
              <a:rPr lang="en-US" dirty="0"/>
              <a:t>Balanced using cross-entropy techniques in GAMS®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5314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985312B-9AA5-4EF8-8528-9E69F44416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74" y="6392783"/>
            <a:ext cx="8934276" cy="2432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47347A-0C1A-413A-86BE-13650DAC4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SUT Sheets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B8DB59D-B644-4C93-8786-D54C6D22BA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279" y="1301993"/>
            <a:ext cx="8835781" cy="4289269"/>
          </a:xfrm>
        </p:spPr>
        <p:txBody>
          <a:bodyPr/>
          <a:lstStyle/>
          <a:p>
            <a:r>
              <a:rPr lang="en-US" b="1" dirty="0" err="1">
                <a:solidFill>
                  <a:schemeClr val="accent3">
                    <a:lumMod val="75000"/>
                  </a:schemeClr>
                </a:solidFill>
              </a:rPr>
              <a:t>wGDPp</a:t>
            </a:r>
            <a:r>
              <a:rPr lang="en-US" b="1" dirty="0"/>
              <a:t>  </a:t>
            </a:r>
            <a:r>
              <a:rPr lang="en-US" dirty="0"/>
              <a:t>	GDP at factor cost by sector</a:t>
            </a:r>
          </a:p>
          <a:p>
            <a:pPr lvl="1"/>
            <a:r>
              <a:rPr lang="en-US" b="1" dirty="0" err="1">
                <a:solidFill>
                  <a:schemeClr val="accent3">
                    <a:lumMod val="75000"/>
                  </a:schemeClr>
                </a:solidFill>
              </a:rPr>
              <a:t>wAGR</a:t>
            </a:r>
            <a:r>
              <a:rPr lang="en-US" b="1" dirty="0"/>
              <a:t>   </a:t>
            </a:r>
            <a:r>
              <a:rPr lang="en-US" dirty="0"/>
              <a:t>	Agriculture production data</a:t>
            </a:r>
          </a:p>
          <a:p>
            <a:pPr lvl="1"/>
            <a:r>
              <a:rPr lang="en-US" b="1" dirty="0" err="1">
                <a:solidFill>
                  <a:srgbClr val="687D2E"/>
                </a:solidFill>
              </a:rPr>
              <a:t>wIND</a:t>
            </a:r>
            <a:r>
              <a:rPr lang="en-US" dirty="0"/>
              <a:t>	Industrial production data</a:t>
            </a:r>
          </a:p>
          <a:p>
            <a:pPr lvl="1"/>
            <a:r>
              <a:rPr lang="en-US" b="1" dirty="0" err="1">
                <a:solidFill>
                  <a:srgbClr val="687D2E"/>
                </a:solidFill>
              </a:rPr>
              <a:t>wSRV</a:t>
            </a:r>
            <a:r>
              <a:rPr lang="en-US" dirty="0"/>
              <a:t>	Services production data</a:t>
            </a:r>
          </a:p>
          <a:p>
            <a:r>
              <a:rPr lang="en-US" b="1" dirty="0" err="1">
                <a:solidFill>
                  <a:schemeClr val="accent3">
                    <a:lumMod val="75000"/>
                  </a:schemeClr>
                </a:solidFill>
              </a:rPr>
              <a:t>wTRD</a:t>
            </a:r>
            <a:r>
              <a:rPr lang="en-US" dirty="0"/>
              <a:t>   	Imports and Exports (X + M)</a:t>
            </a:r>
          </a:p>
          <a:p>
            <a:r>
              <a:rPr lang="en-US" b="1" dirty="0" err="1">
                <a:solidFill>
                  <a:srgbClr val="687D2E"/>
                </a:solidFill>
              </a:rPr>
              <a:t>wTAX</a:t>
            </a:r>
            <a:r>
              <a:rPr lang="en-US" dirty="0"/>
              <a:t>	Indirect taxes on producers &amp; products</a:t>
            </a:r>
          </a:p>
          <a:p>
            <a:r>
              <a:rPr lang="en-US" b="1" dirty="0" err="1">
                <a:solidFill>
                  <a:srgbClr val="C34E2D"/>
                </a:solidFill>
              </a:rPr>
              <a:t>wABS</a:t>
            </a:r>
            <a:r>
              <a:rPr lang="en-US" dirty="0"/>
              <a:t>	Absorption vectors (C + I + G)</a:t>
            </a:r>
          </a:p>
          <a:p>
            <a:r>
              <a:rPr lang="en-US" b="1" dirty="0" err="1">
                <a:solidFill>
                  <a:srgbClr val="C34E2D"/>
                </a:solidFill>
              </a:rPr>
              <a:t>wTRC</a:t>
            </a:r>
            <a:r>
              <a:rPr lang="en-US" dirty="0"/>
              <a:t>	Transaction cost margins</a:t>
            </a:r>
          </a:p>
          <a:p>
            <a:r>
              <a:rPr lang="en-US" b="1" dirty="0" err="1">
                <a:solidFill>
                  <a:srgbClr val="C34E2D"/>
                </a:solidFill>
              </a:rPr>
              <a:t>wUSE</a:t>
            </a:r>
            <a:r>
              <a:rPr lang="en-US" dirty="0"/>
              <a:t>	Use table coefficients </a:t>
            </a:r>
            <a:r>
              <a:rPr lang="en-US" sz="1200" dirty="0"/>
              <a:t>(from 1SUT_X104_2017.xlsx)</a:t>
            </a:r>
            <a:endParaRPr lang="en-US" dirty="0"/>
          </a:p>
          <a:p>
            <a:r>
              <a:rPr lang="en-US" b="1" dirty="0" err="1">
                <a:solidFill>
                  <a:srgbClr val="C34E2D"/>
                </a:solidFill>
              </a:rPr>
              <a:t>wSUP</a:t>
            </a:r>
            <a:r>
              <a:rPr lang="en-US" dirty="0"/>
              <a:t>	Supply table coefficients </a:t>
            </a:r>
            <a:r>
              <a:rPr lang="en-US" sz="1200" dirty="0"/>
              <a:t>(from 1SUT_X104_2017.xlsx)</a:t>
            </a:r>
            <a:endParaRPr lang="en-US" dirty="0"/>
          </a:p>
          <a:p>
            <a:endParaRPr lang="en-US" dirty="0"/>
          </a:p>
          <a:p>
            <a:endParaRPr lang="en-US" sz="900" dirty="0"/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77A91F-BFBE-439C-9733-56CE66282888}"/>
              </a:ext>
            </a:extLst>
          </p:cNvPr>
          <p:cNvSpPr/>
          <p:nvPr/>
        </p:nvSpPr>
        <p:spPr>
          <a:xfrm>
            <a:off x="4127384" y="6338506"/>
            <a:ext cx="4945310" cy="351774"/>
          </a:xfrm>
          <a:prstGeom prst="rect">
            <a:avLst/>
          </a:prstGeom>
          <a:noFill/>
          <a:ln w="44450">
            <a:solidFill>
              <a:srgbClr val="C34E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8B4A56-3490-4265-B387-DF4AEE87F3CF}"/>
              </a:ext>
            </a:extLst>
          </p:cNvPr>
          <p:cNvSpPr txBox="1"/>
          <p:nvPr/>
        </p:nvSpPr>
        <p:spPr>
          <a:xfrm>
            <a:off x="6807148" y="6007230"/>
            <a:ext cx="23074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srgbClr val="54544B"/>
                </a:solidFill>
              </a:rPr>
              <a:t>NAT_2017.xlsx</a:t>
            </a:r>
          </a:p>
        </p:txBody>
      </p:sp>
    </p:spTree>
    <p:extLst>
      <p:ext uri="{BB962C8B-B14F-4D97-AF65-F5344CB8AC3E}">
        <p14:creationId xmlns:p14="http://schemas.microsoft.com/office/powerpoint/2010/main" val="21514535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09617-D628-4504-A9A0-A2DAC566C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Action 5 | National Accounts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1C39FA-B181-4AC0-B2BA-90F7F456E2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280" y="1301993"/>
            <a:ext cx="3075424" cy="5395791"/>
          </a:xfrm>
        </p:spPr>
        <p:txBody>
          <a:bodyPr/>
          <a:lstStyle/>
          <a:p>
            <a:r>
              <a:rPr lang="en-US" dirty="0"/>
              <a:t>National accounts provides some breakdown of GDP by sector</a:t>
            </a:r>
          </a:p>
          <a:p>
            <a:endParaRPr lang="en-US" sz="1000" dirty="0"/>
          </a:p>
          <a:p>
            <a:r>
              <a:rPr lang="en-US" dirty="0"/>
              <a:t>BUT sub-sector shares must be drawn from other sources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651349-8DB1-4B6A-AF2F-6DE14786AA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1582" y="1554988"/>
            <a:ext cx="2946138" cy="482095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4DD4E6C-C164-4244-8822-FF5236EC90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656" y="1554988"/>
            <a:ext cx="2509642" cy="482095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FE13FA3-F446-4472-B7DE-D084D55B06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278" y="6456056"/>
            <a:ext cx="8871442" cy="241728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F32CE5A-187F-4FF5-9D49-9F43C856F7D8}"/>
              </a:ext>
            </a:extLst>
          </p:cNvPr>
          <p:cNvSpPr txBox="1"/>
          <p:nvPr/>
        </p:nvSpPr>
        <p:spPr>
          <a:xfrm>
            <a:off x="3384958" y="1207154"/>
            <a:ext cx="25473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54544B"/>
                </a:solidFill>
              </a:rPr>
              <a:t>Subsector (sub-group) shares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04D572-2DC7-4ACC-8C5E-0D23A507B8D8}"/>
              </a:ext>
            </a:extLst>
          </p:cNvPr>
          <p:cNvSpPr txBox="1"/>
          <p:nvPr/>
        </p:nvSpPr>
        <p:spPr>
          <a:xfrm>
            <a:off x="6028888" y="1207154"/>
            <a:ext cx="25473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54544B"/>
                </a:solidFill>
              </a:rPr>
              <a:t>Mapping aggregates to SAM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A7098C7-89A8-4A84-A466-151E753FC4EB}"/>
              </a:ext>
            </a:extLst>
          </p:cNvPr>
          <p:cNvSpPr/>
          <p:nvPr/>
        </p:nvSpPr>
        <p:spPr>
          <a:xfrm>
            <a:off x="6410978" y="1916884"/>
            <a:ext cx="472189" cy="176169"/>
          </a:xfrm>
          <a:prstGeom prst="rect">
            <a:avLst/>
          </a:prstGeom>
          <a:noFill/>
          <a:ln w="44450">
            <a:solidFill>
              <a:srgbClr val="C34E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354AE13-890A-4FE5-A442-B30226EB2020}"/>
              </a:ext>
            </a:extLst>
          </p:cNvPr>
          <p:cNvSpPr/>
          <p:nvPr/>
        </p:nvSpPr>
        <p:spPr>
          <a:xfrm>
            <a:off x="5174407" y="1933660"/>
            <a:ext cx="472189" cy="176169"/>
          </a:xfrm>
          <a:prstGeom prst="rect">
            <a:avLst/>
          </a:prstGeom>
          <a:noFill/>
          <a:ln w="44450">
            <a:solidFill>
              <a:srgbClr val="C34E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0929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FD902-F3F1-47B8-9BB6-DB76618F3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Action 6 | Agriculture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B69AF-2F52-4427-8291-1D280F4D10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279" y="1301993"/>
            <a:ext cx="4251163" cy="3559427"/>
          </a:xfrm>
        </p:spPr>
        <p:txBody>
          <a:bodyPr/>
          <a:lstStyle/>
          <a:p>
            <a:r>
              <a:rPr lang="en-US" dirty="0"/>
              <a:t>Enter new agricultural production data</a:t>
            </a:r>
          </a:p>
          <a:p>
            <a:endParaRPr lang="en-US" sz="400" dirty="0"/>
          </a:p>
          <a:p>
            <a:r>
              <a:rPr lang="en-US" dirty="0"/>
              <a:t>Currently uses combination of SUT2017 and </a:t>
            </a:r>
            <a:r>
              <a:rPr lang="en-US" dirty="0">
                <a:solidFill>
                  <a:srgbClr val="C34E2D"/>
                </a:solidFill>
              </a:rPr>
              <a:t>other sources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90565A-97EE-438D-8401-41C5A3AB7E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278" y="5133296"/>
            <a:ext cx="4968419" cy="1035851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FAE43FD-2687-439F-939D-4EFBC56B68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9135" y="1800634"/>
            <a:ext cx="1643785" cy="452223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0A67192-ABBC-4374-A270-1E4F33A244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8569" y="1800633"/>
            <a:ext cx="1598249" cy="452223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7B474F0-0BF7-4E52-B36E-4D808251FD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6730" y="6452089"/>
            <a:ext cx="8810540" cy="24650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906E08B-F218-4F5F-BB1B-7926B9C3F260}"/>
              </a:ext>
            </a:extLst>
          </p:cNvPr>
          <p:cNvSpPr txBox="1"/>
          <p:nvPr/>
        </p:nvSpPr>
        <p:spPr>
          <a:xfrm>
            <a:off x="5509968" y="1201505"/>
            <a:ext cx="34977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54544B"/>
                </a:solidFill>
              </a:rPr>
              <a:t>Estimating sub-group shares from production quantity and price data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B4A3DD5-BB78-4A1B-A738-5DA0A913676B}"/>
              </a:ext>
            </a:extLst>
          </p:cNvPr>
          <p:cNvSpPr/>
          <p:nvPr/>
        </p:nvSpPr>
        <p:spPr>
          <a:xfrm>
            <a:off x="2766767" y="5406705"/>
            <a:ext cx="517523" cy="843093"/>
          </a:xfrm>
          <a:prstGeom prst="rect">
            <a:avLst/>
          </a:prstGeom>
          <a:noFill/>
          <a:ln w="44450">
            <a:solidFill>
              <a:srgbClr val="C34E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7020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B895D-1D69-40F8-B37A-9562D88D0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Action 7 | Industry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957A6B6-A460-4723-9910-246A702117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13967" y="1832995"/>
            <a:ext cx="765708" cy="4492150"/>
          </a:xfr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F0C270E-AE9C-487E-BF53-EF7EA024F1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457" y="1832995"/>
            <a:ext cx="1564681" cy="449215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2891A2B-CC02-459D-8947-090B8CD76B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278" y="6443952"/>
            <a:ext cx="8869304" cy="296177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354B682-351B-4B74-997B-849649C63729}"/>
              </a:ext>
            </a:extLst>
          </p:cNvPr>
          <p:cNvSpPr txBox="1"/>
          <p:nvPr/>
        </p:nvSpPr>
        <p:spPr>
          <a:xfrm>
            <a:off x="6436056" y="1190968"/>
            <a:ext cx="17674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54544B"/>
                </a:solidFill>
              </a:rPr>
              <a:t>Sub-group shares from production data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5B1A6E8-5DEB-4F6C-BFA5-1245BA838BE8}"/>
              </a:ext>
            </a:extLst>
          </p:cNvPr>
          <p:cNvSpPr txBox="1">
            <a:spLocks/>
          </p:cNvSpPr>
          <p:nvPr/>
        </p:nvSpPr>
        <p:spPr>
          <a:xfrm>
            <a:off x="136279" y="1301993"/>
            <a:ext cx="4632862" cy="35594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Industrial production data from </a:t>
            </a:r>
            <a:r>
              <a:rPr lang="en-US" dirty="0">
                <a:solidFill>
                  <a:srgbClr val="0B8EB8"/>
                </a:solidFill>
              </a:rPr>
              <a:t>national accounts </a:t>
            </a:r>
            <a:r>
              <a:rPr lang="en-US" dirty="0"/>
              <a:t>and </a:t>
            </a:r>
            <a:r>
              <a:rPr lang="en-US" dirty="0">
                <a:solidFill>
                  <a:srgbClr val="C34E2D"/>
                </a:solidFill>
              </a:rPr>
              <a:t>SUT2017</a:t>
            </a:r>
          </a:p>
          <a:p>
            <a:pPr lvl="1"/>
            <a:r>
              <a:rPr lang="en-US" dirty="0">
                <a:solidFill>
                  <a:srgbClr val="54544B"/>
                </a:solidFill>
              </a:rPr>
              <a:t>NA updated annually</a:t>
            </a:r>
          </a:p>
          <a:p>
            <a:pPr lvl="1"/>
            <a:r>
              <a:rPr lang="en-US" dirty="0">
                <a:solidFill>
                  <a:srgbClr val="54544B"/>
                </a:solidFill>
              </a:rPr>
              <a:t>SUT2017 periodically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F65F473-A5DC-49A7-AB2D-41688172D0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576" y="4728986"/>
            <a:ext cx="4391638" cy="104789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C8B6460-A50C-4530-84D2-B858B88ECDC0}"/>
              </a:ext>
            </a:extLst>
          </p:cNvPr>
          <p:cNvSpPr txBox="1"/>
          <p:nvPr/>
        </p:nvSpPr>
        <p:spPr>
          <a:xfrm>
            <a:off x="474457" y="4361805"/>
            <a:ext cx="44687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54544B"/>
                </a:solidFill>
              </a:rPr>
              <a:t>GDP by detailed sector from </a:t>
            </a:r>
            <a:r>
              <a:rPr lang="en-US" sz="1400" b="1" dirty="0">
                <a:solidFill>
                  <a:srgbClr val="C34E2D"/>
                </a:solidFill>
              </a:rPr>
              <a:t>SUT2017</a:t>
            </a:r>
            <a:r>
              <a:rPr lang="en-US" sz="1400" b="1" dirty="0">
                <a:solidFill>
                  <a:srgbClr val="54544B"/>
                </a:solidFill>
              </a:rPr>
              <a:t> (see </a:t>
            </a:r>
            <a:r>
              <a:rPr lang="en-US" sz="1400" b="1" dirty="0" err="1">
                <a:solidFill>
                  <a:srgbClr val="54544B"/>
                </a:solidFill>
              </a:rPr>
              <a:t>xNA</a:t>
            </a:r>
            <a:r>
              <a:rPr lang="en-US" sz="1400" b="1" dirty="0">
                <a:solidFill>
                  <a:srgbClr val="54544B"/>
                </a:solidFill>
              </a:rPr>
              <a:t> sheet)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A2D0C24-F1A7-4798-A675-83349B5E193F}"/>
              </a:ext>
            </a:extLst>
          </p:cNvPr>
          <p:cNvSpPr/>
          <p:nvPr/>
        </p:nvSpPr>
        <p:spPr>
          <a:xfrm>
            <a:off x="6979641" y="2315361"/>
            <a:ext cx="416342" cy="461395"/>
          </a:xfrm>
          <a:prstGeom prst="rect">
            <a:avLst/>
          </a:prstGeom>
          <a:noFill/>
          <a:ln w="44450">
            <a:solidFill>
              <a:srgbClr val="0B8E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787DB99-82A7-494A-AAC9-6A9AB6FFC403}"/>
              </a:ext>
            </a:extLst>
          </p:cNvPr>
          <p:cNvSpPr txBox="1"/>
          <p:nvPr/>
        </p:nvSpPr>
        <p:spPr>
          <a:xfrm>
            <a:off x="4182214" y="2284448"/>
            <a:ext cx="22538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>
                <a:solidFill>
                  <a:srgbClr val="0B8EB8"/>
                </a:solidFill>
              </a:rPr>
              <a:t>Manufacturing subsector GDP from national accounts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FE3089D-A358-4F4B-A86F-1D8665E97D18}"/>
              </a:ext>
            </a:extLst>
          </p:cNvPr>
          <p:cNvSpPr/>
          <p:nvPr/>
        </p:nvSpPr>
        <p:spPr>
          <a:xfrm>
            <a:off x="7331978" y="3418650"/>
            <a:ext cx="506398" cy="2315225"/>
          </a:xfrm>
          <a:prstGeom prst="rect">
            <a:avLst/>
          </a:prstGeom>
          <a:noFill/>
          <a:ln w="44450">
            <a:solidFill>
              <a:srgbClr val="C34E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2FD794B-8BE2-4D85-966D-BE3BDDC7C757}"/>
              </a:ext>
            </a:extLst>
          </p:cNvPr>
          <p:cNvSpPr txBox="1"/>
          <p:nvPr/>
        </p:nvSpPr>
        <p:spPr>
          <a:xfrm>
            <a:off x="4538444" y="3496508"/>
            <a:ext cx="18976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>
                <a:solidFill>
                  <a:srgbClr val="C34E2D"/>
                </a:solidFill>
              </a:rPr>
              <a:t>Further disaggregation from SUT2017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98624B2-127F-428F-909B-36C70AA55F94}"/>
              </a:ext>
            </a:extLst>
          </p:cNvPr>
          <p:cNvCxnSpPr>
            <a:stCxn id="22" idx="1"/>
          </p:cNvCxnSpPr>
          <p:nvPr/>
        </p:nvCxnSpPr>
        <p:spPr>
          <a:xfrm flipH="1" flipV="1">
            <a:off x="3686961" y="3754073"/>
            <a:ext cx="851483" cy="4045"/>
          </a:xfrm>
          <a:prstGeom prst="line">
            <a:avLst/>
          </a:prstGeom>
          <a:ln w="15875">
            <a:solidFill>
              <a:srgbClr val="C34E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C77180E-7832-448E-89AC-DB3C984725D5}"/>
              </a:ext>
            </a:extLst>
          </p:cNvPr>
          <p:cNvCxnSpPr>
            <a:cxnSpLocks/>
          </p:cNvCxnSpPr>
          <p:nvPr/>
        </p:nvCxnSpPr>
        <p:spPr>
          <a:xfrm flipV="1">
            <a:off x="3686961" y="3754073"/>
            <a:ext cx="0" cy="482367"/>
          </a:xfrm>
          <a:prstGeom prst="line">
            <a:avLst/>
          </a:prstGeom>
          <a:ln w="15875">
            <a:solidFill>
              <a:srgbClr val="C34E2D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29980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48138CF-7A9D-4214-99A6-B06EE59030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7749" y="1825213"/>
            <a:ext cx="885813" cy="449993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0D8EADE-A052-4956-B474-D34E41C429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7138" y="1832871"/>
            <a:ext cx="1765831" cy="449227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3B895D-1D69-40F8-B37A-9562D88D0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Action 8 | Services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54B682-351B-4B74-997B-849649C63729}"/>
              </a:ext>
            </a:extLst>
          </p:cNvPr>
          <p:cNvSpPr txBox="1"/>
          <p:nvPr/>
        </p:nvSpPr>
        <p:spPr>
          <a:xfrm>
            <a:off x="6304071" y="1258373"/>
            <a:ext cx="17674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54544B"/>
                </a:solidFill>
              </a:rPr>
              <a:t>Sub-group shares from production data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5B1A6E8-5DEB-4F6C-BFA5-1245BA838BE8}"/>
              </a:ext>
            </a:extLst>
          </p:cNvPr>
          <p:cNvSpPr txBox="1">
            <a:spLocks/>
          </p:cNvSpPr>
          <p:nvPr/>
        </p:nvSpPr>
        <p:spPr>
          <a:xfrm>
            <a:off x="136279" y="1301993"/>
            <a:ext cx="4632862" cy="35594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Services production data from </a:t>
            </a:r>
            <a:r>
              <a:rPr lang="en-US" dirty="0">
                <a:solidFill>
                  <a:srgbClr val="0B8EB8"/>
                </a:solidFill>
              </a:rPr>
              <a:t>national accounts </a:t>
            </a:r>
            <a:r>
              <a:rPr lang="en-US" dirty="0"/>
              <a:t>and </a:t>
            </a:r>
            <a:r>
              <a:rPr lang="en-US" dirty="0">
                <a:solidFill>
                  <a:srgbClr val="C34E2D"/>
                </a:solidFill>
              </a:rPr>
              <a:t>SUT2017</a:t>
            </a:r>
          </a:p>
          <a:p>
            <a:pPr lvl="1"/>
            <a:r>
              <a:rPr lang="en-US" dirty="0">
                <a:solidFill>
                  <a:srgbClr val="54544B"/>
                </a:solidFill>
              </a:rPr>
              <a:t>NA updated annually</a:t>
            </a:r>
          </a:p>
          <a:p>
            <a:pPr lvl="1"/>
            <a:r>
              <a:rPr lang="en-US" dirty="0">
                <a:solidFill>
                  <a:srgbClr val="54544B"/>
                </a:solidFill>
              </a:rPr>
              <a:t>SUT2017 periodically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F65F473-A5DC-49A7-AB2D-41688172D0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576" y="4728986"/>
            <a:ext cx="4391638" cy="104789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C8B6460-A50C-4530-84D2-B858B88ECDC0}"/>
              </a:ext>
            </a:extLst>
          </p:cNvPr>
          <p:cNvSpPr txBox="1"/>
          <p:nvPr/>
        </p:nvSpPr>
        <p:spPr>
          <a:xfrm>
            <a:off x="474457" y="4361805"/>
            <a:ext cx="44687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54544B"/>
                </a:solidFill>
              </a:rPr>
              <a:t>GDP by detailed sector from </a:t>
            </a:r>
            <a:r>
              <a:rPr lang="en-US" sz="1400" b="1" dirty="0">
                <a:solidFill>
                  <a:srgbClr val="C34E2D"/>
                </a:solidFill>
              </a:rPr>
              <a:t>SUT2017</a:t>
            </a:r>
            <a:r>
              <a:rPr lang="en-US" sz="1400" b="1" dirty="0">
                <a:solidFill>
                  <a:srgbClr val="54544B"/>
                </a:solidFill>
              </a:rPr>
              <a:t> (see </a:t>
            </a:r>
            <a:r>
              <a:rPr lang="en-US" sz="1400" b="1" dirty="0" err="1">
                <a:solidFill>
                  <a:srgbClr val="54544B"/>
                </a:solidFill>
              </a:rPr>
              <a:t>xNA</a:t>
            </a:r>
            <a:r>
              <a:rPr lang="en-US" sz="1400" b="1" dirty="0">
                <a:solidFill>
                  <a:srgbClr val="54544B"/>
                </a:solidFill>
              </a:rPr>
              <a:t> sheet)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A2D0C24-F1A7-4798-A675-83349B5E193F}"/>
              </a:ext>
            </a:extLst>
          </p:cNvPr>
          <p:cNvSpPr/>
          <p:nvPr/>
        </p:nvSpPr>
        <p:spPr>
          <a:xfrm>
            <a:off x="6874779" y="2346273"/>
            <a:ext cx="416342" cy="500382"/>
          </a:xfrm>
          <a:prstGeom prst="rect">
            <a:avLst/>
          </a:prstGeom>
          <a:noFill/>
          <a:ln w="44450">
            <a:solidFill>
              <a:srgbClr val="0B8E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787DB99-82A7-494A-AAC9-6A9AB6FFC403}"/>
              </a:ext>
            </a:extLst>
          </p:cNvPr>
          <p:cNvSpPr txBox="1"/>
          <p:nvPr/>
        </p:nvSpPr>
        <p:spPr>
          <a:xfrm>
            <a:off x="3980718" y="2546058"/>
            <a:ext cx="22538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>
                <a:solidFill>
                  <a:srgbClr val="0B8EB8"/>
                </a:solidFill>
              </a:rPr>
              <a:t>Services subsector GDP from national accounts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FE3089D-A358-4F4B-A86F-1D8665E97D18}"/>
              </a:ext>
            </a:extLst>
          </p:cNvPr>
          <p:cNvSpPr/>
          <p:nvPr/>
        </p:nvSpPr>
        <p:spPr>
          <a:xfrm>
            <a:off x="7323581" y="3152335"/>
            <a:ext cx="506398" cy="2315225"/>
          </a:xfrm>
          <a:prstGeom prst="rect">
            <a:avLst/>
          </a:prstGeom>
          <a:noFill/>
          <a:ln w="44450">
            <a:solidFill>
              <a:srgbClr val="C34E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2FD794B-8BE2-4D85-966D-BE3BDDC7C757}"/>
              </a:ext>
            </a:extLst>
          </p:cNvPr>
          <p:cNvSpPr txBox="1"/>
          <p:nvPr/>
        </p:nvSpPr>
        <p:spPr>
          <a:xfrm>
            <a:off x="4406460" y="3496508"/>
            <a:ext cx="18976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>
                <a:solidFill>
                  <a:srgbClr val="C34E2D"/>
                </a:solidFill>
              </a:rPr>
              <a:t>Further disaggregation from SUT2017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98624B2-127F-428F-909B-36C70AA55F94}"/>
              </a:ext>
            </a:extLst>
          </p:cNvPr>
          <p:cNvCxnSpPr>
            <a:stCxn id="22" idx="1"/>
          </p:cNvCxnSpPr>
          <p:nvPr/>
        </p:nvCxnSpPr>
        <p:spPr>
          <a:xfrm flipH="1" flipV="1">
            <a:off x="3554977" y="3754073"/>
            <a:ext cx="851483" cy="4045"/>
          </a:xfrm>
          <a:prstGeom prst="line">
            <a:avLst/>
          </a:prstGeom>
          <a:ln w="15875">
            <a:solidFill>
              <a:srgbClr val="C34E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C77180E-7832-448E-89AC-DB3C984725D5}"/>
              </a:ext>
            </a:extLst>
          </p:cNvPr>
          <p:cNvCxnSpPr>
            <a:cxnSpLocks/>
          </p:cNvCxnSpPr>
          <p:nvPr/>
        </p:nvCxnSpPr>
        <p:spPr>
          <a:xfrm flipV="1">
            <a:off x="3554977" y="3754073"/>
            <a:ext cx="0" cy="482367"/>
          </a:xfrm>
          <a:prstGeom prst="line">
            <a:avLst/>
          </a:prstGeom>
          <a:ln w="15875">
            <a:solidFill>
              <a:srgbClr val="C34E2D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AF2A412C-37E3-4781-88EE-04BF8D67C2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278" y="6459175"/>
            <a:ext cx="8923864" cy="26626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44244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CBD44-720A-46AD-BC6F-E18AF9C77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Action 9 | International Trade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0921BB-6FA5-4126-9CF3-504644027E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Goods trade from detailed HS 6-digit imports and exports data </a:t>
            </a:r>
            <a:r>
              <a:rPr lang="en-US" sz="1800" dirty="0"/>
              <a:t>(stored in SUT_2017.xlsx)</a:t>
            </a:r>
          </a:p>
          <a:p>
            <a:endParaRPr lang="en-US" sz="200" dirty="0"/>
          </a:p>
          <a:p>
            <a:r>
              <a:rPr lang="en-US" dirty="0"/>
              <a:t>Services trade from balance of payments (see Action 2)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39E550-6177-4BC2-ACF5-E4ACD3152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6251" y="3242430"/>
            <a:ext cx="6175807" cy="1069508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67D381C-73E8-4170-A705-AA0B976183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277" y="6482083"/>
            <a:ext cx="8835781" cy="215701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F1386AC-861E-4F92-B496-9E7DF7CEB7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3905" y="5035391"/>
            <a:ext cx="6698153" cy="1373781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C258623-D932-4C0C-B270-C007B88EFC20}"/>
              </a:ext>
            </a:extLst>
          </p:cNvPr>
          <p:cNvSpPr txBox="1"/>
          <p:nvPr/>
        </p:nvSpPr>
        <p:spPr>
          <a:xfrm>
            <a:off x="528505" y="5298268"/>
            <a:ext cx="164002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>
                <a:solidFill>
                  <a:srgbClr val="54544B"/>
                </a:solidFill>
              </a:rPr>
              <a:t>Import and export shares applied to national accounts aggregates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5A6F8F2-D8C7-41F2-858F-ADDAF8ABCFCD}"/>
              </a:ext>
            </a:extLst>
          </p:cNvPr>
          <p:cNvSpPr/>
          <p:nvPr/>
        </p:nvSpPr>
        <p:spPr>
          <a:xfrm>
            <a:off x="2843860" y="5775321"/>
            <a:ext cx="506398" cy="665612"/>
          </a:xfrm>
          <a:prstGeom prst="rect">
            <a:avLst/>
          </a:prstGeom>
          <a:noFill/>
          <a:ln w="44450">
            <a:solidFill>
              <a:srgbClr val="C34E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DDCF46-CE8C-4836-B0CC-FDA93027D41E}"/>
              </a:ext>
            </a:extLst>
          </p:cNvPr>
          <p:cNvSpPr txBox="1"/>
          <p:nvPr/>
        </p:nvSpPr>
        <p:spPr>
          <a:xfrm>
            <a:off x="3607267" y="2861742"/>
            <a:ext cx="53647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>
                <a:solidFill>
                  <a:srgbClr val="54544B"/>
                </a:solidFill>
              </a:rPr>
              <a:t>Trade data by commodity (see </a:t>
            </a:r>
            <a:r>
              <a:rPr lang="en-US" sz="1400" b="1" dirty="0">
                <a:solidFill>
                  <a:srgbClr val="C34E2D"/>
                </a:solidFill>
              </a:rPr>
              <a:t>SUT_2017.xlsx</a:t>
            </a:r>
            <a:r>
              <a:rPr lang="en-US" sz="1400" b="1" dirty="0">
                <a:solidFill>
                  <a:srgbClr val="54544B"/>
                </a:solidFill>
              </a:rPr>
              <a:t>)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7A26FB5-481A-45B9-B84A-3F5F12324F97}"/>
              </a:ext>
            </a:extLst>
          </p:cNvPr>
          <p:cNvGrpSpPr/>
          <p:nvPr/>
        </p:nvGrpSpPr>
        <p:grpSpPr>
          <a:xfrm>
            <a:off x="3181525" y="4372658"/>
            <a:ext cx="5199077" cy="610403"/>
            <a:chOff x="3181525" y="4372658"/>
            <a:chExt cx="851483" cy="610403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3AEA090-176C-45A1-B941-C5B45B88A0F0}"/>
                </a:ext>
              </a:extLst>
            </p:cNvPr>
            <p:cNvCxnSpPr/>
            <p:nvPr/>
          </p:nvCxnSpPr>
          <p:spPr>
            <a:xfrm flipH="1" flipV="1">
              <a:off x="3181525" y="4500694"/>
              <a:ext cx="851483" cy="4045"/>
            </a:xfrm>
            <a:prstGeom prst="line">
              <a:avLst/>
            </a:prstGeom>
            <a:ln w="15875">
              <a:solidFill>
                <a:srgbClr val="C34E2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3190F08-55F4-42DF-ABFF-6C9C1A9FD9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81525" y="4500694"/>
              <a:ext cx="0" cy="482367"/>
            </a:xfrm>
            <a:prstGeom prst="line">
              <a:avLst/>
            </a:prstGeom>
            <a:ln w="15875">
              <a:solidFill>
                <a:srgbClr val="C34E2D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28F72E1-D1DC-4241-B1AD-A98AFC7766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33008" y="4372658"/>
              <a:ext cx="0" cy="128036"/>
            </a:xfrm>
            <a:prstGeom prst="line">
              <a:avLst/>
            </a:prstGeom>
            <a:ln w="15875">
              <a:solidFill>
                <a:srgbClr val="C34E2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892279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CBD44-720A-46AD-BC6F-E18AF9C77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Action 9 | International Trade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0921BB-6FA5-4126-9CF3-504644027E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279" y="1301994"/>
            <a:ext cx="8835781" cy="2212994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>
                <a:solidFill>
                  <a:srgbClr val="54544B"/>
                </a:solidFill>
              </a:rPr>
              <a:t>SUT_2017.xlsx</a:t>
            </a:r>
            <a:endParaRPr lang="en-US" dirty="0">
              <a:solidFill>
                <a:srgbClr val="54544B"/>
              </a:solidFill>
            </a:endParaRPr>
          </a:p>
          <a:p>
            <a:r>
              <a:rPr lang="en-US" dirty="0"/>
              <a:t>Enter new data on imports and exports of goods</a:t>
            </a:r>
          </a:p>
          <a:p>
            <a:r>
              <a:rPr lang="en-US" dirty="0"/>
              <a:t>Select whether to use new or SUT2017 data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39E550-6177-4BC2-ACF5-E4ACD3152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451" y="5205369"/>
            <a:ext cx="5588316" cy="967768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4DDCF46-CE8C-4836-B0CC-FDA93027D41E}"/>
              </a:ext>
            </a:extLst>
          </p:cNvPr>
          <p:cNvSpPr txBox="1"/>
          <p:nvPr/>
        </p:nvSpPr>
        <p:spPr>
          <a:xfrm>
            <a:off x="311451" y="4847829"/>
            <a:ext cx="53647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54544B"/>
                </a:solidFill>
              </a:rPr>
              <a:t>Trade data by commodity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4BF539-B089-48BA-B541-1A75C28195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452" y="6222900"/>
            <a:ext cx="3610428" cy="21565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D310110-D8BE-4D3D-81E8-4B5244693D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0712" y="3596716"/>
            <a:ext cx="2841348" cy="2576421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64B4CB7F-361F-47DB-96A9-3C8B60973127}"/>
              </a:ext>
            </a:extLst>
          </p:cNvPr>
          <p:cNvSpPr/>
          <p:nvPr/>
        </p:nvSpPr>
        <p:spPr>
          <a:xfrm>
            <a:off x="4963924" y="5155606"/>
            <a:ext cx="1015076" cy="1067294"/>
          </a:xfrm>
          <a:prstGeom prst="rect">
            <a:avLst/>
          </a:prstGeom>
          <a:noFill/>
          <a:ln w="44450">
            <a:solidFill>
              <a:srgbClr val="C34E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F9B68F5-20A3-4AE2-A37A-4F6D185217F3}"/>
              </a:ext>
            </a:extLst>
          </p:cNvPr>
          <p:cNvSpPr txBox="1"/>
          <p:nvPr/>
        </p:nvSpPr>
        <p:spPr>
          <a:xfrm>
            <a:off x="6130712" y="3207211"/>
            <a:ext cx="28413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>
                <a:solidFill>
                  <a:srgbClr val="54544B"/>
                </a:solidFill>
              </a:rPr>
              <a:t>Goods trade data from COMTRADE</a:t>
            </a:r>
          </a:p>
        </p:txBody>
      </p:sp>
    </p:spTree>
    <p:extLst>
      <p:ext uri="{BB962C8B-B14F-4D97-AF65-F5344CB8AC3E}">
        <p14:creationId xmlns:p14="http://schemas.microsoft.com/office/powerpoint/2010/main" val="19792664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92022-48F2-4F36-B632-F887E7544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Action 10 | Indirect Taxes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78CB73-2AF8-4DFC-9116-B9855F4F4E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279" y="1301994"/>
            <a:ext cx="8835781" cy="3609760"/>
          </a:xfrm>
        </p:spPr>
        <p:txBody>
          <a:bodyPr/>
          <a:lstStyle/>
          <a:p>
            <a:r>
              <a:rPr lang="en-US" b="1" dirty="0"/>
              <a:t>Taxes on production and products entered as RATES and then collections are estimated based on demand/supply data in SUT  </a:t>
            </a:r>
          </a:p>
          <a:p>
            <a:pPr lvl="1"/>
            <a:r>
              <a:rPr lang="en-US" dirty="0"/>
              <a:t>Subsidies on production</a:t>
            </a:r>
          </a:p>
          <a:p>
            <a:pPr lvl="1"/>
            <a:r>
              <a:rPr lang="en-US" dirty="0"/>
              <a:t>Customs duties collected on imports</a:t>
            </a:r>
          </a:p>
          <a:p>
            <a:pPr lvl="1"/>
            <a:r>
              <a:rPr lang="en-US" dirty="0"/>
              <a:t>Export taxes on exported products</a:t>
            </a:r>
          </a:p>
          <a:p>
            <a:pPr lvl="1"/>
            <a:r>
              <a:rPr lang="en-US" dirty="0"/>
              <a:t>Import excise duties on imported products</a:t>
            </a:r>
          </a:p>
          <a:p>
            <a:pPr lvl="1"/>
            <a:r>
              <a:rPr lang="en-US" dirty="0"/>
              <a:t>Subsidies on products</a:t>
            </a:r>
          </a:p>
          <a:p>
            <a:pPr lvl="1"/>
            <a:r>
              <a:rPr lang="en-US" dirty="0"/>
              <a:t>VAT on products</a:t>
            </a:r>
          </a:p>
          <a:p>
            <a:pPr lvl="1"/>
            <a:r>
              <a:rPr lang="en-US" dirty="0"/>
              <a:t>Excise and other product taxes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D127D6-92EE-418E-A056-DED199C03E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278" y="5428400"/>
            <a:ext cx="8787468" cy="920957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C15F5D1-66F6-428C-A4F3-F964DD8A4A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278" y="6434840"/>
            <a:ext cx="8787468" cy="239441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BEAB168-19EF-4E05-9A75-60C5CD4996D6}"/>
              </a:ext>
            </a:extLst>
          </p:cNvPr>
          <p:cNvSpPr txBox="1"/>
          <p:nvPr/>
        </p:nvSpPr>
        <p:spPr>
          <a:xfrm>
            <a:off x="93337" y="5077881"/>
            <a:ext cx="53647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54544B"/>
                </a:solidFill>
              </a:rPr>
              <a:t>Initial indirect tax rates, estimated collection, and scaled collections</a:t>
            </a:r>
          </a:p>
        </p:txBody>
      </p:sp>
    </p:spTree>
    <p:extLst>
      <p:ext uri="{BB962C8B-B14F-4D97-AF65-F5344CB8AC3E}">
        <p14:creationId xmlns:p14="http://schemas.microsoft.com/office/powerpoint/2010/main" val="30510548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F773B-8EF7-42FC-8DE3-FE233E0B8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Action 10 | Indirect Taxes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80E3B5-FDF1-4C5F-AD92-27BAC72A64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280" y="1301993"/>
            <a:ext cx="8508576" cy="3972143"/>
          </a:xfrm>
        </p:spPr>
        <p:txBody>
          <a:bodyPr>
            <a:normAutofit/>
          </a:bodyPr>
          <a:lstStyle/>
          <a:p>
            <a:r>
              <a:rPr lang="en-US" b="1" dirty="0"/>
              <a:t>Indirect tax collections are reported in SUT2017</a:t>
            </a:r>
          </a:p>
          <a:p>
            <a:pPr lvl="1"/>
            <a:r>
              <a:rPr lang="en-US" dirty="0"/>
              <a:t>Can either retain SUT2017 product level rates</a:t>
            </a:r>
          </a:p>
          <a:p>
            <a:pPr lvl="1"/>
            <a:r>
              <a:rPr lang="en-US" dirty="0"/>
              <a:t>Or provide new data on actual tax collections</a:t>
            </a:r>
          </a:p>
          <a:p>
            <a:pPr lvl="1"/>
            <a:endParaRPr lang="en-US" sz="700" dirty="0"/>
          </a:p>
          <a:p>
            <a:r>
              <a:rPr lang="en-US" b="1" dirty="0"/>
              <a:t>SUT2017 rates recorded in SUT_2017.xlsx </a:t>
            </a:r>
            <a:r>
              <a:rPr lang="en-US" sz="1400" b="1" dirty="0"/>
              <a:t>(see next slide)</a:t>
            </a:r>
            <a:endParaRPr lang="en-US" sz="1600" b="1" dirty="0"/>
          </a:p>
          <a:p>
            <a:pPr lvl="1"/>
            <a:r>
              <a:rPr lang="en-US" dirty="0"/>
              <a:t>Implied collections calculated by combining with supply/demand in SUT</a:t>
            </a:r>
          </a:p>
          <a:p>
            <a:endParaRPr lang="en-US" sz="1000" b="1" dirty="0"/>
          </a:p>
          <a:p>
            <a:r>
              <a:rPr lang="en-US" b="1" dirty="0"/>
              <a:t>Actual collections entered in NAT_2017.xlsx </a:t>
            </a:r>
            <a:r>
              <a:rPr lang="en-US" sz="1400" b="1" dirty="0"/>
              <a:t>(see </a:t>
            </a:r>
            <a:r>
              <a:rPr lang="en-US" sz="1400" b="1" dirty="0" err="1"/>
              <a:t>xTAX</a:t>
            </a:r>
            <a:r>
              <a:rPr lang="en-US" sz="1400" b="1" dirty="0"/>
              <a:t> sheet)</a:t>
            </a:r>
          </a:p>
          <a:p>
            <a:pPr lvl="1"/>
            <a:r>
              <a:rPr lang="en-US" dirty="0"/>
              <a:t>Rates are derived by combining collections and product demand/supply from SUT sheet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8D63CF-F9B5-47C9-BCA7-6DAB35C042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73" y="5374419"/>
            <a:ext cx="8875587" cy="94963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FCC5C13-EDC4-49F0-A637-BBE5D00FE4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73" y="6424332"/>
            <a:ext cx="8875588" cy="211671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885980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9C661-D7AC-4D1C-A188-D7E3B5AC1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Action 10 | Indirect Taxes (3)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A961E9-27F9-4F4C-86AF-EB7D9C5470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279" y="1301993"/>
            <a:ext cx="8835781" cy="2028435"/>
          </a:xfrm>
        </p:spPr>
        <p:txBody>
          <a:bodyPr>
            <a:normAutofit/>
          </a:bodyPr>
          <a:lstStyle/>
          <a:p>
            <a:r>
              <a:rPr lang="en-US" b="1" dirty="0"/>
              <a:t>SUT_2017.xlsx</a:t>
            </a:r>
          </a:p>
          <a:p>
            <a:endParaRPr lang="en-US" sz="500" dirty="0"/>
          </a:p>
          <a:p>
            <a:r>
              <a:rPr lang="en-US" dirty="0"/>
              <a:t>SUT2017 indirect tax rates estimated using collections and tax base for each product</a:t>
            </a:r>
          </a:p>
          <a:p>
            <a:pPr lvl="1"/>
            <a:r>
              <a:rPr lang="en-US" dirty="0"/>
              <a:t> e.g., </a:t>
            </a:r>
            <a:r>
              <a:rPr lang="en-US" dirty="0">
                <a:solidFill>
                  <a:srgbClr val="C34E2D"/>
                </a:solidFill>
              </a:rPr>
              <a:t>Custom duties </a:t>
            </a:r>
            <a:r>
              <a:rPr lang="en-US" dirty="0"/>
              <a:t>/ </a:t>
            </a:r>
            <a:r>
              <a:rPr lang="en-US" dirty="0">
                <a:solidFill>
                  <a:srgbClr val="0B8EB8"/>
                </a:solidFill>
              </a:rPr>
              <a:t>Import value </a:t>
            </a:r>
            <a:r>
              <a:rPr lang="en-US" dirty="0"/>
              <a:t>= </a:t>
            </a:r>
            <a:r>
              <a:rPr lang="en-US" dirty="0">
                <a:solidFill>
                  <a:srgbClr val="5C8E3A"/>
                </a:solidFill>
              </a:rPr>
              <a:t>Import tariff rate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55CAC5-206A-4BDF-A3C4-590AE30F0D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277" y="4005743"/>
            <a:ext cx="8818109" cy="2381108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5C4DB98-0ACD-4636-BE7A-C0C4CE2747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4630" y="6448632"/>
            <a:ext cx="3359756" cy="187371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44C3FB9-56AA-48CF-B176-3DD588C6901E}"/>
              </a:ext>
            </a:extLst>
          </p:cNvPr>
          <p:cNvSpPr/>
          <p:nvPr/>
        </p:nvSpPr>
        <p:spPr>
          <a:xfrm>
            <a:off x="64754" y="3888297"/>
            <a:ext cx="1503988" cy="922788"/>
          </a:xfrm>
          <a:prstGeom prst="rect">
            <a:avLst/>
          </a:prstGeom>
          <a:noFill/>
          <a:ln w="44450">
            <a:solidFill>
              <a:srgbClr val="C34E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15937A-05E2-41B3-8C8D-879A9F1A1726}"/>
              </a:ext>
            </a:extLst>
          </p:cNvPr>
          <p:cNvSpPr/>
          <p:nvPr/>
        </p:nvSpPr>
        <p:spPr>
          <a:xfrm>
            <a:off x="3068012" y="3888296"/>
            <a:ext cx="1503988" cy="922789"/>
          </a:xfrm>
          <a:prstGeom prst="rect">
            <a:avLst/>
          </a:prstGeom>
          <a:noFill/>
          <a:ln w="44450">
            <a:solidFill>
              <a:srgbClr val="0B8E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63B9282-F3E6-48A4-A63B-3F5ABB9FDD4F}"/>
              </a:ext>
            </a:extLst>
          </p:cNvPr>
          <p:cNvSpPr/>
          <p:nvPr/>
        </p:nvSpPr>
        <p:spPr>
          <a:xfrm>
            <a:off x="6011199" y="3888295"/>
            <a:ext cx="1503988" cy="922789"/>
          </a:xfrm>
          <a:prstGeom prst="rect">
            <a:avLst/>
          </a:prstGeom>
          <a:noFill/>
          <a:ln w="44450">
            <a:solidFill>
              <a:srgbClr val="5C8E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00AC22-5B9B-4A54-BF19-F6C986BBBAAC}"/>
              </a:ext>
            </a:extLst>
          </p:cNvPr>
          <p:cNvSpPr txBox="1"/>
          <p:nvPr/>
        </p:nvSpPr>
        <p:spPr>
          <a:xfrm>
            <a:off x="64754" y="3485354"/>
            <a:ext cx="20618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C34E2D"/>
                </a:solidFill>
              </a:rPr>
              <a:t>Tax collections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484016-E64D-46E4-8033-2D7B1E106AA8}"/>
              </a:ext>
            </a:extLst>
          </p:cNvPr>
          <p:cNvSpPr txBox="1"/>
          <p:nvPr/>
        </p:nvSpPr>
        <p:spPr>
          <a:xfrm>
            <a:off x="3068012" y="3496357"/>
            <a:ext cx="18017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B8EB8"/>
                </a:solidFill>
              </a:rPr>
              <a:t>Tax base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E9A05E-6920-4BFE-95C5-31E206DCA156}"/>
              </a:ext>
            </a:extLst>
          </p:cNvPr>
          <p:cNvSpPr txBox="1"/>
          <p:nvPr/>
        </p:nvSpPr>
        <p:spPr>
          <a:xfrm>
            <a:off x="5925862" y="3493289"/>
            <a:ext cx="18017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5C8E3A"/>
                </a:solidFill>
              </a:rPr>
              <a:t>Implied tax rate</a:t>
            </a:r>
          </a:p>
        </p:txBody>
      </p:sp>
    </p:spTree>
    <p:extLst>
      <p:ext uri="{BB962C8B-B14F-4D97-AF65-F5344CB8AC3E}">
        <p14:creationId xmlns:p14="http://schemas.microsoft.com/office/powerpoint/2010/main" val="8533059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DC950-5A0D-4761-8544-E0C14D4F2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Action 11 | Absorption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C59463-7290-4685-A1A3-B36E06A231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279" y="1301993"/>
            <a:ext cx="8835781" cy="1185343"/>
          </a:xfrm>
        </p:spPr>
        <p:txBody>
          <a:bodyPr/>
          <a:lstStyle/>
          <a:p>
            <a:r>
              <a:rPr lang="en-US" dirty="0"/>
              <a:t>Absorption data (C + I + G) comes from SUT2017 (default) or other sources (incl. household survey)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B2A9F8-8B48-4E5E-98D9-410B1664F8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286" y="5249252"/>
            <a:ext cx="8770495" cy="92924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A863AA5-4000-45E1-83A9-90BFBFAC9D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285" y="6290724"/>
            <a:ext cx="8770495" cy="26937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223FF96-96DF-4B29-8D44-0F77AA148E5A}"/>
              </a:ext>
            </a:extLst>
          </p:cNvPr>
          <p:cNvSpPr txBox="1"/>
          <p:nvPr/>
        </p:nvSpPr>
        <p:spPr>
          <a:xfrm>
            <a:off x="220284" y="4875673"/>
            <a:ext cx="87517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54544B"/>
                </a:solidFill>
              </a:rPr>
              <a:t>Private and public consumption, gross fixed capital formation (public and private), and inventory changes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9C73A2A-FAA0-4D5F-AC28-C9FA045EDF63}"/>
              </a:ext>
            </a:extLst>
          </p:cNvPr>
          <p:cNvSpPr/>
          <p:nvPr/>
        </p:nvSpPr>
        <p:spPr>
          <a:xfrm>
            <a:off x="624979" y="5670958"/>
            <a:ext cx="515923" cy="573336"/>
          </a:xfrm>
          <a:prstGeom prst="rect">
            <a:avLst/>
          </a:prstGeom>
          <a:noFill/>
          <a:ln w="44450">
            <a:solidFill>
              <a:srgbClr val="C34E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EC7BB9-922A-4D05-9EB0-AB05BF4B1CAB}"/>
              </a:ext>
            </a:extLst>
          </p:cNvPr>
          <p:cNvSpPr txBox="1"/>
          <p:nvPr/>
        </p:nvSpPr>
        <p:spPr>
          <a:xfrm>
            <a:off x="5144287" y="2816367"/>
            <a:ext cx="24225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C34E2D"/>
                </a:solidFill>
              </a:rPr>
              <a:t>Data recorded on </a:t>
            </a:r>
            <a:r>
              <a:rPr lang="en-US" sz="1400" b="1" dirty="0" err="1">
                <a:solidFill>
                  <a:srgbClr val="C34E2D"/>
                </a:solidFill>
              </a:rPr>
              <a:t>xNA</a:t>
            </a:r>
            <a:r>
              <a:rPr lang="en-US" sz="1400" b="1" dirty="0">
                <a:solidFill>
                  <a:srgbClr val="C34E2D"/>
                </a:solidFill>
              </a:rPr>
              <a:t> sheet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B480D15-BEB5-449F-99A9-8154FA4408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9053" y="3180260"/>
            <a:ext cx="3753006" cy="926856"/>
          </a:xfrm>
          <a:prstGeom prst="rect">
            <a:avLst/>
          </a:prstGeom>
          <a:ln w="15875">
            <a:solidFill>
              <a:srgbClr val="C0000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0BC93F3A-6701-4FE7-9C21-0DC9F5FC2397}"/>
              </a:ext>
            </a:extLst>
          </p:cNvPr>
          <p:cNvGrpSpPr/>
          <p:nvPr/>
        </p:nvGrpSpPr>
        <p:grpSpPr>
          <a:xfrm>
            <a:off x="882940" y="4159498"/>
            <a:ext cx="7462008" cy="610403"/>
            <a:chOff x="3181525" y="4372658"/>
            <a:chExt cx="851483" cy="610403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59191E7-D732-4060-9B3F-71E8901E5482}"/>
                </a:ext>
              </a:extLst>
            </p:cNvPr>
            <p:cNvCxnSpPr/>
            <p:nvPr/>
          </p:nvCxnSpPr>
          <p:spPr>
            <a:xfrm flipH="1" flipV="1">
              <a:off x="3181525" y="4500694"/>
              <a:ext cx="851483" cy="4045"/>
            </a:xfrm>
            <a:prstGeom prst="line">
              <a:avLst/>
            </a:prstGeom>
            <a:ln w="15875">
              <a:solidFill>
                <a:srgbClr val="C34E2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914312B-B13B-47B7-8DA0-0BE013A9FB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81525" y="4500694"/>
              <a:ext cx="0" cy="482367"/>
            </a:xfrm>
            <a:prstGeom prst="line">
              <a:avLst/>
            </a:prstGeom>
            <a:ln w="15875">
              <a:solidFill>
                <a:srgbClr val="C34E2D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E3B473A-541B-49EF-8885-0AFA65F3F9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33008" y="4372658"/>
              <a:ext cx="0" cy="128036"/>
            </a:xfrm>
            <a:prstGeom prst="line">
              <a:avLst/>
            </a:prstGeom>
            <a:ln w="15875">
              <a:solidFill>
                <a:srgbClr val="C34E2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997416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039D7-FBB2-4E68-912A-1723C779B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Action 11 | Absorption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0E2AB2-245C-4741-902F-BB84C23213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280" y="1301993"/>
            <a:ext cx="3972492" cy="2171049"/>
          </a:xfrm>
        </p:spPr>
        <p:txBody>
          <a:bodyPr/>
          <a:lstStyle/>
          <a:p>
            <a:r>
              <a:rPr lang="en-US" b="1" dirty="0"/>
              <a:t>SUT_2017.xlsx</a:t>
            </a:r>
          </a:p>
          <a:p>
            <a:endParaRPr lang="en-US" dirty="0"/>
          </a:p>
          <a:p>
            <a:r>
              <a:rPr lang="en-US" dirty="0"/>
              <a:t>GDP by expenditure category data from SUT2017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63C2FC-BAC9-4632-8FBE-85F00B091533}"/>
              </a:ext>
            </a:extLst>
          </p:cNvPr>
          <p:cNvSpPr txBox="1"/>
          <p:nvPr/>
        </p:nvSpPr>
        <p:spPr>
          <a:xfrm>
            <a:off x="5035230" y="1922939"/>
            <a:ext cx="24225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C34E2D"/>
                </a:solidFill>
              </a:rPr>
              <a:t>Data recorded on </a:t>
            </a:r>
            <a:r>
              <a:rPr lang="en-US" sz="1400" b="1" dirty="0" err="1">
                <a:solidFill>
                  <a:srgbClr val="C34E2D"/>
                </a:solidFill>
              </a:rPr>
              <a:t>xNA</a:t>
            </a:r>
            <a:r>
              <a:rPr lang="en-US" sz="1400" b="1" dirty="0">
                <a:solidFill>
                  <a:srgbClr val="C34E2D"/>
                </a:solidFill>
              </a:rPr>
              <a:t> sheet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AAFEC6-EAA5-4E0E-9DEB-9C033B6863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9996" y="2286832"/>
            <a:ext cx="3753006" cy="926856"/>
          </a:xfrm>
          <a:prstGeom prst="rect">
            <a:avLst/>
          </a:prstGeom>
          <a:ln w="15875">
            <a:solidFill>
              <a:srgbClr val="C0000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A8B950A0-7A0F-4C10-A8FF-006FA39F4DAC}"/>
              </a:ext>
            </a:extLst>
          </p:cNvPr>
          <p:cNvGrpSpPr/>
          <p:nvPr/>
        </p:nvGrpSpPr>
        <p:grpSpPr>
          <a:xfrm flipV="1">
            <a:off x="5800985" y="3344929"/>
            <a:ext cx="302005" cy="749276"/>
            <a:chOff x="3181525" y="4372658"/>
            <a:chExt cx="851483" cy="610403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9D6A27-AE1D-41E0-85F5-EF15D232EC24}"/>
                </a:ext>
              </a:extLst>
            </p:cNvPr>
            <p:cNvCxnSpPr/>
            <p:nvPr/>
          </p:nvCxnSpPr>
          <p:spPr>
            <a:xfrm flipH="1" flipV="1">
              <a:off x="3181525" y="4500694"/>
              <a:ext cx="851483" cy="4045"/>
            </a:xfrm>
            <a:prstGeom prst="line">
              <a:avLst/>
            </a:prstGeom>
            <a:ln w="15875">
              <a:solidFill>
                <a:srgbClr val="C34E2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7FC996B-1957-4E61-B4FD-EE70E46AA2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81525" y="4500694"/>
              <a:ext cx="0" cy="482367"/>
            </a:xfrm>
            <a:prstGeom prst="line">
              <a:avLst/>
            </a:prstGeom>
            <a:ln w="15875">
              <a:solidFill>
                <a:srgbClr val="C34E2D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7856EE77-7FA6-41D2-92D8-98CE5A82F9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33008" y="4372658"/>
              <a:ext cx="0" cy="128036"/>
            </a:xfrm>
            <a:prstGeom prst="line">
              <a:avLst/>
            </a:prstGeom>
            <a:ln w="15875">
              <a:solidFill>
                <a:srgbClr val="C34E2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1D284817-6DF2-4AED-BD70-A6C81BA7C1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925" y="4224694"/>
            <a:ext cx="3148319" cy="220024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B7B3C6C-82A9-4FE9-954C-197E5C7C7C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925" y="6498740"/>
            <a:ext cx="3079325" cy="188771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7453843-D985-45E9-9C4A-0C532EED03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479" y="4224694"/>
            <a:ext cx="4448994" cy="1190831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C78BB7A-5AC0-413F-AF8F-10D65CA301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479" y="5493314"/>
            <a:ext cx="3738293" cy="230049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5843400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7BB36-6411-44C8-9460-AE494CAEF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Action 12 | Transaction Costs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9137FD-88F6-47B3-B64C-F02FAAC944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279" y="1301994"/>
            <a:ext cx="8835781" cy="2296884"/>
          </a:xfrm>
        </p:spPr>
        <p:txBody>
          <a:bodyPr/>
          <a:lstStyle/>
          <a:p>
            <a:r>
              <a:rPr lang="en-US" b="1" dirty="0"/>
              <a:t>Transaction cost margin rates derived from SUT2017</a:t>
            </a:r>
          </a:p>
          <a:p>
            <a:pPr lvl="1"/>
            <a:r>
              <a:rPr lang="en-US" dirty="0"/>
              <a:t>Margin collections estimated from demand/supply flows in SUT sheet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44F94D-6BD5-404C-A8AE-D28E009591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867" y="4597168"/>
            <a:ext cx="4810537" cy="172758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A6E153D-72D3-41BF-8A18-366641E477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867" y="6455704"/>
            <a:ext cx="6237215" cy="180299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F306302-4F4E-4D59-BEBD-491B254C0F91}"/>
              </a:ext>
            </a:extLst>
          </p:cNvPr>
          <p:cNvSpPr txBox="1"/>
          <p:nvPr/>
        </p:nvSpPr>
        <p:spPr>
          <a:xfrm>
            <a:off x="488733" y="4223913"/>
            <a:ext cx="50857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54544B"/>
                </a:solidFill>
              </a:rPr>
              <a:t>Trade and transport margin rates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FAB4629-A6F0-4CCB-8B49-95C87AFB24E0}"/>
              </a:ext>
            </a:extLst>
          </p:cNvPr>
          <p:cNvSpPr/>
          <p:nvPr/>
        </p:nvSpPr>
        <p:spPr>
          <a:xfrm>
            <a:off x="1052818" y="5236224"/>
            <a:ext cx="591424" cy="573336"/>
          </a:xfrm>
          <a:prstGeom prst="rect">
            <a:avLst/>
          </a:prstGeom>
          <a:noFill/>
          <a:ln w="44450">
            <a:solidFill>
              <a:srgbClr val="C34E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F4B2F7-9E85-402D-A4EC-C91C4878D448}"/>
              </a:ext>
            </a:extLst>
          </p:cNvPr>
          <p:cNvSpPr txBox="1"/>
          <p:nvPr/>
        </p:nvSpPr>
        <p:spPr>
          <a:xfrm>
            <a:off x="849124" y="3916136"/>
            <a:ext cx="32908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C34E2D"/>
                </a:solidFill>
              </a:rPr>
              <a:t>Data recorded in SUT_2017.xlsx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D3F875D-DB77-4C65-A158-A9C865178F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744" y="2641032"/>
            <a:ext cx="2725949" cy="1890658"/>
          </a:xfrm>
          <a:prstGeom prst="rect">
            <a:avLst/>
          </a:prstGeom>
          <a:ln w="15875">
            <a:solidFill>
              <a:srgbClr val="C34E2D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37DEE87-511C-4AC0-8D2A-8B5AA85934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5211" y="4675780"/>
            <a:ext cx="2780482" cy="19822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D351BC1D-DAFE-4ECB-A231-33152797CB0A}"/>
              </a:ext>
            </a:extLst>
          </p:cNvPr>
          <p:cNvGrpSpPr/>
          <p:nvPr/>
        </p:nvGrpSpPr>
        <p:grpSpPr>
          <a:xfrm rot="5400000" flipV="1">
            <a:off x="4408890" y="2724066"/>
            <a:ext cx="878011" cy="1813909"/>
            <a:chOff x="3181525" y="4372658"/>
            <a:chExt cx="851483" cy="610403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682683A-A411-458B-9563-F6E53F99B36C}"/>
                </a:ext>
              </a:extLst>
            </p:cNvPr>
            <p:cNvCxnSpPr/>
            <p:nvPr/>
          </p:nvCxnSpPr>
          <p:spPr>
            <a:xfrm flipH="1" flipV="1">
              <a:off x="3181525" y="4500694"/>
              <a:ext cx="851483" cy="4045"/>
            </a:xfrm>
            <a:prstGeom prst="line">
              <a:avLst/>
            </a:prstGeom>
            <a:ln w="15875">
              <a:solidFill>
                <a:srgbClr val="C34E2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C410252-D0AA-4CFC-B5C0-4CB2A465C6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81525" y="4500694"/>
              <a:ext cx="0" cy="482367"/>
            </a:xfrm>
            <a:prstGeom prst="line">
              <a:avLst/>
            </a:prstGeom>
            <a:ln w="15875">
              <a:solidFill>
                <a:srgbClr val="C34E2D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37B6E09-2A94-4C9A-B276-46D1474E94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33008" y="4372658"/>
              <a:ext cx="0" cy="128036"/>
            </a:xfrm>
            <a:prstGeom prst="line">
              <a:avLst/>
            </a:prstGeom>
            <a:ln w="15875">
              <a:solidFill>
                <a:srgbClr val="C34E2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914876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77800" y="4121148"/>
            <a:ext cx="60858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54544B"/>
                </a:solidFill>
              </a:rPr>
              <a:t>Step 3: Income Distribution</a:t>
            </a:r>
            <a:endParaRPr lang="en-US" sz="2400" b="1" dirty="0">
              <a:solidFill>
                <a:srgbClr val="54544B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4767478"/>
            <a:ext cx="9144000" cy="461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77800" y="4767478"/>
            <a:ext cx="78041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54544B"/>
                </a:solidFill>
              </a:rPr>
              <a:t>Disaggregate and balance labor and household accounts</a:t>
            </a:r>
            <a:endParaRPr lang="en-US" dirty="0">
              <a:solidFill>
                <a:srgbClr val="54544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04642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3825" y="1263650"/>
          <a:ext cx="8836015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Act</a:t>
                      </a:r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Com</a:t>
                      </a:r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Fact</a:t>
                      </a:r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Ent</a:t>
                      </a:r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Hhd</a:t>
                      </a:r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Gov</a:t>
                      </a:r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Tax</a:t>
                      </a:r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S-I</a:t>
                      </a:r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Stk</a:t>
                      </a:r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Wld</a:t>
                      </a:r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Tot</a:t>
                      </a:r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Activities</a:t>
                      </a: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rgbClr val="C34E2D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rgbClr val="C34E2D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rgbClr val="C34E2D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rgbClr val="C34E2D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Commodities</a:t>
                      </a:r>
                    </a:p>
                  </a:txBody>
                  <a:tcPr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Factors</a:t>
                      </a:r>
                    </a:p>
                  </a:txBody>
                  <a:tcPr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Enterprises</a:t>
                      </a:r>
                    </a:p>
                  </a:txBody>
                  <a:tcPr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Households</a:t>
                      </a:r>
                    </a:p>
                  </a:txBody>
                  <a:tcPr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Government</a:t>
                      </a:r>
                    </a:p>
                  </a:txBody>
                  <a:tcPr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Taxes</a:t>
                      </a:r>
                    </a:p>
                  </a:txBody>
                  <a:tcPr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Savings</a:t>
                      </a:r>
                    </a:p>
                  </a:txBody>
                  <a:tcPr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Stock change</a:t>
                      </a:r>
                    </a:p>
                  </a:txBody>
                  <a:tcPr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Rest of world</a:t>
                      </a:r>
                    </a:p>
                  </a:txBody>
                  <a:tcPr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</a:p>
                  </a:txBody>
                  <a:tcPr>
                    <a:solidFill>
                      <a:srgbClr val="5454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Details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11772" y="2357093"/>
            <a:ext cx="7177813" cy="371475"/>
          </a:xfrm>
          <a:prstGeom prst="rect">
            <a:avLst/>
          </a:prstGeom>
          <a:solidFill>
            <a:srgbClr val="C34E2D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FBB4BB3-5B09-4811-A4AB-B45D1132D1DF}"/>
              </a:ext>
            </a:extLst>
          </p:cNvPr>
          <p:cNvSpPr/>
          <p:nvPr/>
        </p:nvSpPr>
        <p:spPr>
          <a:xfrm>
            <a:off x="3086534" y="1515941"/>
            <a:ext cx="656789" cy="4078409"/>
          </a:xfrm>
          <a:prstGeom prst="rect">
            <a:avLst/>
          </a:prstGeom>
          <a:solidFill>
            <a:srgbClr val="C34E2D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5B7EEF6-3E10-4305-AD55-BD74302A335F}"/>
              </a:ext>
            </a:extLst>
          </p:cNvPr>
          <p:cNvSpPr/>
          <p:nvPr/>
        </p:nvSpPr>
        <p:spPr>
          <a:xfrm>
            <a:off x="2025538" y="2319446"/>
            <a:ext cx="1463097" cy="461665"/>
          </a:xfrm>
          <a:prstGeom prst="rect">
            <a:avLst/>
          </a:prstGeom>
          <a:solidFill>
            <a:srgbClr val="C34E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FEB400D-6EAF-44D7-81DC-B7C96D3048BF}"/>
              </a:ext>
            </a:extLst>
          </p:cNvPr>
          <p:cNvSpPr txBox="1"/>
          <p:nvPr/>
        </p:nvSpPr>
        <p:spPr>
          <a:xfrm>
            <a:off x="2025538" y="2322029"/>
            <a:ext cx="14630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17 factors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2B384D6-82ED-4BBF-B163-A4C8237EBB4A}"/>
              </a:ext>
            </a:extLst>
          </p:cNvPr>
          <p:cNvSpPr/>
          <p:nvPr/>
        </p:nvSpPr>
        <p:spPr>
          <a:xfrm>
            <a:off x="5041188" y="3117215"/>
            <a:ext cx="3918651" cy="371475"/>
          </a:xfrm>
          <a:prstGeom prst="rect">
            <a:avLst/>
          </a:prstGeom>
          <a:solidFill>
            <a:srgbClr val="0B8EB8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521C8E-78CB-447F-989B-25E172CFEF63}"/>
              </a:ext>
            </a:extLst>
          </p:cNvPr>
          <p:cNvSpPr/>
          <p:nvPr/>
        </p:nvSpPr>
        <p:spPr>
          <a:xfrm>
            <a:off x="4384400" y="1635321"/>
            <a:ext cx="656789" cy="4078410"/>
          </a:xfrm>
          <a:prstGeom prst="rect">
            <a:avLst/>
          </a:prstGeom>
          <a:solidFill>
            <a:srgbClr val="0B8EB8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76D3CB9-0211-4923-87FD-544DEE5D3FDD}"/>
              </a:ext>
            </a:extLst>
          </p:cNvPr>
          <p:cNvSpPr/>
          <p:nvPr/>
        </p:nvSpPr>
        <p:spPr>
          <a:xfrm>
            <a:off x="1782028" y="3117215"/>
            <a:ext cx="2212218" cy="371475"/>
          </a:xfrm>
          <a:prstGeom prst="rect">
            <a:avLst/>
          </a:prstGeom>
          <a:solidFill>
            <a:srgbClr val="0B8EB8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7C32A21-1234-4968-B328-51E94EEC40DF}"/>
              </a:ext>
            </a:extLst>
          </p:cNvPr>
          <p:cNvSpPr/>
          <p:nvPr/>
        </p:nvSpPr>
        <p:spPr>
          <a:xfrm>
            <a:off x="3743324" y="3073049"/>
            <a:ext cx="1965415" cy="461665"/>
          </a:xfrm>
          <a:prstGeom prst="rect">
            <a:avLst/>
          </a:prstGeom>
          <a:solidFill>
            <a:srgbClr val="0B8E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F07399-B4D5-4B7D-857C-AAA002B3AD6D}"/>
              </a:ext>
            </a:extLst>
          </p:cNvPr>
          <p:cNvSpPr txBox="1"/>
          <p:nvPr/>
        </p:nvSpPr>
        <p:spPr>
          <a:xfrm>
            <a:off x="3743323" y="3061358"/>
            <a:ext cx="21217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20 households</a:t>
            </a:r>
          </a:p>
        </p:txBody>
      </p:sp>
    </p:spTree>
    <p:extLst>
      <p:ext uri="{BB962C8B-B14F-4D97-AF65-F5344CB8AC3E}">
        <p14:creationId xmlns:p14="http://schemas.microsoft.com/office/powerpoint/2010/main" val="19625997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56593" y="1525401"/>
            <a:ext cx="8514428" cy="1070585"/>
          </a:xfrm>
          <a:prstGeom prst="rect">
            <a:avLst/>
          </a:prstGeom>
          <a:solidFill>
            <a:schemeClr val="bg1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22419" y="1623180"/>
            <a:ext cx="8015645" cy="830997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Maize | Sorghum + millet | Rice | Wheat + barley | Other cereals | Pulses | Groundnuts | Other oilseeds | Cassava | Irish potatoes | Sweet potatoes | Other roots | Leafy vegetables | Other vegetables | Sugarcane | Tobacco | Cotton + fibers | Nuts | Bananas + plantains | Other fruits | Tea | Coffee | Cocoa | Cut flowers | Rubber | Other crops | Cattle | Raw milk | Poultry | Eggs | Sheep + goats | Other livestock | Forestry | Aquaculture | Capture fisheries 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F33B3A5-8E0A-4278-BC82-69881846E8CC}"/>
              </a:ext>
            </a:extLst>
          </p:cNvPr>
          <p:cNvSpPr/>
          <p:nvPr/>
        </p:nvSpPr>
        <p:spPr>
          <a:xfrm>
            <a:off x="256592" y="5247516"/>
            <a:ext cx="8514428" cy="401644"/>
          </a:xfrm>
          <a:prstGeom prst="rect">
            <a:avLst/>
          </a:prstGeom>
          <a:solidFill>
            <a:srgbClr val="FFB3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Nexus Factors &amp; Households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594" y="1297505"/>
            <a:ext cx="8514426" cy="31730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6" name="TextBox 5"/>
          <p:cNvSpPr txBox="1"/>
          <p:nvPr/>
        </p:nvSpPr>
        <p:spPr>
          <a:xfrm>
            <a:off x="256597" y="1307030"/>
            <a:ext cx="25372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Agricultural Sectors &amp; Products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6AC10DE-5C29-43D9-A0C2-15C55E87DCC9}"/>
              </a:ext>
            </a:extLst>
          </p:cNvPr>
          <p:cNvSpPr/>
          <p:nvPr/>
        </p:nvSpPr>
        <p:spPr>
          <a:xfrm>
            <a:off x="256592" y="2656534"/>
            <a:ext cx="8514428" cy="1199554"/>
          </a:xfrm>
          <a:prstGeom prst="rect">
            <a:avLst/>
          </a:prstGeom>
          <a:solidFill>
            <a:schemeClr val="bg1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5ECAFFF-4EDD-471D-8A63-A80646E7E77A}"/>
              </a:ext>
            </a:extLst>
          </p:cNvPr>
          <p:cNvSpPr txBox="1"/>
          <p:nvPr/>
        </p:nvSpPr>
        <p:spPr>
          <a:xfrm>
            <a:off x="622418" y="2797189"/>
            <a:ext cx="8015645" cy="1015663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Coal | Crude oil | Natural gas | Other mining | Meat | Fish + seafood | Dairy | Fruits + vegetables | Fats + oils | Maize milling | Sorghum + millet milling | Rice milling | Wheat + barley milling | Other grain milling | Sugar refining | Coffee processing | Tea processing | Other foods | Animal feed | Beverages | Tobacco | Cotton yarn | Textiles | Clothing | Leather + footwear | Wood | Paper | Petroleum | Chemicals | Non-metal minerals | Metals + metal products | Machinery | Equipment | Vehicles | Other manufacturing | Electricity + gas | Water supply + sewage | Construction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7943D11-4DD6-4C6F-AC38-5078330655BC}"/>
              </a:ext>
            </a:extLst>
          </p:cNvPr>
          <p:cNvSpPr/>
          <p:nvPr/>
        </p:nvSpPr>
        <p:spPr>
          <a:xfrm>
            <a:off x="256593" y="2479887"/>
            <a:ext cx="8514426" cy="31730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E4DD4FE-E86C-4E98-9943-D00FDAFCC0D7}"/>
              </a:ext>
            </a:extLst>
          </p:cNvPr>
          <p:cNvSpPr txBox="1"/>
          <p:nvPr/>
        </p:nvSpPr>
        <p:spPr>
          <a:xfrm>
            <a:off x="256597" y="2489412"/>
            <a:ext cx="26527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Industrial Sectors &amp; Products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E2B23D0-0785-48E4-956A-7EA87A9BCF72}"/>
              </a:ext>
            </a:extLst>
          </p:cNvPr>
          <p:cNvSpPr/>
          <p:nvPr/>
        </p:nvSpPr>
        <p:spPr>
          <a:xfrm>
            <a:off x="256592" y="4104969"/>
            <a:ext cx="8514428" cy="687629"/>
          </a:xfrm>
          <a:prstGeom prst="rect">
            <a:avLst/>
          </a:prstGeom>
          <a:solidFill>
            <a:schemeClr val="bg1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0FBE5D2-90AE-4D65-94C2-A3E6A02DB64B}"/>
              </a:ext>
            </a:extLst>
          </p:cNvPr>
          <p:cNvSpPr txBox="1"/>
          <p:nvPr/>
        </p:nvSpPr>
        <p:spPr>
          <a:xfrm>
            <a:off x="622418" y="4160654"/>
            <a:ext cx="8015645" cy="646331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Wholesale + retail trade | Transportation + storage | Accommodation | Food services | Information + communication | Finance + insurance | Real estate activities | Business services | Public administration  | Education | Health + social work | Other services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D511AAF-45FC-4457-A132-0A93856259C3}"/>
              </a:ext>
            </a:extLst>
          </p:cNvPr>
          <p:cNvSpPr/>
          <p:nvPr/>
        </p:nvSpPr>
        <p:spPr>
          <a:xfrm>
            <a:off x="256593" y="3856087"/>
            <a:ext cx="8514426" cy="31730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439C7D3-2D4B-414E-9DA2-51653102C806}"/>
              </a:ext>
            </a:extLst>
          </p:cNvPr>
          <p:cNvSpPr txBox="1"/>
          <p:nvPr/>
        </p:nvSpPr>
        <p:spPr>
          <a:xfrm>
            <a:off x="256597" y="3865612"/>
            <a:ext cx="22715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Service Sectors &amp; Products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0967EE2-163B-47D9-8CFB-B3554F98D83D}"/>
              </a:ext>
            </a:extLst>
          </p:cNvPr>
          <p:cNvSpPr txBox="1"/>
          <p:nvPr/>
        </p:nvSpPr>
        <p:spPr>
          <a:xfrm>
            <a:off x="622419" y="5311012"/>
            <a:ext cx="7807632" cy="275697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US" sz="1200" dirty="0">
                <a:solidFill>
                  <a:srgbClr val="54544B"/>
                </a:solidFill>
              </a:rPr>
              <a:t>Crop land | Crop, livestock, mining and nonagricultural capital | Rural, urban and Kigali labor by education category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C67E14C-0D61-45A5-84E5-324BD28E8AC8}"/>
              </a:ext>
            </a:extLst>
          </p:cNvPr>
          <p:cNvSpPr/>
          <p:nvPr/>
        </p:nvSpPr>
        <p:spPr>
          <a:xfrm>
            <a:off x="256593" y="4963534"/>
            <a:ext cx="8514426" cy="317302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A78D774-B492-453C-9EBB-F8789EDCE738}"/>
              </a:ext>
            </a:extLst>
          </p:cNvPr>
          <p:cNvSpPr txBox="1"/>
          <p:nvPr/>
        </p:nvSpPr>
        <p:spPr>
          <a:xfrm>
            <a:off x="256596" y="4973059"/>
            <a:ext cx="22715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Factors of Production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4321A18-532B-4792-82D3-2F376208B8B4}"/>
              </a:ext>
            </a:extLst>
          </p:cNvPr>
          <p:cNvSpPr/>
          <p:nvPr/>
        </p:nvSpPr>
        <p:spPr>
          <a:xfrm>
            <a:off x="256592" y="5933143"/>
            <a:ext cx="8514427" cy="323898"/>
          </a:xfrm>
          <a:prstGeom prst="rect">
            <a:avLst/>
          </a:prstGeom>
          <a:solidFill>
            <a:srgbClr val="C34E2D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E04F86B-C96E-492D-921D-3FE2ED15783B}"/>
              </a:ext>
            </a:extLst>
          </p:cNvPr>
          <p:cNvSpPr txBox="1"/>
          <p:nvPr/>
        </p:nvSpPr>
        <p:spPr>
          <a:xfrm>
            <a:off x="622420" y="5958567"/>
            <a:ext cx="7807630" cy="276999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US" sz="1200" dirty="0">
                <a:solidFill>
                  <a:srgbClr val="54544B"/>
                </a:solidFill>
              </a:rPr>
              <a:t>Rural farm, rural nonfarm, urban and Kigali households by national per capita expenditure quintiles 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7D5F237-583D-4459-AA3F-BF0A762D4E5A}"/>
              </a:ext>
            </a:extLst>
          </p:cNvPr>
          <p:cNvSpPr/>
          <p:nvPr/>
        </p:nvSpPr>
        <p:spPr>
          <a:xfrm>
            <a:off x="256593" y="5618269"/>
            <a:ext cx="8514426" cy="317302"/>
          </a:xfrm>
          <a:prstGeom prst="rect">
            <a:avLst/>
          </a:prstGeom>
          <a:solidFill>
            <a:srgbClr val="C34E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975EE44-E89D-472C-B6D0-E296E44562D9}"/>
              </a:ext>
            </a:extLst>
          </p:cNvPr>
          <p:cNvSpPr txBox="1"/>
          <p:nvPr/>
        </p:nvSpPr>
        <p:spPr>
          <a:xfrm>
            <a:off x="256596" y="5627794"/>
            <a:ext cx="22715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Household groups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453033D-AB87-44C7-AF42-FD8B046B15B1}"/>
              </a:ext>
            </a:extLst>
          </p:cNvPr>
          <p:cNvSpPr txBox="1"/>
          <p:nvPr/>
        </p:nvSpPr>
        <p:spPr>
          <a:xfrm>
            <a:off x="256590" y="1630302"/>
            <a:ext cx="3658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>
                    <a:lumMod val="65000"/>
                  </a:schemeClr>
                </a:solidFill>
              </a:rPr>
              <a:t>35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DD243A7-C644-45A0-86EC-15D48F1779DB}"/>
              </a:ext>
            </a:extLst>
          </p:cNvPr>
          <p:cNvSpPr txBox="1"/>
          <p:nvPr/>
        </p:nvSpPr>
        <p:spPr>
          <a:xfrm>
            <a:off x="256590" y="2806980"/>
            <a:ext cx="3658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>
                    <a:lumMod val="65000"/>
                  </a:schemeClr>
                </a:solidFill>
              </a:rPr>
              <a:t>39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B7E42F5-CDFB-4403-BA01-0A4C93309A55}"/>
              </a:ext>
            </a:extLst>
          </p:cNvPr>
          <p:cNvSpPr txBox="1"/>
          <p:nvPr/>
        </p:nvSpPr>
        <p:spPr>
          <a:xfrm>
            <a:off x="256590" y="4188884"/>
            <a:ext cx="3658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>
                    <a:lumMod val="65000"/>
                  </a:schemeClr>
                </a:solidFill>
              </a:rPr>
              <a:t>12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BCBE490-2240-42A8-BD09-762C10215275}"/>
              </a:ext>
            </a:extLst>
          </p:cNvPr>
          <p:cNvSpPr txBox="1"/>
          <p:nvPr/>
        </p:nvSpPr>
        <p:spPr>
          <a:xfrm>
            <a:off x="256591" y="5280836"/>
            <a:ext cx="3658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54544B"/>
                </a:solidFill>
              </a:rPr>
              <a:t>17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283FBEF-3D54-4D73-AAA8-FB0BD983E072}"/>
              </a:ext>
            </a:extLst>
          </p:cNvPr>
          <p:cNvSpPr txBox="1"/>
          <p:nvPr/>
        </p:nvSpPr>
        <p:spPr>
          <a:xfrm>
            <a:off x="256593" y="5924142"/>
            <a:ext cx="3658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54544B"/>
                </a:solidFill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40672425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Main data sources:</a:t>
            </a:r>
          </a:p>
          <a:p>
            <a:r>
              <a:rPr lang="en-US" dirty="0"/>
              <a:t>Household &amp; labor force surveys</a:t>
            </a:r>
          </a:p>
          <a:p>
            <a:endParaRPr lang="en-US" sz="1200" dirty="0"/>
          </a:p>
          <a:p>
            <a:pPr marL="0" indent="0">
              <a:buNone/>
            </a:pPr>
            <a:r>
              <a:rPr lang="en-US" b="1" dirty="0"/>
              <a:t>Map sector of employment to Nexus activities</a:t>
            </a:r>
          </a:p>
          <a:p>
            <a:r>
              <a:rPr lang="en-US" dirty="0"/>
              <a:t>ISIC3.1, ISIC4 → Disaggregated SAM accounts</a:t>
            </a:r>
          </a:p>
          <a:p>
            <a:pPr marL="0" indent="0">
              <a:buNone/>
            </a:pPr>
            <a:endParaRPr lang="en-US" sz="1100" b="1" dirty="0"/>
          </a:p>
          <a:p>
            <a:pPr marL="0" indent="0">
              <a:buNone/>
            </a:pPr>
            <a:r>
              <a:rPr lang="en-US" b="1" dirty="0"/>
              <a:t>Map consumption items to Nexus commodities</a:t>
            </a:r>
          </a:p>
          <a:p>
            <a:r>
              <a:rPr lang="en-US" dirty="0"/>
              <a:t>COICOP, etc. → Disaggregated SAM accounts</a:t>
            </a:r>
          </a:p>
          <a:p>
            <a:pPr marL="0" indent="0">
              <a:buNone/>
            </a:pPr>
            <a:endParaRPr lang="en-US" sz="1100" b="1" dirty="0"/>
          </a:p>
          <a:p>
            <a:pPr marL="0" indent="0">
              <a:buNone/>
            </a:pPr>
            <a:r>
              <a:rPr lang="en-US" b="1" dirty="0"/>
              <a:t>Maintain macro SAM &amp; non-factor/household accounts</a:t>
            </a:r>
          </a:p>
          <a:p>
            <a:r>
              <a:rPr lang="en-US" dirty="0"/>
              <a:t>Only imbalances are for detailed household accounts </a:t>
            </a:r>
          </a:p>
          <a:p>
            <a:r>
              <a:rPr lang="en-US" dirty="0"/>
              <a:t>Balanced using cross-entropy in GAMS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09059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9049B03-A3C2-13EA-5424-C4D84AE9CC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7645" y="2426329"/>
            <a:ext cx="5636355" cy="443167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0FAC4D-3718-424C-8C20-645D45F4E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Household Excel File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1296C56-EE58-4E18-89CC-2A6C337846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279" y="1301993"/>
            <a:ext cx="3159371" cy="5395791"/>
          </a:xfrm>
        </p:spPr>
        <p:txBody>
          <a:bodyPr/>
          <a:lstStyle/>
          <a:p>
            <a:r>
              <a:rPr lang="en-US" dirty="0"/>
              <a:t>More detailed </a:t>
            </a:r>
            <a:r>
              <a:rPr lang="en-US" b="1" dirty="0">
                <a:solidFill>
                  <a:srgbClr val="FFB300"/>
                </a:solidFill>
              </a:rPr>
              <a:t>factors</a:t>
            </a:r>
            <a:r>
              <a:rPr lang="en-US" b="1" dirty="0">
                <a:solidFill>
                  <a:srgbClr val="0B8EB8"/>
                </a:solidFill>
              </a:rPr>
              <a:t> </a:t>
            </a:r>
            <a:r>
              <a:rPr lang="en-US" dirty="0"/>
              <a:t>and </a:t>
            </a:r>
            <a:r>
              <a:rPr lang="en-US" b="1" dirty="0">
                <a:solidFill>
                  <a:srgbClr val="FFB300"/>
                </a:solidFill>
              </a:rPr>
              <a:t>households</a:t>
            </a:r>
          </a:p>
          <a:p>
            <a:endParaRPr lang="en-US" sz="1200" dirty="0"/>
          </a:p>
          <a:p>
            <a:r>
              <a:rPr lang="en-US" b="1" dirty="0">
                <a:solidFill>
                  <a:srgbClr val="0B8EB8"/>
                </a:solidFill>
              </a:rPr>
              <a:t>Blue sheets </a:t>
            </a:r>
            <a:r>
              <a:rPr lang="en-US" dirty="0"/>
              <a:t>are imported into GAMS</a:t>
            </a:r>
          </a:p>
          <a:p>
            <a:endParaRPr lang="en-US" sz="1200" dirty="0"/>
          </a:p>
          <a:p>
            <a:r>
              <a:rPr lang="en-US" b="1" dirty="0">
                <a:solidFill>
                  <a:srgbClr val="8AA63D"/>
                </a:solidFill>
              </a:rPr>
              <a:t>Green sheet </a:t>
            </a:r>
            <a:r>
              <a:rPr lang="en-US" dirty="0"/>
              <a:t>contains information from household and labor force surveys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80DF3F-9117-40B3-81D6-AB73208EF637}"/>
              </a:ext>
            </a:extLst>
          </p:cNvPr>
          <p:cNvSpPr/>
          <p:nvPr/>
        </p:nvSpPr>
        <p:spPr>
          <a:xfrm>
            <a:off x="3775295" y="6636288"/>
            <a:ext cx="2344848" cy="244727"/>
          </a:xfrm>
          <a:prstGeom prst="rect">
            <a:avLst/>
          </a:prstGeom>
          <a:noFill/>
          <a:ln w="44450">
            <a:solidFill>
              <a:srgbClr val="C34E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3F12AC-B550-4786-B81F-81A070A43E9A}"/>
              </a:ext>
            </a:extLst>
          </p:cNvPr>
          <p:cNvSpPr/>
          <p:nvPr/>
        </p:nvSpPr>
        <p:spPr>
          <a:xfrm>
            <a:off x="6120143" y="4357116"/>
            <a:ext cx="2914650" cy="2007085"/>
          </a:xfrm>
          <a:prstGeom prst="rect">
            <a:avLst/>
          </a:prstGeom>
          <a:noFill/>
          <a:ln w="44450">
            <a:solidFill>
              <a:srgbClr val="FFB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A399DB-3873-42BC-A3CC-BC4581D121D3}"/>
              </a:ext>
            </a:extLst>
          </p:cNvPr>
          <p:cNvSpPr txBox="1"/>
          <p:nvPr/>
        </p:nvSpPr>
        <p:spPr>
          <a:xfrm>
            <a:off x="797493" y="6420785"/>
            <a:ext cx="26503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srgbClr val="54544B"/>
                </a:solidFill>
              </a:rPr>
              <a:t>HHD_2017.xlsx | Notes</a:t>
            </a:r>
          </a:p>
        </p:txBody>
      </p:sp>
    </p:spTree>
    <p:extLst>
      <p:ext uri="{BB962C8B-B14F-4D97-AF65-F5344CB8AC3E}">
        <p14:creationId xmlns:p14="http://schemas.microsoft.com/office/powerpoint/2010/main" val="31311008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17674-9037-4DEB-A74D-AE039EFFB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Factor &amp; Household Worksheets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72D06C-E617-460E-8584-BDA5474B6D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366092"/>
                </a:solidFill>
              </a:rPr>
              <a:t>FA</a:t>
            </a:r>
            <a:r>
              <a:rPr lang="en-US" dirty="0"/>
              <a:t>	Income generation (activity payments to factors)</a:t>
            </a:r>
          </a:p>
          <a:p>
            <a:r>
              <a:rPr lang="en-US" b="1" dirty="0">
                <a:solidFill>
                  <a:srgbClr val="366092"/>
                </a:solidFill>
              </a:rPr>
              <a:t>MF</a:t>
            </a:r>
            <a:r>
              <a:rPr lang="en-US" dirty="0"/>
              <a:t>	Non-activity receipts and payments for factors</a:t>
            </a:r>
          </a:p>
          <a:p>
            <a:r>
              <a:rPr lang="en-US" b="1" dirty="0">
                <a:solidFill>
                  <a:srgbClr val="366092"/>
                </a:solidFill>
              </a:rPr>
              <a:t>HF</a:t>
            </a:r>
            <a:r>
              <a:rPr lang="en-US" dirty="0"/>
              <a:t>	Income distribution (factor payments to households)</a:t>
            </a:r>
          </a:p>
          <a:p>
            <a:r>
              <a:rPr lang="en-US" b="1" dirty="0">
                <a:solidFill>
                  <a:srgbClr val="366092"/>
                </a:solidFill>
              </a:rPr>
              <a:t>AH</a:t>
            </a:r>
            <a:r>
              <a:rPr lang="en-US" dirty="0"/>
              <a:t>	Household own consumption shares</a:t>
            </a:r>
          </a:p>
          <a:p>
            <a:r>
              <a:rPr lang="en-US" b="1" dirty="0">
                <a:solidFill>
                  <a:srgbClr val="366092"/>
                </a:solidFill>
              </a:rPr>
              <a:t>CH</a:t>
            </a:r>
            <a:r>
              <a:rPr lang="en-US" dirty="0"/>
              <a:t>	Household marketed consumption shares</a:t>
            </a:r>
          </a:p>
          <a:p>
            <a:r>
              <a:rPr lang="en-US" b="1" dirty="0">
                <a:solidFill>
                  <a:srgbClr val="366092"/>
                </a:solidFill>
              </a:rPr>
              <a:t>MH</a:t>
            </a:r>
            <a:r>
              <a:rPr lang="en-US" dirty="0"/>
              <a:t>	Non-commodity/factor transactions for households</a:t>
            </a:r>
          </a:p>
          <a:p>
            <a:endParaRPr lang="en-US" sz="1100" dirty="0"/>
          </a:p>
          <a:p>
            <a:r>
              <a:rPr lang="en-US" b="1" dirty="0">
                <a:solidFill>
                  <a:srgbClr val="8AA63D"/>
                </a:solidFill>
              </a:rPr>
              <a:t>SVY</a:t>
            </a:r>
            <a:r>
              <a:rPr lang="en-US" dirty="0"/>
              <a:t>	Raw data from surveys, transformed to Nexus accounts	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6F9F98-376E-4923-9F68-3F66BD33B814}"/>
              </a:ext>
            </a:extLst>
          </p:cNvPr>
          <p:cNvSpPr txBox="1"/>
          <p:nvPr/>
        </p:nvSpPr>
        <p:spPr>
          <a:xfrm>
            <a:off x="4928491" y="5600489"/>
            <a:ext cx="23074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srgbClr val="54544B"/>
                </a:solidFill>
              </a:rPr>
              <a:t>HHD_2017.xlsx | Notes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8E90F7-63C4-5441-5F88-1DF7661142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291" y="5968697"/>
            <a:ext cx="6343109" cy="609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67974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7F20D9D-DE3A-4807-83B2-11680DA675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72527"/>
            <a:ext cx="9144000" cy="188547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C170C20-AE6F-4A6A-A30C-FD93B3554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Income Generation Matrix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723C9C1-7BF4-4762-9CD5-ADDC1DD638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279" y="1301993"/>
            <a:ext cx="8835781" cy="2835553"/>
          </a:xfrm>
        </p:spPr>
        <p:txBody>
          <a:bodyPr>
            <a:normAutofit/>
          </a:bodyPr>
          <a:lstStyle/>
          <a:p>
            <a:r>
              <a:rPr lang="en-US" b="1" dirty="0"/>
              <a:t>Share of each sector’s value added allocated to different factors</a:t>
            </a:r>
          </a:p>
          <a:p>
            <a:pPr lvl="1"/>
            <a:r>
              <a:rPr lang="en-US" dirty="0"/>
              <a:t>Within labor (8 types) and within capital (4 types)</a:t>
            </a:r>
          </a:p>
          <a:p>
            <a:endParaRPr lang="en-US" sz="800" dirty="0"/>
          </a:p>
          <a:p>
            <a:r>
              <a:rPr lang="en-US" b="1" dirty="0"/>
              <a:t>Data from labor force and/or household surveys </a:t>
            </a:r>
          </a:p>
          <a:p>
            <a:pPr lvl="1"/>
            <a:r>
              <a:rPr lang="en-US" dirty="0"/>
              <a:t>Information on sectoral employment, including earnings from wages, nonfarm enterprises, an crop and livestock production</a:t>
            </a:r>
          </a:p>
          <a:p>
            <a:endParaRPr lang="en-US" sz="100" dirty="0"/>
          </a:p>
          <a:p>
            <a:r>
              <a:rPr lang="en-US" b="1" dirty="0"/>
              <a:t>Raw survey data imported and adjusted on “Survey” sheet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4E5114-A5AD-43BF-8894-01D11B1070AC}"/>
              </a:ext>
            </a:extLst>
          </p:cNvPr>
          <p:cNvSpPr txBox="1"/>
          <p:nvPr/>
        </p:nvSpPr>
        <p:spPr>
          <a:xfrm>
            <a:off x="6321670" y="4620885"/>
            <a:ext cx="26503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srgbClr val="54544B"/>
                </a:solidFill>
              </a:rPr>
              <a:t>HHD_2017.xlsx | FA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63B83C-639D-4992-980B-FFC7246E0521}"/>
              </a:ext>
            </a:extLst>
          </p:cNvPr>
          <p:cNvSpPr txBox="1"/>
          <p:nvPr/>
        </p:nvSpPr>
        <p:spPr>
          <a:xfrm>
            <a:off x="2876550" y="4403427"/>
            <a:ext cx="3390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34E2D"/>
                </a:solidFill>
              </a:rPr>
              <a:t>Labor earnings (sums to 1)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37BBEBF-3932-4628-8693-0099367BC256}"/>
              </a:ext>
            </a:extLst>
          </p:cNvPr>
          <p:cNvSpPr/>
          <p:nvPr/>
        </p:nvSpPr>
        <p:spPr>
          <a:xfrm>
            <a:off x="1266636" y="5915263"/>
            <a:ext cx="5438775" cy="809625"/>
          </a:xfrm>
          <a:prstGeom prst="rect">
            <a:avLst/>
          </a:prstGeom>
          <a:noFill/>
          <a:ln w="44450">
            <a:solidFill>
              <a:srgbClr val="C34E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51843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49CA91F-CE26-3E92-1B76-4F244073D0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5501" y="2489703"/>
            <a:ext cx="5468500" cy="436829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7805061-F050-4CA2-ADC7-253B897DB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Income Distribution Matrix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1A461-3A05-4F8B-8674-CD2C54342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Share of each factor’s earnings distributed to different households</a:t>
            </a:r>
          </a:p>
          <a:p>
            <a:pPr lvl="1"/>
            <a:r>
              <a:rPr lang="en-US" dirty="0"/>
              <a:t>13 factors across 15 households</a:t>
            </a:r>
          </a:p>
          <a:p>
            <a:endParaRPr lang="en-US" sz="800" dirty="0"/>
          </a:p>
          <a:p>
            <a:pPr>
              <a:tabLst>
                <a:tab pos="285750" algn="l"/>
              </a:tabLst>
            </a:pPr>
            <a:r>
              <a:rPr lang="en-US" b="1" dirty="0"/>
              <a:t>Household survey data</a:t>
            </a:r>
          </a:p>
          <a:p>
            <a:pPr lvl="1">
              <a:tabLst>
                <a:tab pos="285750" algn="l"/>
              </a:tabLst>
            </a:pPr>
            <a:r>
              <a:rPr lang="en-US" dirty="0"/>
              <a:t>On Survey sheet</a:t>
            </a:r>
          </a:p>
          <a:p>
            <a:endParaRPr lang="en-US" sz="1000" dirty="0"/>
          </a:p>
          <a:p>
            <a:pPr>
              <a:tabLst>
                <a:tab pos="285750" algn="l"/>
              </a:tabLst>
            </a:pPr>
            <a:r>
              <a:rPr lang="en-US" b="1" dirty="0"/>
              <a:t>Adjustments needed to 						avoid outliers </a:t>
            </a:r>
          </a:p>
          <a:p>
            <a:pPr lvl="1">
              <a:tabLst>
                <a:tab pos="285750" algn="l"/>
              </a:tabLst>
            </a:pPr>
            <a:r>
              <a:rPr lang="en-US" dirty="0"/>
              <a:t>Also on Survey sheet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A10036-B9AE-46BB-B8A7-F517B5A4D5CB}"/>
              </a:ext>
            </a:extLst>
          </p:cNvPr>
          <p:cNvSpPr txBox="1"/>
          <p:nvPr/>
        </p:nvSpPr>
        <p:spPr>
          <a:xfrm>
            <a:off x="6459870" y="2121495"/>
            <a:ext cx="26503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srgbClr val="54544B"/>
                </a:solidFill>
              </a:rPr>
              <a:t>HHD_2017.xlsx | HF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74E88D-F6E7-45FB-A294-22B5012CF179}"/>
              </a:ext>
            </a:extLst>
          </p:cNvPr>
          <p:cNvSpPr txBox="1"/>
          <p:nvPr/>
        </p:nvSpPr>
        <p:spPr>
          <a:xfrm>
            <a:off x="733707" y="5650341"/>
            <a:ext cx="2667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34E2D"/>
                </a:solidFill>
              </a:rPr>
              <a:t>Factor payments (sums to 1 across households)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36CEDCA-356A-46E6-A68B-86AAE816F973}"/>
              </a:ext>
            </a:extLst>
          </p:cNvPr>
          <p:cNvSpPr/>
          <p:nvPr/>
        </p:nvSpPr>
        <p:spPr>
          <a:xfrm>
            <a:off x="5149522" y="4074059"/>
            <a:ext cx="1260229" cy="2561944"/>
          </a:xfrm>
          <a:prstGeom prst="rect">
            <a:avLst/>
          </a:prstGeom>
          <a:noFill/>
          <a:ln w="44450">
            <a:solidFill>
              <a:srgbClr val="C34E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84391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2450EE2-AD14-B546-F804-2F11E8D537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80506"/>
            <a:ext cx="9144000" cy="22498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EA72043-BBFB-4532-8186-16DB9D7ED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Household Consumption Matrices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5E81A0-E952-4633-A2B1-4748B2EC2F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279" y="1301994"/>
            <a:ext cx="8835781" cy="3278512"/>
          </a:xfrm>
        </p:spPr>
        <p:txBody>
          <a:bodyPr>
            <a:normAutofit/>
          </a:bodyPr>
          <a:lstStyle/>
          <a:p>
            <a:r>
              <a:rPr lang="en-US" b="1" dirty="0"/>
              <a:t>Data on own &amp; marketed consumption (</a:t>
            </a:r>
            <a:r>
              <a:rPr lang="en-US" b="1" dirty="0" err="1"/>
              <a:t>ActHhd</a:t>
            </a:r>
            <a:r>
              <a:rPr lang="en-US" b="1" dirty="0"/>
              <a:t> &amp; </a:t>
            </a:r>
            <a:r>
              <a:rPr lang="en-US" b="1" dirty="0" err="1"/>
              <a:t>ComHhd</a:t>
            </a:r>
            <a:r>
              <a:rPr lang="en-US" b="1" dirty="0"/>
              <a:t>)</a:t>
            </a:r>
          </a:p>
          <a:p>
            <a:endParaRPr lang="en-US" sz="300" b="1" dirty="0"/>
          </a:p>
          <a:p>
            <a:r>
              <a:rPr lang="en-US" b="1" dirty="0"/>
              <a:t>Share of each product’s total consumption demand generated by different households</a:t>
            </a:r>
          </a:p>
          <a:p>
            <a:pPr lvl="1"/>
            <a:r>
              <a:rPr lang="en-US" dirty="0"/>
              <a:t>30 commodities across 15 households</a:t>
            </a:r>
          </a:p>
          <a:p>
            <a:pPr>
              <a:tabLst>
                <a:tab pos="285750" algn="l"/>
              </a:tabLst>
            </a:pPr>
            <a:r>
              <a:rPr lang="en-US" b="1" dirty="0"/>
              <a:t>Household survey data</a:t>
            </a:r>
          </a:p>
          <a:p>
            <a:pPr lvl="1">
              <a:tabLst>
                <a:tab pos="285750" algn="l"/>
              </a:tabLst>
            </a:pPr>
            <a:r>
              <a:rPr lang="en-US" dirty="0"/>
              <a:t>On Survey sheet</a:t>
            </a:r>
          </a:p>
          <a:p>
            <a:endParaRPr 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B87694-AAF0-4ADE-97B8-AE0B4E8E5E55}"/>
              </a:ext>
            </a:extLst>
          </p:cNvPr>
          <p:cNvSpPr txBox="1"/>
          <p:nvPr/>
        </p:nvSpPr>
        <p:spPr>
          <a:xfrm>
            <a:off x="6357331" y="4188652"/>
            <a:ext cx="26503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srgbClr val="54544B"/>
                </a:solidFill>
              </a:rPr>
              <a:t>HHD_2017.xlsx | AH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CAAD6F-475C-4270-BA32-EBC97ADF013B}"/>
              </a:ext>
            </a:extLst>
          </p:cNvPr>
          <p:cNvSpPr txBox="1"/>
          <p:nvPr/>
        </p:nvSpPr>
        <p:spPr>
          <a:xfrm>
            <a:off x="4847735" y="5067698"/>
            <a:ext cx="4124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34E2D"/>
                </a:solidFill>
              </a:rPr>
              <a:t>Product consumption shares (sum to 1)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D9C2E-D5FC-4283-BE37-DB1C3A909382}"/>
              </a:ext>
            </a:extLst>
          </p:cNvPr>
          <p:cNvSpPr/>
          <p:nvPr/>
        </p:nvSpPr>
        <p:spPr>
          <a:xfrm>
            <a:off x="3530851" y="5826378"/>
            <a:ext cx="5595042" cy="809625"/>
          </a:xfrm>
          <a:prstGeom prst="rect">
            <a:avLst/>
          </a:prstGeom>
          <a:noFill/>
          <a:ln w="44450">
            <a:solidFill>
              <a:srgbClr val="C34E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66210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303B51F-0AED-96D1-3E4A-D49A373C9D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095" y="3805991"/>
            <a:ext cx="7020905" cy="30388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90CCE74-040C-44AB-8839-B8B3E0D56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the Household SAM in GAMS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4AF7B0-766E-48D6-81C6-7C6AABC0B3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279" y="1301993"/>
            <a:ext cx="8835781" cy="2708032"/>
          </a:xfrm>
        </p:spPr>
        <p:txBody>
          <a:bodyPr/>
          <a:lstStyle/>
          <a:p>
            <a:r>
              <a:rPr lang="en-US" dirty="0"/>
              <a:t>Click on household SAM build file (</a:t>
            </a:r>
            <a:r>
              <a:rPr lang="en-US" b="1" dirty="0">
                <a:solidFill>
                  <a:srgbClr val="C34E2D"/>
                </a:solidFill>
              </a:rPr>
              <a:t>3households.gms</a:t>
            </a:r>
            <a:r>
              <a:rPr lang="en-US" dirty="0"/>
              <a:t>)</a:t>
            </a:r>
          </a:p>
          <a:p>
            <a:r>
              <a:rPr lang="en-US" dirty="0"/>
              <a:t>Check that you are using the correct data file (</a:t>
            </a:r>
            <a:r>
              <a:rPr lang="en-US" b="1" dirty="0">
                <a:solidFill>
                  <a:srgbClr val="0B8EB8"/>
                </a:solidFill>
              </a:rPr>
              <a:t>2017</a:t>
            </a:r>
            <a:r>
              <a:rPr lang="en-US" dirty="0"/>
              <a:t>)</a:t>
            </a:r>
          </a:p>
          <a:p>
            <a:r>
              <a:rPr lang="en-US" dirty="0"/>
              <a:t>Press F9 (or click on </a:t>
            </a:r>
            <a:r>
              <a:rPr lang="en-US" b="1" dirty="0">
                <a:solidFill>
                  <a:srgbClr val="8AA63D"/>
                </a:solidFill>
              </a:rPr>
              <a:t>Run Button</a:t>
            </a:r>
            <a:r>
              <a:rPr lang="en-US" dirty="0"/>
              <a:t>)</a:t>
            </a:r>
          </a:p>
          <a:p>
            <a:endParaRPr lang="en-US" sz="500" dirty="0"/>
          </a:p>
          <a:p>
            <a:r>
              <a:rPr lang="en-US" dirty="0"/>
              <a:t>Check process window (Normal Completion)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49B7E1B-0345-46F3-8132-196B7B0AE7F9}"/>
              </a:ext>
            </a:extLst>
          </p:cNvPr>
          <p:cNvSpPr/>
          <p:nvPr/>
        </p:nvSpPr>
        <p:spPr>
          <a:xfrm>
            <a:off x="3624964" y="4791093"/>
            <a:ext cx="1256079" cy="376256"/>
          </a:xfrm>
          <a:prstGeom prst="rect">
            <a:avLst/>
          </a:prstGeom>
          <a:noFill/>
          <a:ln w="44450">
            <a:solidFill>
              <a:srgbClr val="C34E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FDFFEC-B5EC-4276-BBEB-7C5A656BA107}"/>
              </a:ext>
            </a:extLst>
          </p:cNvPr>
          <p:cNvSpPr/>
          <p:nvPr/>
        </p:nvSpPr>
        <p:spPr>
          <a:xfrm>
            <a:off x="3785697" y="6044016"/>
            <a:ext cx="1847850" cy="718923"/>
          </a:xfrm>
          <a:prstGeom prst="rect">
            <a:avLst/>
          </a:prstGeom>
          <a:noFill/>
          <a:ln w="44450">
            <a:solidFill>
              <a:srgbClr val="0B8E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D921CC0-9ECF-498B-B1E9-DEDE8260C9CE}"/>
              </a:ext>
            </a:extLst>
          </p:cNvPr>
          <p:cNvSpPr/>
          <p:nvPr/>
        </p:nvSpPr>
        <p:spPr>
          <a:xfrm>
            <a:off x="5495639" y="4235460"/>
            <a:ext cx="333378" cy="381406"/>
          </a:xfrm>
          <a:prstGeom prst="rect">
            <a:avLst/>
          </a:prstGeom>
          <a:noFill/>
          <a:ln w="44450">
            <a:solidFill>
              <a:srgbClr val="8AA6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8E36431-96B6-484C-93AB-6DD410F8E341}"/>
              </a:ext>
            </a:extLst>
          </p:cNvPr>
          <p:cNvSpPr txBox="1"/>
          <p:nvPr/>
        </p:nvSpPr>
        <p:spPr>
          <a:xfrm>
            <a:off x="6426935" y="3506013"/>
            <a:ext cx="26503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srgbClr val="54544B"/>
                </a:solidFill>
              </a:rPr>
              <a:t>3households.gms</a:t>
            </a:r>
          </a:p>
        </p:txBody>
      </p:sp>
    </p:spTree>
    <p:extLst>
      <p:ext uri="{BB962C8B-B14F-4D97-AF65-F5344CB8AC3E}">
        <p14:creationId xmlns:p14="http://schemas.microsoft.com/office/powerpoint/2010/main" val="168657089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A5E1602-A2EE-0CDE-1D10-8B5296D230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2590" y="1187233"/>
            <a:ext cx="2711410" cy="37367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63498DB-2BCA-644C-CD98-5A20BE15F4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614862"/>
            <a:ext cx="9144000" cy="123619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F8C1DE9-C6D1-47EF-ADD0-B3C8D25EA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Household Imbalances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67E3F-1441-4FAC-B6BB-C20EFB3418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278" y="1297800"/>
            <a:ext cx="5540621" cy="3736732"/>
          </a:xfrm>
        </p:spPr>
        <p:txBody>
          <a:bodyPr/>
          <a:lstStyle/>
          <a:p>
            <a:r>
              <a:rPr lang="en-US" dirty="0"/>
              <a:t>Check </a:t>
            </a:r>
            <a:r>
              <a:rPr lang="en-US" b="1" dirty="0"/>
              <a:t>HHD_Check.xlsx</a:t>
            </a:r>
          </a:p>
          <a:p>
            <a:endParaRPr lang="en-US" sz="900" dirty="0"/>
          </a:p>
          <a:p>
            <a:r>
              <a:rPr lang="en-US" b="1" dirty="0"/>
              <a:t>Household information </a:t>
            </a:r>
          </a:p>
          <a:p>
            <a:pPr lvl="1"/>
            <a:r>
              <a:rPr lang="en-US" dirty="0">
                <a:solidFill>
                  <a:srgbClr val="C34E2D"/>
                </a:solidFill>
              </a:rPr>
              <a:t>Income shares </a:t>
            </a:r>
            <a:r>
              <a:rPr lang="en-US" dirty="0"/>
              <a:t>across factors &amp; other sources</a:t>
            </a:r>
          </a:p>
          <a:p>
            <a:pPr lvl="1"/>
            <a:r>
              <a:rPr lang="en-US" dirty="0"/>
              <a:t>Comparison of </a:t>
            </a:r>
            <a:r>
              <a:rPr lang="en-US" dirty="0">
                <a:solidFill>
                  <a:srgbClr val="0B8EB8"/>
                </a:solidFill>
              </a:rPr>
              <a:t>survey vs. SAM </a:t>
            </a:r>
            <a:r>
              <a:rPr lang="en-US" dirty="0"/>
              <a:t>per capita consumption </a:t>
            </a:r>
          </a:p>
          <a:p>
            <a:pPr lvl="1"/>
            <a:r>
              <a:rPr lang="en-US" dirty="0"/>
              <a:t>Household incomes vs. expenditures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C6A8F7-A35D-4C93-AA1C-D6DDCE99D86E}"/>
              </a:ext>
            </a:extLst>
          </p:cNvPr>
          <p:cNvSpPr/>
          <p:nvPr/>
        </p:nvSpPr>
        <p:spPr>
          <a:xfrm>
            <a:off x="1149791" y="6114455"/>
            <a:ext cx="7994210" cy="619153"/>
          </a:xfrm>
          <a:prstGeom prst="rect">
            <a:avLst/>
          </a:prstGeom>
          <a:noFill/>
          <a:ln w="44450">
            <a:solidFill>
              <a:srgbClr val="C34E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02305B-920E-4BD4-B29A-0B2124A60F16}"/>
              </a:ext>
            </a:extLst>
          </p:cNvPr>
          <p:cNvSpPr/>
          <p:nvPr/>
        </p:nvSpPr>
        <p:spPr>
          <a:xfrm>
            <a:off x="7267083" y="2307512"/>
            <a:ext cx="946884" cy="2616453"/>
          </a:xfrm>
          <a:prstGeom prst="rect">
            <a:avLst/>
          </a:prstGeom>
          <a:noFill/>
          <a:ln w="44450">
            <a:solidFill>
              <a:srgbClr val="0B8E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F37F24-176B-415D-ABAA-5A975DDE76D1}"/>
              </a:ext>
            </a:extLst>
          </p:cNvPr>
          <p:cNvSpPr txBox="1"/>
          <p:nvPr/>
        </p:nvSpPr>
        <p:spPr>
          <a:xfrm>
            <a:off x="6323896" y="5384311"/>
            <a:ext cx="26503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srgbClr val="54544B"/>
                </a:solidFill>
              </a:rPr>
              <a:t>HHD_Check.xlsx | Workings</a:t>
            </a:r>
          </a:p>
        </p:txBody>
      </p:sp>
    </p:spTree>
    <p:extLst>
      <p:ext uri="{BB962C8B-B14F-4D97-AF65-F5344CB8AC3E}">
        <p14:creationId xmlns:p14="http://schemas.microsoft.com/office/powerpoint/2010/main" val="340087894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E6A96A-0B2F-85B5-6139-F287A322B7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7885" y="3666680"/>
            <a:ext cx="6916115" cy="31913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6A2533A-002F-4DD7-BC27-65A705A79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Balancing the SAM in GAMS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2CAEB3-C507-4C62-81FD-6EAB2718E1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279" y="1301994"/>
            <a:ext cx="8835781" cy="2803282"/>
          </a:xfrm>
        </p:spPr>
        <p:txBody>
          <a:bodyPr/>
          <a:lstStyle/>
          <a:p>
            <a:r>
              <a:rPr lang="en-US" dirty="0"/>
              <a:t>Click on SAM balancing file (</a:t>
            </a:r>
            <a:r>
              <a:rPr lang="en-US" b="1" dirty="0">
                <a:solidFill>
                  <a:srgbClr val="C34E2D"/>
                </a:solidFill>
              </a:rPr>
              <a:t>4balance.gms</a:t>
            </a:r>
            <a:r>
              <a:rPr lang="en-US" dirty="0"/>
              <a:t>)</a:t>
            </a:r>
          </a:p>
          <a:p>
            <a:r>
              <a:rPr lang="en-US" dirty="0"/>
              <a:t>Check you are restarting from the previous file (</a:t>
            </a:r>
            <a:r>
              <a:rPr lang="en-US" b="1" dirty="0">
                <a:solidFill>
                  <a:srgbClr val="0B8EB8"/>
                </a:solidFill>
              </a:rPr>
              <a:t>r=households</a:t>
            </a:r>
            <a:r>
              <a:rPr lang="en-US" dirty="0"/>
              <a:t>)</a:t>
            </a:r>
          </a:p>
          <a:p>
            <a:r>
              <a:rPr lang="en-US" dirty="0"/>
              <a:t>Press F9 (or click on </a:t>
            </a:r>
            <a:r>
              <a:rPr lang="en-US" b="1" dirty="0">
                <a:solidFill>
                  <a:srgbClr val="8AA63D"/>
                </a:solidFill>
              </a:rPr>
              <a:t>Run Button</a:t>
            </a:r>
            <a:r>
              <a:rPr lang="en-US" dirty="0"/>
              <a:t>)</a:t>
            </a:r>
          </a:p>
          <a:p>
            <a:endParaRPr lang="en-US" sz="800" dirty="0"/>
          </a:p>
          <a:p>
            <a:r>
              <a:rPr lang="en-US" dirty="0"/>
              <a:t>Check process window (Optimal Solution &amp; Normal Completion)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14FA8E-F2BE-4635-896F-D4775AA73666}"/>
              </a:ext>
            </a:extLst>
          </p:cNvPr>
          <p:cNvSpPr/>
          <p:nvPr/>
        </p:nvSpPr>
        <p:spPr>
          <a:xfrm>
            <a:off x="4463392" y="4661128"/>
            <a:ext cx="1219201" cy="376256"/>
          </a:xfrm>
          <a:prstGeom prst="rect">
            <a:avLst/>
          </a:prstGeom>
          <a:noFill/>
          <a:ln w="44450">
            <a:solidFill>
              <a:srgbClr val="C34E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795C5B-5D48-46DB-8A2C-F2A9A9DDD248}"/>
              </a:ext>
            </a:extLst>
          </p:cNvPr>
          <p:cNvSpPr/>
          <p:nvPr/>
        </p:nvSpPr>
        <p:spPr>
          <a:xfrm>
            <a:off x="6030124" y="4105276"/>
            <a:ext cx="1228726" cy="311329"/>
          </a:xfrm>
          <a:prstGeom prst="rect">
            <a:avLst/>
          </a:prstGeom>
          <a:noFill/>
          <a:ln w="44450">
            <a:solidFill>
              <a:srgbClr val="0B8E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B8C5C61-318B-4D3A-9DFC-8219ECA7FDB9}"/>
              </a:ext>
            </a:extLst>
          </p:cNvPr>
          <p:cNvSpPr/>
          <p:nvPr/>
        </p:nvSpPr>
        <p:spPr>
          <a:xfrm>
            <a:off x="5682593" y="4132742"/>
            <a:ext cx="315547" cy="286156"/>
          </a:xfrm>
          <a:prstGeom prst="rect">
            <a:avLst/>
          </a:prstGeom>
          <a:noFill/>
          <a:ln w="44450">
            <a:solidFill>
              <a:srgbClr val="8AA6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9914FA-C03B-4F82-BD18-D605AC3C82D4}"/>
              </a:ext>
            </a:extLst>
          </p:cNvPr>
          <p:cNvSpPr txBox="1"/>
          <p:nvPr/>
        </p:nvSpPr>
        <p:spPr>
          <a:xfrm>
            <a:off x="6407640" y="3362215"/>
            <a:ext cx="26503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srgbClr val="54544B"/>
                </a:solidFill>
              </a:rPr>
              <a:t>4balance.gms</a:t>
            </a:r>
          </a:p>
        </p:txBody>
      </p:sp>
    </p:spTree>
    <p:extLst>
      <p:ext uri="{BB962C8B-B14F-4D97-AF65-F5344CB8AC3E}">
        <p14:creationId xmlns:p14="http://schemas.microsoft.com/office/powerpoint/2010/main" val="167762967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EFCD9FF-15B3-2895-11A9-80C37AFB07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9261" y="1590277"/>
            <a:ext cx="4134739" cy="52677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6D29B61-37C8-455B-8F4A-F1DF90A7C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Viewing Balanced Household SAM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61FC5-219A-4123-A403-AAEAE81B2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279" y="1301994"/>
            <a:ext cx="4653004" cy="4041532"/>
          </a:xfrm>
        </p:spPr>
        <p:txBody>
          <a:bodyPr/>
          <a:lstStyle/>
          <a:p>
            <a:r>
              <a:rPr lang="en-US" dirty="0"/>
              <a:t>Balanced SAMs are exported to the </a:t>
            </a:r>
            <a:r>
              <a:rPr lang="en-US" b="1" dirty="0"/>
              <a:t>SAM_2017.xlsx </a:t>
            </a:r>
            <a:r>
              <a:rPr lang="en-US" dirty="0"/>
              <a:t>file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Check </a:t>
            </a:r>
            <a:r>
              <a:rPr lang="en-US" b="1" dirty="0"/>
              <a:t>HHD_Check.xlsx </a:t>
            </a:r>
            <a:r>
              <a:rPr lang="en-US" dirty="0"/>
              <a:t>again to see how income and expenditure share changed during balancing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BD6983-E72F-4CE0-BF85-1EBCA5401471}"/>
              </a:ext>
            </a:extLst>
          </p:cNvPr>
          <p:cNvSpPr txBox="1"/>
          <p:nvPr/>
        </p:nvSpPr>
        <p:spPr>
          <a:xfrm>
            <a:off x="6493610" y="1282182"/>
            <a:ext cx="26503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srgbClr val="54544B"/>
                </a:solidFill>
              </a:rPr>
              <a:t>SAM_2017.xlsx | Household sheet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35E7854-91AD-4E5C-A943-1E467C635BD6}"/>
              </a:ext>
            </a:extLst>
          </p:cNvPr>
          <p:cNvSpPr/>
          <p:nvPr/>
        </p:nvSpPr>
        <p:spPr>
          <a:xfrm>
            <a:off x="5438330" y="6527548"/>
            <a:ext cx="2184688" cy="330451"/>
          </a:xfrm>
          <a:prstGeom prst="rect">
            <a:avLst/>
          </a:prstGeom>
          <a:noFill/>
          <a:ln w="44450">
            <a:solidFill>
              <a:srgbClr val="C34E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D1F859C-6EE7-AC10-0BF6-7CEBA4598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345" y="2415080"/>
            <a:ext cx="3211395" cy="500136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674C366-285B-8B9E-C0D1-4CC3BDD54FEE}"/>
              </a:ext>
            </a:extLst>
          </p:cNvPr>
          <p:cNvSpPr/>
          <p:nvPr/>
        </p:nvSpPr>
        <p:spPr>
          <a:xfrm>
            <a:off x="837660" y="2415080"/>
            <a:ext cx="3426522" cy="590670"/>
          </a:xfrm>
          <a:prstGeom prst="rect">
            <a:avLst/>
          </a:prstGeom>
          <a:noFill/>
          <a:ln w="44450">
            <a:solidFill>
              <a:srgbClr val="C34E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8053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Main data sources:</a:t>
            </a:r>
          </a:p>
          <a:p>
            <a:r>
              <a:rPr lang="en-US" dirty="0"/>
              <a:t>Household survey (EICV) &amp; labor force survey (LFS)</a:t>
            </a:r>
          </a:p>
          <a:p>
            <a:endParaRPr lang="en-US" sz="1200" dirty="0"/>
          </a:p>
          <a:p>
            <a:pPr marL="0" indent="0">
              <a:buNone/>
            </a:pPr>
            <a:r>
              <a:rPr lang="en-US" b="1" dirty="0"/>
              <a:t>Maintain macro-SAM &amp; non-factor/household accounts</a:t>
            </a:r>
          </a:p>
          <a:p>
            <a:r>
              <a:rPr lang="en-US" dirty="0"/>
              <a:t>Only imbalances are for detailed household accounts </a:t>
            </a:r>
          </a:p>
          <a:p>
            <a:r>
              <a:rPr lang="en-US" dirty="0"/>
              <a:t>Balanced using cross-entropy in GAMS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517703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17674-9037-4DEB-A74D-AE039EFFB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Survey Data Worksheet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72D06C-E617-460E-8584-BDA5474B6D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8AA63D"/>
                </a:solidFill>
              </a:rPr>
              <a:t>SVY</a:t>
            </a:r>
            <a:r>
              <a:rPr lang="en-US" dirty="0"/>
              <a:t>	Raw data from surveys, transformed to Nexus accounts</a:t>
            </a:r>
          </a:p>
          <a:p>
            <a:endParaRPr lang="en-US" sz="100" dirty="0"/>
          </a:p>
          <a:p>
            <a:r>
              <a:rPr lang="en-US" b="1" dirty="0"/>
              <a:t>Block 1</a:t>
            </a:r>
            <a:r>
              <a:rPr lang="en-US" dirty="0"/>
              <a:t>: Labor Income generation (</a:t>
            </a:r>
            <a:r>
              <a:rPr lang="en-US" dirty="0">
                <a:solidFill>
                  <a:srgbClr val="0B8EB8"/>
                </a:solidFill>
              </a:rPr>
              <a:t>FA</a:t>
            </a:r>
            <a:r>
              <a:rPr lang="en-US" dirty="0"/>
              <a:t>)	</a:t>
            </a:r>
          </a:p>
          <a:p>
            <a:pPr marL="914400" lvl="2" indent="0">
              <a:buNone/>
            </a:pPr>
            <a:r>
              <a:rPr lang="en-US" dirty="0"/>
              <a:t>EICV 	Wages | Nonfarm enterprises | Crop earnings | Livestock earnings</a:t>
            </a:r>
          </a:p>
          <a:p>
            <a:pPr marL="914400" lvl="2" indent="0">
              <a:buNone/>
            </a:pPr>
            <a:r>
              <a:rPr lang="en-US" dirty="0"/>
              <a:t>LFS 	Wages </a:t>
            </a:r>
          </a:p>
          <a:p>
            <a:endParaRPr lang="en-US" sz="100" b="1" dirty="0"/>
          </a:p>
          <a:p>
            <a:r>
              <a:rPr lang="en-US" b="1" dirty="0"/>
              <a:t>Block 2</a:t>
            </a:r>
            <a:r>
              <a:rPr lang="en-US" dirty="0"/>
              <a:t>: Consumption (</a:t>
            </a:r>
            <a:r>
              <a:rPr lang="en-US" dirty="0">
                <a:solidFill>
                  <a:srgbClr val="0B8EB8"/>
                </a:solidFill>
              </a:rPr>
              <a:t>AH</a:t>
            </a:r>
            <a:r>
              <a:rPr lang="en-US" dirty="0"/>
              <a:t>, </a:t>
            </a:r>
            <a:r>
              <a:rPr lang="en-US" dirty="0">
                <a:solidFill>
                  <a:srgbClr val="0B8EB8"/>
                </a:solidFill>
              </a:rPr>
              <a:t>CH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Own vs. market consumption shares</a:t>
            </a:r>
          </a:p>
          <a:p>
            <a:pPr lvl="1"/>
            <a:r>
              <a:rPr lang="en-US" dirty="0"/>
              <a:t>Home consumption breakdown</a:t>
            </a:r>
          </a:p>
          <a:p>
            <a:pPr lvl="1"/>
            <a:r>
              <a:rPr lang="en-US" dirty="0"/>
              <a:t>Marketed consumption breakdown</a:t>
            </a:r>
          </a:p>
          <a:p>
            <a:endParaRPr lang="en-US" sz="100" dirty="0"/>
          </a:p>
          <a:p>
            <a:r>
              <a:rPr lang="en-US" b="1" dirty="0"/>
              <a:t>Block 3</a:t>
            </a:r>
            <a:r>
              <a:rPr lang="en-US" dirty="0"/>
              <a:t>: Factor payments to households (</a:t>
            </a:r>
            <a:r>
              <a:rPr lang="en-US" dirty="0">
                <a:solidFill>
                  <a:srgbClr val="0B8EB8"/>
                </a:solidFill>
              </a:rPr>
              <a:t>HF</a:t>
            </a:r>
            <a:r>
              <a:rPr lang="en-US" dirty="0"/>
              <a:t>)</a:t>
            </a:r>
          </a:p>
          <a:p>
            <a:pPr marL="457200" lvl="1" indent="0">
              <a:buNone/>
            </a:pPr>
            <a:r>
              <a:rPr lang="en-US" sz="1800" dirty="0"/>
              <a:t>EICV 	Wages | Nonfarm enterprises | Crop earnings | Livestock earnings</a:t>
            </a:r>
          </a:p>
          <a:p>
            <a:endParaRPr lang="en-US" sz="100" dirty="0"/>
          </a:p>
          <a:p>
            <a:r>
              <a:rPr lang="en-US" b="1" dirty="0"/>
              <a:t>Block 4</a:t>
            </a:r>
            <a:r>
              <a:rPr lang="en-US" dirty="0"/>
              <a:t>: Miscellaneous incomes and expenditures (</a:t>
            </a:r>
            <a:r>
              <a:rPr lang="en-US" dirty="0">
                <a:solidFill>
                  <a:srgbClr val="0B8EB8"/>
                </a:solidFill>
              </a:rPr>
              <a:t>MH</a:t>
            </a:r>
            <a:r>
              <a:rPr lang="en-US" dirty="0"/>
              <a:t>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EA275A-36F5-431A-2D58-3B7B9D65F7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5005" y="6241420"/>
            <a:ext cx="4752858" cy="456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24970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148BC-0FA0-6B89-D9F3-BFB58C752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Constraints &amp; Principles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94A6D-8FA1-8C56-0B49-2A3EE7C44A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Data constraints</a:t>
            </a:r>
          </a:p>
          <a:p>
            <a:pPr lvl="1"/>
            <a:r>
              <a:rPr lang="en-US" dirty="0"/>
              <a:t>EICV survey is an imperfect reflection of the population’s true incomes and expenditures </a:t>
            </a:r>
          </a:p>
          <a:p>
            <a:pPr lvl="2"/>
            <a:r>
              <a:rPr lang="en-US" dirty="0"/>
              <a:t>Sample, not census</a:t>
            </a:r>
          </a:p>
          <a:p>
            <a:pPr lvl="2"/>
            <a:r>
              <a:rPr lang="en-US" dirty="0"/>
              <a:t>Limited set of questions (esp. on income side)</a:t>
            </a:r>
          </a:p>
          <a:p>
            <a:pPr lvl="2"/>
            <a:r>
              <a:rPr lang="en-US" dirty="0"/>
              <a:t>Imperfect recall/answers (e.g., taxes, assets, savings)</a:t>
            </a:r>
          </a:p>
          <a:p>
            <a:pPr lvl="1"/>
            <a:r>
              <a:rPr lang="en-US" dirty="0"/>
              <a:t>LFS has better labor income capture, but no matching consumption data</a:t>
            </a:r>
          </a:p>
          <a:p>
            <a:endParaRPr lang="en-US" sz="100" dirty="0"/>
          </a:p>
          <a:p>
            <a:pPr marL="0" indent="0">
              <a:buNone/>
            </a:pPr>
            <a:r>
              <a:rPr lang="en-US" b="1" dirty="0"/>
              <a:t>Principles for overcoming constraints</a:t>
            </a:r>
          </a:p>
          <a:p>
            <a:pPr lvl="1"/>
            <a:r>
              <a:rPr lang="en-US" dirty="0"/>
              <a:t>Data is a proxy for reality – can be adjusted</a:t>
            </a:r>
          </a:p>
          <a:p>
            <a:pPr lvl="1"/>
            <a:r>
              <a:rPr lang="en-US" dirty="0"/>
              <a:t>Look for regularities </a:t>
            </a:r>
            <a:r>
              <a:rPr lang="en-US" sz="1800" dirty="0"/>
              <a:t>(e.g., poor households earn more uneducated labor wages)</a:t>
            </a:r>
            <a:endParaRPr lang="en-US" dirty="0"/>
          </a:p>
          <a:p>
            <a:pPr lvl="1"/>
            <a:r>
              <a:rPr lang="en-US" dirty="0"/>
              <a:t>Confirm or replace with other sources if possible </a:t>
            </a:r>
            <a:r>
              <a:rPr lang="en-US" sz="1800" dirty="0"/>
              <a:t>(e.g., direct tax rates)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164589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F4AAB-67F0-F80F-0822-EE04A7689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EICV Processing Using Stata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C36860-0EA4-214F-7F9F-9A0856EB8A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7774" y="1889689"/>
            <a:ext cx="2583553" cy="454660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2D3B3C6-2D12-B76B-46A0-5FD72A012C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4622" y="1889689"/>
            <a:ext cx="2445389" cy="378674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A1B09AC-3330-4B61-B2DB-C724ED97FD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926" y="1889689"/>
            <a:ext cx="2583553" cy="184033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42D32D9-113E-C29A-4F11-431A0FF118C1}"/>
              </a:ext>
            </a:extLst>
          </p:cNvPr>
          <p:cNvSpPr txBox="1"/>
          <p:nvPr/>
        </p:nvSpPr>
        <p:spPr>
          <a:xfrm>
            <a:off x="450926" y="1380341"/>
            <a:ext cx="2663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Folders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75C1433-C9AE-CE69-B202-D7F7EAFDE1C2}"/>
              </a:ext>
            </a:extLst>
          </p:cNvPr>
          <p:cNvSpPr txBox="1"/>
          <p:nvPr/>
        </p:nvSpPr>
        <p:spPr>
          <a:xfrm>
            <a:off x="3187774" y="1380341"/>
            <a:ext cx="2663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Do files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15CF9E-6CAD-BBC0-19F3-8CA28B8B3E31}"/>
              </a:ext>
            </a:extLst>
          </p:cNvPr>
          <p:cNvSpPr txBox="1"/>
          <p:nvPr/>
        </p:nvSpPr>
        <p:spPr>
          <a:xfrm>
            <a:off x="5924622" y="1380341"/>
            <a:ext cx="2663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Output files</a:t>
            </a:r>
          </a:p>
        </p:txBody>
      </p:sp>
    </p:spTree>
    <p:extLst>
      <p:ext uri="{BB962C8B-B14F-4D97-AF65-F5344CB8AC3E}">
        <p14:creationId xmlns:p14="http://schemas.microsoft.com/office/powerpoint/2010/main" val="18005575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4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4544B"/>
      </a:accent1>
      <a:accent2>
        <a:srgbClr val="FFB301"/>
      </a:accent2>
      <a:accent3>
        <a:srgbClr val="8AA63D"/>
      </a:accent3>
      <a:accent4>
        <a:srgbClr val="C34E2D"/>
      </a:accent4>
      <a:accent5>
        <a:srgbClr val="0B8EB8"/>
      </a:accent5>
      <a:accent6>
        <a:srgbClr val="F5F4F0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7281</TotalTime>
  <Words>2385</Words>
  <Application>Microsoft Office PowerPoint</Application>
  <PresentationFormat>On-screen Show (4:3)</PresentationFormat>
  <Paragraphs>392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9" baseType="lpstr">
      <vt:lpstr>Arial</vt:lpstr>
      <vt:lpstr>Calibri</vt:lpstr>
      <vt:lpstr>Cambria</vt:lpstr>
      <vt:lpstr>Office Theme</vt:lpstr>
      <vt:lpstr>Rwanda SAM Toolkit Standardized Approach to Building &amp; Updating SAMs</vt:lpstr>
      <vt:lpstr>SAM-Building Toolkit</vt:lpstr>
      <vt:lpstr>Process</vt:lpstr>
      <vt:lpstr>Toolkit Files</vt:lpstr>
      <vt:lpstr>PowerPoint Presentation</vt:lpstr>
      <vt:lpstr>Data Sources</vt:lpstr>
      <vt:lpstr>Worksheet Names</vt:lpstr>
      <vt:lpstr>Macro SAM Sheets</vt:lpstr>
      <vt:lpstr>Action 1 | National Accounts</vt:lpstr>
      <vt:lpstr>Action 2 | Balance of Payments</vt:lpstr>
      <vt:lpstr>Action 3 | Gov. Financial Statistics</vt:lpstr>
      <vt:lpstr>Action 4 | Final Macro SAM (1)</vt:lpstr>
      <vt:lpstr>Action 4 | Final Macro SAM (2)</vt:lpstr>
      <vt:lpstr>PowerPoint Presentation</vt:lpstr>
      <vt:lpstr>Data Sources</vt:lpstr>
      <vt:lpstr>SUT Sheets</vt:lpstr>
      <vt:lpstr>Action 5 | National Accounts </vt:lpstr>
      <vt:lpstr>Action 6 | Agriculture</vt:lpstr>
      <vt:lpstr>Action 7 | Industry</vt:lpstr>
      <vt:lpstr>Action 8 | Services</vt:lpstr>
      <vt:lpstr>Action 9 | International Trade (1)</vt:lpstr>
      <vt:lpstr>Action 9 | International Trade (2)</vt:lpstr>
      <vt:lpstr>Action 10 | Indirect Taxes (1)</vt:lpstr>
      <vt:lpstr>Action 10 | Indirect Taxes (2)</vt:lpstr>
      <vt:lpstr>Action 10 | Indirect Taxes (3)</vt:lpstr>
      <vt:lpstr>Action 11 | Absorption (1)</vt:lpstr>
      <vt:lpstr>Action 11 | Absorption (2)</vt:lpstr>
      <vt:lpstr>Action 12 | Transaction Costs</vt:lpstr>
      <vt:lpstr>PowerPoint Presentation</vt:lpstr>
      <vt:lpstr>Details</vt:lpstr>
      <vt:lpstr>Nexus Factors &amp; Households</vt:lpstr>
      <vt:lpstr>Data Sources</vt:lpstr>
      <vt:lpstr>Household Excel File</vt:lpstr>
      <vt:lpstr>Factor &amp; Household Worksheets</vt:lpstr>
      <vt:lpstr>Income Generation Matrix</vt:lpstr>
      <vt:lpstr>Income Distribution Matrix</vt:lpstr>
      <vt:lpstr>Household Consumption Matrices</vt:lpstr>
      <vt:lpstr>Building the Household SAM in GAMS</vt:lpstr>
      <vt:lpstr>Household Imbalances</vt:lpstr>
      <vt:lpstr>Balancing the SAM in GAMS</vt:lpstr>
      <vt:lpstr>Viewing Balanced Household SAM</vt:lpstr>
      <vt:lpstr>Data Sources</vt:lpstr>
      <vt:lpstr>Survey Data Worksheet</vt:lpstr>
      <vt:lpstr>Constraints &amp; Principles</vt:lpstr>
      <vt:lpstr>EICV Processing Using Stata</vt:lpstr>
    </vt:vector>
  </TitlesOfParts>
  <Company>IFPRI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Thurlow, James (IFPRI)</dc:creator>
  <cp:lastModifiedBy>Thurlow, James (IFPRI)</cp:lastModifiedBy>
  <cp:revision>832</cp:revision>
  <dcterms:created xsi:type="dcterms:W3CDTF">2014-12-01T13:38:06Z</dcterms:created>
  <dcterms:modified xsi:type="dcterms:W3CDTF">2022-06-15T15:48:31Z</dcterms:modified>
</cp:coreProperties>
</file>