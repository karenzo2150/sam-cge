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02" r:id="rId2"/>
    <p:sldId id="356" r:id="rId3"/>
    <p:sldId id="305" r:id="rId4"/>
    <p:sldId id="309" r:id="rId5"/>
    <p:sldId id="311" r:id="rId6"/>
    <p:sldId id="312" r:id="rId7"/>
    <p:sldId id="313" r:id="rId8"/>
    <p:sldId id="306" r:id="rId9"/>
    <p:sldId id="314" r:id="rId10"/>
    <p:sldId id="318" r:id="rId11"/>
    <p:sldId id="316" r:id="rId12"/>
    <p:sldId id="319" r:id="rId13"/>
    <p:sldId id="322" r:id="rId14"/>
    <p:sldId id="320" r:id="rId15"/>
    <p:sldId id="323" r:id="rId16"/>
    <p:sldId id="317" r:id="rId17"/>
    <p:sldId id="325" r:id="rId18"/>
    <p:sldId id="326" r:id="rId19"/>
    <p:sldId id="328" r:id="rId20"/>
    <p:sldId id="329" r:id="rId21"/>
    <p:sldId id="33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8EB8"/>
    <a:srgbClr val="C34E2D"/>
    <a:srgbClr val="5C8E3A"/>
    <a:srgbClr val="7F7F7F"/>
    <a:srgbClr val="FFB300"/>
    <a:srgbClr val="FFFFFF"/>
    <a:srgbClr val="8AA63D"/>
    <a:srgbClr val="FC6714"/>
    <a:srgbClr val="A0B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97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472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Thurlow" userId="c894cc1692b4fc80" providerId="LiveId" clId="{EE3301A4-0897-4ACC-A9B2-50D55455BC7F}"/>
    <pc:docChg chg="undo custSel addSld delSld modSld">
      <pc:chgData name="James Thurlow" userId="c894cc1692b4fc80" providerId="LiveId" clId="{EE3301A4-0897-4ACC-A9B2-50D55455BC7F}" dt="2026-01-13T12:39:41.139" v="51" actId="20577"/>
      <pc:docMkLst>
        <pc:docMk/>
      </pc:docMkLst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692548162" sldId="256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051108866" sldId="273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424759794" sldId="274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163822684" sldId="275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387704938" sldId="27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558288786" sldId="279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350955794" sldId="281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704515248" sldId="282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98856698" sldId="283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859204489" sldId="285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141886883" sldId="28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197454026" sldId="288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150365054" sldId="289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902564492" sldId="29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274344062" sldId="298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707167962" sldId="299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4031143766" sldId="300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909281511" sldId="301"/>
        </pc:sldMkLst>
      </pc:sldChg>
      <pc:sldChg chg="modSp mod">
        <pc:chgData name="James Thurlow" userId="c894cc1692b4fc80" providerId="LiveId" clId="{EE3301A4-0897-4ACC-A9B2-50D55455BC7F}" dt="2026-01-13T12:39:41.139" v="51" actId="20577"/>
        <pc:sldMkLst>
          <pc:docMk/>
          <pc:sldMk cId="1966958615" sldId="302"/>
        </pc:sldMkLst>
        <pc:spChg chg="mod">
          <ac:chgData name="James Thurlow" userId="c894cc1692b4fc80" providerId="LiveId" clId="{EE3301A4-0897-4ACC-A9B2-50D55455BC7F}" dt="2026-01-13T12:39:41.139" v="51" actId="20577"/>
          <ac:spMkLst>
            <pc:docMk/>
            <pc:sldMk cId="1966958615" sldId="302"/>
            <ac:spMk id="4" creationId="{1BA3F4D0-48C3-066A-7FE9-FEDFAAF36752}"/>
          </ac:spMkLst>
        </pc:spChg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852575841" sldId="30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857639168" sldId="308"/>
        </pc:sldMkLst>
      </pc:sldChg>
      <pc:sldChg chg="del">
        <pc:chgData name="James Thurlow" userId="c894cc1692b4fc80" providerId="LiveId" clId="{EE3301A4-0897-4ACC-A9B2-50D55455BC7F}" dt="2026-01-13T12:35:27.067" v="0" actId="47"/>
        <pc:sldMkLst>
          <pc:docMk/>
          <pc:sldMk cId="4128580761" sldId="310"/>
        </pc:sldMkLst>
      </pc:sldChg>
      <pc:sldChg chg="del">
        <pc:chgData name="James Thurlow" userId="c894cc1692b4fc80" providerId="LiveId" clId="{EE3301A4-0897-4ACC-A9B2-50D55455BC7F}" dt="2026-01-13T12:36:55.557" v="20" actId="47"/>
        <pc:sldMkLst>
          <pc:docMk/>
          <pc:sldMk cId="802451094" sldId="315"/>
        </pc:sldMkLst>
      </pc:sldChg>
      <pc:sldChg chg="modSp mod">
        <pc:chgData name="James Thurlow" userId="c894cc1692b4fc80" providerId="LiveId" clId="{EE3301A4-0897-4ACC-A9B2-50D55455BC7F}" dt="2026-01-13T12:36:49.324" v="19" actId="20577"/>
        <pc:sldMkLst>
          <pc:docMk/>
          <pc:sldMk cId="2217492817" sldId="318"/>
        </pc:sldMkLst>
        <pc:spChg chg="mod">
          <ac:chgData name="James Thurlow" userId="c894cc1692b4fc80" providerId="LiveId" clId="{EE3301A4-0897-4ACC-A9B2-50D55455BC7F}" dt="2026-01-13T12:36:49.324" v="19" actId="20577"/>
          <ac:spMkLst>
            <pc:docMk/>
            <pc:sldMk cId="2217492817" sldId="318"/>
            <ac:spMk id="2" creationId="{D35DE302-9009-11A4-F1ED-FC8A61122E0A}"/>
          </ac:spMkLst>
        </pc:spChg>
      </pc:sldChg>
      <pc:sldChg chg="del">
        <pc:chgData name="James Thurlow" userId="c894cc1692b4fc80" providerId="LiveId" clId="{EE3301A4-0897-4ACC-A9B2-50D55455BC7F}" dt="2026-01-13T12:37:09.985" v="21" actId="47"/>
        <pc:sldMkLst>
          <pc:docMk/>
          <pc:sldMk cId="2602947810" sldId="321"/>
        </pc:sldMkLst>
      </pc:sldChg>
      <pc:sldChg chg="modSp mod">
        <pc:chgData name="James Thurlow" userId="c894cc1692b4fc80" providerId="LiveId" clId="{EE3301A4-0897-4ACC-A9B2-50D55455BC7F}" dt="2026-01-13T12:38:03.452" v="40" actId="14100"/>
        <pc:sldMkLst>
          <pc:docMk/>
          <pc:sldMk cId="488696359" sldId="323"/>
        </pc:sldMkLst>
        <pc:spChg chg="mod">
          <ac:chgData name="James Thurlow" userId="c894cc1692b4fc80" providerId="LiveId" clId="{EE3301A4-0897-4ACC-A9B2-50D55455BC7F}" dt="2026-01-13T12:38:00.626" v="39" actId="14100"/>
          <ac:spMkLst>
            <pc:docMk/>
            <pc:sldMk cId="488696359" sldId="323"/>
            <ac:spMk id="19" creationId="{A73F51AB-5F3A-9A4C-945B-AE3D6AB30D45}"/>
          </ac:spMkLst>
        </pc:spChg>
        <pc:spChg chg="mod">
          <ac:chgData name="James Thurlow" userId="c894cc1692b4fc80" providerId="LiveId" clId="{EE3301A4-0897-4ACC-A9B2-50D55455BC7F}" dt="2026-01-13T12:38:03.452" v="40" actId="14100"/>
          <ac:spMkLst>
            <pc:docMk/>
            <pc:sldMk cId="488696359" sldId="323"/>
            <ac:spMk id="20" creationId="{E051A5DD-7DBB-90BD-3A31-CA2B62E64DCA}"/>
          </ac:spMkLst>
        </pc:spChg>
      </pc:sldChg>
      <pc:sldChg chg="add del">
        <pc:chgData name="James Thurlow" userId="c894cc1692b4fc80" providerId="LiveId" clId="{EE3301A4-0897-4ACC-A9B2-50D55455BC7F}" dt="2026-01-13T12:38:36.288" v="43" actId="47"/>
        <pc:sldMkLst>
          <pc:docMk/>
          <pc:sldMk cId="3374406898" sldId="324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290923454" sldId="32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02101592" sldId="331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273106941" sldId="332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4264416880" sldId="333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675890908" sldId="334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099825223" sldId="335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69209822" sldId="336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565782945" sldId="33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036690819" sldId="338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900742239" sldId="339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440748894" sldId="340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910368344" sldId="341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485697141" sldId="342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650141920" sldId="343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960405953" sldId="344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138313135" sldId="345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178655392" sldId="346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247348079" sldId="34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911805856" sldId="348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4167498180" sldId="349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194413540" sldId="350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742968688" sldId="351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119022103" sldId="352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421344885" sldId="353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479994880" sldId="354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4256944254" sldId="355"/>
        </pc:sldMkLst>
      </pc:sldChg>
      <pc:sldChg chg="modSp mod">
        <pc:chgData name="James Thurlow" userId="c894cc1692b4fc80" providerId="LiveId" clId="{EE3301A4-0897-4ACC-A9B2-50D55455BC7F}" dt="2026-01-13T12:39:09.981" v="45" actId="207"/>
        <pc:sldMkLst>
          <pc:docMk/>
          <pc:sldMk cId="2050165398" sldId="356"/>
        </pc:sldMkLst>
        <pc:spChg chg="mod">
          <ac:chgData name="James Thurlow" userId="c894cc1692b4fc80" providerId="LiveId" clId="{EE3301A4-0897-4ACC-A9B2-50D55455BC7F}" dt="2026-01-13T12:39:09.981" v="45" actId="207"/>
          <ac:spMkLst>
            <pc:docMk/>
            <pc:sldMk cId="2050165398" sldId="356"/>
            <ac:spMk id="3" creationId="{3CDF72CA-CA9C-B56F-C333-63FDA3EBB169}"/>
          </ac:spMkLst>
        </pc:spChg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574190535" sldId="35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769110058" sldId="358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295895026" sldId="361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067750799" sldId="363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70273499" sldId="364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372258972" sldId="365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236655069" sldId="366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049212626" sldId="36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417481473" sldId="369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164592718" sldId="376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533950029" sldId="378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616551381" sldId="379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396082470" sldId="380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110326710" sldId="382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02045991" sldId="383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803959849" sldId="384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8124838" sldId="38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480334581" sldId="388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34143896" sldId="390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526581013" sldId="391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898498449" sldId="393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1516957305" sldId="394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906671776" sldId="397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2963056174" sldId="398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637206537" sldId="400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818747318" sldId="401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821336454" sldId="402"/>
        </pc:sldMkLst>
      </pc:sldChg>
      <pc:sldChg chg="del">
        <pc:chgData name="James Thurlow" userId="c894cc1692b4fc80" providerId="LiveId" clId="{EE3301A4-0897-4ACC-A9B2-50D55455BC7F}" dt="2026-01-13T12:38:58.852" v="44" actId="47"/>
        <pc:sldMkLst>
          <pc:docMk/>
          <pc:sldMk cId="3703204028" sldId="40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cgiar-my.sharepoint.com/personal/j_thurlow_cgiar_org/Documents/Desktop/RIAPA%20Overview/Workings_01032023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https://cgiar-my.sharepoint.com/personal/j_thurlow_cgiar_org/Documents/Desktop/RIAPA%20Overview/Workings_0103202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https://cgiar-my.sharepoint.com/personal/j_thurlow_cgiar_org/Documents/Desktop/RIAPA%20Overview/Workings_0103202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89333140534424"/>
          <c:y val="0.23271026905232045"/>
          <c:w val="0.80865786625394187"/>
          <c:h val="0.609823541079684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'DEC_GDP (2)'!$AX$9</c:f>
              <c:strCache>
                <c:ptCount val="1"/>
                <c:pt idx="0">
                  <c:v>Primary agriculture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CC7-4282-8206-9DDC80B5033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(2)'!$AW$10:$AW$14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(2)'!$AX$10:$AX$14</c:f>
              <c:numCache>
                <c:formatCode>0%</c:formatCode>
                <c:ptCount val="5"/>
                <c:pt idx="0">
                  <c:v>4.2304058578289089E-2</c:v>
                </c:pt>
                <c:pt idx="1">
                  <c:v>0.2635673860876902</c:v>
                </c:pt>
                <c:pt idx="2">
                  <c:v>0.16863984453564984</c:v>
                </c:pt>
                <c:pt idx="3">
                  <c:v>7.1282428860018524E-2</c:v>
                </c:pt>
                <c:pt idx="4">
                  <c:v>1.2221989880270283E-2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C7-4282-8206-9DDC80B5033C}"/>
            </c:ext>
          </c:extLst>
        </c:ser>
        <c:ser>
          <c:idx val="1"/>
          <c:order val="1"/>
          <c:tx>
            <c:strRef>
              <c:f>'DEC_GDP (2)'!$AY$9</c:f>
              <c:strCache>
                <c:ptCount val="1"/>
                <c:pt idx="0">
                  <c:v>Off-farm agri-food system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(2)'!$AW$10:$AW$14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(2)'!$AY$10:$AY$14</c:f>
              <c:numCache>
                <c:formatCode>0%</c:formatCode>
                <c:ptCount val="5"/>
                <c:pt idx="0">
                  <c:v>8.2063191072052497E-2</c:v>
                </c:pt>
                <c:pt idx="1">
                  <c:v>0.13438158567564656</c:v>
                </c:pt>
                <c:pt idx="2">
                  <c:v>0.11928427335156194</c:v>
                </c:pt>
                <c:pt idx="3">
                  <c:v>0.10589761010339775</c:v>
                </c:pt>
                <c:pt idx="4">
                  <c:v>6.6069038213559028E-2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C7-4282-8206-9DDC80B503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175822784"/>
        <c:axId val="1175832768"/>
      </c:barChart>
      <c:lineChart>
        <c:grouping val="standard"/>
        <c:varyColors val="0"/>
        <c:ser>
          <c:idx val="2"/>
          <c:order val="2"/>
          <c:tx>
            <c:strRef>
              <c:f>'DEC_GDP (2)'!$AZ$9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(2)'!$AW$10:$AW$14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(2)'!$AZ$10:$AZ$14</c:f>
              <c:numCache>
                <c:formatCode>0%</c:formatCode>
                <c:ptCount val="5"/>
                <c:pt idx="0">
                  <c:v>0.12436724965034159</c:v>
                </c:pt>
                <c:pt idx="1">
                  <c:v>0.39794897176333677</c:v>
                </c:pt>
                <c:pt idx="2">
                  <c:v>0.28792411788721178</c:v>
                </c:pt>
                <c:pt idx="3">
                  <c:v>0.17718003896341628</c:v>
                </c:pt>
                <c:pt idx="4">
                  <c:v>7.8291028093829318E-2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CC7-4282-8206-9DDC80B503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5822784"/>
        <c:axId val="1175832768"/>
      </c:lineChart>
      <c:catAx>
        <c:axId val="117582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75832768"/>
        <c:crosses val="autoZero"/>
        <c:auto val="1"/>
        <c:lblAlgn val="ctr"/>
        <c:lblOffset val="100"/>
        <c:noMultiLvlLbl val="0"/>
      </c:catAx>
      <c:valAx>
        <c:axId val="1175832768"/>
        <c:scaling>
          <c:orientation val="minMax"/>
          <c:max val="0.5"/>
        </c:scaling>
        <c:delete val="1"/>
        <c:axPos val="l"/>
        <c:numFmt formatCode="0" sourceLinked="0"/>
        <c:majorTickMark val="none"/>
        <c:minorTickMark val="none"/>
        <c:tickLblPos val="nextTo"/>
        <c:crossAx val="1175822784"/>
        <c:crosses val="autoZero"/>
        <c:crossBetween val="between"/>
      </c:valAx>
    </c:plotArea>
    <c:legend>
      <c:legendPos val="t"/>
      <c:legendEntry>
        <c:idx val="2"/>
        <c:delete val="1"/>
      </c:legendEntry>
      <c:layout>
        <c:manualLayout>
          <c:xMode val="edge"/>
          <c:yMode val="edge"/>
          <c:x val="0.2021788463157565"/>
          <c:y val="2.6525520265706346E-2"/>
          <c:w val="0.63019801107828222"/>
          <c:h val="0.20377980662066153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+mn-lt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89333140534424"/>
          <c:y val="0.23271026905232045"/>
          <c:w val="0.80865786625394187"/>
          <c:h val="0.609823541079684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'DEC_GDP (2)'!$BC$9</c:f>
              <c:strCache>
                <c:ptCount val="1"/>
                <c:pt idx="0">
                  <c:v>Primary agriculture</c:v>
                </c:pt>
              </c:strCache>
            </c:strRef>
          </c:tx>
          <c:spPr>
            <a:solidFill>
              <a:srgbClr val="7F7F7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(2)'!$BB$10:$BB$14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(2)'!$BC$10:$BC$14</c:f>
              <c:numCache>
                <c:formatCode>0%</c:formatCode>
                <c:ptCount val="5"/>
                <c:pt idx="0">
                  <c:v>0.34015433080032653</c:v>
                </c:pt>
                <c:pt idx="1">
                  <c:v>0.66231452972426752</c:v>
                </c:pt>
                <c:pt idx="2">
                  <c:v>0.58570933818649729</c:v>
                </c:pt>
                <c:pt idx="3">
                  <c:v>0.40231636293260292</c:v>
                </c:pt>
                <c:pt idx="4">
                  <c:v>0.15610971241331273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6F-4CD3-950C-DBD03E70D80F}"/>
            </c:ext>
          </c:extLst>
        </c:ser>
        <c:ser>
          <c:idx val="1"/>
          <c:order val="1"/>
          <c:tx>
            <c:strRef>
              <c:f>'DEC_GDP (2)'!$BD$9</c:f>
              <c:strCache>
                <c:ptCount val="1"/>
                <c:pt idx="0">
                  <c:v>Off-farm agri-food system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(2)'!$BB$10:$BB$14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(2)'!$BD$10:$BD$14</c:f>
              <c:numCache>
                <c:formatCode>0%</c:formatCode>
                <c:ptCount val="5"/>
                <c:pt idx="0">
                  <c:v>0.65984566919967347</c:v>
                </c:pt>
                <c:pt idx="1">
                  <c:v>0.33768547027573248</c:v>
                </c:pt>
                <c:pt idx="2">
                  <c:v>0.41429066181350271</c:v>
                </c:pt>
                <c:pt idx="3">
                  <c:v>0.59768363706739702</c:v>
                </c:pt>
                <c:pt idx="4">
                  <c:v>0.84389028758668727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6F-4CD3-950C-DBD03E70D8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175822784"/>
        <c:axId val="1175832768"/>
      </c:barChart>
      <c:catAx>
        <c:axId val="117582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75832768"/>
        <c:crosses val="autoZero"/>
        <c:auto val="1"/>
        <c:lblAlgn val="ctr"/>
        <c:lblOffset val="100"/>
        <c:noMultiLvlLbl val="0"/>
      </c:catAx>
      <c:valAx>
        <c:axId val="1175832768"/>
        <c:scaling>
          <c:orientation val="minMax"/>
          <c:max val="1"/>
        </c:scaling>
        <c:delete val="1"/>
        <c:axPos val="l"/>
        <c:numFmt formatCode="0" sourceLinked="0"/>
        <c:majorTickMark val="out"/>
        <c:minorTickMark val="none"/>
        <c:tickLblPos val="nextTo"/>
        <c:crossAx val="1175822784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2021788463157565"/>
          <c:y val="2.6525520265706346E-2"/>
          <c:w val="0.73994589032378133"/>
          <c:h val="0.1542705973762393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+mn-lt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89333140534424"/>
          <c:y val="0.23271026905232045"/>
          <c:w val="0.80865786625394187"/>
          <c:h val="0.609823541079684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'DEC_GDP (2)'!$BH$9</c:f>
              <c:strCache>
                <c:ptCount val="1"/>
                <c:pt idx="0">
                  <c:v>Processing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(2)'!$BG$10:$BG$14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(2)'!$BH$10:$BH$14</c:f>
              <c:numCache>
                <c:formatCode>0%</c:formatCode>
                <c:ptCount val="5"/>
                <c:pt idx="0">
                  <c:v>0.3374740097696779</c:v>
                </c:pt>
                <c:pt idx="1">
                  <c:v>0.37769353074768647</c:v>
                </c:pt>
                <c:pt idx="2">
                  <c:v>0.38360701014303961</c:v>
                </c:pt>
                <c:pt idx="3">
                  <c:v>0.46852415416010151</c:v>
                </c:pt>
                <c:pt idx="4">
                  <c:v>0.26066276281939704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E-446B-803D-0A9CEADD7153}"/>
            </c:ext>
          </c:extLst>
        </c:ser>
        <c:ser>
          <c:idx val="1"/>
          <c:order val="1"/>
          <c:tx>
            <c:strRef>
              <c:f>'DEC_GDP (2)'!$BI$9</c:f>
              <c:strCache>
                <c:ptCount val="1"/>
                <c:pt idx="0">
                  <c:v>Trade and transport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(2)'!$BG$10:$BG$14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(2)'!$BI$10:$BI$14</c:f>
              <c:numCache>
                <c:formatCode>0%</c:formatCode>
                <c:ptCount val="5"/>
                <c:pt idx="0">
                  <c:v>0.31730922823566704</c:v>
                </c:pt>
                <c:pt idx="1">
                  <c:v>0.42760760632222672</c:v>
                </c:pt>
                <c:pt idx="2">
                  <c:v>0.38634821875169734</c:v>
                </c:pt>
                <c:pt idx="3">
                  <c:v>0.21390194318249406</c:v>
                </c:pt>
                <c:pt idx="4">
                  <c:v>0.3587497939466931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8E-446B-803D-0A9CEADD7153}"/>
            </c:ext>
          </c:extLst>
        </c:ser>
        <c:ser>
          <c:idx val="2"/>
          <c:order val="2"/>
          <c:tx>
            <c:strRef>
              <c:f>'DEC_GDP (2)'!$BJ$9</c:f>
              <c:strCache>
                <c:ptCount val="1"/>
                <c:pt idx="0">
                  <c:v>Input supply</c:v>
                </c:pt>
              </c:strCache>
            </c:strRef>
          </c:tx>
          <c:spPr>
            <a:solidFill>
              <a:srgbClr val="6F1717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(2)'!$BG$10:$BG$14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(2)'!$BJ$10:$BJ$14</c:f>
              <c:numCache>
                <c:formatCode>0%</c:formatCode>
                <c:ptCount val="5"/>
                <c:pt idx="0">
                  <c:v>0.11383017525411264</c:v>
                </c:pt>
                <c:pt idx="1">
                  <c:v>5.8090383596702294E-2</c:v>
                </c:pt>
                <c:pt idx="2">
                  <c:v>0.1180228716104243</c:v>
                </c:pt>
                <c:pt idx="3">
                  <c:v>0.13523169053195802</c:v>
                </c:pt>
                <c:pt idx="4">
                  <c:v>0.10282244858386905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8E-446B-803D-0A9CEADD7153}"/>
            </c:ext>
          </c:extLst>
        </c:ser>
        <c:ser>
          <c:idx val="3"/>
          <c:order val="3"/>
          <c:tx>
            <c:strRef>
              <c:f>'DEC_GDP (2)'!$BK$9</c:f>
              <c:strCache>
                <c:ptCount val="1"/>
                <c:pt idx="0">
                  <c:v>Food services</c:v>
                </c:pt>
              </c:strCache>
            </c:strRef>
          </c:tx>
          <c:spPr>
            <a:solidFill>
              <a:srgbClr val="5799D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5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'DEC_GDP (2)'!$BG$10:$BG$14</c:f>
              <c:strCache>
                <c:ptCount val="5"/>
                <c:pt idx="0">
                  <c:v>World</c:v>
                </c:pt>
                <c:pt idx="1">
                  <c:v>LIC</c:v>
                </c:pt>
                <c:pt idx="2">
                  <c:v>LMIC</c:v>
                </c:pt>
                <c:pt idx="3">
                  <c:v>UMIC</c:v>
                </c:pt>
                <c:pt idx="4">
                  <c:v>HIC</c:v>
                </c:pt>
              </c:strCache>
            </c:strRef>
          </c:cat>
          <c:val>
            <c:numRef>
              <c:f>'DEC_GDP (2)'!$BK$10:$BK$14</c:f>
              <c:numCache>
                <c:formatCode>0%</c:formatCode>
                <c:ptCount val="5"/>
                <c:pt idx="0">
                  <c:v>0.23138658674054244</c:v>
                </c:pt>
                <c:pt idx="1">
                  <c:v>0.13660847933338446</c:v>
                </c:pt>
                <c:pt idx="2">
                  <c:v>0.1120218994948388</c:v>
                </c:pt>
                <c:pt idx="3">
                  <c:v>0.18234221212544635</c:v>
                </c:pt>
                <c:pt idx="4">
                  <c:v>0.27776499465004079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8E-446B-803D-0A9CEADD71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175822784"/>
        <c:axId val="1175832768"/>
      </c:barChart>
      <c:catAx>
        <c:axId val="1175822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175832768"/>
        <c:crosses val="autoZero"/>
        <c:auto val="1"/>
        <c:lblAlgn val="ctr"/>
        <c:lblOffset val="100"/>
        <c:noMultiLvlLbl val="0"/>
      </c:catAx>
      <c:valAx>
        <c:axId val="1175832768"/>
        <c:scaling>
          <c:orientation val="minMax"/>
          <c:max val="1"/>
        </c:scaling>
        <c:delete val="1"/>
        <c:axPos val="l"/>
        <c:numFmt formatCode="0" sourceLinked="0"/>
        <c:majorTickMark val="out"/>
        <c:minorTickMark val="none"/>
        <c:tickLblPos val="nextTo"/>
        <c:crossAx val="1175822784"/>
        <c:crosses val="autoZero"/>
        <c:crossBetween val="between"/>
      </c:valAx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+mn-lt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386065-EE3B-47A5-8C77-3DD65D2152D9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C39E2C75-D7E9-43B3-8084-6A6C72D8A873}">
      <dgm:prSet phldrT="[Text]"/>
      <dgm:spPr>
        <a:solidFill>
          <a:schemeClr val="accent5">
            <a:lumMod val="50000"/>
            <a:alpha val="75000"/>
          </a:schemeClr>
        </a:solidFill>
        <a:ln>
          <a:noFill/>
        </a:ln>
      </dgm:spPr>
      <dgm:t>
        <a:bodyPr/>
        <a:lstStyle/>
        <a:p>
          <a:endParaRPr lang="en-US" dirty="0"/>
        </a:p>
      </dgm:t>
    </dgm:pt>
    <dgm:pt modelId="{57558909-1D55-4F63-95A0-053070E64095}" type="parTrans" cxnId="{8E7F5AA6-5E6A-476E-B6D9-3E0FE100D368}">
      <dgm:prSet/>
      <dgm:spPr/>
      <dgm:t>
        <a:bodyPr/>
        <a:lstStyle/>
        <a:p>
          <a:endParaRPr lang="en-US"/>
        </a:p>
      </dgm:t>
    </dgm:pt>
    <dgm:pt modelId="{5228B852-750A-44C1-9142-B5ABDBC4713C}" type="sibTrans" cxnId="{8E7F5AA6-5E6A-476E-B6D9-3E0FE100D368}">
      <dgm:prSet/>
      <dgm:spPr/>
      <dgm:t>
        <a:bodyPr/>
        <a:lstStyle/>
        <a:p>
          <a:endParaRPr lang="en-US"/>
        </a:p>
      </dgm:t>
    </dgm:pt>
    <dgm:pt modelId="{8BE17B8F-5E8A-4BFB-BB3A-179A75843ABD}">
      <dgm:prSet phldrT="[Text]"/>
      <dgm:spPr>
        <a:solidFill>
          <a:srgbClr val="C00000">
            <a:alpha val="75000"/>
          </a:srgbClr>
        </a:solidFill>
        <a:ln>
          <a:noFill/>
        </a:ln>
      </dgm:spPr>
      <dgm:t>
        <a:bodyPr/>
        <a:lstStyle/>
        <a:p>
          <a:endParaRPr lang="en-US" dirty="0"/>
        </a:p>
      </dgm:t>
    </dgm:pt>
    <dgm:pt modelId="{5D38B76A-A276-4CF4-9CF5-70C7B63CDEB5}" type="parTrans" cxnId="{064F9D3B-E1DB-4C63-91E4-29728861811E}">
      <dgm:prSet/>
      <dgm:spPr/>
      <dgm:t>
        <a:bodyPr/>
        <a:lstStyle/>
        <a:p>
          <a:endParaRPr lang="en-US"/>
        </a:p>
      </dgm:t>
    </dgm:pt>
    <dgm:pt modelId="{478F8995-9ADF-42E4-8EBE-B63BE4DD0ADF}" type="sibTrans" cxnId="{064F9D3B-E1DB-4C63-91E4-29728861811E}">
      <dgm:prSet/>
      <dgm:spPr/>
      <dgm:t>
        <a:bodyPr/>
        <a:lstStyle/>
        <a:p>
          <a:endParaRPr lang="en-US"/>
        </a:p>
      </dgm:t>
    </dgm:pt>
    <dgm:pt modelId="{6031FF9C-CC3D-49FC-B307-07703114F5EB}">
      <dgm:prSet phldrT="[Text]"/>
      <dgm:spPr>
        <a:solidFill>
          <a:schemeClr val="bg1">
            <a:lumMod val="50000"/>
            <a:alpha val="75000"/>
          </a:schemeClr>
        </a:solidFill>
        <a:ln>
          <a:noFill/>
        </a:ln>
      </dgm:spPr>
      <dgm:t>
        <a:bodyPr/>
        <a:lstStyle/>
        <a:p>
          <a:endParaRPr lang="en-US" dirty="0"/>
        </a:p>
      </dgm:t>
    </dgm:pt>
    <dgm:pt modelId="{40E0A625-6A27-4350-898B-5C3F8A89C344}" type="parTrans" cxnId="{9307E2E2-BB5C-44CE-8A32-FB3B0E385AD8}">
      <dgm:prSet/>
      <dgm:spPr/>
      <dgm:t>
        <a:bodyPr/>
        <a:lstStyle/>
        <a:p>
          <a:endParaRPr lang="en-US"/>
        </a:p>
      </dgm:t>
    </dgm:pt>
    <dgm:pt modelId="{A7EB4DF8-ABE7-484A-8EEA-B7940348A75D}" type="sibTrans" cxnId="{9307E2E2-BB5C-44CE-8A32-FB3B0E385AD8}">
      <dgm:prSet/>
      <dgm:spPr/>
      <dgm:t>
        <a:bodyPr/>
        <a:lstStyle/>
        <a:p>
          <a:endParaRPr lang="en-US"/>
        </a:p>
      </dgm:t>
    </dgm:pt>
    <dgm:pt modelId="{87C9F38C-3F0D-4A7F-879E-E27791264026}" type="pres">
      <dgm:prSet presAssocID="{A4386065-EE3B-47A5-8C77-3DD65D2152D9}" presName="compositeShape" presStyleCnt="0">
        <dgm:presLayoutVars>
          <dgm:chMax val="7"/>
          <dgm:dir/>
          <dgm:resizeHandles val="exact"/>
        </dgm:presLayoutVars>
      </dgm:prSet>
      <dgm:spPr/>
    </dgm:pt>
    <dgm:pt modelId="{3AE31C9C-7318-4C43-B5E5-DBBEAF16CE72}" type="pres">
      <dgm:prSet presAssocID="{A4386065-EE3B-47A5-8C77-3DD65D2152D9}" presName="wedge1" presStyleLbl="node1" presStyleIdx="0" presStyleCnt="3"/>
      <dgm:spPr/>
    </dgm:pt>
    <dgm:pt modelId="{37B0D385-9FD6-4BC1-A340-73ABFBBE1A28}" type="pres">
      <dgm:prSet presAssocID="{A4386065-EE3B-47A5-8C77-3DD65D2152D9}" presName="dummy1a" presStyleCnt="0"/>
      <dgm:spPr/>
    </dgm:pt>
    <dgm:pt modelId="{461C21F7-B5E2-492E-863A-CFE935BC12E2}" type="pres">
      <dgm:prSet presAssocID="{A4386065-EE3B-47A5-8C77-3DD65D2152D9}" presName="dummy1b" presStyleCnt="0"/>
      <dgm:spPr/>
    </dgm:pt>
    <dgm:pt modelId="{855D2989-1D3C-49C6-8094-60E2DDB7758F}" type="pres">
      <dgm:prSet presAssocID="{A4386065-EE3B-47A5-8C77-3DD65D2152D9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8F8D459-67F0-477F-A050-FA1EB4FC5510}" type="pres">
      <dgm:prSet presAssocID="{A4386065-EE3B-47A5-8C77-3DD65D2152D9}" presName="wedge2" presStyleLbl="node1" presStyleIdx="1" presStyleCnt="3"/>
      <dgm:spPr/>
    </dgm:pt>
    <dgm:pt modelId="{CA4A9D6E-2987-41C1-91BC-0F526F1B388C}" type="pres">
      <dgm:prSet presAssocID="{A4386065-EE3B-47A5-8C77-3DD65D2152D9}" presName="dummy2a" presStyleCnt="0"/>
      <dgm:spPr/>
    </dgm:pt>
    <dgm:pt modelId="{EA32DD4D-A69F-4346-9216-06300EE2D81F}" type="pres">
      <dgm:prSet presAssocID="{A4386065-EE3B-47A5-8C77-3DD65D2152D9}" presName="dummy2b" presStyleCnt="0"/>
      <dgm:spPr/>
    </dgm:pt>
    <dgm:pt modelId="{F3DAE3BB-D6C3-4A9B-92AD-2F37E74F9B0F}" type="pres">
      <dgm:prSet presAssocID="{A4386065-EE3B-47A5-8C77-3DD65D2152D9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140AF5AA-2619-424A-A551-AE2AA995B95F}" type="pres">
      <dgm:prSet presAssocID="{A4386065-EE3B-47A5-8C77-3DD65D2152D9}" presName="wedge3" presStyleLbl="node1" presStyleIdx="2" presStyleCnt="3"/>
      <dgm:spPr/>
    </dgm:pt>
    <dgm:pt modelId="{A4F53670-1C0A-4E02-BBCC-1C3CB0A352BE}" type="pres">
      <dgm:prSet presAssocID="{A4386065-EE3B-47A5-8C77-3DD65D2152D9}" presName="dummy3a" presStyleCnt="0"/>
      <dgm:spPr/>
    </dgm:pt>
    <dgm:pt modelId="{2F8CBEA3-D5B8-4F47-B354-6F634891FE46}" type="pres">
      <dgm:prSet presAssocID="{A4386065-EE3B-47A5-8C77-3DD65D2152D9}" presName="dummy3b" presStyleCnt="0"/>
      <dgm:spPr/>
    </dgm:pt>
    <dgm:pt modelId="{C1AABD8E-9AD2-4BC8-A888-8D75DEDD2D1A}" type="pres">
      <dgm:prSet presAssocID="{A4386065-EE3B-47A5-8C77-3DD65D2152D9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D2D646F8-09F2-40C7-992E-B4F8F99D4ADF}" type="pres">
      <dgm:prSet presAssocID="{5228B852-750A-44C1-9142-B5ABDBC4713C}" presName="arrowWedge1" presStyleLbl="fgSibTrans2D1" presStyleIdx="0" presStyleCnt="3"/>
      <dgm:spPr>
        <a:solidFill>
          <a:schemeClr val="accent5">
            <a:lumMod val="50000"/>
          </a:schemeClr>
        </a:solidFill>
      </dgm:spPr>
    </dgm:pt>
    <dgm:pt modelId="{1B01C100-2907-4CE3-9F21-5326B7C3D32C}" type="pres">
      <dgm:prSet presAssocID="{478F8995-9ADF-42E4-8EBE-B63BE4DD0ADF}" presName="arrowWedge2" presStyleLbl="fgSibTrans2D1" presStyleIdx="1" presStyleCnt="3"/>
      <dgm:spPr>
        <a:solidFill>
          <a:srgbClr val="C00000"/>
        </a:solidFill>
      </dgm:spPr>
    </dgm:pt>
    <dgm:pt modelId="{0A39D1AB-62C2-4F2A-B52D-ABABB707BF07}" type="pres">
      <dgm:prSet presAssocID="{A7EB4DF8-ABE7-484A-8EEA-B7940348A75D}" presName="arrowWedge3" presStyleLbl="fgSibTrans2D1" presStyleIdx="2" presStyleCnt="3"/>
      <dgm:spPr>
        <a:solidFill>
          <a:schemeClr val="bg1">
            <a:lumMod val="50000"/>
          </a:schemeClr>
        </a:solidFill>
      </dgm:spPr>
    </dgm:pt>
  </dgm:ptLst>
  <dgm:cxnLst>
    <dgm:cxn modelId="{08E71B0C-8ECA-4A5C-956D-95A6C82CC7E4}" type="presOf" srcId="{8BE17B8F-5E8A-4BFB-BB3A-179A75843ABD}" destId="{98F8D459-67F0-477F-A050-FA1EB4FC5510}" srcOrd="0" destOrd="0" presId="urn:microsoft.com/office/officeart/2005/8/layout/cycle8"/>
    <dgm:cxn modelId="{8124393A-AFA9-405E-88DB-CB1C84687FD8}" type="presOf" srcId="{6031FF9C-CC3D-49FC-B307-07703114F5EB}" destId="{C1AABD8E-9AD2-4BC8-A888-8D75DEDD2D1A}" srcOrd="1" destOrd="0" presId="urn:microsoft.com/office/officeart/2005/8/layout/cycle8"/>
    <dgm:cxn modelId="{064F9D3B-E1DB-4C63-91E4-29728861811E}" srcId="{A4386065-EE3B-47A5-8C77-3DD65D2152D9}" destId="{8BE17B8F-5E8A-4BFB-BB3A-179A75843ABD}" srcOrd="1" destOrd="0" parTransId="{5D38B76A-A276-4CF4-9CF5-70C7B63CDEB5}" sibTransId="{478F8995-9ADF-42E4-8EBE-B63BE4DD0ADF}"/>
    <dgm:cxn modelId="{842D2347-7EE8-486B-8C06-A3051D1359A2}" type="presOf" srcId="{C39E2C75-D7E9-43B3-8084-6A6C72D8A873}" destId="{855D2989-1D3C-49C6-8094-60E2DDB7758F}" srcOrd="1" destOrd="0" presId="urn:microsoft.com/office/officeart/2005/8/layout/cycle8"/>
    <dgm:cxn modelId="{ACBD948B-EFF3-4680-B272-89B29F989D19}" type="presOf" srcId="{8BE17B8F-5E8A-4BFB-BB3A-179A75843ABD}" destId="{F3DAE3BB-D6C3-4A9B-92AD-2F37E74F9B0F}" srcOrd="1" destOrd="0" presId="urn:microsoft.com/office/officeart/2005/8/layout/cycle8"/>
    <dgm:cxn modelId="{AD6C6E97-89D0-44DC-94D6-D8BF8CE1491A}" type="presOf" srcId="{6031FF9C-CC3D-49FC-B307-07703114F5EB}" destId="{140AF5AA-2619-424A-A551-AE2AA995B95F}" srcOrd="0" destOrd="0" presId="urn:microsoft.com/office/officeart/2005/8/layout/cycle8"/>
    <dgm:cxn modelId="{8E7F5AA6-5E6A-476E-B6D9-3E0FE100D368}" srcId="{A4386065-EE3B-47A5-8C77-3DD65D2152D9}" destId="{C39E2C75-D7E9-43B3-8084-6A6C72D8A873}" srcOrd="0" destOrd="0" parTransId="{57558909-1D55-4F63-95A0-053070E64095}" sibTransId="{5228B852-750A-44C1-9142-B5ABDBC4713C}"/>
    <dgm:cxn modelId="{DB44E1AF-3C10-4352-BE33-FA2233287F67}" type="presOf" srcId="{C39E2C75-D7E9-43B3-8084-6A6C72D8A873}" destId="{3AE31C9C-7318-4C43-B5E5-DBBEAF16CE72}" srcOrd="0" destOrd="0" presId="urn:microsoft.com/office/officeart/2005/8/layout/cycle8"/>
    <dgm:cxn modelId="{478E2CD5-5EC2-4150-B2C8-854C4D1256FE}" type="presOf" srcId="{A4386065-EE3B-47A5-8C77-3DD65D2152D9}" destId="{87C9F38C-3F0D-4A7F-879E-E27791264026}" srcOrd="0" destOrd="0" presId="urn:microsoft.com/office/officeart/2005/8/layout/cycle8"/>
    <dgm:cxn modelId="{9307E2E2-BB5C-44CE-8A32-FB3B0E385AD8}" srcId="{A4386065-EE3B-47A5-8C77-3DD65D2152D9}" destId="{6031FF9C-CC3D-49FC-B307-07703114F5EB}" srcOrd="2" destOrd="0" parTransId="{40E0A625-6A27-4350-898B-5C3F8A89C344}" sibTransId="{A7EB4DF8-ABE7-484A-8EEA-B7940348A75D}"/>
    <dgm:cxn modelId="{0AA6AD9E-6A2D-4DF6-8DA2-E1A1C5ACA763}" type="presParOf" srcId="{87C9F38C-3F0D-4A7F-879E-E27791264026}" destId="{3AE31C9C-7318-4C43-B5E5-DBBEAF16CE72}" srcOrd="0" destOrd="0" presId="urn:microsoft.com/office/officeart/2005/8/layout/cycle8"/>
    <dgm:cxn modelId="{86F0BEC0-45D8-43E8-9228-093DA87571B2}" type="presParOf" srcId="{87C9F38C-3F0D-4A7F-879E-E27791264026}" destId="{37B0D385-9FD6-4BC1-A340-73ABFBBE1A28}" srcOrd="1" destOrd="0" presId="urn:microsoft.com/office/officeart/2005/8/layout/cycle8"/>
    <dgm:cxn modelId="{47D7B7AF-6987-4822-B9BD-0AA77BDCCC41}" type="presParOf" srcId="{87C9F38C-3F0D-4A7F-879E-E27791264026}" destId="{461C21F7-B5E2-492E-863A-CFE935BC12E2}" srcOrd="2" destOrd="0" presId="urn:microsoft.com/office/officeart/2005/8/layout/cycle8"/>
    <dgm:cxn modelId="{0777BD66-BF85-4AAE-9739-E12E07E3161A}" type="presParOf" srcId="{87C9F38C-3F0D-4A7F-879E-E27791264026}" destId="{855D2989-1D3C-49C6-8094-60E2DDB7758F}" srcOrd="3" destOrd="0" presId="urn:microsoft.com/office/officeart/2005/8/layout/cycle8"/>
    <dgm:cxn modelId="{AB71E1BB-7FF3-457A-B5B8-7AFC5C4CF65B}" type="presParOf" srcId="{87C9F38C-3F0D-4A7F-879E-E27791264026}" destId="{98F8D459-67F0-477F-A050-FA1EB4FC5510}" srcOrd="4" destOrd="0" presId="urn:microsoft.com/office/officeart/2005/8/layout/cycle8"/>
    <dgm:cxn modelId="{56790F9A-B170-4322-AB36-BB3D0EB63FDE}" type="presParOf" srcId="{87C9F38C-3F0D-4A7F-879E-E27791264026}" destId="{CA4A9D6E-2987-41C1-91BC-0F526F1B388C}" srcOrd="5" destOrd="0" presId="urn:microsoft.com/office/officeart/2005/8/layout/cycle8"/>
    <dgm:cxn modelId="{074BBEE1-CE14-4315-9A68-0DE25636C169}" type="presParOf" srcId="{87C9F38C-3F0D-4A7F-879E-E27791264026}" destId="{EA32DD4D-A69F-4346-9216-06300EE2D81F}" srcOrd="6" destOrd="0" presId="urn:microsoft.com/office/officeart/2005/8/layout/cycle8"/>
    <dgm:cxn modelId="{8B6742FD-0005-450B-AB45-D58A80C25434}" type="presParOf" srcId="{87C9F38C-3F0D-4A7F-879E-E27791264026}" destId="{F3DAE3BB-D6C3-4A9B-92AD-2F37E74F9B0F}" srcOrd="7" destOrd="0" presId="urn:microsoft.com/office/officeart/2005/8/layout/cycle8"/>
    <dgm:cxn modelId="{19FFFE77-9D9A-48F9-B378-BE886BA57717}" type="presParOf" srcId="{87C9F38C-3F0D-4A7F-879E-E27791264026}" destId="{140AF5AA-2619-424A-A551-AE2AA995B95F}" srcOrd="8" destOrd="0" presId="urn:microsoft.com/office/officeart/2005/8/layout/cycle8"/>
    <dgm:cxn modelId="{B5255401-008E-4E83-9A73-EBE837298329}" type="presParOf" srcId="{87C9F38C-3F0D-4A7F-879E-E27791264026}" destId="{A4F53670-1C0A-4E02-BBCC-1C3CB0A352BE}" srcOrd="9" destOrd="0" presId="urn:microsoft.com/office/officeart/2005/8/layout/cycle8"/>
    <dgm:cxn modelId="{A25603BA-4E62-4278-85FB-1C5F7EF0BDB4}" type="presParOf" srcId="{87C9F38C-3F0D-4A7F-879E-E27791264026}" destId="{2F8CBEA3-D5B8-4F47-B354-6F634891FE46}" srcOrd="10" destOrd="0" presId="urn:microsoft.com/office/officeart/2005/8/layout/cycle8"/>
    <dgm:cxn modelId="{D641D53D-048B-4C00-A800-0768866A1710}" type="presParOf" srcId="{87C9F38C-3F0D-4A7F-879E-E27791264026}" destId="{C1AABD8E-9AD2-4BC8-A888-8D75DEDD2D1A}" srcOrd="11" destOrd="0" presId="urn:microsoft.com/office/officeart/2005/8/layout/cycle8"/>
    <dgm:cxn modelId="{AFC3BCD4-06D6-4D65-8E5F-505655715289}" type="presParOf" srcId="{87C9F38C-3F0D-4A7F-879E-E27791264026}" destId="{D2D646F8-09F2-40C7-992E-B4F8F99D4ADF}" srcOrd="12" destOrd="0" presId="urn:microsoft.com/office/officeart/2005/8/layout/cycle8"/>
    <dgm:cxn modelId="{A00B85F4-7E92-4D97-9CF5-A84A37924828}" type="presParOf" srcId="{87C9F38C-3F0D-4A7F-879E-E27791264026}" destId="{1B01C100-2907-4CE3-9F21-5326B7C3D32C}" srcOrd="13" destOrd="0" presId="urn:microsoft.com/office/officeart/2005/8/layout/cycle8"/>
    <dgm:cxn modelId="{588C7396-0620-4012-A6B7-11AAB3FA1D07}" type="presParOf" srcId="{87C9F38C-3F0D-4A7F-879E-E27791264026}" destId="{0A39D1AB-62C2-4F2A-B52D-ABABB707BF07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31C9C-7318-4C43-B5E5-DBBEAF16CE72}">
      <dsp:nvSpPr>
        <dsp:cNvPr id="0" name=""/>
        <dsp:cNvSpPr/>
      </dsp:nvSpPr>
      <dsp:spPr>
        <a:xfrm>
          <a:off x="1714415" y="294022"/>
          <a:ext cx="3799675" cy="3799675"/>
        </a:xfrm>
        <a:prstGeom prst="pie">
          <a:avLst>
            <a:gd name="adj1" fmla="val 16200000"/>
            <a:gd name="adj2" fmla="val 1800000"/>
          </a:avLst>
        </a:prstGeom>
        <a:solidFill>
          <a:schemeClr val="accent5">
            <a:lumMod val="50000"/>
            <a:alpha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3716934" y="1099191"/>
        <a:ext cx="1357026" cy="1130855"/>
      </dsp:txXfrm>
    </dsp:sp>
    <dsp:sp modelId="{98F8D459-67F0-477F-A050-FA1EB4FC5510}">
      <dsp:nvSpPr>
        <dsp:cNvPr id="0" name=""/>
        <dsp:cNvSpPr/>
      </dsp:nvSpPr>
      <dsp:spPr>
        <a:xfrm>
          <a:off x="1636159" y="429725"/>
          <a:ext cx="3799675" cy="3799675"/>
        </a:xfrm>
        <a:prstGeom prst="pie">
          <a:avLst>
            <a:gd name="adj1" fmla="val 1800000"/>
            <a:gd name="adj2" fmla="val 9000000"/>
          </a:avLst>
        </a:prstGeom>
        <a:solidFill>
          <a:srgbClr val="C00000">
            <a:alpha val="75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0" kern="1200" dirty="0"/>
        </a:p>
      </dsp:txBody>
      <dsp:txXfrm>
        <a:off x="2540844" y="2894990"/>
        <a:ext cx="2035540" cy="995153"/>
      </dsp:txXfrm>
    </dsp:sp>
    <dsp:sp modelId="{140AF5AA-2619-424A-A551-AE2AA995B95F}">
      <dsp:nvSpPr>
        <dsp:cNvPr id="0" name=""/>
        <dsp:cNvSpPr/>
      </dsp:nvSpPr>
      <dsp:spPr>
        <a:xfrm>
          <a:off x="1557904" y="294022"/>
          <a:ext cx="3799675" cy="3799675"/>
        </a:xfrm>
        <a:prstGeom prst="pie">
          <a:avLst>
            <a:gd name="adj1" fmla="val 9000000"/>
            <a:gd name="adj2" fmla="val 16200000"/>
          </a:avLst>
        </a:prstGeom>
        <a:solidFill>
          <a:schemeClr val="bg1">
            <a:lumMod val="50000"/>
            <a:alpha val="75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1998033" y="1099191"/>
        <a:ext cx="1357026" cy="1130855"/>
      </dsp:txXfrm>
    </dsp:sp>
    <dsp:sp modelId="{D2D646F8-09F2-40C7-992E-B4F8F99D4ADF}">
      <dsp:nvSpPr>
        <dsp:cNvPr id="0" name=""/>
        <dsp:cNvSpPr/>
      </dsp:nvSpPr>
      <dsp:spPr>
        <a:xfrm>
          <a:off x="1479510" y="58804"/>
          <a:ext cx="4270111" cy="4270111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5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01C100-2907-4CE3-9F21-5326B7C3D32C}">
      <dsp:nvSpPr>
        <dsp:cNvPr id="0" name=""/>
        <dsp:cNvSpPr/>
      </dsp:nvSpPr>
      <dsp:spPr>
        <a:xfrm>
          <a:off x="1400941" y="194266"/>
          <a:ext cx="4270111" cy="4270111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9D1AB-62C2-4F2A-B52D-ABABB707BF07}">
      <dsp:nvSpPr>
        <dsp:cNvPr id="0" name=""/>
        <dsp:cNvSpPr/>
      </dsp:nvSpPr>
      <dsp:spPr>
        <a:xfrm>
          <a:off x="1322373" y="58804"/>
          <a:ext cx="4270111" cy="4270111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AF3B-F4A9-40C2-92B2-76091F1822F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32C93-7A5B-4C04-BE14-6DF19377F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9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06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57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A54A-DB2A-4472-95C4-1E5CB2FB1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2054-BC67-47C8-90F5-F38022FB0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61D8C-B0B0-4DD1-B142-826CCDC8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38A4D-7590-4BBE-90C1-30F946FE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B206-E1EE-4C09-8443-B05AFEC7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1CBF-1806-4F80-9A32-E10C08E6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0" y="128826"/>
            <a:ext cx="11939853" cy="82874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6D96-8CC5-403A-BD96-CBB5E9947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11939852" cy="574074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925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682A-C7AA-4611-A904-ACE3570F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75092-4478-486F-BE6D-C1A44D528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FC539-9B56-41E1-AC39-B0591311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B1B2-BD66-445F-A74A-EA0E23E4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CE497-4B5F-4EDA-96ED-E165490E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8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5E6-0FEF-423D-8006-266F0EA3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2DD8-7FBB-46DF-98DE-9496A6D6B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FEEE6-616C-49EC-93C0-8EFC6855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98775-5C72-4969-806A-51BC8BFE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DDFFE-F8F5-4FC5-9BE4-695AE291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896DA-22CF-4C2C-983B-BB7160C2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6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543B-2249-4BAA-8D24-FC7FA83C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4CE6E-5EAF-45D0-9631-79FCE57D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821B8-95C2-4AD6-9EB0-073AA3853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0A6AB-6156-4EF9-A2F3-262A162AF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4F23C-749D-4A02-8F3B-B937D5899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75301-28FE-4199-95F9-5C794CE8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A9482-AB79-4B6E-A338-405B0B70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F25B3-6B8E-449A-8D67-3EA4B81A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7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623B-8906-4672-B745-6D21897B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316E6-E906-4450-A516-2997630AA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E2DE1-4688-4F06-B817-D2747A32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E0F2B-4881-4012-98CE-F919C61C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6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3714B-794C-49D1-B8E6-CA92AA6A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72922-CE61-4273-BB30-84EE3CCA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8ABCA-925A-45D7-A2B3-3AD29776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1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5D96-2F31-4067-87B6-03B653BC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6046B-B991-4B3B-B516-1F434DCCC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47F5A-5CE9-4824-A789-D1769DB35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D3CAD-B834-430A-991D-5DE948EE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EB9AB-0BFC-4482-A6E4-F9642DF6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8961F-EA29-4F09-85E2-9FF98E0D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5E6F-8F84-4F47-B98A-B44DA355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085BB9-2504-4632-AAB8-7741F9D9A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4F911-074B-4039-8711-C4E675632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28BD2-4934-4F22-8A16-1AD31145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D1888-3F4C-4E38-B961-52A1B517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AF65-1175-4CE4-9B9C-A7D7115F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8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4FA-6E17-4169-A0EE-5A0A0953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964DA-A5A7-44D4-A5C4-C9F87A0C1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7FFC-D25B-4DE9-BCF9-2318ACA1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5EF7-FFF1-47FE-AE69-EB856A57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05395-9222-4C48-9F29-4473AA39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3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90293-7F4E-4F94-A3D6-BB868B16A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C6A70-96E9-4A01-8A27-8660E5A08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B96C6-E466-4CF7-839B-617B6381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4B5CE-51B9-4366-A372-C459EEC8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893AC-F1D1-45DD-B57C-3BD7EC60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5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28451-D376-4E35-B5EC-AD6275BE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6349-F37D-4C45-BF6B-B348F7B2A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63279-9A21-4514-A45F-C65883555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A49EE-8E91-4651-8851-A5E7291830B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3A0B4-14A2-4153-BFB3-A327A73C8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07B0-77DD-442D-9560-6AA07D178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3F4D0-48C3-066A-7FE9-FEDFAAF36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8" y="2009769"/>
            <a:ext cx="10101943" cy="2111259"/>
          </a:xfrm>
        </p:spPr>
        <p:txBody>
          <a:bodyPr>
            <a:normAutofit/>
          </a:bodyPr>
          <a:lstStyle/>
          <a:p>
            <a:r>
              <a:rPr lang="en-US" sz="4800" b="1" dirty="0"/>
              <a:t>Foundation Course in CGE Modeling</a:t>
            </a:r>
            <a:br>
              <a:rPr lang="en-US" sz="4800" b="1" dirty="0"/>
            </a:br>
            <a:r>
              <a:rPr lang="en-US" sz="2800" dirty="0"/>
              <a:t>Using IFPRI’s Static CGE and Microsimulation Models</a:t>
            </a:r>
            <a:endParaRPr lang="en-US" b="1" dirty="0"/>
          </a:p>
        </p:txBody>
      </p:sp>
      <p:pic>
        <p:nvPicPr>
          <p:cNvPr id="2" name="Picture 1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3E2BAC25-7E01-215A-D760-012627AD1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5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5E17-716E-4A73-F8C2-088613AC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  <a:r>
              <a:rPr lang="en-US" baseline="-25000" dirty="0"/>
              <a:t>(Parts 1-7)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72CA-CA9C-B56F-C333-63FDA3EBB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111" y="1261339"/>
            <a:ext cx="7150813" cy="530344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Why Do Economywide Analysis?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Social Accounting Matrices (SAMs)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SAM Multiplier Analysis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Simple CGE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IFPRI Standard CGE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Microsoft-Excel® Interface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Extending the Standard Model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016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Why Do Economywide Analysis?</a:t>
            </a:r>
            <a:endParaRPr lang="en-US" dirty="0"/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2AC32E12-FFB4-5C05-3B6D-2010C5494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79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F1F38-C840-AC9F-9176-D39EAF51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Agrifood Systems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FE547D-D804-542E-F4F9-69AF33E01809}"/>
              </a:ext>
            </a:extLst>
          </p:cNvPr>
          <p:cNvGrpSpPr/>
          <p:nvPr/>
        </p:nvGrpSpPr>
        <p:grpSpPr>
          <a:xfrm>
            <a:off x="8688189" y="517024"/>
            <a:ext cx="3064723" cy="2757637"/>
            <a:chOff x="9077647" y="1613196"/>
            <a:chExt cx="2314253" cy="180220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6DE2C5-D166-3C31-317B-3DAD24F0344F}"/>
                </a:ext>
              </a:extLst>
            </p:cNvPr>
            <p:cNvSpPr/>
            <p:nvPr/>
          </p:nvSpPr>
          <p:spPr>
            <a:xfrm>
              <a:off x="9084815" y="2031641"/>
              <a:ext cx="913631" cy="202749"/>
            </a:xfrm>
            <a:prstGeom prst="rect">
              <a:avLst/>
            </a:prstGeom>
            <a:solidFill>
              <a:srgbClr val="6F171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1B3C5DF-A488-C95F-40A5-5F6C51DF93D5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>
              <a:off x="10935076" y="1826957"/>
              <a:ext cx="0" cy="18034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81975A-CB2F-EB82-6BDA-D274BA1017B8}"/>
                </a:ext>
              </a:extLst>
            </p:cNvPr>
            <p:cNvSpPr/>
            <p:nvPr/>
          </p:nvSpPr>
          <p:spPr>
            <a:xfrm>
              <a:off x="10478252" y="1613196"/>
              <a:ext cx="913647" cy="21376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175F34-64A2-4611-46C5-40F437A530EE}"/>
                </a:ext>
              </a:extLst>
            </p:cNvPr>
            <p:cNvSpPr txBox="1"/>
            <p:nvPr/>
          </p:nvSpPr>
          <p:spPr>
            <a:xfrm>
              <a:off x="10508515" y="1636617"/>
              <a:ext cx="853121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Agriculture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A79DB8-0519-0F2E-0D86-5283E487839B}"/>
                </a:ext>
              </a:extLst>
            </p:cNvPr>
            <p:cNvSpPr/>
            <p:nvPr/>
          </p:nvSpPr>
          <p:spPr>
            <a:xfrm>
              <a:off x="10478252" y="2403670"/>
              <a:ext cx="913644" cy="213761"/>
            </a:xfrm>
            <a:prstGeom prst="rect">
              <a:avLst/>
            </a:prstGeom>
            <a:solidFill>
              <a:srgbClr val="C0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9DA16E-A402-AE84-AEED-2A88F0236CDD}"/>
                </a:ext>
              </a:extLst>
            </p:cNvPr>
            <p:cNvSpPr/>
            <p:nvPr/>
          </p:nvSpPr>
          <p:spPr>
            <a:xfrm>
              <a:off x="10478252" y="2007297"/>
              <a:ext cx="913648" cy="21376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28745C-D279-7602-0C53-7500562F3181}"/>
                </a:ext>
              </a:extLst>
            </p:cNvPr>
            <p:cNvSpPr/>
            <p:nvPr/>
          </p:nvSpPr>
          <p:spPr>
            <a:xfrm>
              <a:off x="10478258" y="2799123"/>
              <a:ext cx="913638" cy="21376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4573FB-0981-45D6-F2C2-060ADB3C2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206623" y="1722904"/>
              <a:ext cx="0" cy="787647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949B17E-698C-5A43-8631-60D45F29A9AD}"/>
                </a:ext>
              </a:extLst>
            </p:cNvPr>
            <p:cNvCxnSpPr>
              <a:cxnSpLocks/>
              <a:stCxn id="10" idx="2"/>
              <a:endCxn id="9" idx="0"/>
            </p:cNvCxnSpPr>
            <p:nvPr/>
          </p:nvCxnSpPr>
          <p:spPr>
            <a:xfrm flipH="1">
              <a:off x="10935074" y="2221058"/>
              <a:ext cx="2" cy="182612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7B5FB90-5203-07F5-5CC7-B1F20D78E6DC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10935074" y="2617431"/>
              <a:ext cx="3" cy="181692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EAF60C-06AE-6E35-57D9-F21B510FD1B7}"/>
                </a:ext>
              </a:extLst>
            </p:cNvPr>
            <p:cNvGrpSpPr/>
            <p:nvPr/>
          </p:nvGrpSpPr>
          <p:grpSpPr>
            <a:xfrm>
              <a:off x="10206621" y="1720077"/>
              <a:ext cx="271632" cy="790474"/>
              <a:chOff x="10034245" y="1720077"/>
              <a:chExt cx="444012" cy="79047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D70575D-1DC5-DA8E-CC8D-A8A2CB4ECF86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>
                <a:off x="10034245" y="1720077"/>
                <a:ext cx="444007" cy="0"/>
              </a:xfrm>
              <a:prstGeom prst="line">
                <a:avLst/>
              </a:prstGeom>
              <a:solidFill>
                <a:srgbClr val="54544B"/>
              </a:solidFill>
              <a:ln w="3175">
                <a:solidFill>
                  <a:schemeClr val="tx1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6D8AD2A-E73F-AA12-55CA-0055BDB13205}"/>
                  </a:ext>
                </a:extLst>
              </p:cNvPr>
              <p:cNvCxnSpPr>
                <a:cxnSpLocks/>
                <a:endCxn id="9" idx="1"/>
              </p:cNvCxnSpPr>
              <p:nvPr/>
            </p:nvCxnSpPr>
            <p:spPr>
              <a:xfrm>
                <a:off x="10034250" y="2510551"/>
                <a:ext cx="444007" cy="0"/>
              </a:xfrm>
              <a:prstGeom prst="line">
                <a:avLst/>
              </a:prstGeom>
              <a:solidFill>
                <a:srgbClr val="54544B"/>
              </a:solidFill>
              <a:ln w="3175">
                <a:solidFill>
                  <a:schemeClr val="tx1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CF6F78-D979-0935-7D33-2AAECAF25F80}"/>
                </a:ext>
              </a:extLst>
            </p:cNvPr>
            <p:cNvCxnSpPr>
              <a:cxnSpLocks/>
            </p:cNvCxnSpPr>
            <p:nvPr/>
          </p:nvCxnSpPr>
          <p:spPr>
            <a:xfrm>
              <a:off x="9998447" y="2125638"/>
              <a:ext cx="208176" cy="0"/>
            </a:xfrm>
            <a:prstGeom prst="line">
              <a:avLst/>
            </a:prstGeom>
            <a:solidFill>
              <a:srgbClr val="54544B"/>
            </a:solidFill>
            <a:ln w="317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4C0E3C0-3CEE-BFF8-5534-671F2C7355FD}"/>
                </a:ext>
              </a:extLst>
            </p:cNvPr>
            <p:cNvSpPr/>
            <p:nvPr/>
          </p:nvSpPr>
          <p:spPr>
            <a:xfrm>
              <a:off x="10478258" y="3201640"/>
              <a:ext cx="913638" cy="213761"/>
            </a:xfrm>
            <a:prstGeom prst="rect">
              <a:avLst/>
            </a:prstGeom>
            <a:solidFill>
              <a:srgbClr val="5799D5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0C5000A-4CF3-F2E2-AE00-A331FA4B9745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>
              <a:off x="10935077" y="3012884"/>
              <a:ext cx="0" cy="188756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1ACC75-306B-0771-D089-362629626851}"/>
                </a:ext>
              </a:extLst>
            </p:cNvPr>
            <p:cNvSpPr txBox="1"/>
            <p:nvPr/>
          </p:nvSpPr>
          <p:spPr>
            <a:xfrm>
              <a:off x="10538569" y="2423700"/>
              <a:ext cx="792809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Processors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ECD628-3070-4888-8459-167E8B110E3A}"/>
                </a:ext>
              </a:extLst>
            </p:cNvPr>
            <p:cNvSpPr txBox="1"/>
            <p:nvPr/>
          </p:nvSpPr>
          <p:spPr>
            <a:xfrm>
              <a:off x="10538569" y="2029886"/>
              <a:ext cx="792809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Traders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3E294E-E84D-34C3-28C1-00EF23E76648}"/>
                </a:ext>
              </a:extLst>
            </p:cNvPr>
            <p:cNvSpPr txBox="1"/>
            <p:nvPr/>
          </p:nvSpPr>
          <p:spPr>
            <a:xfrm>
              <a:off x="10538568" y="2817514"/>
              <a:ext cx="792809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Traders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F455BB-C92F-BA24-87FA-A81E14F52578}"/>
                </a:ext>
              </a:extLst>
            </p:cNvPr>
            <p:cNvSpPr txBox="1"/>
            <p:nvPr/>
          </p:nvSpPr>
          <p:spPr>
            <a:xfrm>
              <a:off x="10508308" y="3218004"/>
              <a:ext cx="853328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Food services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E46566-0C9C-B1F2-603F-2FF46A68A91B}"/>
                </a:ext>
              </a:extLst>
            </p:cNvPr>
            <p:cNvSpPr txBox="1"/>
            <p:nvPr/>
          </p:nvSpPr>
          <p:spPr>
            <a:xfrm>
              <a:off x="9077647" y="2035122"/>
              <a:ext cx="913631" cy="1810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Input suppliers</a:t>
              </a:r>
            </a:p>
          </p:txBody>
        </p:sp>
      </p:grpSp>
      <p:sp>
        <p:nvSpPr>
          <p:cNvPr id="26" name="Content Placeholder 88">
            <a:extLst>
              <a:ext uri="{FF2B5EF4-FFF2-40B4-BE49-F238E27FC236}">
                <a16:creationId xmlns:a16="http://schemas.microsoft.com/office/drawing/2014/main" id="{19F4D238-952D-1EB4-B9AF-A50C21B11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551" y="1336887"/>
            <a:ext cx="6856244" cy="1083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Off-farm components of the agrifood system are more important than on-farm components at higher-income levels.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FE1098D1-B370-5BEE-6035-1D9F224F7934}"/>
              </a:ext>
            </a:extLst>
          </p:cNvPr>
          <p:cNvGraphicFramePr>
            <a:graphicFrameLocks/>
          </p:cNvGraphicFramePr>
          <p:nvPr/>
        </p:nvGraphicFramePr>
        <p:xfrm>
          <a:off x="205153" y="3009900"/>
          <a:ext cx="3433397" cy="3650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6A02E556-A1FE-A1C0-07BC-71EF21B793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1600865"/>
              </p:ext>
            </p:extLst>
          </p:nvPr>
        </p:nvGraphicFramePr>
        <p:xfrm>
          <a:off x="3637629" y="3009900"/>
          <a:ext cx="3433397" cy="3650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6D2AA76E-0549-509A-EAB6-7A520EDED938}"/>
              </a:ext>
            </a:extLst>
          </p:cNvPr>
          <p:cNvGraphicFramePr>
            <a:graphicFrameLocks/>
          </p:cNvGraphicFramePr>
          <p:nvPr/>
        </p:nvGraphicFramePr>
        <p:xfrm>
          <a:off x="7070105" y="3009900"/>
          <a:ext cx="3433397" cy="3650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1502D9D6-2F71-E488-13EA-698026EDB8DA}"/>
              </a:ext>
            </a:extLst>
          </p:cNvPr>
          <p:cNvSpPr/>
          <p:nvPr/>
        </p:nvSpPr>
        <p:spPr>
          <a:xfrm>
            <a:off x="340474" y="2640568"/>
            <a:ext cx="348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Share of national GDP (%)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97E608-9EF2-1219-05E3-9A60C8BF3876}"/>
              </a:ext>
            </a:extLst>
          </p:cNvPr>
          <p:cNvSpPr/>
          <p:nvPr/>
        </p:nvSpPr>
        <p:spPr>
          <a:xfrm>
            <a:off x="3705290" y="2633574"/>
            <a:ext cx="348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Share of agrifood GDP (%)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EDC175-3BBA-A9DE-77BF-C48C81FC5ABE}"/>
              </a:ext>
            </a:extLst>
          </p:cNvPr>
          <p:cNvSpPr/>
          <p:nvPr/>
        </p:nvSpPr>
        <p:spPr>
          <a:xfrm>
            <a:off x="7604631" y="2904667"/>
            <a:ext cx="2537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Share of off-farm agrifood GDP (%)</a:t>
            </a:r>
          </a:p>
        </p:txBody>
      </p:sp>
    </p:spTree>
    <p:extLst>
      <p:ext uri="{BB962C8B-B14F-4D97-AF65-F5344CB8AC3E}">
        <p14:creationId xmlns:p14="http://schemas.microsoft.com/office/powerpoint/2010/main" val="125686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30A4-3D73-DBDA-ECBB-5C679FE5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Economywide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F910-DCC0-5470-BB6F-8C364CA7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912" y="1191847"/>
            <a:ext cx="5735467" cy="5563653"/>
          </a:xfrm>
        </p:spPr>
        <p:txBody>
          <a:bodyPr>
            <a:normAutofit/>
          </a:bodyPr>
          <a:lstStyle/>
          <a:p>
            <a:r>
              <a:rPr lang="en-US" sz="2400" b="1" dirty="0"/>
              <a:t>Computable General Equilibrium</a:t>
            </a:r>
          </a:p>
          <a:p>
            <a:endParaRPr lang="en-US" sz="200" dirty="0"/>
          </a:p>
          <a:p>
            <a:r>
              <a:rPr lang="en-US" sz="2400" b="1" dirty="0"/>
              <a:t>Economic linkages</a:t>
            </a:r>
          </a:p>
          <a:p>
            <a:pPr lvl="1"/>
            <a:r>
              <a:rPr lang="en-US" sz="2000" dirty="0"/>
              <a:t>Between sectors, households, government &amp; rest of world</a:t>
            </a:r>
          </a:p>
          <a:p>
            <a:endParaRPr lang="en-US" sz="200" dirty="0"/>
          </a:p>
          <a:p>
            <a:r>
              <a:rPr lang="en-US" sz="2400" b="1" dirty="0"/>
              <a:t>Resource competition</a:t>
            </a:r>
          </a:p>
          <a:p>
            <a:pPr lvl="1"/>
            <a:r>
              <a:rPr lang="en-US" sz="2000" dirty="0"/>
              <a:t>Factor markets (land, labor, capital)</a:t>
            </a:r>
          </a:p>
          <a:p>
            <a:pPr lvl="1"/>
            <a:r>
              <a:rPr lang="en-US" sz="2000" dirty="0"/>
              <a:t>Product markets (supply, demand)</a:t>
            </a:r>
          </a:p>
          <a:p>
            <a:endParaRPr lang="en-US" sz="200" dirty="0"/>
          </a:p>
          <a:p>
            <a:r>
              <a:rPr lang="en-US" sz="2400" b="1" dirty="0"/>
              <a:t>Macro consistency</a:t>
            </a:r>
          </a:p>
          <a:p>
            <a:pPr lvl="1"/>
            <a:r>
              <a:rPr lang="en-US" sz="2000" dirty="0"/>
              <a:t>Government (revenues, spending)</a:t>
            </a:r>
          </a:p>
          <a:p>
            <a:pPr lvl="1"/>
            <a:r>
              <a:rPr lang="en-US" sz="2000" dirty="0"/>
              <a:t>Savings-investment</a:t>
            </a:r>
          </a:p>
          <a:p>
            <a:pPr lvl="1"/>
            <a:r>
              <a:rPr lang="en-US" sz="2000" dirty="0"/>
              <a:t>Current account (foreign exchange)</a:t>
            </a:r>
          </a:p>
          <a:p>
            <a:endParaRPr lang="en-US"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6ECEE7-D8B8-823F-5892-CE5BBE72B4C8}"/>
              </a:ext>
            </a:extLst>
          </p:cNvPr>
          <p:cNvGrpSpPr/>
          <p:nvPr/>
        </p:nvGrpSpPr>
        <p:grpSpPr>
          <a:xfrm>
            <a:off x="6740832" y="871519"/>
            <a:ext cx="4004900" cy="5751960"/>
            <a:chOff x="4997864" y="1162008"/>
            <a:chExt cx="4004900" cy="57519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10C1346-CEDD-4E48-D975-B1E86F36E7DF}"/>
                </a:ext>
              </a:extLst>
            </p:cNvPr>
            <p:cNvGrpSpPr/>
            <p:nvPr/>
          </p:nvGrpSpPr>
          <p:grpSpPr>
            <a:xfrm>
              <a:off x="4997864" y="1162008"/>
              <a:ext cx="4004900" cy="5751960"/>
              <a:chOff x="4969289" y="1200150"/>
              <a:chExt cx="4004900" cy="575196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260203-3985-4175-CA86-130CB9E55ECB}"/>
                  </a:ext>
                </a:extLst>
              </p:cNvPr>
              <p:cNvSpPr txBox="1"/>
              <p:nvPr/>
            </p:nvSpPr>
            <p:spPr>
              <a:xfrm rot="3206396">
                <a:off x="4698547" y="2586252"/>
                <a:ext cx="8751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C00000"/>
                    </a:solidFill>
                  </a:rPr>
                  <a:t>Regional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5B3DD31-2A0B-620D-B996-B1363F5D2D47}"/>
                  </a:ext>
                </a:extLst>
              </p:cNvPr>
              <p:cNvGrpSpPr/>
              <p:nvPr/>
            </p:nvGrpSpPr>
            <p:grpSpPr>
              <a:xfrm>
                <a:off x="5107686" y="1200150"/>
                <a:ext cx="2168401" cy="1620524"/>
                <a:chOff x="5107686" y="1200150"/>
                <a:chExt cx="2168401" cy="1620524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26F12C19-DE25-96D8-9A4B-73B9F4F779F5}"/>
                    </a:ext>
                  </a:extLst>
                </p:cNvPr>
                <p:cNvGrpSpPr/>
                <p:nvPr/>
              </p:nvGrpSpPr>
              <p:grpSpPr>
                <a:xfrm>
                  <a:off x="5380057" y="1807869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B3CAAA79-DAE4-8B7E-D318-9C10264B3816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C34E2D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CD2A619D-9211-FD83-48DA-234BA76BC30F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C57F0C0B-7C7D-4F64-17F5-4D29F20A8F98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8F133C36-C091-691A-0797-2994C043F683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C0112E69-E678-BF2F-1807-431063F56794}"/>
                    </a:ext>
                  </a:extLst>
                </p:cNvPr>
                <p:cNvGrpSpPr/>
                <p:nvPr/>
              </p:nvGrpSpPr>
              <p:grpSpPr>
                <a:xfrm>
                  <a:off x="5305361" y="1734647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B3CE2023-2CD4-B8B6-9749-95D51204CDFC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C34E2D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7D830024-89D7-4E87-5FF2-B02D1F4053FE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142A623D-704F-72D1-816C-174EE5A52F4E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3EC76D5B-98F9-87D1-995B-5EC58A7AEF09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dirty="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95017CC8-FBCD-59A0-51C9-C08F97C0198B}"/>
                    </a:ext>
                  </a:extLst>
                </p:cNvPr>
                <p:cNvGrpSpPr/>
                <p:nvPr/>
              </p:nvGrpSpPr>
              <p:grpSpPr>
                <a:xfrm>
                  <a:off x="5220760" y="1631907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7FFE5345-D33A-D321-3C0D-751EA4D2E2D4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C34E2D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8" name="Rectangle 87">
                    <a:extLst>
                      <a:ext uri="{FF2B5EF4-FFF2-40B4-BE49-F238E27FC236}">
                        <a16:creationId xmlns:a16="http://schemas.microsoft.com/office/drawing/2014/main" id="{F56F1848-55DF-C671-0C15-989B9DDC20BE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dirty="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29C74CBF-0D23-647F-C3BF-7F13CB358CBF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411614AE-C434-42D6-AD78-42E0B7BBB2E5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rgbClr val="C00000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F24E0A75-49CB-6810-98AF-BF4023D668A9}"/>
                    </a:ext>
                  </a:extLst>
                </p:cNvPr>
                <p:cNvGrpSpPr/>
                <p:nvPr/>
              </p:nvGrpSpPr>
              <p:grpSpPr>
                <a:xfrm>
                  <a:off x="5115276" y="1530753"/>
                  <a:ext cx="1898364" cy="1012805"/>
                  <a:chOff x="610178" y="738554"/>
                  <a:chExt cx="1437948" cy="830996"/>
                </a:xfrm>
              </p:grpSpPr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271EA42B-CED3-F704-75FC-FE63BE8F901D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A6541000-F00F-AA98-7095-30FB7A2BBDAC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1" name="Rectangle 80">
                    <a:extLst>
                      <a:ext uri="{FF2B5EF4-FFF2-40B4-BE49-F238E27FC236}">
                        <a16:creationId xmlns:a16="http://schemas.microsoft.com/office/drawing/2014/main" id="{8319C90B-1AD7-3A87-60B2-31DD84AF37C4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3DD6F506-0EF7-5561-B7D0-835AB95F48C6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rgbClr val="C00000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7F9BB173-6908-A685-53FD-745E063AD2F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8972" y="856097"/>
                    <a:ext cx="718089" cy="2272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Trading</a:t>
                    </a:r>
                  </a:p>
                </p:txBody>
              </p:sp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DE5F023D-8A1F-904B-7CE8-E71FA47B0233}"/>
                      </a:ext>
                    </a:extLst>
                  </p:cNvPr>
                  <p:cNvSpPr txBox="1"/>
                  <p:nvPr/>
                </p:nvSpPr>
                <p:spPr>
                  <a:xfrm>
                    <a:off x="610178" y="839903"/>
                    <a:ext cx="718091" cy="2272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Farming</a:t>
                    </a: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C4ACC7A0-51A7-5D10-06F3-E8321C00415F}"/>
                      </a:ext>
                    </a:extLst>
                  </p:cNvPr>
                  <p:cNvSpPr txBox="1"/>
                  <p:nvPr/>
                </p:nvSpPr>
                <p:spPr>
                  <a:xfrm>
                    <a:off x="611945" y="1241266"/>
                    <a:ext cx="718091" cy="2146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Processing</a:t>
                    </a:r>
                  </a:p>
                </p:txBody>
              </p: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CC88002C-48F0-2AA9-C84B-ED2089884A08}"/>
                      </a:ext>
                    </a:extLst>
                  </p:cNvPr>
                  <p:cNvSpPr txBox="1"/>
                  <p:nvPr/>
                </p:nvSpPr>
                <p:spPr>
                  <a:xfrm>
                    <a:off x="1318218" y="1256916"/>
                    <a:ext cx="718091" cy="2146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Non-AFS</a:t>
                    </a:r>
                  </a:p>
                </p:txBody>
              </p:sp>
            </p:grp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AC39ECD-0904-151D-50F4-8F1D90E8E1C0}"/>
                    </a:ext>
                  </a:extLst>
                </p:cNvPr>
                <p:cNvSpPr txBox="1"/>
                <p:nvPr/>
              </p:nvSpPr>
              <p:spPr>
                <a:xfrm>
                  <a:off x="5107686" y="1200150"/>
                  <a:ext cx="192275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C00000"/>
                      </a:solidFill>
                    </a:rPr>
                    <a:t>Activities</a:t>
                  </a:r>
                  <a:r>
                    <a:rPr lang="en-US" sz="1400" dirty="0">
                      <a:solidFill>
                        <a:srgbClr val="C00000"/>
                      </a:solidFill>
                    </a:rPr>
                    <a:t> (producers)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D7BEAE1-299F-EE9B-0C0A-611401E3595F}"/>
                  </a:ext>
                </a:extLst>
              </p:cNvPr>
              <p:cNvGrpSpPr/>
              <p:nvPr/>
            </p:nvGrpSpPr>
            <p:grpSpPr>
              <a:xfrm>
                <a:off x="5042494" y="3390076"/>
                <a:ext cx="934379" cy="1450661"/>
                <a:chOff x="6557720" y="1120209"/>
                <a:chExt cx="707761" cy="1190253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1F613B10-5E93-4A3C-3E7B-1B53FDEB6EDE}"/>
                    </a:ext>
                  </a:extLst>
                </p:cNvPr>
                <p:cNvSpPr/>
                <p:nvPr/>
              </p:nvSpPr>
              <p:spPr>
                <a:xfrm rot="16200000">
                  <a:off x="6698687" y="1467188"/>
                  <a:ext cx="718090" cy="415498"/>
                </a:xfrm>
                <a:prstGeom prst="rect">
                  <a:avLst/>
                </a:prstGeom>
                <a:solidFill>
                  <a:srgbClr val="0B8EB8">
                    <a:alpha val="30000"/>
                  </a:srgb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3C3B83E9-EC97-F469-C9AA-4E4D72A6900B}"/>
                    </a:ext>
                  </a:extLst>
                </p:cNvPr>
                <p:cNvSpPr/>
                <p:nvPr/>
              </p:nvSpPr>
              <p:spPr>
                <a:xfrm rot="16200000">
                  <a:off x="6641664" y="1404585"/>
                  <a:ext cx="718090" cy="415498"/>
                </a:xfrm>
                <a:prstGeom prst="rect">
                  <a:avLst/>
                </a:prstGeom>
                <a:solidFill>
                  <a:srgbClr val="0B8EB8">
                    <a:alpha val="60000"/>
                  </a:srgb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CC3211A9-4ECB-DFBE-B4B8-1775B0328574}"/>
                    </a:ext>
                  </a:extLst>
                </p:cNvPr>
                <p:cNvSpPr/>
                <p:nvPr/>
              </p:nvSpPr>
              <p:spPr>
                <a:xfrm rot="16200000">
                  <a:off x="6587680" y="1340045"/>
                  <a:ext cx="718090" cy="415498"/>
                </a:xfrm>
                <a:prstGeom prst="rect">
                  <a:avLst/>
                </a:prstGeom>
                <a:solidFill>
                  <a:srgbClr val="0B8EB8">
                    <a:alpha val="80000"/>
                  </a:srgb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51E6A879-A181-05FA-E942-76CA165F8BAB}"/>
                    </a:ext>
                  </a:extLst>
                </p:cNvPr>
                <p:cNvSpPr/>
                <p:nvPr/>
              </p:nvSpPr>
              <p:spPr>
                <a:xfrm rot="16200000">
                  <a:off x="6530087" y="1271507"/>
                  <a:ext cx="718090" cy="415498"/>
                </a:xfrm>
                <a:prstGeom prst="rect">
                  <a:avLst/>
                </a:prstGeom>
                <a:solidFill>
                  <a:srgbClr val="0B8EB8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1F65C16-1617-AC71-005E-70668B724FBA}"/>
                    </a:ext>
                  </a:extLst>
                </p:cNvPr>
                <p:cNvSpPr txBox="1"/>
                <p:nvPr/>
              </p:nvSpPr>
              <p:spPr>
                <a:xfrm rot="16200000">
                  <a:off x="6532853" y="1304407"/>
                  <a:ext cx="718091" cy="3496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bg1"/>
                      </a:solidFill>
                    </a:rPr>
                    <a:t>Factor markets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5751F051-E8E4-D64E-F426-A0E3650F0803}"/>
                    </a:ext>
                  </a:extLst>
                </p:cNvPr>
                <p:cNvSpPr txBox="1"/>
                <p:nvPr/>
              </p:nvSpPr>
              <p:spPr>
                <a:xfrm rot="3206396">
                  <a:off x="6297756" y="1852337"/>
                  <a:ext cx="718089" cy="198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rgbClr val="0B8EB8"/>
                      </a:solidFill>
                    </a:rPr>
                    <a:t>Regional</a:t>
                  </a:r>
                </a:p>
              </p:txBody>
            </p:sp>
          </p:grp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5009BF0-D8C6-F1CC-E3D6-0185055EF34D}"/>
                  </a:ext>
                </a:extLst>
              </p:cNvPr>
              <p:cNvCxnSpPr/>
              <p:nvPr/>
            </p:nvCxnSpPr>
            <p:spPr>
              <a:xfrm flipH="1" flipV="1">
                <a:off x="5519708" y="4557111"/>
                <a:ext cx="5116" cy="4886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00E79F53-D90A-5A3E-6763-4F8A62D83ECE}"/>
                  </a:ext>
                </a:extLst>
              </p:cNvPr>
              <p:cNvCxnSpPr/>
              <p:nvPr/>
            </p:nvCxnSpPr>
            <p:spPr>
              <a:xfrm flipH="1" flipV="1">
                <a:off x="5519708" y="2881405"/>
                <a:ext cx="5116" cy="4886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486877D-20A1-9C02-072A-5F3CD849F95D}"/>
                  </a:ext>
                </a:extLst>
              </p:cNvPr>
              <p:cNvGrpSpPr/>
              <p:nvPr/>
            </p:nvGrpSpPr>
            <p:grpSpPr>
              <a:xfrm>
                <a:off x="6188880" y="3400843"/>
                <a:ext cx="548536" cy="875197"/>
                <a:chOff x="6681383" y="1120211"/>
                <a:chExt cx="415498" cy="718090"/>
              </a:xfrm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35AB757E-2E35-F427-05C0-93E43659CF49}"/>
                    </a:ext>
                  </a:extLst>
                </p:cNvPr>
                <p:cNvSpPr/>
                <p:nvPr/>
              </p:nvSpPr>
              <p:spPr>
                <a:xfrm rot="16200000">
                  <a:off x="6530087" y="1271507"/>
                  <a:ext cx="718090" cy="415498"/>
                </a:xfrm>
                <a:prstGeom prst="rect">
                  <a:avLst/>
                </a:prstGeom>
                <a:solidFill>
                  <a:srgbClr val="0B8EB8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DB89776-9145-1AA8-57C2-D13FF3088333}"/>
                    </a:ext>
                  </a:extLst>
                </p:cNvPr>
                <p:cNvSpPr txBox="1"/>
                <p:nvPr/>
              </p:nvSpPr>
              <p:spPr>
                <a:xfrm rot="16200000">
                  <a:off x="6532967" y="1301646"/>
                  <a:ext cx="708408" cy="3496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bg1"/>
                      </a:solidFill>
                    </a:rPr>
                    <a:t>Product markets</a:t>
                  </a:r>
                </a:p>
              </p:txBody>
            </p:sp>
          </p:grp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0ADAA58-E241-272C-99CE-92BEEF7FEBDE}"/>
                  </a:ext>
                </a:extLst>
              </p:cNvPr>
              <p:cNvCxnSpPr/>
              <p:nvPr/>
            </p:nvCxnSpPr>
            <p:spPr>
              <a:xfrm flipH="1" flipV="1">
                <a:off x="6439765" y="2875654"/>
                <a:ext cx="5116" cy="4886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15661DA-0706-31A4-9A46-001E77D510D7}"/>
                  </a:ext>
                </a:extLst>
              </p:cNvPr>
              <p:cNvCxnSpPr/>
              <p:nvPr/>
            </p:nvCxnSpPr>
            <p:spPr>
              <a:xfrm flipH="1" flipV="1">
                <a:off x="6439765" y="4314188"/>
                <a:ext cx="1" cy="72418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6956531-6EE9-2D46-0F80-B1A6E00B42D8}"/>
                  </a:ext>
                </a:extLst>
              </p:cNvPr>
              <p:cNvGrpSpPr/>
              <p:nvPr/>
            </p:nvGrpSpPr>
            <p:grpSpPr>
              <a:xfrm>
                <a:off x="7641019" y="4361537"/>
                <a:ext cx="1177989" cy="506402"/>
                <a:chOff x="4064840" y="2400543"/>
                <a:chExt cx="997668" cy="415498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D5C7E487-D051-965C-6E49-DF64FC5AF6AF}"/>
                    </a:ext>
                  </a:extLst>
                </p:cNvPr>
                <p:cNvSpPr/>
                <p:nvPr/>
              </p:nvSpPr>
              <p:spPr>
                <a:xfrm>
                  <a:off x="4064840" y="2400543"/>
                  <a:ext cx="997667" cy="415498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>
                    <a:solidFill>
                      <a:srgbClr val="54544B"/>
                    </a:solidFill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209B42B-1BA6-1AC6-5930-D25D734E4FCD}"/>
                    </a:ext>
                  </a:extLst>
                </p:cNvPr>
                <p:cNvSpPr txBox="1"/>
                <p:nvPr/>
              </p:nvSpPr>
              <p:spPr>
                <a:xfrm>
                  <a:off x="4064840" y="2510763"/>
                  <a:ext cx="997668" cy="214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b="1" dirty="0">
                      <a:solidFill>
                        <a:schemeClr val="bg1"/>
                      </a:solidFill>
                    </a:rPr>
                    <a:t>Government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A0D1424-AE27-245A-DEB9-6F25A515FBDA}"/>
                  </a:ext>
                </a:extLst>
              </p:cNvPr>
              <p:cNvGrpSpPr/>
              <p:nvPr/>
            </p:nvGrpSpPr>
            <p:grpSpPr>
              <a:xfrm>
                <a:off x="6706833" y="3368985"/>
                <a:ext cx="2121484" cy="559346"/>
                <a:chOff x="1954694" y="2797251"/>
                <a:chExt cx="1606954" cy="458938"/>
              </a:xfrm>
            </p:grpSpPr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344FDC9-0EF7-0AEF-295E-2AC177481FF3}"/>
                    </a:ext>
                  </a:extLst>
                </p:cNvPr>
                <p:cNvSpPr txBox="1"/>
                <p:nvPr/>
              </p:nvSpPr>
              <p:spPr>
                <a:xfrm>
                  <a:off x="1954694" y="2797251"/>
                  <a:ext cx="718091" cy="2146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solidFill>
                        <a:srgbClr val="54544B"/>
                      </a:solidFill>
                    </a:rPr>
                    <a:t>Trade</a:t>
                  </a:r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49225617-1C7A-93E8-2FDD-22789AF390E9}"/>
                    </a:ext>
                  </a:extLst>
                </p:cNvPr>
                <p:cNvGrpSpPr/>
                <p:nvPr/>
              </p:nvGrpSpPr>
              <p:grpSpPr>
                <a:xfrm>
                  <a:off x="2662310" y="2840691"/>
                  <a:ext cx="899338" cy="415498"/>
                  <a:chOff x="4064839" y="2417516"/>
                  <a:chExt cx="1005549" cy="41549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E9645801-A657-D070-EBC9-AC44382854A6}"/>
                      </a:ext>
                    </a:extLst>
                  </p:cNvPr>
                  <p:cNvSpPr/>
                  <p:nvPr/>
                </p:nvSpPr>
                <p:spPr>
                  <a:xfrm>
                    <a:off x="4064839" y="2417516"/>
                    <a:ext cx="997667" cy="415498"/>
                  </a:xfrm>
                  <a:prstGeom prst="rect">
                    <a:avLst/>
                  </a:prstGeom>
                  <a:solidFill>
                    <a:srgbClr val="54544B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b="1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14126675-B6FE-777B-E0D3-B1AB2C64F317}"/>
                      </a:ext>
                    </a:extLst>
                  </p:cNvPr>
                  <p:cNvSpPr txBox="1"/>
                  <p:nvPr/>
                </p:nvSpPr>
                <p:spPr>
                  <a:xfrm>
                    <a:off x="4072720" y="2515395"/>
                    <a:ext cx="997668" cy="21464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b="1" dirty="0">
                        <a:solidFill>
                          <a:schemeClr val="bg1"/>
                        </a:solidFill>
                      </a:rPr>
                      <a:t>Rest of world</a:t>
                    </a:r>
                  </a:p>
                </p:txBody>
              </p:sp>
            </p:grp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A1577F03-ADE4-56C5-4B02-D3B86ABF86FC}"/>
                    </a:ext>
                  </a:extLst>
                </p:cNvPr>
                <p:cNvCxnSpPr/>
                <p:nvPr/>
              </p:nvCxnSpPr>
              <p:spPr>
                <a:xfrm>
                  <a:off x="2009775" y="3031877"/>
                  <a:ext cx="608409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5E993F-E6E2-BFE7-6A29-41CAEB87C7A5}"/>
                  </a:ext>
                </a:extLst>
              </p:cNvPr>
              <p:cNvSpPr txBox="1"/>
              <p:nvPr/>
            </p:nvSpPr>
            <p:spPr>
              <a:xfrm>
                <a:off x="7427927" y="5022723"/>
                <a:ext cx="132014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54544B"/>
                    </a:solidFill>
                  </a:rPr>
                  <a:t>Regional migration &amp; remittances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0CF59AA-779E-E21B-868F-53D18A08D847}"/>
                  </a:ext>
                </a:extLst>
              </p:cNvPr>
              <p:cNvCxnSpPr/>
              <p:nvPr/>
            </p:nvCxnSpPr>
            <p:spPr>
              <a:xfrm>
                <a:off x="6906222" y="4126994"/>
                <a:ext cx="1" cy="90603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73480F9-66E7-3A8A-9292-0D2ECCE4321E}"/>
                  </a:ext>
                </a:extLst>
              </p:cNvPr>
              <p:cNvCxnSpPr/>
              <p:nvPr/>
            </p:nvCxnSpPr>
            <p:spPr>
              <a:xfrm>
                <a:off x="6779550" y="4128928"/>
                <a:ext cx="126672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67F5DAF-FF75-0279-20A0-5E71E2A2C893}"/>
                  </a:ext>
                </a:extLst>
              </p:cNvPr>
              <p:cNvCxnSpPr/>
              <p:nvPr/>
            </p:nvCxnSpPr>
            <p:spPr>
              <a:xfrm>
                <a:off x="6906222" y="4604635"/>
                <a:ext cx="64342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1BF6B96-2912-DD4A-A180-994C3A03C374}"/>
                  </a:ext>
                </a:extLst>
              </p:cNvPr>
              <p:cNvCxnSpPr/>
              <p:nvPr/>
            </p:nvCxnSpPr>
            <p:spPr>
              <a:xfrm flipH="1">
                <a:off x="8230012" y="3956094"/>
                <a:ext cx="1" cy="3565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79F133-7741-A49C-E479-C8A6E0132E7E}"/>
                  </a:ext>
                </a:extLst>
              </p:cNvPr>
              <p:cNvSpPr txBox="1"/>
              <p:nvPr/>
            </p:nvSpPr>
            <p:spPr>
              <a:xfrm>
                <a:off x="7847277" y="3996189"/>
                <a:ext cx="5889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54544B"/>
                    </a:solidFill>
                  </a:rPr>
                  <a:t>Aid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615264B-FFD1-E67F-7151-CC407C84B1E7}"/>
                  </a:ext>
                </a:extLst>
              </p:cNvPr>
              <p:cNvCxnSpPr/>
              <p:nvPr/>
            </p:nvCxnSpPr>
            <p:spPr>
              <a:xfrm>
                <a:off x="8968358" y="2682716"/>
                <a:ext cx="4192" cy="292137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99CEF6C-729B-F778-3197-D680497E43E6}"/>
                  </a:ext>
                </a:extLst>
              </p:cNvPr>
              <p:cNvCxnSpPr>
                <a:stCxn id="65" idx="3"/>
              </p:cNvCxnSpPr>
              <p:nvPr/>
            </p:nvCxnSpPr>
            <p:spPr>
              <a:xfrm flipV="1">
                <a:off x="8819008" y="4622481"/>
                <a:ext cx="149350" cy="41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6E778C67-DB3C-834D-3D6B-710D46CC09DA}"/>
                  </a:ext>
                </a:extLst>
              </p:cNvPr>
              <p:cNvCxnSpPr/>
              <p:nvPr/>
            </p:nvCxnSpPr>
            <p:spPr>
              <a:xfrm>
                <a:off x="8819007" y="3654448"/>
                <a:ext cx="149352" cy="4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30ACDDC-403C-B23F-C476-F192043DD654}"/>
                  </a:ext>
                </a:extLst>
              </p:cNvPr>
              <p:cNvCxnSpPr/>
              <p:nvPr/>
            </p:nvCxnSpPr>
            <p:spPr>
              <a:xfrm>
                <a:off x="7355661" y="2682716"/>
                <a:ext cx="161269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F1CD07ED-DF3E-7252-990B-3BF79376AA83}"/>
                  </a:ext>
                </a:extLst>
              </p:cNvPr>
              <p:cNvCxnSpPr/>
              <p:nvPr/>
            </p:nvCxnSpPr>
            <p:spPr>
              <a:xfrm flipV="1">
                <a:off x="7355661" y="5609256"/>
                <a:ext cx="1612697" cy="59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05946E-750C-7B9E-060E-EC58443DF642}"/>
                  </a:ext>
                </a:extLst>
              </p:cNvPr>
              <p:cNvSpPr txBox="1"/>
              <p:nvPr/>
            </p:nvSpPr>
            <p:spPr>
              <a:xfrm>
                <a:off x="7316415" y="2361460"/>
                <a:ext cx="165777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54544B"/>
                    </a:solidFill>
                  </a:rPr>
                  <a:t>Investments &amp; subsidies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00D9A8A-12B7-8352-9698-2CFEEE42F0CA}"/>
                  </a:ext>
                </a:extLst>
              </p:cNvPr>
              <p:cNvSpPr txBox="1"/>
              <p:nvPr/>
            </p:nvSpPr>
            <p:spPr>
              <a:xfrm>
                <a:off x="7315192" y="5619604"/>
                <a:ext cx="165316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54544B"/>
                    </a:solidFill>
                  </a:rPr>
                  <a:t>Social transfers</a:t>
                </a:r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F704952E-55FB-3A80-D0D5-5B9F3DD654C4}"/>
                  </a:ext>
                </a:extLst>
              </p:cNvPr>
              <p:cNvSpPr/>
              <p:nvPr/>
            </p:nvSpPr>
            <p:spPr>
              <a:xfrm rot="16200000">
                <a:off x="7024794" y="5036263"/>
                <a:ext cx="406277" cy="446250"/>
              </a:xfrm>
              <a:prstGeom prst="arc">
                <a:avLst>
                  <a:gd name="adj1" fmla="val 17587025"/>
                  <a:gd name="adj2" fmla="val 10650003"/>
                </a:avLst>
              </a:prstGeom>
              <a:ln>
                <a:solidFill>
                  <a:srgbClr val="54544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54544B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BA78C4C-26CC-496A-23C9-4F2AEE3D6220}"/>
                  </a:ext>
                </a:extLst>
              </p:cNvPr>
              <p:cNvSpPr txBox="1"/>
              <p:nvPr/>
            </p:nvSpPr>
            <p:spPr>
              <a:xfrm>
                <a:off x="6747734" y="4307162"/>
                <a:ext cx="9480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rgbClr val="54544B"/>
                    </a:solidFill>
                  </a:rPr>
                  <a:t>Taxes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F9D11B10-F8AE-AEEA-F057-C6A705352F60}"/>
                  </a:ext>
                </a:extLst>
              </p:cNvPr>
              <p:cNvGrpSpPr/>
              <p:nvPr/>
            </p:nvGrpSpPr>
            <p:grpSpPr>
              <a:xfrm>
                <a:off x="5080171" y="5065785"/>
                <a:ext cx="2189905" cy="1583452"/>
                <a:chOff x="1947200" y="4902360"/>
                <a:chExt cx="2189905" cy="1583452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F0B87B52-AA7D-4BE6-B68F-47385339B3AD}"/>
                    </a:ext>
                  </a:extLst>
                </p:cNvPr>
                <p:cNvGrpSpPr/>
                <p:nvPr/>
              </p:nvGrpSpPr>
              <p:grpSpPr>
                <a:xfrm>
                  <a:off x="2241075" y="5473007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7EBCC4D0-4DE4-7BAD-67E7-974D6D29C04A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FFB300">
                      <a:alpha val="3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D2DC0CBB-1F5A-074B-5513-2600FF33FB97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3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705D1605-F7E8-2B45-7ACF-80F05179FD30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3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5FD6881A-38B0-656B-E6D8-A8E0C5000E11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3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E92E29E8-D800-048C-278F-FA895A4BE9B0}"/>
                    </a:ext>
                  </a:extLst>
                </p:cNvPr>
                <p:cNvGrpSpPr/>
                <p:nvPr/>
              </p:nvGrpSpPr>
              <p:grpSpPr>
                <a:xfrm>
                  <a:off x="2166379" y="5402286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1A7F299C-2A02-16F8-1AF6-CCB00D57B3FA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FFB300">
                      <a:alpha val="6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DD8F978D-CCB8-5061-E998-0076C2D3E8A2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7A6C5995-94A2-A9DD-42A0-BDDCE330DF1E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C8A9F20D-983B-1024-7444-1CFEF2D98C92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dirty="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2BDB4A66-A219-AA78-588B-1944448AA267}"/>
                    </a:ext>
                  </a:extLst>
                </p:cNvPr>
                <p:cNvGrpSpPr/>
                <p:nvPr/>
              </p:nvGrpSpPr>
              <p:grpSpPr>
                <a:xfrm>
                  <a:off x="2079192" y="5307456"/>
                  <a:ext cx="1896030" cy="1012805"/>
                  <a:chOff x="611946" y="738554"/>
                  <a:chExt cx="1436180" cy="830996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7750827D-04CE-452C-5C03-1FF5A5976AC3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rgbClr val="FFB300">
                      <a:alpha val="80000"/>
                    </a:srgb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7C1D33EE-552E-7E98-14B6-DA45F1A245C4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8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 dirty="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DB57751F-B799-88B9-8781-7874CF1799F5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8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D2020DBB-0F0D-AEAF-DC05-F5F89C30C7E2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  <a:alpha val="8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7171E37B-4D99-D62C-5CBC-B25457226681}"/>
                    </a:ext>
                  </a:extLst>
                </p:cNvPr>
                <p:cNvGrpSpPr/>
                <p:nvPr/>
              </p:nvGrpSpPr>
              <p:grpSpPr>
                <a:xfrm>
                  <a:off x="1974713" y="5198619"/>
                  <a:ext cx="1901166" cy="1012805"/>
                  <a:chOff x="611946" y="738554"/>
                  <a:chExt cx="1440070" cy="830996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154C0530-1B96-0BBA-CB5E-88A220EF1B9A}"/>
                      </a:ext>
                    </a:extLst>
                  </p:cNvPr>
                  <p:cNvSpPr/>
                  <p:nvPr/>
                </p:nvSpPr>
                <p:spPr>
                  <a:xfrm>
                    <a:off x="61194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6AEE45F7-B54A-FCC1-2E53-7249D6FEF2EA}"/>
                      </a:ext>
                    </a:extLst>
                  </p:cNvPr>
                  <p:cNvSpPr/>
                  <p:nvPr/>
                </p:nvSpPr>
                <p:spPr>
                  <a:xfrm>
                    <a:off x="1330036" y="738554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9647B5BE-1F39-3409-D3ED-D13E1C9833AE}"/>
                      </a:ext>
                    </a:extLst>
                  </p:cNvPr>
                  <p:cNvSpPr/>
                  <p:nvPr/>
                </p:nvSpPr>
                <p:spPr>
                  <a:xfrm>
                    <a:off x="133003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8B43A159-67FA-EAE1-D15A-0AF653E93E08}"/>
                      </a:ext>
                    </a:extLst>
                  </p:cNvPr>
                  <p:cNvSpPr/>
                  <p:nvPr/>
                </p:nvSpPr>
                <p:spPr>
                  <a:xfrm>
                    <a:off x="611946" y="1154052"/>
                    <a:ext cx="718090" cy="415498"/>
                  </a:xfrm>
                  <a:prstGeom prst="rect">
                    <a:avLst/>
                  </a:prstGeom>
                  <a:solidFill>
                    <a:schemeClr val="accent5">
                      <a:lumMod val="50000"/>
                    </a:schemeClr>
                  </a:solidFill>
                  <a:ln>
                    <a:solidFill>
                      <a:schemeClr val="accent5">
                        <a:lumMod val="20000"/>
                        <a:lumOff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400">
                      <a:solidFill>
                        <a:srgbClr val="54544B"/>
                      </a:solidFill>
                    </a:endParaRP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FC1DC975-BE13-10F2-B8F5-55C0138A3143}"/>
                      </a:ext>
                    </a:extLst>
                  </p:cNvPr>
                  <p:cNvSpPr txBox="1"/>
                  <p:nvPr/>
                </p:nvSpPr>
                <p:spPr>
                  <a:xfrm>
                    <a:off x="1333571" y="760908"/>
                    <a:ext cx="718089" cy="3787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Rural</a:t>
                    </a:r>
                  </a:p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nonpoor</a:t>
                    </a:r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5F0DB7F2-7D8D-D436-1358-D2D132689264}"/>
                      </a:ext>
                    </a:extLst>
                  </p:cNvPr>
                  <p:cNvSpPr txBox="1"/>
                  <p:nvPr/>
                </p:nvSpPr>
                <p:spPr>
                  <a:xfrm>
                    <a:off x="627129" y="760734"/>
                    <a:ext cx="718091" cy="37879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Rural </a:t>
                    </a:r>
                  </a:p>
                  <a:p>
                    <a:pPr algn="ctr"/>
                    <a:r>
                      <a:rPr lang="en-US" sz="1200" dirty="0">
                        <a:solidFill>
                          <a:schemeClr val="bg1"/>
                        </a:solidFill>
                      </a:rPr>
                      <a:t>poor</a:t>
                    </a: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1F05523C-138E-771E-D2CC-5FA48C09C25D}"/>
                      </a:ext>
                    </a:extLst>
                  </p:cNvPr>
                  <p:cNvSpPr txBox="1"/>
                  <p:nvPr/>
                </p:nvSpPr>
                <p:spPr>
                  <a:xfrm>
                    <a:off x="633151" y="1184125"/>
                    <a:ext cx="718091" cy="3535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Urban </a:t>
                    </a:r>
                  </a:p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poor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D84A0271-FF75-2CD8-1A11-FDCE79052331}"/>
                      </a:ext>
                    </a:extLst>
                  </p:cNvPr>
                  <p:cNvSpPr txBox="1"/>
                  <p:nvPr/>
                </p:nvSpPr>
                <p:spPr>
                  <a:xfrm>
                    <a:off x="1333925" y="1208703"/>
                    <a:ext cx="718091" cy="35353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Urban </a:t>
                    </a:r>
                  </a:p>
                  <a:p>
                    <a:pPr algn="ctr"/>
                    <a:r>
                      <a:rPr lang="en-US" sz="1100" dirty="0">
                        <a:solidFill>
                          <a:schemeClr val="bg1"/>
                        </a:solidFill>
                      </a:rPr>
                      <a:t>nonpoor</a:t>
                    </a:r>
                  </a:p>
                </p:txBody>
              </p:sp>
            </p:grp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1DDABAF-EB0F-22F7-4050-ABD44761C32E}"/>
                    </a:ext>
                  </a:extLst>
                </p:cNvPr>
                <p:cNvSpPr txBox="1"/>
                <p:nvPr/>
              </p:nvSpPr>
              <p:spPr>
                <a:xfrm>
                  <a:off x="1947200" y="4902360"/>
                  <a:ext cx="20552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1F4E79"/>
                      </a:solidFill>
                    </a:rPr>
                    <a:t>Households</a:t>
                  </a:r>
                  <a:r>
                    <a:rPr lang="en-US" sz="1400" dirty="0">
                      <a:solidFill>
                        <a:srgbClr val="1F4E79"/>
                      </a:solidFill>
                    </a:rPr>
                    <a:t> (consumers)</a:t>
                  </a:r>
                </a:p>
              </p:txBody>
            </p: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EA8278-F37E-F959-7648-36943B149DDD}"/>
                  </a:ext>
                </a:extLst>
              </p:cNvPr>
              <p:cNvSpPr txBox="1"/>
              <p:nvPr/>
            </p:nvSpPr>
            <p:spPr>
              <a:xfrm rot="3206396">
                <a:off x="4662496" y="6383707"/>
                <a:ext cx="87519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accent5">
                        <a:lumMod val="50000"/>
                      </a:schemeClr>
                    </a:solidFill>
                  </a:rPr>
                  <a:t>Regional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7D4652-0233-9500-218C-7CF1ADA46E10}"/>
                </a:ext>
              </a:extLst>
            </p:cNvPr>
            <p:cNvSpPr txBox="1"/>
            <p:nvPr/>
          </p:nvSpPr>
          <p:spPr>
            <a:xfrm rot="3206396">
              <a:off x="5793773" y="4247328"/>
              <a:ext cx="875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B8EB8"/>
                  </a:solidFill>
                </a:rPr>
                <a:t>National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7617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FD27-7487-8AB7-6F78-BA631420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Economywide Studies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D99467-7755-7824-A3E8-26C6C4B00AE1}"/>
              </a:ext>
            </a:extLst>
          </p:cNvPr>
          <p:cNvGrpSpPr/>
          <p:nvPr/>
        </p:nvGrpSpPr>
        <p:grpSpPr>
          <a:xfrm>
            <a:off x="750486" y="1227273"/>
            <a:ext cx="10530539" cy="5231309"/>
            <a:chOff x="-710534" y="1276253"/>
            <a:chExt cx="10530539" cy="52313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EE9E0E0-DDCE-B390-157C-F6ADA8AA5B47}"/>
                </a:ext>
              </a:extLst>
            </p:cNvPr>
            <p:cNvGrpSpPr/>
            <p:nvPr/>
          </p:nvGrpSpPr>
          <p:grpSpPr>
            <a:xfrm>
              <a:off x="958964" y="1276253"/>
              <a:ext cx="7071995" cy="4523423"/>
              <a:chOff x="1018170" y="1506498"/>
              <a:chExt cx="7071995" cy="4523423"/>
            </a:xfrm>
          </p:grpSpPr>
          <p:graphicFrame>
            <p:nvGraphicFramePr>
              <p:cNvPr id="9" name="Content Placeholder 3">
                <a:extLst>
                  <a:ext uri="{FF2B5EF4-FFF2-40B4-BE49-F238E27FC236}">
                    <a16:creationId xmlns:a16="http://schemas.microsoft.com/office/drawing/2014/main" id="{A2183385-ED23-5969-0AD1-7EB1C81D1E5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57425284"/>
                  </p:ext>
                </p:extLst>
              </p:nvPr>
            </p:nvGraphicFramePr>
            <p:xfrm>
              <a:off x="1018170" y="1506498"/>
              <a:ext cx="7071995" cy="452342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623E284-3E2D-7E7C-27B0-6DFE1009303C}"/>
                  </a:ext>
                </a:extLst>
              </p:cNvPr>
              <p:cNvGrpSpPr/>
              <p:nvPr/>
            </p:nvGrpSpPr>
            <p:grpSpPr>
              <a:xfrm>
                <a:off x="3857880" y="3174067"/>
                <a:ext cx="1347623" cy="1312496"/>
                <a:chOff x="3898188" y="3343639"/>
                <a:chExt cx="1347623" cy="1312496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ADD02530-CE20-35C3-B587-4DCC31C377D0}"/>
                    </a:ext>
                  </a:extLst>
                </p:cNvPr>
                <p:cNvSpPr/>
                <p:nvPr/>
              </p:nvSpPr>
              <p:spPr>
                <a:xfrm>
                  <a:off x="3898188" y="3343639"/>
                  <a:ext cx="1347623" cy="1312496"/>
                </a:xfrm>
                <a:prstGeom prst="ellipse">
                  <a:avLst/>
                </a:prstGeom>
                <a:solidFill>
                  <a:srgbClr val="54544B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C801E8-1013-9D88-0B3A-C0E535919D98}"/>
                    </a:ext>
                  </a:extLst>
                </p:cNvPr>
                <p:cNvSpPr txBox="1"/>
                <p:nvPr/>
              </p:nvSpPr>
              <p:spPr>
                <a:xfrm>
                  <a:off x="3982682" y="3621271"/>
                  <a:ext cx="122358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chemeClr val="bg1"/>
                      </a:solidFill>
                    </a:rPr>
                    <a:t>CGE Model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0AC4063-A475-89D0-C01D-A1058D40A3BA}"/>
                  </a:ext>
                </a:extLst>
              </p:cNvPr>
              <p:cNvSpPr txBox="1"/>
              <p:nvPr/>
            </p:nvSpPr>
            <p:spPr>
              <a:xfrm>
                <a:off x="2842427" y="2859052"/>
                <a:ext cx="12235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Strategic Planning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30CB942-43C7-F7F2-CC43-43BC8A4EA9B2}"/>
                  </a:ext>
                </a:extLst>
              </p:cNvPr>
              <p:cNvSpPr txBox="1"/>
              <p:nvPr/>
            </p:nvSpPr>
            <p:spPr>
              <a:xfrm>
                <a:off x="4969708" y="2860568"/>
                <a:ext cx="12235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Evaluating Programs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4D5CA8-1C7E-AEBD-2B94-4A8739D1BD69}"/>
                  </a:ext>
                </a:extLst>
              </p:cNvPr>
              <p:cNvSpPr txBox="1"/>
              <p:nvPr/>
            </p:nvSpPr>
            <p:spPr>
              <a:xfrm>
                <a:off x="3707888" y="4644926"/>
                <a:ext cx="172822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Prioritizing Portfolios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A7CA81-A4DE-A095-F6AF-F37E1EA0A1AB}"/>
                </a:ext>
              </a:extLst>
            </p:cNvPr>
            <p:cNvSpPr txBox="1"/>
            <p:nvPr/>
          </p:nvSpPr>
          <p:spPr>
            <a:xfrm>
              <a:off x="6571240" y="1551494"/>
              <a:ext cx="32487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</a:rPr>
                <a:t>Impact Evaluation </a:t>
              </a:r>
              <a:endParaRPr lang="en-US" sz="2000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r>
                <a:rPr lang="en-US" sz="2000" dirty="0">
                  <a:solidFill>
                    <a:schemeClr val="accent5">
                      <a:lumMod val="50000"/>
                    </a:schemeClr>
                  </a:solidFill>
                </a:rPr>
                <a:t>Capturing spillovers</a:t>
              </a:r>
            </a:p>
            <a:p>
              <a:r>
                <a:rPr lang="en-US" sz="2000" dirty="0">
                  <a:solidFill>
                    <a:schemeClr val="accent5">
                      <a:lumMod val="50000"/>
                    </a:schemeClr>
                  </a:solidFill>
                </a:rPr>
                <a:t>Estimating benefits &amp; costs</a:t>
              </a:r>
              <a:endParaRPr lang="en-US" sz="16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0B6BB0D-2255-2226-7FAA-8E8CC837156C}"/>
                </a:ext>
              </a:extLst>
            </p:cNvPr>
            <p:cNvSpPr txBox="1"/>
            <p:nvPr/>
          </p:nvSpPr>
          <p:spPr>
            <a:xfrm>
              <a:off x="2154665" y="5799676"/>
              <a:ext cx="47162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</a:rPr>
                <a:t>Policy &amp; Investment Choices</a:t>
              </a:r>
            </a:p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Identifying priorities, Optimizing budgets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3001EB-E3BF-46F5-6282-07B44981E429}"/>
                </a:ext>
              </a:extLst>
            </p:cNvPr>
            <p:cNvSpPr txBox="1"/>
            <p:nvPr/>
          </p:nvSpPr>
          <p:spPr>
            <a:xfrm>
              <a:off x="-710534" y="1551495"/>
              <a:ext cx="299537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</a:rPr>
                <a:t>Foresight Analysis</a:t>
              </a:r>
            </a:p>
            <a:p>
              <a:pPr algn="r"/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</a:rPr>
                <a:t>Tracking progress</a:t>
              </a:r>
            </a:p>
            <a:p>
              <a:pPr algn="r"/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</a:rPr>
                <a:t>Setting targets &amp; goals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862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9C93-97C2-BA27-5722-BEAF4FF0C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Reconciliation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C85E46-F797-BBEE-7A8D-9512DEA3CA5B}"/>
              </a:ext>
            </a:extLst>
          </p:cNvPr>
          <p:cNvSpPr/>
          <p:nvPr/>
        </p:nvSpPr>
        <p:spPr>
          <a:xfrm>
            <a:off x="4850282" y="2823035"/>
            <a:ext cx="2215277" cy="2046808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00943104-216C-70ED-557A-159D199856B7}"/>
              </a:ext>
            </a:extLst>
          </p:cNvPr>
          <p:cNvSpPr/>
          <p:nvPr/>
        </p:nvSpPr>
        <p:spPr>
          <a:xfrm rot="11205693">
            <a:off x="6133141" y="2489571"/>
            <a:ext cx="1822806" cy="1778057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93E8A9A9-BB81-89CC-3AFF-D8BBFEEB8B56}"/>
              </a:ext>
            </a:extLst>
          </p:cNvPr>
          <p:cNvSpPr/>
          <p:nvPr/>
        </p:nvSpPr>
        <p:spPr>
          <a:xfrm rot="20758891">
            <a:off x="4746933" y="3908308"/>
            <a:ext cx="1791641" cy="1804564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4009735D-E6BB-3A9C-FEAA-E86D3E4CBF8E}"/>
              </a:ext>
            </a:extLst>
          </p:cNvPr>
          <p:cNvSpPr/>
          <p:nvPr/>
        </p:nvSpPr>
        <p:spPr>
          <a:xfrm rot="5400000">
            <a:off x="4109247" y="2020665"/>
            <a:ext cx="2142605" cy="2175411"/>
          </a:xfrm>
          <a:prstGeom prst="teardro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993E8ED-0067-7D05-877A-9F75599E170C}"/>
              </a:ext>
            </a:extLst>
          </p:cNvPr>
          <p:cNvSpPr/>
          <p:nvPr/>
        </p:nvSpPr>
        <p:spPr>
          <a:xfrm>
            <a:off x="3885465" y="2911554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B18A0-520E-B64E-EC79-97CED37D24A1}"/>
              </a:ext>
            </a:extLst>
          </p:cNvPr>
          <p:cNvSpPr txBox="1"/>
          <p:nvPr/>
        </p:nvSpPr>
        <p:spPr>
          <a:xfrm>
            <a:off x="1960245" y="2432833"/>
            <a:ext cx="2142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Balance of payments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Product trade flows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Remittances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Foreign investments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Development assistance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F4ABEC9-2A0A-C24B-3B21-6706F6289B09}"/>
              </a:ext>
            </a:extLst>
          </p:cNvPr>
          <p:cNvSpPr/>
          <p:nvPr/>
        </p:nvSpPr>
        <p:spPr>
          <a:xfrm rot="2935544">
            <a:off x="4182930" y="2207426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43AB052-06B5-9E40-B1D2-57726ECC7544}"/>
              </a:ext>
            </a:extLst>
          </p:cNvPr>
          <p:cNvSpPr/>
          <p:nvPr/>
        </p:nvSpPr>
        <p:spPr>
          <a:xfrm rot="8442218">
            <a:off x="5778748" y="2250585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2F7D9-EA39-863E-F003-BB02CCF78745}"/>
              </a:ext>
            </a:extLst>
          </p:cNvPr>
          <p:cNvSpPr txBox="1"/>
          <p:nvPr/>
        </p:nvSpPr>
        <p:spPr>
          <a:xfrm>
            <a:off x="6096000" y="1232504"/>
            <a:ext cx="2987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Household surveys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Product consumption &amp; diets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Labor, land &amp; enterprise earnings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Taxes &amp; transfers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F174C2-0177-F59E-8E6D-C70E915BB666}"/>
              </a:ext>
            </a:extLst>
          </p:cNvPr>
          <p:cNvSpPr txBox="1"/>
          <p:nvPr/>
        </p:nvSpPr>
        <p:spPr>
          <a:xfrm>
            <a:off x="2677038" y="3856001"/>
            <a:ext cx="2142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Government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Consumption spending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Social transfers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Tax collections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Debt &amp; interest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0CABF8-95FF-5F62-53A4-132F1FDB789D}"/>
              </a:ext>
            </a:extLst>
          </p:cNvPr>
          <p:cNvSpPr txBox="1"/>
          <p:nvPr/>
        </p:nvSpPr>
        <p:spPr>
          <a:xfrm>
            <a:off x="2324222" y="1291143"/>
            <a:ext cx="230344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National accounts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GDP by sector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Product supply &amp; use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Transaction costs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32B4A1C-DC79-867A-2CAB-DFC4B636128F}"/>
              </a:ext>
            </a:extLst>
          </p:cNvPr>
          <p:cNvSpPr/>
          <p:nvPr/>
        </p:nvSpPr>
        <p:spPr>
          <a:xfrm rot="19211703">
            <a:off x="4170268" y="3647779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6A36750-78DB-59A8-4358-6AAC54031B72}"/>
              </a:ext>
            </a:extLst>
          </p:cNvPr>
          <p:cNvSpPr/>
          <p:nvPr/>
        </p:nvSpPr>
        <p:spPr>
          <a:xfrm rot="5400000">
            <a:off x="6877945" y="2287390"/>
            <a:ext cx="381000" cy="242888"/>
          </a:xfrm>
          <a:prstGeom prst="rightArrow">
            <a:avLst/>
          </a:prstGeom>
          <a:gradFill flip="none" rotWithShape="1">
            <a:gsLst>
              <a:gs pos="0">
                <a:srgbClr val="C00000"/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962D92-E64F-B38D-8125-2403E021B801}"/>
              </a:ext>
            </a:extLst>
          </p:cNvPr>
          <p:cNvSpPr txBox="1"/>
          <p:nvPr/>
        </p:nvSpPr>
        <p:spPr>
          <a:xfrm>
            <a:off x="8012765" y="2143436"/>
            <a:ext cx="25277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50000"/>
                  </a:schemeClr>
                </a:solidFill>
              </a:rPr>
              <a:t>Labor force surveys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Jobs &amp; earnings by sector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Determinants of employment</a:t>
            </a:r>
            <a:endParaRPr lang="en-US" sz="1400" baseline="30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DCDDADE-83DC-4F94-57C3-C19103C8BCFE}"/>
              </a:ext>
            </a:extLst>
          </p:cNvPr>
          <p:cNvSpPr/>
          <p:nvPr/>
        </p:nvSpPr>
        <p:spPr>
          <a:xfrm rot="8442218">
            <a:off x="7597926" y="2575477"/>
            <a:ext cx="381000" cy="242888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EB8BB43-7DB0-1CE4-8BD3-9AD8C943A8AA}"/>
              </a:ext>
            </a:extLst>
          </p:cNvPr>
          <p:cNvSpPr/>
          <p:nvPr/>
        </p:nvSpPr>
        <p:spPr>
          <a:xfrm rot="19211703">
            <a:off x="4752464" y="5372976"/>
            <a:ext cx="381000" cy="24288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8E5F2-6446-2186-0260-A38689641098}"/>
              </a:ext>
            </a:extLst>
          </p:cNvPr>
          <p:cNvSpPr txBox="1"/>
          <p:nvPr/>
        </p:nvSpPr>
        <p:spPr>
          <a:xfrm>
            <a:off x="2747227" y="5542620"/>
            <a:ext cx="2657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Public finance studies 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Tax &amp; expenditure policy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Borrowing &amp; debt repayment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B21352-6416-CF28-E586-F43D7727E6F8}"/>
              </a:ext>
            </a:extLst>
          </p:cNvPr>
          <p:cNvSpPr txBox="1"/>
          <p:nvPr/>
        </p:nvSpPr>
        <p:spPr>
          <a:xfrm>
            <a:off x="6588909" y="5537944"/>
            <a:ext cx="33878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Firm &amp; industry studies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Changes in value chains &amp; technologies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F372401-DEF2-C316-DBFD-BB64C7BC5D18}"/>
              </a:ext>
            </a:extLst>
          </p:cNvPr>
          <p:cNvSpPr/>
          <p:nvPr/>
        </p:nvSpPr>
        <p:spPr>
          <a:xfrm rot="14032879">
            <a:off x="6213482" y="5370742"/>
            <a:ext cx="381000" cy="24288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12D2B02-8706-CCFB-43AB-B4D826A4A580}"/>
              </a:ext>
            </a:extLst>
          </p:cNvPr>
          <p:cNvSpPr/>
          <p:nvPr/>
        </p:nvSpPr>
        <p:spPr>
          <a:xfrm rot="10800000">
            <a:off x="6491910" y="4710365"/>
            <a:ext cx="381000" cy="24288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AD02AF-D834-0863-6CA7-7325077D06C0}"/>
              </a:ext>
            </a:extLst>
          </p:cNvPr>
          <p:cNvSpPr txBox="1"/>
          <p:nvPr/>
        </p:nvSpPr>
        <p:spPr>
          <a:xfrm>
            <a:off x="6947001" y="4451782"/>
            <a:ext cx="2945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Program evaluation studies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Estimates of direct policy impacts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Behavioral change</a:t>
            </a:r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5A920535-4E17-640A-378A-8B7727B690EF}"/>
              </a:ext>
            </a:extLst>
          </p:cNvPr>
          <p:cNvSpPr/>
          <p:nvPr/>
        </p:nvSpPr>
        <p:spPr>
          <a:xfrm>
            <a:off x="5263411" y="3091005"/>
            <a:ext cx="1505539" cy="1485539"/>
          </a:xfrm>
          <a:prstGeom prst="donut">
            <a:avLst>
              <a:gd name="adj" fmla="val 510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517189-96B2-5869-8910-D067A6B330A2}"/>
              </a:ext>
            </a:extLst>
          </p:cNvPr>
          <p:cNvGrpSpPr/>
          <p:nvPr/>
        </p:nvGrpSpPr>
        <p:grpSpPr>
          <a:xfrm>
            <a:off x="6403474" y="2706706"/>
            <a:ext cx="1329942" cy="1326877"/>
            <a:chOff x="6718683" y="2768873"/>
            <a:chExt cx="1329942" cy="132687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0786775-FB80-4D5A-03A3-FDCBE8F9CDC8}"/>
                </a:ext>
              </a:extLst>
            </p:cNvPr>
            <p:cNvSpPr/>
            <p:nvPr/>
          </p:nvSpPr>
          <p:spPr>
            <a:xfrm>
              <a:off x="6718683" y="2768873"/>
              <a:ext cx="1329942" cy="1326877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574AA8F-5FC4-59A9-4E9D-6384A07447CE}"/>
                </a:ext>
              </a:extLst>
            </p:cNvPr>
            <p:cNvSpPr txBox="1"/>
            <p:nvPr/>
          </p:nvSpPr>
          <p:spPr>
            <a:xfrm>
              <a:off x="6718683" y="3116606"/>
              <a:ext cx="13299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Micro- simulation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8927514-B303-01B4-6D64-BA25BB36E820}"/>
              </a:ext>
            </a:extLst>
          </p:cNvPr>
          <p:cNvGrpSpPr/>
          <p:nvPr/>
        </p:nvGrpSpPr>
        <p:grpSpPr>
          <a:xfrm>
            <a:off x="4266465" y="2332909"/>
            <a:ext cx="1809749" cy="1557339"/>
            <a:chOff x="1754791" y="2528886"/>
            <a:chExt cx="1809749" cy="155733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5771EC-8C8A-8790-43EE-0B2BFF47D052}"/>
                </a:ext>
              </a:extLst>
            </p:cNvPr>
            <p:cNvSpPr/>
            <p:nvPr/>
          </p:nvSpPr>
          <p:spPr>
            <a:xfrm>
              <a:off x="1861757" y="2528886"/>
              <a:ext cx="1595818" cy="155733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BE43E2-3890-2A64-BD7D-D761C3BD19F0}"/>
                </a:ext>
              </a:extLst>
            </p:cNvPr>
            <p:cNvSpPr txBox="1"/>
            <p:nvPr/>
          </p:nvSpPr>
          <p:spPr>
            <a:xfrm>
              <a:off x="1754791" y="2845890"/>
              <a:ext cx="180974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Social Accounting Matrix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44A5148-B284-F0B8-DEE8-B7602767DA40}"/>
              </a:ext>
            </a:extLst>
          </p:cNvPr>
          <p:cNvGrpSpPr/>
          <p:nvPr/>
        </p:nvGrpSpPr>
        <p:grpSpPr>
          <a:xfrm>
            <a:off x="4990995" y="4168370"/>
            <a:ext cx="1337020" cy="1326877"/>
            <a:chOff x="6718683" y="2768873"/>
            <a:chExt cx="1337020" cy="1326877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E0156C3-C9DD-2501-49D4-23BACDFFC9C0}"/>
                </a:ext>
              </a:extLst>
            </p:cNvPr>
            <p:cNvSpPr/>
            <p:nvPr/>
          </p:nvSpPr>
          <p:spPr>
            <a:xfrm>
              <a:off x="6718683" y="2768873"/>
              <a:ext cx="1329942" cy="1326877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46A9F80-21E9-D7C7-F8E0-85855EADD8CD}"/>
                </a:ext>
              </a:extLst>
            </p:cNvPr>
            <p:cNvSpPr txBox="1"/>
            <p:nvPr/>
          </p:nvSpPr>
          <p:spPr>
            <a:xfrm>
              <a:off x="6725761" y="3145025"/>
              <a:ext cx="1329942" cy="646331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Simulation design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C5E3538-B20F-B35A-942F-D857B1DEAF62}"/>
              </a:ext>
            </a:extLst>
          </p:cNvPr>
          <p:cNvSpPr txBox="1"/>
          <p:nvPr/>
        </p:nvSpPr>
        <p:spPr>
          <a:xfrm>
            <a:off x="5414184" y="3570819"/>
            <a:ext cx="1280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CGE </a:t>
            </a:r>
          </a:p>
          <a:p>
            <a:pPr algn="ctr"/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235E0B-66DB-05FC-04C2-999FF68C5206}"/>
              </a:ext>
            </a:extLst>
          </p:cNvPr>
          <p:cNvSpPr txBox="1"/>
          <p:nvPr/>
        </p:nvSpPr>
        <p:spPr>
          <a:xfrm>
            <a:off x="4638675" y="1098705"/>
            <a:ext cx="12857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Firm surveys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Input costs</a:t>
            </a:r>
          </a:p>
          <a:p>
            <a:pPr marL="114300" indent="-1143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00000"/>
                </a:solidFill>
              </a:rPr>
              <a:t>Profits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B7DBF3A0-9FEC-57C1-07C8-BF5BB02A3AAA}"/>
              </a:ext>
            </a:extLst>
          </p:cNvPr>
          <p:cNvSpPr/>
          <p:nvPr/>
        </p:nvSpPr>
        <p:spPr>
          <a:xfrm rot="5400000">
            <a:off x="5020813" y="1932798"/>
            <a:ext cx="381000" cy="24288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21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3DC7-DA25-3A40-6AC6-827ED311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2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Social Accounting Matrices (SAMs)</a:t>
            </a:r>
            <a:endParaRPr lang="en-US" dirty="0"/>
          </a:p>
        </p:txBody>
      </p:sp>
      <p:pic>
        <p:nvPicPr>
          <p:cNvPr id="4" name="Picture 3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7699FAD9-7EF0-417A-0B5C-01AF78FD2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1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FA8A-73FB-8B65-8998-9E0C322F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3DE4-11F8-F366-F15A-11FA4A3B0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7718234" cy="5740740"/>
          </a:xfrm>
        </p:spPr>
        <p:txBody>
          <a:bodyPr>
            <a:normAutofit/>
          </a:bodyPr>
          <a:lstStyle/>
          <a:p>
            <a:r>
              <a:rPr lang="en-US" sz="2400" dirty="0"/>
              <a:t>SAMs are national accounting frameworks or databases</a:t>
            </a:r>
          </a:p>
          <a:p>
            <a:endParaRPr lang="en-US" sz="1200" dirty="0"/>
          </a:p>
          <a:p>
            <a:r>
              <a:rPr lang="en-US" sz="2400" dirty="0"/>
              <a:t>SAMs capture the circular flow of receipts and payments between economic agents and markets during a given year</a:t>
            </a:r>
          </a:p>
          <a:p>
            <a:endParaRPr lang="en-US" sz="1200" dirty="0"/>
          </a:p>
          <a:p>
            <a:r>
              <a:rPr lang="en-US" sz="2400" dirty="0"/>
              <a:t>SAMs include all sectors, factors, households, government and the rest of the world (i.e., economywide)</a:t>
            </a:r>
          </a:p>
          <a:p>
            <a:endParaRPr lang="en-US" sz="1200" dirty="0"/>
          </a:p>
          <a:p>
            <a:r>
              <a:rPr lang="en-US" sz="2400" dirty="0"/>
              <a:t>Every payment becomes someone else’s income (i.e., consistent double-entry accounting)</a:t>
            </a:r>
          </a:p>
          <a:p>
            <a:endParaRPr lang="en-US" sz="2400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A516EEB4-EC87-FE7A-67A5-0B4AEF0A2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992" y="1025035"/>
            <a:ext cx="3472154" cy="45185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6750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E302-9009-11A4-F1ED-FC8A6112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Flow and Accounting Identities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C95EE-A611-C138-B49C-27BB53FA1545}"/>
              </a:ext>
            </a:extLst>
          </p:cNvPr>
          <p:cNvSpPr txBox="1"/>
          <p:nvPr/>
        </p:nvSpPr>
        <p:spPr>
          <a:xfrm>
            <a:off x="3416149" y="6264471"/>
            <a:ext cx="6766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00000"/>
                </a:solidFill>
              </a:rPr>
              <a:t>GDP at market prices = GDP at factor cost F + Indirect Taxes 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3F9460-DBC4-7B54-8285-8CAA52757AA7}"/>
              </a:ext>
            </a:extLst>
          </p:cNvPr>
          <p:cNvSpPr txBox="1"/>
          <p:nvPr/>
        </p:nvSpPr>
        <p:spPr>
          <a:xfrm>
            <a:off x="5092394" y="5919068"/>
            <a:ext cx="509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00000"/>
                </a:solidFill>
              </a:rPr>
              <a:t>Total Investment I = Total Savings 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36B42F-F76F-E2D2-AB0E-A602F70FC542}"/>
              </a:ext>
            </a:extLst>
          </p:cNvPr>
          <p:cNvSpPr txBox="1"/>
          <p:nvPr/>
        </p:nvSpPr>
        <p:spPr>
          <a:xfrm>
            <a:off x="5036920" y="5573665"/>
            <a:ext cx="5145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C00000"/>
                </a:solidFill>
              </a:rPr>
              <a:t>GDP at market prices = C + I + G + X – M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FF9C0-6B63-6E97-BC82-362C8E079222}"/>
              </a:ext>
            </a:extLst>
          </p:cNvPr>
          <p:cNvCxnSpPr/>
          <p:nvPr/>
        </p:nvCxnSpPr>
        <p:spPr>
          <a:xfrm flipH="1">
            <a:off x="4702869" y="4030482"/>
            <a:ext cx="2358218" cy="4923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6D4B5B7-6253-EB24-F197-B86D140BBEAE}"/>
              </a:ext>
            </a:extLst>
          </p:cNvPr>
          <p:cNvSpPr/>
          <p:nvPr/>
        </p:nvSpPr>
        <p:spPr>
          <a:xfrm>
            <a:off x="5178431" y="3979611"/>
            <a:ext cx="79999" cy="92869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CD12FFF-241B-3FA8-6ABF-836A8C6B1645}"/>
              </a:ext>
            </a:extLst>
          </p:cNvPr>
          <p:cNvGrpSpPr/>
          <p:nvPr/>
        </p:nvGrpSpPr>
        <p:grpSpPr>
          <a:xfrm>
            <a:off x="1857512" y="1001403"/>
            <a:ext cx="8066983" cy="4770748"/>
            <a:chOff x="274823" y="1213657"/>
            <a:chExt cx="8066983" cy="477074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DF36878-4F2D-3C20-BDFA-C7B8D58FA64C}"/>
                </a:ext>
              </a:extLst>
            </p:cNvPr>
            <p:cNvCxnSpPr/>
            <p:nvPr/>
          </p:nvCxnSpPr>
          <p:spPr>
            <a:xfrm flipV="1">
              <a:off x="4024714" y="2529868"/>
              <a:ext cx="0" cy="379608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A37227-15C8-34C9-1AD0-0B165376327B}"/>
                </a:ext>
              </a:extLst>
            </p:cNvPr>
            <p:cNvSpPr txBox="1"/>
            <p:nvPr/>
          </p:nvSpPr>
          <p:spPr>
            <a:xfrm>
              <a:off x="4019001" y="3621859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Social transfers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3FDDBC-8C0B-2479-1F8F-D4B554EDE425}"/>
                </a:ext>
              </a:extLst>
            </p:cNvPr>
            <p:cNvSpPr txBox="1"/>
            <p:nvPr/>
          </p:nvSpPr>
          <p:spPr>
            <a:xfrm>
              <a:off x="804863" y="5348521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Exports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0B2AAF-58F2-A00D-8F60-87C8598984A6}"/>
                </a:ext>
              </a:extLst>
            </p:cNvPr>
            <p:cNvGrpSpPr/>
            <p:nvPr/>
          </p:nvGrpSpPr>
          <p:grpSpPr>
            <a:xfrm>
              <a:off x="1566572" y="1422279"/>
              <a:ext cx="1558637" cy="646331"/>
              <a:chOff x="332509" y="3092335"/>
              <a:chExt cx="1989513" cy="646331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48967D5-38C4-EB7B-0DF2-6FAB7B1E45C6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A24A9DD-4C7C-9850-92A3-95D3C3A75285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30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Factor Markets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7BF29B-1B8E-B933-DC34-A471B29A9A2A}"/>
                </a:ext>
              </a:extLst>
            </p:cNvPr>
            <p:cNvGrpSpPr/>
            <p:nvPr/>
          </p:nvGrpSpPr>
          <p:grpSpPr>
            <a:xfrm>
              <a:off x="2852650" y="2895367"/>
              <a:ext cx="1558637" cy="369333"/>
              <a:chOff x="332509" y="3092335"/>
              <a:chExt cx="1989513" cy="369333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435F7E7-F72F-44A0-A37D-DC1ACCE179E7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51C7CE8-B5E1-D954-3DC3-1BD7419AE9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Households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187A847-1FD4-6D55-333A-8D65AE2A21F0}"/>
                </a:ext>
              </a:extLst>
            </p:cNvPr>
            <p:cNvGrpSpPr/>
            <p:nvPr/>
          </p:nvGrpSpPr>
          <p:grpSpPr>
            <a:xfrm>
              <a:off x="274823" y="2891327"/>
              <a:ext cx="1562884" cy="369333"/>
              <a:chOff x="332509" y="3092335"/>
              <a:chExt cx="1994934" cy="36933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00B8411-02B8-6496-BBE5-A3B202B7FD94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7F24A51-EB63-5EE5-81ED-1C9C681DCF03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949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Firms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C79A6-98FF-60DB-AD05-CDC6E8205BD1}"/>
                </a:ext>
              </a:extLst>
            </p:cNvPr>
            <p:cNvGrpSpPr/>
            <p:nvPr/>
          </p:nvGrpSpPr>
          <p:grpSpPr>
            <a:xfrm>
              <a:off x="6783169" y="2904495"/>
              <a:ext cx="1558637" cy="651480"/>
              <a:chOff x="332509" y="3087186"/>
              <a:chExt cx="1989513" cy="65148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E88753C-28D3-037C-05C7-708F219C7889}"/>
                  </a:ext>
                </a:extLst>
              </p:cNvPr>
              <p:cNvSpPr/>
              <p:nvPr/>
            </p:nvSpPr>
            <p:spPr>
              <a:xfrm>
                <a:off x="332509" y="3087186"/>
                <a:ext cx="1989513" cy="651480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A56FD4-F850-646A-C698-BEB565FA09EA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7736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Savings &amp; Investment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07F4C8B-9A3A-A3D5-0F50-EDB3C10576B2}"/>
                </a:ext>
              </a:extLst>
            </p:cNvPr>
            <p:cNvGrpSpPr/>
            <p:nvPr/>
          </p:nvGrpSpPr>
          <p:grpSpPr>
            <a:xfrm>
              <a:off x="4835039" y="2891327"/>
              <a:ext cx="1558637" cy="369333"/>
              <a:chOff x="332509" y="3092335"/>
              <a:chExt cx="1989513" cy="369333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6C6C826-B076-126D-7F28-11E8406052BC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369332"/>
              </a:xfrm>
              <a:prstGeom prst="rect">
                <a:avLst/>
              </a:prstGeom>
              <a:solidFill>
                <a:srgbClr val="0B8E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23AE1C3-0E48-8986-EAEC-A2DB20B88C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9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Government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5660713-EC93-3485-32F2-A27BFED43835}"/>
                </a:ext>
              </a:extLst>
            </p:cNvPr>
            <p:cNvGrpSpPr/>
            <p:nvPr/>
          </p:nvGrpSpPr>
          <p:grpSpPr>
            <a:xfrm>
              <a:off x="1571066" y="4083373"/>
              <a:ext cx="1558637" cy="646331"/>
              <a:chOff x="332509" y="3092335"/>
              <a:chExt cx="1989513" cy="646331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36A7F6B6-F3C5-B0AB-AD97-FA041340B1F6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2C23C38-0D96-2038-337F-60230C137701}"/>
                  </a:ext>
                </a:extLst>
              </p:cNvPr>
              <p:cNvSpPr txBox="1"/>
              <p:nvPr/>
            </p:nvSpPr>
            <p:spPr>
              <a:xfrm>
                <a:off x="332509" y="3092335"/>
                <a:ext cx="19808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Product Markets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52F4F4-40E6-EB5E-E77F-5CCC597AF251}"/>
                </a:ext>
              </a:extLst>
            </p:cNvPr>
            <p:cNvGrpSpPr/>
            <p:nvPr/>
          </p:nvGrpSpPr>
          <p:grpSpPr>
            <a:xfrm>
              <a:off x="1571523" y="5338074"/>
              <a:ext cx="1561272" cy="646331"/>
              <a:chOff x="332509" y="3092335"/>
              <a:chExt cx="1992877" cy="646331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EB50C9C-05F7-2C86-D032-409FFC2F3D61}"/>
                  </a:ext>
                </a:extLst>
              </p:cNvPr>
              <p:cNvSpPr/>
              <p:nvPr/>
            </p:nvSpPr>
            <p:spPr>
              <a:xfrm>
                <a:off x="332509" y="3092336"/>
                <a:ext cx="1989513" cy="646330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EE455FC-D1EF-D180-9B2E-CB90425DE4DB}"/>
                  </a:ext>
                </a:extLst>
              </p:cNvPr>
              <p:cNvSpPr txBox="1"/>
              <p:nvPr/>
            </p:nvSpPr>
            <p:spPr>
              <a:xfrm>
                <a:off x="332510" y="3092335"/>
                <a:ext cx="1992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Foreign Markets</a:t>
                </a: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D1404B4-AB3B-F285-6E4F-E1F6C219B207}"/>
                </a:ext>
              </a:extLst>
            </p:cNvPr>
            <p:cNvCxnSpPr>
              <a:cxnSpLocks/>
              <a:stCxn id="73" idx="1"/>
            </p:cNvCxnSpPr>
            <p:nvPr/>
          </p:nvCxnSpPr>
          <p:spPr>
            <a:xfrm flipH="1" flipV="1">
              <a:off x="1054141" y="1745443"/>
              <a:ext cx="512431" cy="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8885F35-6D26-8478-F3CB-EAC62C3E928F}"/>
                </a:ext>
              </a:extLst>
            </p:cNvPr>
            <p:cNvCxnSpPr>
              <a:cxnSpLocks/>
              <a:stCxn id="69" idx="0"/>
            </p:cNvCxnSpPr>
            <p:nvPr/>
          </p:nvCxnSpPr>
          <p:spPr>
            <a:xfrm flipH="1" flipV="1">
              <a:off x="1054141" y="1745444"/>
              <a:ext cx="2124" cy="1145883"/>
            </a:xfrm>
            <a:prstGeom prst="line">
              <a:avLst/>
            </a:prstGeom>
            <a:ln w="12700">
              <a:solidFill>
                <a:srgbClr val="54544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A9A57A-7D2A-3446-841C-0AF8E5874CE8}"/>
                </a:ext>
              </a:extLst>
            </p:cNvPr>
            <p:cNvCxnSpPr>
              <a:cxnSpLocks/>
              <a:endCxn id="73" idx="3"/>
            </p:cNvCxnSpPr>
            <p:nvPr/>
          </p:nvCxnSpPr>
          <p:spPr>
            <a:xfrm flipH="1">
              <a:off x="3120179" y="1745442"/>
              <a:ext cx="511789" cy="3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E690605-8369-C792-3B7E-4AC8DD7F4945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3631968" y="1745443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B42A227-B5F1-E942-6B05-BD9800E68AFF}"/>
                </a:ext>
              </a:extLst>
            </p:cNvPr>
            <p:cNvCxnSpPr>
              <a:cxnSpLocks/>
              <a:endCxn id="71" idx="2"/>
            </p:cNvCxnSpPr>
            <p:nvPr/>
          </p:nvCxnSpPr>
          <p:spPr>
            <a:xfrm flipH="1" flipV="1">
              <a:off x="3631969" y="3264699"/>
              <a:ext cx="1" cy="114184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ED4376-7BBB-1B80-7268-9D22BC9DAAE3}"/>
                </a:ext>
              </a:extLst>
            </p:cNvPr>
            <p:cNvCxnSpPr>
              <a:cxnSpLocks/>
              <a:endCxn id="69" idx="2"/>
            </p:cNvCxnSpPr>
            <p:nvPr/>
          </p:nvCxnSpPr>
          <p:spPr>
            <a:xfrm flipV="1">
              <a:off x="1054143" y="3260659"/>
              <a:ext cx="2122" cy="114588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B147CF1-E95E-B078-2193-E95AC5F23D35}"/>
                </a:ext>
              </a:extLst>
            </p:cNvPr>
            <p:cNvCxnSpPr>
              <a:cxnSpLocks/>
              <a:endCxn id="63" idx="3"/>
            </p:cNvCxnSpPr>
            <p:nvPr/>
          </p:nvCxnSpPr>
          <p:spPr>
            <a:xfrm flipH="1">
              <a:off x="3122922" y="4406534"/>
              <a:ext cx="4439566" cy="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04D12DB-A15B-C38E-F097-422802A9421E}"/>
                </a:ext>
              </a:extLst>
            </p:cNvPr>
            <p:cNvCxnSpPr>
              <a:cxnSpLocks/>
              <a:stCxn id="63" idx="1"/>
            </p:cNvCxnSpPr>
            <p:nvPr/>
          </p:nvCxnSpPr>
          <p:spPr>
            <a:xfrm flipH="1" flipV="1">
              <a:off x="1056390" y="4406538"/>
              <a:ext cx="514676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2F30AB6-CDD4-6637-DDE5-6E3CA17B65AE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flipV="1">
              <a:off x="2346994" y="3075990"/>
              <a:ext cx="3389" cy="1007383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AA484EA-EE3F-EB63-E8D4-466D4169A8FC}"/>
                </a:ext>
              </a:extLst>
            </p:cNvPr>
            <p:cNvCxnSpPr/>
            <p:nvPr/>
          </p:nvCxnSpPr>
          <p:spPr>
            <a:xfrm flipH="1">
              <a:off x="1833461" y="3075989"/>
              <a:ext cx="511841" cy="1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2C7CF73-9946-5E47-0E9D-91990242F90C}"/>
                </a:ext>
              </a:extLst>
            </p:cNvPr>
            <p:cNvSpPr txBox="1"/>
            <p:nvPr/>
          </p:nvSpPr>
          <p:spPr>
            <a:xfrm>
              <a:off x="3047166" y="441154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Private consumption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8BF207-2F5B-AB96-BD6A-A4E425BF96CC}"/>
                </a:ext>
              </a:extLst>
            </p:cNvPr>
            <p:cNvSpPr txBox="1"/>
            <p:nvPr/>
          </p:nvSpPr>
          <p:spPr>
            <a:xfrm>
              <a:off x="3125208" y="1222031"/>
              <a:ext cx="7429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54544B"/>
                  </a:solidFill>
                </a:rPr>
                <a:t>Wages &amp; rents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7EE970D-D01C-ABC9-8312-FC07677E38EA}"/>
                </a:ext>
              </a:extLst>
            </p:cNvPr>
            <p:cNvSpPr txBox="1"/>
            <p:nvPr/>
          </p:nvSpPr>
          <p:spPr>
            <a:xfrm>
              <a:off x="1095585" y="3395682"/>
              <a:ext cx="126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Intermediate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A1D8DA8-1AC6-089E-B699-A73DBB8DB08F}"/>
                </a:ext>
              </a:extLst>
            </p:cNvPr>
            <p:cNvCxnSpPr>
              <a:cxnSpLocks/>
              <a:stCxn id="61" idx="0"/>
              <a:endCxn id="63" idx="2"/>
            </p:cNvCxnSpPr>
            <p:nvPr/>
          </p:nvCxnSpPr>
          <p:spPr>
            <a:xfrm flipH="1" flipV="1">
              <a:off x="2346994" y="4729704"/>
              <a:ext cx="5166" cy="608370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5110FC8-97C3-F3E4-E07B-EF5987AF8008}"/>
                </a:ext>
              </a:extLst>
            </p:cNvPr>
            <p:cNvCxnSpPr/>
            <p:nvPr/>
          </p:nvCxnSpPr>
          <p:spPr>
            <a:xfrm flipV="1">
              <a:off x="822326" y="3265230"/>
              <a:ext cx="734" cy="2404305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03323E4-B5C1-AC07-2F4E-C270D258B14B}"/>
                </a:ext>
              </a:extLst>
            </p:cNvPr>
            <p:cNvCxnSpPr>
              <a:cxnSpLocks/>
              <a:stCxn id="61" idx="1"/>
            </p:cNvCxnSpPr>
            <p:nvPr/>
          </p:nvCxnSpPr>
          <p:spPr>
            <a:xfrm flipH="1">
              <a:off x="822326" y="5661240"/>
              <a:ext cx="749198" cy="550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CDF5B83-A282-04F6-26D9-FC53A370A01A}"/>
                </a:ext>
              </a:extLst>
            </p:cNvPr>
            <p:cNvSpPr txBox="1"/>
            <p:nvPr/>
          </p:nvSpPr>
          <p:spPr>
            <a:xfrm>
              <a:off x="925483" y="4406534"/>
              <a:ext cx="641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Sales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8820A31-7522-0270-3A87-86FFB9AC02E7}"/>
                </a:ext>
              </a:extLst>
            </p:cNvPr>
            <p:cNvSpPr txBox="1"/>
            <p:nvPr/>
          </p:nvSpPr>
          <p:spPr>
            <a:xfrm>
              <a:off x="1572738" y="5030860"/>
              <a:ext cx="7617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Imports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10AD4FB-A5A5-0528-B580-CF99A7A9A83A}"/>
                </a:ext>
              </a:extLst>
            </p:cNvPr>
            <p:cNvCxnSpPr>
              <a:cxnSpLocks/>
              <a:endCxn id="65" idx="2"/>
            </p:cNvCxnSpPr>
            <p:nvPr/>
          </p:nvCxnSpPr>
          <p:spPr>
            <a:xfrm flipH="1" flipV="1">
              <a:off x="5614357" y="3260659"/>
              <a:ext cx="1" cy="1146827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08696FE-C2CB-AEED-CFC3-F1696F23AE7D}"/>
                </a:ext>
              </a:extLst>
            </p:cNvPr>
            <p:cNvCxnSpPr>
              <a:cxnSpLocks/>
              <a:endCxn id="67" idx="2"/>
            </p:cNvCxnSpPr>
            <p:nvPr/>
          </p:nvCxnSpPr>
          <p:spPr>
            <a:xfrm flipH="1" flipV="1">
              <a:off x="7557730" y="3555975"/>
              <a:ext cx="4757" cy="845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BCD8FFB-8CC9-5A4A-7D46-29A3C7B734EA}"/>
                </a:ext>
              </a:extLst>
            </p:cNvPr>
            <p:cNvSpPr txBox="1"/>
            <p:nvPr/>
          </p:nvSpPr>
          <p:spPr>
            <a:xfrm>
              <a:off x="925483" y="1213657"/>
              <a:ext cx="6410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Factor costs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757008-9289-46F4-C414-A7A2AD77339A}"/>
                </a:ext>
              </a:extLst>
            </p:cNvPr>
            <p:cNvSpPr txBox="1"/>
            <p:nvPr/>
          </p:nvSpPr>
          <p:spPr>
            <a:xfrm>
              <a:off x="5025984" y="4417896"/>
              <a:ext cx="11696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consumption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BDD2AD8-4690-51F3-8ECA-7E0717906F7F}"/>
                </a:ext>
              </a:extLst>
            </p:cNvPr>
            <p:cNvSpPr txBox="1"/>
            <p:nvPr/>
          </p:nvSpPr>
          <p:spPr>
            <a:xfrm>
              <a:off x="6634163" y="4413135"/>
              <a:ext cx="10013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Investment demand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F7FE946-E0D2-8EFD-B2DE-DF46CD5211C2}"/>
                </a:ext>
              </a:extLst>
            </p:cNvPr>
            <p:cNvCxnSpPr/>
            <p:nvPr/>
          </p:nvCxnSpPr>
          <p:spPr>
            <a:xfrm flipH="1">
              <a:off x="3831116" y="1748548"/>
              <a:ext cx="3731370" cy="4986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1EBF057-49AD-6A58-B2F9-C000148BCEB3}"/>
                </a:ext>
              </a:extLst>
            </p:cNvPr>
            <p:cNvCxnSpPr/>
            <p:nvPr/>
          </p:nvCxnSpPr>
          <p:spPr>
            <a:xfrm flipH="1" flipV="1">
              <a:off x="3828341" y="1746786"/>
              <a:ext cx="1" cy="11499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E0B295E-075B-0AC2-6A60-423BEC10F2EE}"/>
                </a:ext>
              </a:extLst>
            </p:cNvPr>
            <p:cNvCxnSpPr>
              <a:cxnSpLocks/>
              <a:stCxn id="67" idx="0"/>
            </p:cNvCxnSpPr>
            <p:nvPr/>
          </p:nvCxnSpPr>
          <p:spPr>
            <a:xfrm flipV="1">
              <a:off x="7557730" y="1740897"/>
              <a:ext cx="4756" cy="1168747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8A49F04-5A3D-F9DE-8E65-5A93CB138D15}"/>
                </a:ext>
              </a:extLst>
            </p:cNvPr>
            <p:cNvSpPr txBox="1"/>
            <p:nvPr/>
          </p:nvSpPr>
          <p:spPr>
            <a:xfrm>
              <a:off x="5494193" y="1438300"/>
              <a:ext cx="20682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Domestic private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6D3FE7C-308C-46CB-91A5-0104A02364DB}"/>
                </a:ext>
              </a:extLst>
            </p:cNvPr>
            <p:cNvCxnSpPr/>
            <p:nvPr/>
          </p:nvCxnSpPr>
          <p:spPr>
            <a:xfrm flipH="1">
              <a:off x="4025901" y="2524891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DCABD3F-1F1C-1F1A-B15A-7522D47947C1}"/>
                </a:ext>
              </a:extLst>
            </p:cNvPr>
            <p:cNvCxnSpPr/>
            <p:nvPr/>
          </p:nvCxnSpPr>
          <p:spPr>
            <a:xfrm flipH="1" flipV="1">
              <a:off x="5351673" y="2525672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C094DD6-A42B-E429-3290-699B18AC6D22}"/>
                </a:ext>
              </a:extLst>
            </p:cNvPr>
            <p:cNvCxnSpPr/>
            <p:nvPr/>
          </p:nvCxnSpPr>
          <p:spPr>
            <a:xfrm flipH="1" flipV="1">
              <a:off x="5750407" y="252061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1D20AD2-6809-D6B9-927D-AE0F027F451D}"/>
                </a:ext>
              </a:extLst>
            </p:cNvPr>
            <p:cNvCxnSpPr/>
            <p:nvPr/>
          </p:nvCxnSpPr>
          <p:spPr>
            <a:xfrm flipH="1">
              <a:off x="5751446" y="252332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29F767A-1E19-6FE7-1E0E-704FBBBF4AB4}"/>
                </a:ext>
              </a:extLst>
            </p:cNvPr>
            <p:cNvCxnSpPr/>
            <p:nvPr/>
          </p:nvCxnSpPr>
          <p:spPr>
            <a:xfrm flipH="1" flipV="1">
              <a:off x="7072484" y="2530461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C043D1A-30DD-EBE5-04F2-4BA2FF2DB648}"/>
                </a:ext>
              </a:extLst>
            </p:cNvPr>
            <p:cNvCxnSpPr/>
            <p:nvPr/>
          </p:nvCxnSpPr>
          <p:spPr>
            <a:xfrm flipH="1" flipV="1">
              <a:off x="5346081" y="3260426"/>
              <a:ext cx="2772" cy="3625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14A1FA7-63AD-79B0-12F4-41ADAEAB6F1B}"/>
                </a:ext>
              </a:extLst>
            </p:cNvPr>
            <p:cNvCxnSpPr/>
            <p:nvPr/>
          </p:nvCxnSpPr>
          <p:spPr>
            <a:xfrm flipH="1" flipV="1">
              <a:off x="4023248" y="3259688"/>
              <a:ext cx="7389" cy="37205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69FFCC4-197B-9894-1F22-E2383E7F6F2A}"/>
                </a:ext>
              </a:extLst>
            </p:cNvPr>
            <p:cNvCxnSpPr/>
            <p:nvPr/>
          </p:nvCxnSpPr>
          <p:spPr>
            <a:xfrm flipH="1">
              <a:off x="4025901" y="3623159"/>
              <a:ext cx="1325771" cy="1562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25F626D-247D-9E8C-B18C-E79E9166C749}"/>
                </a:ext>
              </a:extLst>
            </p:cNvPr>
            <p:cNvSpPr txBox="1"/>
            <p:nvPr/>
          </p:nvSpPr>
          <p:spPr>
            <a:xfrm>
              <a:off x="5739385" y="221323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Public savings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5C398FB-806E-4F52-3FBB-B9A975A6BED6}"/>
                </a:ext>
              </a:extLst>
            </p:cNvPr>
            <p:cNvSpPr txBox="1"/>
            <p:nvPr/>
          </p:nvSpPr>
          <p:spPr>
            <a:xfrm>
              <a:off x="4009508" y="2217090"/>
              <a:ext cx="1350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54544B"/>
                  </a:solidFill>
                </a:rPr>
                <a:t>Direct taxes</a:t>
              </a:r>
              <a:endParaRPr lang="en-US" dirty="0">
                <a:solidFill>
                  <a:srgbClr val="54544B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C0FF1BB-215E-6ABA-2076-36B554113A27}"/>
                </a:ext>
              </a:extLst>
            </p:cNvPr>
            <p:cNvCxnSpPr/>
            <p:nvPr/>
          </p:nvCxnSpPr>
          <p:spPr>
            <a:xfrm flipH="1">
              <a:off x="3122922" y="5656298"/>
              <a:ext cx="4674416" cy="0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51FA49F-5C9A-F5D0-D11C-045441B34F83}"/>
                </a:ext>
              </a:extLst>
            </p:cNvPr>
            <p:cNvCxnSpPr/>
            <p:nvPr/>
          </p:nvCxnSpPr>
          <p:spPr>
            <a:xfrm flipV="1">
              <a:off x="7795022" y="3555975"/>
              <a:ext cx="2316" cy="2100324"/>
            </a:xfrm>
            <a:prstGeom prst="line">
              <a:avLst/>
            </a:prstGeom>
            <a:ln w="12700">
              <a:solidFill>
                <a:srgbClr val="54544B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0F9A91D-3844-A4C1-13C8-206E8716AAE6}"/>
                </a:ext>
              </a:extLst>
            </p:cNvPr>
            <p:cNvSpPr txBox="1"/>
            <p:nvPr/>
          </p:nvSpPr>
          <p:spPr>
            <a:xfrm>
              <a:off x="5144823" y="5338074"/>
              <a:ext cx="26652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solidFill>
                    <a:srgbClr val="54544B"/>
                  </a:solidFill>
                </a:rPr>
                <a:t>Foreign savings or capital inflows</a:t>
              </a:r>
              <a:endParaRPr lang="en-US" dirty="0">
                <a:solidFill>
                  <a:srgbClr val="54544B"/>
                </a:solidFill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08BCEE56-B271-CE94-724F-F39AC37D7B81}"/>
              </a:ext>
            </a:extLst>
          </p:cNvPr>
          <p:cNvSpPr txBox="1"/>
          <p:nvPr/>
        </p:nvSpPr>
        <p:spPr>
          <a:xfrm>
            <a:off x="4874922" y="4615685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BD4F53-718C-F625-7C39-8DF92EFACEAF}"/>
              </a:ext>
            </a:extLst>
          </p:cNvPr>
          <p:cNvSpPr txBox="1"/>
          <p:nvPr/>
        </p:nvSpPr>
        <p:spPr>
          <a:xfrm>
            <a:off x="6891333" y="4615048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27D6870-A16A-2FDB-A678-D977E553C060}"/>
              </a:ext>
            </a:extLst>
          </p:cNvPr>
          <p:cNvSpPr txBox="1"/>
          <p:nvPr/>
        </p:nvSpPr>
        <p:spPr>
          <a:xfrm>
            <a:off x="8436131" y="4617301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I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DCFAD1-B8FE-3205-DE38-F35367040554}"/>
              </a:ext>
            </a:extLst>
          </p:cNvPr>
          <p:cNvSpPr txBox="1"/>
          <p:nvPr/>
        </p:nvSpPr>
        <p:spPr>
          <a:xfrm>
            <a:off x="2473994" y="4830319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X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78BE33-A5F8-1148-50A6-C6D0D75433E2}"/>
              </a:ext>
            </a:extLst>
          </p:cNvPr>
          <p:cNvSpPr txBox="1"/>
          <p:nvPr/>
        </p:nvSpPr>
        <p:spPr>
          <a:xfrm>
            <a:off x="3232061" y="4522457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M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51C1B73-0CE6-A10D-FBAD-A33E87E51650}"/>
              </a:ext>
            </a:extLst>
          </p:cNvPr>
          <p:cNvCxnSpPr/>
          <p:nvPr/>
        </p:nvCxnSpPr>
        <p:spPr>
          <a:xfrm flipH="1" flipV="1">
            <a:off x="7062144" y="3044162"/>
            <a:ext cx="452" cy="982105"/>
          </a:xfrm>
          <a:prstGeom prst="line">
            <a:avLst/>
          </a:prstGeom>
          <a:ln w="12700">
            <a:solidFill>
              <a:srgbClr val="54544B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142B2D3-05CB-0D4B-7174-D0E0519DBED1}"/>
              </a:ext>
            </a:extLst>
          </p:cNvPr>
          <p:cNvSpPr txBox="1"/>
          <p:nvPr/>
        </p:nvSpPr>
        <p:spPr>
          <a:xfrm>
            <a:off x="5717957" y="3722699"/>
            <a:ext cx="1350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54544B"/>
                </a:solidFill>
              </a:rPr>
              <a:t>Indirect taxes</a:t>
            </a:r>
            <a:endParaRPr lang="en-US" dirty="0">
              <a:solidFill>
                <a:srgbClr val="54544B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B0CD5AC-DE49-501D-1DAF-D493756D2180}"/>
              </a:ext>
            </a:extLst>
          </p:cNvPr>
          <p:cNvSpPr txBox="1"/>
          <p:nvPr/>
        </p:nvSpPr>
        <p:spPr>
          <a:xfrm>
            <a:off x="7693510" y="1712798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268F3C8-3B91-4D41-0D3F-317558DFDD26}"/>
              </a:ext>
            </a:extLst>
          </p:cNvPr>
          <p:cNvSpPr txBox="1"/>
          <p:nvPr/>
        </p:nvSpPr>
        <p:spPr>
          <a:xfrm>
            <a:off x="7884860" y="957569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5ACAA2-BF89-0CDA-86D1-D634013416A3}"/>
              </a:ext>
            </a:extLst>
          </p:cNvPr>
          <p:cNvSpPr txBox="1"/>
          <p:nvPr/>
        </p:nvSpPr>
        <p:spPr>
          <a:xfrm>
            <a:off x="7843234" y="4838656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1B5EAE6-0DCB-C1C2-0233-0BC9CBDC9F19}"/>
              </a:ext>
            </a:extLst>
          </p:cNvPr>
          <p:cNvSpPr txBox="1"/>
          <p:nvPr/>
        </p:nvSpPr>
        <p:spPr>
          <a:xfrm>
            <a:off x="5553041" y="3635058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E53C41F-43D4-2A76-A60F-B0F96F538684}"/>
              </a:ext>
            </a:extLst>
          </p:cNvPr>
          <p:cNvSpPr txBox="1"/>
          <p:nvPr/>
        </p:nvSpPr>
        <p:spPr>
          <a:xfrm>
            <a:off x="2103525" y="1071332"/>
            <a:ext cx="60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F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49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1" grpId="0"/>
      <p:bldP spid="82" grpId="0"/>
      <p:bldP spid="83" grpId="0"/>
      <p:bldP spid="84" grpId="0"/>
      <p:bldP spid="8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E146-CC62-CDB7-D2BF-ED36B923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 Structure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07BA64-6368-8EF5-0A49-2FE793F68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542345"/>
              </p:ext>
            </p:extLst>
          </p:nvPr>
        </p:nvGraphicFramePr>
        <p:xfrm>
          <a:off x="2776736" y="1103188"/>
          <a:ext cx="8906124" cy="54416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8188">
                  <a:extLst>
                    <a:ext uri="{9D8B030D-6E8A-4147-A177-3AD203B41FA5}">
                      <a16:colId xmlns:a16="http://schemas.microsoft.com/office/drawing/2014/main" val="784398647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1710135059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2925329742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2328899654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2053567970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998496972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3533975391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225077059"/>
                    </a:ext>
                  </a:extLst>
                </a:gridCol>
                <a:gridCol w="1029742">
                  <a:extLst>
                    <a:ext uri="{9D8B030D-6E8A-4147-A177-3AD203B41FA5}">
                      <a16:colId xmlns:a16="http://schemas.microsoft.com/office/drawing/2014/main" val="1926018928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ACT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COM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FAC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HHD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GOV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INV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ROW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TOT</a:t>
                      </a:r>
                      <a:endParaRPr lang="en-US" sz="1800" b="0" i="0" u="none" strike="noStrike"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65303927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ACT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Marketed</a:t>
                      </a:r>
                      <a:r>
                        <a:rPr lang="en-US" sz="1200" b="1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output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Activity incomes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348204151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COM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Intermediate demand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Private consumption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Public consumption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Investment demand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Exports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demand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911564214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FAC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Value added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Factors incomes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51297370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HHD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Income distribution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Social transfers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Remittances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Household incomes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49126184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GOV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Producer taxes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Tariffs,</a:t>
                      </a:r>
                      <a:r>
                        <a:rPr lang="en-US" sz="1200" b="1" u="none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VAT &amp; excise taxes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Direct taxes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Foreign aid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Government revenues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34787588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SAV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Private savings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Public savings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Foreign savings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savings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368760632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ROW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Imports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Repatriated profits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Debt repayments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Foreign payments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697800"/>
                  </a:ext>
                </a:extLst>
              </a:tr>
              <a:tr h="634482">
                <a:tc>
                  <a:txBody>
                    <a:bodyPr/>
                    <a:lstStyle/>
                    <a:p>
                      <a:pPr marL="0" marR="0" indent="0" algn="l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600" b="1" u="none" strike="noStrike" kern="120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TOT</a:t>
                      </a:r>
                      <a:endParaRPr lang="en-US" sz="1800" b="0" i="0" u="none" strike="noStrike" dirty="0">
                        <a:effectLst/>
                        <a:latin typeface="+mn-lt"/>
                      </a:endParaRPr>
                    </a:p>
                  </a:txBody>
                  <a:tcPr anchor="ctr" anchorCtr="1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Gross output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supply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Factor payments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Household expenditures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Government expenditures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investment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Foreign receipts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ctr" rtl="0" eaLnBrk="1" fontAlgn="base" latinLnBrk="0" hangingPunct="1">
                        <a:spcBef>
                          <a:spcPts val="384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1514697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F9FAE2-ABBF-9CD8-3E53-232EECADA585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C54667-98EF-43A9-CC76-00174F2F7C25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Incomes across rows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FDAD98-EF72-DE9C-3AB4-4447FF7809FC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accent5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D9A0333-B0AC-3300-A560-9CBDB0BB64CB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Expenditures down columns</a:t>
            </a:r>
          </a:p>
        </p:txBody>
      </p:sp>
    </p:spTree>
    <p:extLst>
      <p:ext uri="{BB962C8B-B14F-4D97-AF65-F5344CB8AC3E}">
        <p14:creationId xmlns:p14="http://schemas.microsoft.com/office/powerpoint/2010/main" val="3475473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CFF9-69A0-080E-49FE-FEDD3F4B4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SAM  </a:t>
            </a:r>
            <a:r>
              <a:rPr lang="en-US" b="0" dirty="0"/>
              <a:t>|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627AC-886D-3989-89DA-402993846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530" y="1232899"/>
            <a:ext cx="8568648" cy="5532876"/>
          </a:xfrm>
        </p:spPr>
        <p:txBody>
          <a:bodyPr>
            <a:normAutofit/>
          </a:bodyPr>
          <a:lstStyle/>
          <a:p>
            <a:r>
              <a:rPr lang="en-US" sz="2400" b="1" dirty="0"/>
              <a:t>Three main data sources:</a:t>
            </a:r>
          </a:p>
          <a:p>
            <a:pPr lvl="1"/>
            <a:r>
              <a:rPr lang="en-US" sz="2200" dirty="0"/>
              <a:t>National Accounts (activity and commodity accounts)</a:t>
            </a:r>
          </a:p>
          <a:p>
            <a:pPr lvl="1"/>
            <a:r>
              <a:rPr lang="en-US" sz="2200" dirty="0"/>
              <a:t>Government Financial Statistics (spending and tax accounts)</a:t>
            </a:r>
          </a:p>
          <a:p>
            <a:pPr lvl="1"/>
            <a:r>
              <a:rPr lang="en-US" sz="2200" dirty="0"/>
              <a:t>Balance of Payments (external account)</a:t>
            </a:r>
          </a:p>
          <a:p>
            <a:endParaRPr lang="en-US" sz="2400" dirty="0"/>
          </a:p>
          <a:p>
            <a:r>
              <a:rPr lang="en-US" sz="2400" b="1" dirty="0"/>
              <a:t>Standardized concordance between SAM and classification systems</a:t>
            </a:r>
          </a:p>
          <a:p>
            <a:pPr lvl="1"/>
            <a:r>
              <a:rPr lang="en-US" sz="2200" dirty="0"/>
              <a:t>GFS2014 &amp; BOP6 → SNA 2008 → Macro SAM accounts</a:t>
            </a:r>
          </a:p>
          <a:p>
            <a:endParaRPr lang="en-US" sz="2400" dirty="0"/>
          </a:p>
          <a:p>
            <a:r>
              <a:rPr lang="en-US" sz="2400" b="1" dirty="0"/>
              <a:t>Inconsistent values across sources requires reconciliation:</a:t>
            </a:r>
          </a:p>
          <a:p>
            <a:pPr lvl="1"/>
            <a:r>
              <a:rPr lang="en-US" sz="2200" dirty="0"/>
              <a:t>Consistency with national accounts usually afforded highest priority, followed by BOPs  and then GFS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662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C865-8CDC-9480-AC21-A269200B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SAM  </a:t>
            </a:r>
            <a:r>
              <a:rPr lang="en-US" b="0" dirty="0"/>
              <a:t>|  Entries 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383A83F6-19A1-980F-EF15-C1ABDFFCC5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45016"/>
              </p:ext>
            </p:extLst>
          </p:nvPr>
        </p:nvGraphicFramePr>
        <p:xfrm>
          <a:off x="2805380" y="1203960"/>
          <a:ext cx="883601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34E2D"/>
                          </a:solidFill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</a:rPr>
                        <a:t>NA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0B8EB8"/>
                          </a:solidFill>
                        </a:rPr>
                        <a:t>BOP</a:t>
                      </a:r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54544B"/>
                          </a:solidFill>
                        </a:rPr>
                        <a:t>X</a:t>
                      </a:r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54544B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GFS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B8EB8"/>
                          </a:solidFill>
                        </a:rPr>
                        <a:t>BOP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51699F-B239-0C8D-363A-6B16529487DA}"/>
              </a:ext>
            </a:extLst>
          </p:cNvPr>
          <p:cNvSpPr txBox="1"/>
          <p:nvPr/>
        </p:nvSpPr>
        <p:spPr>
          <a:xfrm>
            <a:off x="3821133" y="5845810"/>
            <a:ext cx="367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NA    </a:t>
            </a:r>
            <a:r>
              <a:rPr lang="en-US" dirty="0">
                <a:solidFill>
                  <a:srgbClr val="C00000"/>
                </a:solidFill>
              </a:rPr>
              <a:t>National Accounts</a:t>
            </a: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GFS  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Government Financial 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20F9A-A53D-8287-4126-5529337CDD54}"/>
              </a:ext>
            </a:extLst>
          </p:cNvPr>
          <p:cNvSpPr txBox="1"/>
          <p:nvPr/>
        </p:nvSpPr>
        <p:spPr>
          <a:xfrm>
            <a:off x="7859977" y="5845810"/>
            <a:ext cx="36737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B8EB8"/>
                </a:solidFill>
              </a:rPr>
              <a:t>BOP   </a:t>
            </a:r>
            <a:r>
              <a:rPr lang="en-US" dirty="0">
                <a:solidFill>
                  <a:srgbClr val="0B8EB8"/>
                </a:solidFill>
              </a:rPr>
              <a:t>Balance of Payments</a:t>
            </a:r>
          </a:p>
          <a:p>
            <a:r>
              <a:rPr lang="en-US" b="1" dirty="0">
                <a:solidFill>
                  <a:srgbClr val="54544B"/>
                </a:solidFill>
              </a:rPr>
              <a:t>X        </a:t>
            </a:r>
            <a:r>
              <a:rPr lang="en-US" dirty="0">
                <a:solidFill>
                  <a:srgbClr val="54544B"/>
                </a:solidFill>
              </a:rPr>
              <a:t>Convention or residual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7FF5C2-EDD4-A4C2-546C-548F63480D8B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508A10-1A56-DA0C-9E6A-AD3CE2D3EDFB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D5975B-A0E5-DE51-7E13-500545BAF86A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621D07-9029-6515-D03F-43451DB86C8E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</p:spTree>
    <p:extLst>
      <p:ext uri="{BB962C8B-B14F-4D97-AF65-F5344CB8AC3E}">
        <p14:creationId xmlns:p14="http://schemas.microsoft.com/office/powerpoint/2010/main" val="2680677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769D-A6D6-6E87-30A7-E616C610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 SAM </a:t>
            </a:r>
            <a:r>
              <a:rPr lang="en-US" b="0" dirty="0"/>
              <a:t> |  Details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E3F09981-3797-C194-1737-42F716CD7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058590"/>
              </p:ext>
            </p:extLst>
          </p:nvPr>
        </p:nvGraphicFramePr>
        <p:xfrm>
          <a:off x="2805380" y="1203960"/>
          <a:ext cx="883601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25D0D3-2C7C-9641-3403-925DB5F400A4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F01A24-3272-38D7-2C50-2B0D3AD24A71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8EB140-1779-D7E4-1249-C2B0F9AFDFF7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2E593D-9F76-A013-D302-687AAC6E9A87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B9ED6-2203-6B7E-C0A0-4A2FAABAC39C}"/>
              </a:ext>
            </a:extLst>
          </p:cNvPr>
          <p:cNvSpPr/>
          <p:nvPr/>
        </p:nvSpPr>
        <p:spPr>
          <a:xfrm>
            <a:off x="4581628" y="2406787"/>
            <a:ext cx="2380398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B0FBF3-5331-F0B5-06D6-4D4A78D538B2}"/>
              </a:ext>
            </a:extLst>
          </p:cNvPr>
          <p:cNvSpPr/>
          <p:nvPr/>
        </p:nvSpPr>
        <p:spPr>
          <a:xfrm>
            <a:off x="4581628" y="2868451"/>
            <a:ext cx="2380398" cy="369331"/>
          </a:xfrm>
          <a:prstGeom prst="rect">
            <a:avLst/>
          </a:prstGeom>
          <a:solidFill>
            <a:srgbClr val="C0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868526-80D1-0B6C-0E37-DA164C81DA1F}"/>
              </a:ext>
            </a:extLst>
          </p:cNvPr>
          <p:cNvSpPr txBox="1"/>
          <p:nvPr/>
        </p:nvSpPr>
        <p:spPr>
          <a:xfrm>
            <a:off x="4581628" y="2406787"/>
            <a:ext cx="217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CC2BB7-D0FE-51F4-3440-A06B79A1F32C}"/>
              </a:ext>
            </a:extLst>
          </p:cNvPr>
          <p:cNvSpPr txBox="1"/>
          <p:nvPr/>
        </p:nvSpPr>
        <p:spPr>
          <a:xfrm>
            <a:off x="4581628" y="2868450"/>
            <a:ext cx="2250687" cy="36933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Labor | Land | Capital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AFDC14-942C-8FAC-7263-F84598A2CD51}"/>
              </a:ext>
            </a:extLst>
          </p:cNvPr>
          <p:cNvSpPr/>
          <p:nvPr/>
        </p:nvSpPr>
        <p:spPr>
          <a:xfrm>
            <a:off x="4581628" y="3864495"/>
            <a:ext cx="4425098" cy="46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A8D54-F4F4-ED2F-584C-5172D1CABB10}"/>
              </a:ext>
            </a:extLst>
          </p:cNvPr>
          <p:cNvSpPr/>
          <p:nvPr/>
        </p:nvSpPr>
        <p:spPr>
          <a:xfrm>
            <a:off x="4578457" y="4320617"/>
            <a:ext cx="4425098" cy="646331"/>
          </a:xfrm>
          <a:prstGeom prst="rect">
            <a:avLst/>
          </a:prstGeom>
          <a:solidFill>
            <a:schemeClr val="accent5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82A284-F629-34FD-0E63-0D38C48D69AD}"/>
              </a:ext>
            </a:extLst>
          </p:cNvPr>
          <p:cNvSpPr txBox="1"/>
          <p:nvPr/>
        </p:nvSpPr>
        <p:spPr>
          <a:xfrm>
            <a:off x="4581628" y="3864495"/>
            <a:ext cx="3269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Taxes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3AB70-8D73-2187-84BF-466142B31C71}"/>
              </a:ext>
            </a:extLst>
          </p:cNvPr>
          <p:cNvSpPr txBox="1"/>
          <p:nvPr/>
        </p:nvSpPr>
        <p:spPr>
          <a:xfrm>
            <a:off x="4581628" y="4315884"/>
            <a:ext cx="4425098" cy="64633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Activities (producer) | Export duties | Import duties | Sales or VAT | Factor | Direct </a:t>
            </a:r>
          </a:p>
        </p:txBody>
      </p:sp>
    </p:spTree>
    <p:extLst>
      <p:ext uri="{BB962C8B-B14F-4D97-AF65-F5344CB8AC3E}">
        <p14:creationId xmlns:p14="http://schemas.microsoft.com/office/powerpoint/2010/main" val="1707484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4127-CC1E-8114-071A-4AAE9EB1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Supply-Use Table  </a:t>
            </a:r>
            <a:r>
              <a:rPr lang="en-US" b="0" dirty="0"/>
              <a:t>|  Details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FF765F47-E782-56BC-4DDA-2314F5F1BC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0704013"/>
              </p:ext>
            </p:extLst>
          </p:nvPr>
        </p:nvGraphicFramePr>
        <p:xfrm>
          <a:off x="2805380" y="1203960"/>
          <a:ext cx="883601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F5EAB9C-C58A-5FC9-031C-1F8D040660D2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4BA8E5B-9326-CD60-AD1C-BD35AB5B6691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E3C88D-AAAD-44BA-8071-1DEB0F2BF590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B628F7-3034-D53F-85C7-681EEDB4CA52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A5AAFA-5A5E-93B4-5BB1-B6067F688CB2}"/>
              </a:ext>
            </a:extLst>
          </p:cNvPr>
          <p:cNvSpPr/>
          <p:nvPr/>
        </p:nvSpPr>
        <p:spPr>
          <a:xfrm>
            <a:off x="4463582" y="1560066"/>
            <a:ext cx="7177813" cy="742950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4D6FC7-6D44-97D0-C405-52111BB04535}"/>
              </a:ext>
            </a:extLst>
          </p:cNvPr>
          <p:cNvSpPr/>
          <p:nvPr/>
        </p:nvSpPr>
        <p:spPr>
          <a:xfrm>
            <a:off x="4463581" y="2303016"/>
            <a:ext cx="1304074" cy="3342005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3F51AB-5F3A-9A4C-945B-AE3D6AB30D45}"/>
              </a:ext>
            </a:extLst>
          </p:cNvPr>
          <p:cNvSpPr/>
          <p:nvPr/>
        </p:nvSpPr>
        <p:spPr>
          <a:xfrm>
            <a:off x="5225583" y="1689376"/>
            <a:ext cx="4603091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51A5DD-7DBB-90BD-3A31-CA2B62E64DCA}"/>
              </a:ext>
            </a:extLst>
          </p:cNvPr>
          <p:cNvSpPr txBox="1"/>
          <p:nvPr/>
        </p:nvSpPr>
        <p:spPr>
          <a:xfrm>
            <a:off x="5225583" y="1691959"/>
            <a:ext cx="4558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Multiple activities + commodities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2A26D3-BA45-D658-E838-253DDFBA5088}"/>
              </a:ext>
            </a:extLst>
          </p:cNvPr>
          <p:cNvSpPr txBox="1"/>
          <p:nvPr/>
        </p:nvSpPr>
        <p:spPr>
          <a:xfrm>
            <a:off x="4463581" y="5715765"/>
            <a:ext cx="6004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IFPRI Standard NEXUS SAM structure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Individual countries may vary</a:t>
            </a:r>
          </a:p>
        </p:txBody>
      </p:sp>
    </p:spTree>
    <p:extLst>
      <p:ext uri="{BB962C8B-B14F-4D97-AF65-F5344CB8AC3E}">
        <p14:creationId xmlns:p14="http://schemas.microsoft.com/office/powerpoint/2010/main" val="488696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E78C-1A78-2842-139F-6ABCBF8D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Supply-Use Table  </a:t>
            </a:r>
            <a:r>
              <a:rPr lang="en-US" b="0" dirty="0"/>
              <a:t>|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C49C0-D6D2-C7E2-43EC-8A900CADA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724" y="1253447"/>
            <a:ext cx="11413528" cy="5512328"/>
          </a:xfrm>
        </p:spPr>
        <p:txBody>
          <a:bodyPr>
            <a:normAutofit/>
          </a:bodyPr>
          <a:lstStyle/>
          <a:p>
            <a:r>
              <a:rPr lang="en-US" sz="2400" b="1" dirty="0"/>
              <a:t>Main data sources:</a:t>
            </a:r>
          </a:p>
          <a:p>
            <a:pPr lvl="1"/>
            <a:r>
              <a:rPr lang="en-US" sz="2200" dirty="0"/>
              <a:t>National accounts (GDP by sector, trade margins)</a:t>
            </a:r>
          </a:p>
          <a:p>
            <a:pPr lvl="1"/>
            <a:r>
              <a:rPr lang="en-US" sz="2200" dirty="0"/>
              <a:t>Agricultural and industrial production data and surveys</a:t>
            </a:r>
          </a:p>
          <a:p>
            <a:pPr lvl="1"/>
            <a:r>
              <a:rPr lang="en-US" sz="2200" dirty="0"/>
              <a:t>Input-output table</a:t>
            </a:r>
          </a:p>
          <a:p>
            <a:pPr lvl="1"/>
            <a:r>
              <a:rPr lang="en-US" sz="2200" dirty="0"/>
              <a:t>Trade and tax data (esp. VAT and customs duties)</a:t>
            </a:r>
          </a:p>
          <a:p>
            <a:pPr lvl="1"/>
            <a:r>
              <a:rPr lang="en-US" sz="2200" dirty="0"/>
              <a:t>Household expenditure survey (consumption demand vector)</a:t>
            </a:r>
          </a:p>
          <a:p>
            <a:endParaRPr lang="en-US" sz="2400" dirty="0"/>
          </a:p>
          <a:p>
            <a:r>
              <a:rPr lang="en-US" sz="2400" b="1" dirty="0"/>
              <a:t>Standardized concordance between SAM and classification systems</a:t>
            </a:r>
          </a:p>
          <a:p>
            <a:pPr lvl="1"/>
            <a:r>
              <a:rPr lang="en-US" sz="2200" dirty="0"/>
              <a:t>ISIC3.1, ISIC4, HS2012, COICOP → Disaggregated SAM accounts</a:t>
            </a:r>
          </a:p>
          <a:p>
            <a:endParaRPr lang="en-US" sz="2400" dirty="0"/>
          </a:p>
          <a:p>
            <a:r>
              <a:rPr lang="en-US" sz="2400" b="1" dirty="0"/>
              <a:t>Inconsistent values across sources requires reconciliation:</a:t>
            </a:r>
          </a:p>
          <a:p>
            <a:pPr lvl="1"/>
            <a:r>
              <a:rPr lang="en-US" sz="2200" dirty="0"/>
              <a:t>Balanced using cross-entropy techniques in GAMS®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135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4D765-BC1E-6EED-F355-38911B62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Transfers  </a:t>
            </a:r>
            <a:r>
              <a:rPr lang="en-US" b="0" dirty="0"/>
              <a:t>|  Details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7D27340-E6A1-B2B1-464B-D0E248357A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102017"/>
              </p:ext>
            </p:extLst>
          </p:nvPr>
        </p:nvGraphicFramePr>
        <p:xfrm>
          <a:off x="2805380" y="1203960"/>
          <a:ext cx="8836015" cy="445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17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Gov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Wld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C12A0B-E1AE-1741-863C-75DD0D76A010}"/>
              </a:ext>
            </a:extLst>
          </p:cNvPr>
          <p:cNvCxnSpPr>
            <a:cxnSpLocks/>
          </p:cNvCxnSpPr>
          <p:nvPr/>
        </p:nvCxnSpPr>
        <p:spPr>
          <a:xfrm>
            <a:off x="410966" y="1304818"/>
            <a:ext cx="2208944" cy="0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97AD0E-4B60-5009-C33E-08026FBF6EB3}"/>
              </a:ext>
            </a:extLst>
          </p:cNvPr>
          <p:cNvSpPr txBox="1"/>
          <p:nvPr/>
        </p:nvSpPr>
        <p:spPr>
          <a:xfrm>
            <a:off x="410966" y="1335640"/>
            <a:ext cx="2208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Incomes across rows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688AD2-1E25-FF1D-E0DD-AD6849AFD694}"/>
              </a:ext>
            </a:extLst>
          </p:cNvPr>
          <p:cNvCxnSpPr>
            <a:cxnSpLocks/>
          </p:cNvCxnSpPr>
          <p:nvPr/>
        </p:nvCxnSpPr>
        <p:spPr>
          <a:xfrm>
            <a:off x="2546279" y="1921267"/>
            <a:ext cx="0" cy="1507733"/>
          </a:xfrm>
          <a:prstGeom prst="straightConnector1">
            <a:avLst/>
          </a:prstGeom>
          <a:ln w="22225"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687CEE-01A1-5216-56FE-188018F46F08}"/>
              </a:ext>
            </a:extLst>
          </p:cNvPr>
          <p:cNvSpPr txBox="1"/>
          <p:nvPr/>
        </p:nvSpPr>
        <p:spPr>
          <a:xfrm>
            <a:off x="664397" y="2300597"/>
            <a:ext cx="1851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Expenditures down columns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EEDEA-6152-D925-5CD3-67AF69F96E11}"/>
              </a:ext>
            </a:extLst>
          </p:cNvPr>
          <p:cNvSpPr txBox="1"/>
          <p:nvPr/>
        </p:nvSpPr>
        <p:spPr>
          <a:xfrm>
            <a:off x="4463581" y="5715765"/>
            <a:ext cx="6004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IFPRI Standard NEXUS SAM structure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Individual countries may vary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8C3E45-9FBF-0F3A-F435-1692AF3FDBC7}"/>
              </a:ext>
            </a:extLst>
          </p:cNvPr>
          <p:cNvSpPr/>
          <p:nvPr/>
        </p:nvSpPr>
        <p:spPr>
          <a:xfrm>
            <a:off x="4463581" y="1941815"/>
            <a:ext cx="7177813" cy="371475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FFE7A0-C27B-3698-85E6-14CBF8BC3AFD}"/>
              </a:ext>
            </a:extLst>
          </p:cNvPr>
          <p:cNvSpPr/>
          <p:nvPr/>
        </p:nvSpPr>
        <p:spPr>
          <a:xfrm>
            <a:off x="5769165" y="1575631"/>
            <a:ext cx="656789" cy="4078409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19899-C600-1AC4-BED0-20ECA57F9F2E}"/>
              </a:ext>
            </a:extLst>
          </p:cNvPr>
          <p:cNvSpPr/>
          <p:nvPr/>
        </p:nvSpPr>
        <p:spPr>
          <a:xfrm>
            <a:off x="4677347" y="1883620"/>
            <a:ext cx="1463097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807B11-0DA6-2582-4693-5432F449D89B}"/>
              </a:ext>
            </a:extLst>
          </p:cNvPr>
          <p:cNvSpPr txBox="1"/>
          <p:nvPr/>
        </p:nvSpPr>
        <p:spPr>
          <a:xfrm>
            <a:off x="4677348" y="1886203"/>
            <a:ext cx="1463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13 factors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576309-D3FA-6819-176C-F2D3BDD78E98}"/>
              </a:ext>
            </a:extLst>
          </p:cNvPr>
          <p:cNvSpPr/>
          <p:nvPr/>
        </p:nvSpPr>
        <p:spPr>
          <a:xfrm>
            <a:off x="7692997" y="2681389"/>
            <a:ext cx="3918651" cy="371475"/>
          </a:xfrm>
          <a:prstGeom prst="rect">
            <a:avLst/>
          </a:prstGeom>
          <a:solidFill>
            <a:schemeClr val="accent5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C423F8-D8D8-AABC-63E2-9D564EF6AF37}"/>
              </a:ext>
            </a:extLst>
          </p:cNvPr>
          <p:cNvSpPr/>
          <p:nvPr/>
        </p:nvSpPr>
        <p:spPr>
          <a:xfrm>
            <a:off x="7077380" y="1575630"/>
            <a:ext cx="656789" cy="4078410"/>
          </a:xfrm>
          <a:prstGeom prst="rect">
            <a:avLst/>
          </a:prstGeom>
          <a:solidFill>
            <a:schemeClr val="accent5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1B9144-5E1B-9A8D-6277-AB30E05BF24B}"/>
              </a:ext>
            </a:extLst>
          </p:cNvPr>
          <p:cNvSpPr/>
          <p:nvPr/>
        </p:nvSpPr>
        <p:spPr>
          <a:xfrm>
            <a:off x="4463581" y="2681389"/>
            <a:ext cx="2182474" cy="371475"/>
          </a:xfrm>
          <a:prstGeom prst="rect">
            <a:avLst/>
          </a:prstGeom>
          <a:solidFill>
            <a:schemeClr val="accent5">
              <a:lumMod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0D4202-7728-1354-21B7-01551D4D2BA5}"/>
              </a:ext>
            </a:extLst>
          </p:cNvPr>
          <p:cNvSpPr/>
          <p:nvPr/>
        </p:nvSpPr>
        <p:spPr>
          <a:xfrm>
            <a:off x="6395133" y="2637223"/>
            <a:ext cx="2152966" cy="46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9ADD85-76B3-530C-78E3-2FD4A912C751}"/>
              </a:ext>
            </a:extLst>
          </p:cNvPr>
          <p:cNvSpPr txBox="1"/>
          <p:nvPr/>
        </p:nvSpPr>
        <p:spPr>
          <a:xfrm>
            <a:off x="6425955" y="2635806"/>
            <a:ext cx="2152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15 households</a:t>
            </a:r>
          </a:p>
        </p:txBody>
      </p:sp>
    </p:spTree>
    <p:extLst>
      <p:ext uri="{BB962C8B-B14F-4D97-AF65-F5344CB8AC3E}">
        <p14:creationId xmlns:p14="http://schemas.microsoft.com/office/powerpoint/2010/main" val="325198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2AC4-DD09-0114-0DF1-0B7B9482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Transfers  </a:t>
            </a:r>
            <a:r>
              <a:rPr lang="en-US" b="0" dirty="0"/>
              <a:t>|  Accounts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0B26D-6D3C-DB73-7C32-AAC3E8447ABC}"/>
              </a:ext>
            </a:extLst>
          </p:cNvPr>
          <p:cNvSpPr/>
          <p:nvPr/>
        </p:nvSpPr>
        <p:spPr>
          <a:xfrm>
            <a:off x="256592" y="3293530"/>
            <a:ext cx="11678810" cy="708329"/>
          </a:xfrm>
          <a:prstGeom prst="rect">
            <a:avLst/>
          </a:prstGeom>
          <a:solidFill>
            <a:schemeClr val="accent5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40939-6BC2-E74D-38FE-F2E04B3C0FD2}"/>
              </a:ext>
            </a:extLst>
          </p:cNvPr>
          <p:cNvSpPr txBox="1"/>
          <p:nvPr/>
        </p:nvSpPr>
        <p:spPr>
          <a:xfrm>
            <a:off x="1397284" y="3577386"/>
            <a:ext cx="10243335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Rural farm and nonfarm households and urban households by national per capita expenditure quintiles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3622A8-0832-1D60-2843-F8F0D3B4BC5F}"/>
              </a:ext>
            </a:extLst>
          </p:cNvPr>
          <p:cNvSpPr/>
          <p:nvPr/>
        </p:nvSpPr>
        <p:spPr>
          <a:xfrm>
            <a:off x="256592" y="3092519"/>
            <a:ext cx="11678809" cy="39259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C1858-8F9D-96CB-7927-C7067CFBD9C9}"/>
              </a:ext>
            </a:extLst>
          </p:cNvPr>
          <p:cNvSpPr txBox="1"/>
          <p:nvPr/>
        </p:nvSpPr>
        <p:spPr>
          <a:xfrm>
            <a:off x="256596" y="3105860"/>
            <a:ext cx="338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Household groups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A4BA17-BE95-85C3-CEB3-EB6F95A6DBB1}"/>
              </a:ext>
            </a:extLst>
          </p:cNvPr>
          <p:cNvSpPr/>
          <p:nvPr/>
        </p:nvSpPr>
        <p:spPr>
          <a:xfrm>
            <a:off x="256591" y="1865575"/>
            <a:ext cx="11678809" cy="710196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3BAA0-90FE-9BC4-E5A6-E679289C6A26}"/>
              </a:ext>
            </a:extLst>
          </p:cNvPr>
          <p:cNvSpPr txBox="1"/>
          <p:nvPr/>
        </p:nvSpPr>
        <p:spPr>
          <a:xfrm>
            <a:off x="1394830" y="2117641"/>
            <a:ext cx="10389631" cy="33855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Crop land | Crop, livestock, mining and nonagricultural capital | Rural and urban labor by education 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8F8A28-F992-843B-9A15-F1D447C241D3}"/>
              </a:ext>
            </a:extLst>
          </p:cNvPr>
          <p:cNvSpPr/>
          <p:nvPr/>
        </p:nvSpPr>
        <p:spPr>
          <a:xfrm>
            <a:off x="256592" y="1616692"/>
            <a:ext cx="11678807" cy="392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E5E1D-0185-CBC5-EB17-EC80C74AD2A2}"/>
              </a:ext>
            </a:extLst>
          </p:cNvPr>
          <p:cNvSpPr txBox="1"/>
          <p:nvPr/>
        </p:nvSpPr>
        <p:spPr>
          <a:xfrm>
            <a:off x="256597" y="1626217"/>
            <a:ext cx="407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Factors of production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52D0A-42C4-08F5-4B57-8BEAE122B924}"/>
              </a:ext>
            </a:extLst>
          </p:cNvPr>
          <p:cNvSpPr txBox="1"/>
          <p:nvPr/>
        </p:nvSpPr>
        <p:spPr>
          <a:xfrm>
            <a:off x="625076" y="3561002"/>
            <a:ext cx="51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197EF-D72B-EE6A-1B80-4A11A171E361}"/>
              </a:ext>
            </a:extLst>
          </p:cNvPr>
          <p:cNvSpPr txBox="1"/>
          <p:nvPr/>
        </p:nvSpPr>
        <p:spPr>
          <a:xfrm>
            <a:off x="548929" y="2105981"/>
            <a:ext cx="63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F5A608-CC8F-8EA7-CF49-94C23A3249E7}"/>
              </a:ext>
            </a:extLst>
          </p:cNvPr>
          <p:cNvSpPr txBox="1"/>
          <p:nvPr/>
        </p:nvSpPr>
        <p:spPr>
          <a:xfrm>
            <a:off x="8187732" y="5942559"/>
            <a:ext cx="3747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IFPRI Standard NEXUS SAM structure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Individual countries may vary</a:t>
            </a:r>
          </a:p>
        </p:txBody>
      </p:sp>
    </p:spTree>
    <p:extLst>
      <p:ext uri="{BB962C8B-B14F-4D97-AF65-F5344CB8AC3E}">
        <p14:creationId xmlns:p14="http://schemas.microsoft.com/office/powerpoint/2010/main" val="3418010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EBF7-DDF5-C5E3-BA02-8F416F92C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Transfers  </a:t>
            </a:r>
            <a:r>
              <a:rPr lang="en-US" b="0" dirty="0"/>
              <a:t>| 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2D12A-5795-E63B-58C7-7F2597427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6" y="1325365"/>
            <a:ext cx="11454625" cy="5440409"/>
          </a:xfrm>
        </p:spPr>
        <p:txBody>
          <a:bodyPr>
            <a:normAutofit/>
          </a:bodyPr>
          <a:lstStyle/>
          <a:p>
            <a:r>
              <a:rPr lang="en-US" sz="2400" b="1" dirty="0"/>
              <a:t>Main data sources:</a:t>
            </a:r>
          </a:p>
          <a:p>
            <a:pPr lvl="1"/>
            <a:r>
              <a:rPr lang="en-US" sz="2200" dirty="0"/>
              <a:t>Household &amp; labor force surveys</a:t>
            </a:r>
          </a:p>
          <a:p>
            <a:endParaRPr lang="en-US" sz="2400" dirty="0"/>
          </a:p>
          <a:p>
            <a:r>
              <a:rPr lang="en-US" sz="2400" b="1" dirty="0"/>
              <a:t>Map sector of employment to Nexus activities</a:t>
            </a:r>
          </a:p>
          <a:p>
            <a:pPr lvl="1"/>
            <a:r>
              <a:rPr lang="en-US" sz="2200" dirty="0"/>
              <a:t>ISIC3.1, ISIC4 → Disaggregated SAM accounts</a:t>
            </a:r>
          </a:p>
          <a:p>
            <a:endParaRPr lang="en-US" sz="2400" dirty="0"/>
          </a:p>
          <a:p>
            <a:r>
              <a:rPr lang="en-US" sz="2400" b="1" dirty="0"/>
              <a:t>Map consumption items to Nexus commodities</a:t>
            </a:r>
          </a:p>
          <a:p>
            <a:pPr lvl="1"/>
            <a:r>
              <a:rPr lang="en-US" sz="2200" dirty="0"/>
              <a:t>COICOP, etc. → Disaggregated SAM accounts</a:t>
            </a:r>
          </a:p>
          <a:p>
            <a:endParaRPr lang="en-US" sz="2400" dirty="0"/>
          </a:p>
          <a:p>
            <a:r>
              <a:rPr lang="en-US" sz="2400" b="1" dirty="0"/>
              <a:t>Maintain macro SAM and non-factor/household accounts</a:t>
            </a:r>
          </a:p>
          <a:p>
            <a:pPr lvl="1"/>
            <a:r>
              <a:rPr lang="en-US" sz="2200" dirty="0"/>
              <a:t>Only imbalances are for detailed household accounts </a:t>
            </a:r>
          </a:p>
          <a:p>
            <a:pPr lvl="1"/>
            <a:r>
              <a:rPr lang="en-US" sz="2200" dirty="0"/>
              <a:t>Balanced using cross-entropy in GAMS</a:t>
            </a:r>
          </a:p>
        </p:txBody>
      </p:sp>
    </p:spTree>
    <p:extLst>
      <p:ext uri="{BB962C8B-B14F-4D97-AF65-F5344CB8AC3E}">
        <p14:creationId xmlns:p14="http://schemas.microsoft.com/office/powerpoint/2010/main" val="72840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E7C7-2E0D-44B7-656C-B029771C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SAMs  </a:t>
            </a:r>
            <a:r>
              <a:rPr lang="en-US" b="0" dirty="0"/>
              <a:t>|  RAS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621DA-996B-33C5-FA66-462217C96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9207987" cy="1964745"/>
          </a:xfrm>
        </p:spPr>
        <p:txBody>
          <a:bodyPr>
            <a:normAutofit/>
          </a:bodyPr>
          <a:lstStyle/>
          <a:p>
            <a:r>
              <a:rPr lang="en-US" sz="2400" b="1" dirty="0"/>
              <a:t>One approach is to use the RAS method</a:t>
            </a:r>
          </a:p>
          <a:p>
            <a:pPr lvl="1"/>
            <a:r>
              <a:rPr lang="en-US" sz="2200" dirty="0"/>
              <a:t>Rows and columns are uniformly scaled in iteration until totals converge</a:t>
            </a:r>
          </a:p>
          <a:p>
            <a:pPr lvl="1"/>
            <a:r>
              <a:rPr lang="en-US" sz="2200" b="1" dirty="0"/>
              <a:t>Advantages</a:t>
            </a:r>
            <a:r>
              <a:rPr lang="en-US" sz="2200" dirty="0"/>
              <a:t>: Simple to implement (even in Excel)</a:t>
            </a:r>
          </a:p>
          <a:p>
            <a:pPr lvl="1"/>
            <a:r>
              <a:rPr lang="en-US" sz="2200" b="1" dirty="0"/>
              <a:t>Shortcoming</a:t>
            </a:r>
            <a:r>
              <a:rPr lang="en-US" sz="2200" dirty="0"/>
              <a:t>: Can do significant “damage” to the original data (will adjust cells, even if they are not causing the imbalance)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3A434B-D1C9-593C-C5B0-4B7868F3AFE5}"/>
              </a:ext>
            </a:extLst>
          </p:cNvPr>
          <p:cNvGrpSpPr/>
          <p:nvPr/>
        </p:nvGrpSpPr>
        <p:grpSpPr>
          <a:xfrm>
            <a:off x="2931353" y="3277786"/>
            <a:ext cx="6277946" cy="3255475"/>
            <a:chOff x="2689192" y="3267512"/>
            <a:chExt cx="6277946" cy="3255475"/>
          </a:xfrm>
        </p:grpSpPr>
        <p:graphicFrame>
          <p:nvGraphicFramePr>
            <p:cNvPr id="5" name="Content Placeholder 5">
              <a:extLst>
                <a:ext uri="{FF2B5EF4-FFF2-40B4-BE49-F238E27FC236}">
                  <a16:creationId xmlns:a16="http://schemas.microsoft.com/office/drawing/2014/main" id="{2FC5E4B2-9F96-B037-43DF-1480EA5416A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16005468"/>
                </p:ext>
              </p:extLst>
            </p:nvPr>
          </p:nvGraphicFramePr>
          <p:xfrm>
            <a:off x="2689192" y="3267512"/>
            <a:ext cx="6026140" cy="3017520"/>
          </p:xfrm>
          <a:graphic>
            <a:graphicData uri="http://schemas.openxmlformats.org/drawingml/2006/table">
              <a:tbl>
                <a:tblPr firstRow="1" bandRow="1">
                  <a:tableStyleId>{073A0DAA-6AF3-43AB-8588-CEC1D06C72B9}</a:tableStyleId>
                </a:tblPr>
                <a:tblGrid>
                  <a:gridCol w="113680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444485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</a:tblGrid>
                <a:tr h="218546">
                  <a:tc>
                    <a:txBody>
                      <a:bodyPr/>
                      <a:lstStyle/>
                      <a:p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Act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Com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Fact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Ent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Hhd</a:t>
                        </a:r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Gov</a:t>
                        </a:r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Tax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S-I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Stk</a:t>
                        </a:r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 err="1"/>
                          <a:t>Wld</a:t>
                        </a:r>
                        <a:endParaRPr lang="en-US" sz="1050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050" dirty="0"/>
                          <a:t>Tot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Activities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Commodities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Factors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Enterprises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Households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Government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Taxes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Savings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C8E3A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Stock change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FFB300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Rest of world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C34E2D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0B8EB8"/>
                          </a:solidFill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218546">
                  <a:tc>
                    <a:txBody>
                      <a:bodyPr/>
                      <a:lstStyle/>
                      <a:p>
                        <a:pPr marL="0" algn="l" defTabSz="914400" rtl="0" eaLnBrk="1" latinLnBrk="0" hangingPunct="1"/>
                        <a:r>
                          <a:rPr lang="en-US" sz="1050" b="1" kern="1200" dirty="0">
                            <a:solidFill>
                              <a:schemeClr val="lt1"/>
                            </a:solidFill>
                          </a:rPr>
                          <a:t>Total</a:t>
                        </a:r>
                        <a:endPara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endParaRPr>
                      </a:p>
                    </a:txBody>
                    <a:tcPr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1050" b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54544B"/>
                            </a:solidFill>
                            <a:effectLst/>
                            <a:uLnTx/>
                            <a:uFillTx/>
                          </a:rPr>
                          <a:t>X</a:t>
                        </a:r>
                        <a:endParaRPr kumimoji="0" 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/>
                        <a:endParaRPr lang="en-US" sz="1050" b="1" dirty="0">
                          <a:solidFill>
                            <a:srgbClr val="54544B"/>
                          </a:solidFill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</a:tbl>
            </a:graphicData>
          </a:graphic>
        </p:graphicFrame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0DC7C0C-4A21-2A5D-4641-09821550EF41}"/>
                </a:ext>
              </a:extLst>
            </p:cNvPr>
            <p:cNvCxnSpPr/>
            <p:nvPr/>
          </p:nvCxnSpPr>
          <p:spPr>
            <a:xfrm>
              <a:off x="4062743" y="3627387"/>
              <a:ext cx="0" cy="289560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DF4A4D3-B7C6-C5B3-A5DB-66201CDFF866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3627387"/>
              <a:ext cx="4895850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87CFB4E-2303-8EED-342D-0F2F5C94F81B}"/>
                </a:ext>
              </a:extLst>
            </p:cNvPr>
            <p:cNvCxnSpPr/>
            <p:nvPr/>
          </p:nvCxnSpPr>
          <p:spPr>
            <a:xfrm>
              <a:off x="441516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367036F-18C2-AC18-4F44-73BEB93105B8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3846462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A575008-B785-4A9D-892C-EB7535C76D4D}"/>
                </a:ext>
              </a:extLst>
            </p:cNvPr>
            <p:cNvCxnSpPr/>
            <p:nvPr/>
          </p:nvCxnSpPr>
          <p:spPr>
            <a:xfrm>
              <a:off x="491046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2AAA119-C403-AA60-86C6-A4C79C11CB15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4102413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23D4A81-9953-CE99-176E-210CF565AC8E}"/>
                </a:ext>
              </a:extLst>
            </p:cNvPr>
            <p:cNvCxnSpPr/>
            <p:nvPr/>
          </p:nvCxnSpPr>
          <p:spPr>
            <a:xfrm>
              <a:off x="5338603" y="3627387"/>
              <a:ext cx="0" cy="289560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60A1D11-1E89-400B-3E89-73694B45CAC1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4360812"/>
              <a:ext cx="4895850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3A47CA1-A8BC-BDC0-AB8A-F852033B22D0}"/>
                </a:ext>
              </a:extLst>
            </p:cNvPr>
            <p:cNvCxnSpPr/>
            <p:nvPr/>
          </p:nvCxnSpPr>
          <p:spPr>
            <a:xfrm>
              <a:off x="5835122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2C68B50-7C54-5F27-28EA-B8DB66CB8BF9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4617987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903F12C-487B-72EE-8B7A-E9876D62A3E6}"/>
                </a:ext>
              </a:extLst>
            </p:cNvPr>
            <p:cNvCxnSpPr/>
            <p:nvPr/>
          </p:nvCxnSpPr>
          <p:spPr>
            <a:xfrm>
              <a:off x="624347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2E270BA-9E82-02B2-8B83-CC52F402E30B}"/>
                </a:ext>
              </a:extLst>
            </p:cNvPr>
            <p:cNvCxnSpPr>
              <a:cxnSpLocks/>
            </p:cNvCxnSpPr>
            <p:nvPr/>
          </p:nvCxnSpPr>
          <p:spPr>
            <a:xfrm>
              <a:off x="4071288" y="4883463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A40502-CC47-05F1-C562-2F59CB05258F}"/>
                </a:ext>
              </a:extLst>
            </p:cNvPr>
            <p:cNvCxnSpPr/>
            <p:nvPr/>
          </p:nvCxnSpPr>
          <p:spPr>
            <a:xfrm>
              <a:off x="6691643" y="3627387"/>
              <a:ext cx="0" cy="289560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6648D7E-FB73-01A7-C8DF-1EEE2A31EF66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5122812"/>
              <a:ext cx="4895850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5C9DBC2-BE81-119D-E065-79BD642D9485}"/>
                </a:ext>
              </a:extLst>
            </p:cNvPr>
            <p:cNvCxnSpPr/>
            <p:nvPr/>
          </p:nvCxnSpPr>
          <p:spPr>
            <a:xfrm>
              <a:off x="715836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81B2535-FF5D-87E2-FE24-0AACB0DC983A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5399037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925F292-D642-15CD-285D-814BE95A56C5}"/>
                </a:ext>
              </a:extLst>
            </p:cNvPr>
            <p:cNvCxnSpPr/>
            <p:nvPr/>
          </p:nvCxnSpPr>
          <p:spPr>
            <a:xfrm>
              <a:off x="7615568" y="3627387"/>
              <a:ext cx="0" cy="289560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CB70D7-CCBB-ED9E-01C7-430516D18248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5654988"/>
              <a:ext cx="4895850" cy="0"/>
            </a:xfrm>
            <a:prstGeom prst="straightConnector1">
              <a:avLst/>
            </a:prstGeom>
            <a:ln w="3175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82037E2-A7BA-F859-A2A3-37B32142C9A2}"/>
                </a:ext>
              </a:extLst>
            </p:cNvPr>
            <p:cNvCxnSpPr/>
            <p:nvPr/>
          </p:nvCxnSpPr>
          <p:spPr>
            <a:xfrm>
              <a:off x="8034668" y="3627387"/>
              <a:ext cx="0" cy="289560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355D3C1-F06E-B80F-A313-876B20155E03}"/>
                </a:ext>
              </a:extLst>
            </p:cNvPr>
            <p:cNvCxnSpPr>
              <a:cxnSpLocks/>
            </p:cNvCxnSpPr>
            <p:nvPr/>
          </p:nvCxnSpPr>
          <p:spPr>
            <a:xfrm>
              <a:off x="4062743" y="5894337"/>
              <a:ext cx="4895850" cy="0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7667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E7C7-2E0D-44B7-656C-B029771C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SAMs  </a:t>
            </a:r>
            <a:r>
              <a:rPr lang="en-US" b="0" dirty="0"/>
              <a:t>|  Cross-Entropy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621DA-996B-33C5-FA66-462217C96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9207987" cy="1964745"/>
          </a:xfrm>
        </p:spPr>
        <p:txBody>
          <a:bodyPr>
            <a:normAutofit/>
          </a:bodyPr>
          <a:lstStyle/>
          <a:p>
            <a:r>
              <a:rPr lang="en-US" sz="2400" b="1" dirty="0"/>
              <a:t>Better approach is to use the cross-entropy method</a:t>
            </a:r>
          </a:p>
          <a:p>
            <a:pPr lvl="1"/>
            <a:r>
              <a:rPr lang="en-US" sz="2200" dirty="0"/>
              <a:t>Each cell is adjusted individually (rather than entire rows &amp; columns)</a:t>
            </a:r>
          </a:p>
          <a:p>
            <a:pPr lvl="1"/>
            <a:r>
              <a:rPr lang="en-US" sz="2200" dirty="0"/>
              <a:t>Minimize deviation from original data (using error distributions)</a:t>
            </a:r>
          </a:p>
          <a:p>
            <a:pPr lvl="1"/>
            <a:r>
              <a:rPr lang="en-US" sz="2200" b="1" dirty="0"/>
              <a:t>Advantages</a:t>
            </a:r>
            <a:r>
              <a:rPr lang="en-US" sz="2200" dirty="0"/>
              <a:t>: Focus more on cells that are causing imbalances </a:t>
            </a:r>
          </a:p>
          <a:p>
            <a:pPr lvl="1"/>
            <a:r>
              <a:rPr lang="en-US" sz="2200" b="1" dirty="0"/>
              <a:t>Shortcoming</a:t>
            </a:r>
            <a:r>
              <a:rPr lang="en-US" sz="2200" dirty="0"/>
              <a:t>: More complex (need GAMS rather than just Excel)</a:t>
            </a:r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26" name="Content Placeholder 5">
            <a:extLst>
              <a:ext uri="{FF2B5EF4-FFF2-40B4-BE49-F238E27FC236}">
                <a16:creationId xmlns:a16="http://schemas.microsoft.com/office/drawing/2014/main" id="{CDB1C937-C32B-2BE3-80F9-55DB48CCDB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7315954"/>
              </p:ext>
            </p:extLst>
          </p:nvPr>
        </p:nvGraphicFramePr>
        <p:xfrm>
          <a:off x="2931353" y="3277786"/>
          <a:ext cx="6026140" cy="3017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36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44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18546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Hhd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Gov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Stk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Wld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Activities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Commodities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Factors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Enterprises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Households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Government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Taxes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Savings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C8E3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Stock change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FFB3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Rest of world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C34E2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0B8EB8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54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</a:rPr>
                        <a:t>Total</a:t>
                      </a:r>
                      <a:endParaRPr lang="en-US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544B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544B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solidFill>
                          <a:srgbClr val="54544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FB15866C-DD82-3238-4689-A8989FA220C0}"/>
              </a:ext>
            </a:extLst>
          </p:cNvPr>
          <p:cNvSpPr/>
          <p:nvPr/>
        </p:nvSpPr>
        <p:spPr>
          <a:xfrm>
            <a:off x="5821457" y="3778014"/>
            <a:ext cx="495300" cy="291194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DAC3276-29F7-E699-8A48-751645398033}"/>
              </a:ext>
            </a:extLst>
          </p:cNvPr>
          <p:cNvSpPr/>
          <p:nvPr/>
        </p:nvSpPr>
        <p:spPr>
          <a:xfrm>
            <a:off x="4043083" y="4025664"/>
            <a:ext cx="495300" cy="291194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7796A55-5E1E-324E-531A-3FD31FA6859C}"/>
              </a:ext>
            </a:extLst>
          </p:cNvPr>
          <p:cNvSpPr/>
          <p:nvPr/>
        </p:nvSpPr>
        <p:spPr>
          <a:xfrm>
            <a:off x="4076847" y="3545333"/>
            <a:ext cx="911424" cy="2749973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CDFC3E-25A0-7DEA-3752-129C4B3F7824}"/>
              </a:ext>
            </a:extLst>
          </p:cNvPr>
          <p:cNvSpPr/>
          <p:nvPr/>
        </p:nvSpPr>
        <p:spPr>
          <a:xfrm>
            <a:off x="4988271" y="3545333"/>
            <a:ext cx="3969222" cy="480331"/>
          </a:xfrm>
          <a:prstGeom prst="rect">
            <a:avLst/>
          </a:prstGeom>
          <a:solidFill>
            <a:srgbClr val="C0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4C7321-53F2-9B74-2B97-4D717EFDC0C9}"/>
              </a:ext>
            </a:extLst>
          </p:cNvPr>
          <p:cNvSpPr/>
          <p:nvPr/>
        </p:nvSpPr>
        <p:spPr>
          <a:xfrm>
            <a:off x="4500283" y="5745818"/>
            <a:ext cx="495300" cy="291194"/>
          </a:xfrm>
          <a:prstGeom prst="rect">
            <a:avLst/>
          </a:prstGeom>
          <a:noFill/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92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1338</Words>
  <Application>Microsoft Office PowerPoint</Application>
  <PresentationFormat>Widescreen</PresentationFormat>
  <Paragraphs>529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Foundation Course in CGE Modeling Using IFPRI’s Static CGE and Microsimulation Models</vt:lpstr>
      <vt:lpstr>Overview (Parts 1-7)</vt:lpstr>
      <vt:lpstr>Part 1  Why Do Economywide Analysis?</vt:lpstr>
      <vt:lpstr>Agrifood Systems</vt:lpstr>
      <vt:lpstr>Economywide Models</vt:lpstr>
      <vt:lpstr>Types of Economywide Studies</vt:lpstr>
      <vt:lpstr>Data Reconciliation</vt:lpstr>
      <vt:lpstr>Part 2  Social Accounting Matrices (SAMs)</vt:lpstr>
      <vt:lpstr>What Is a SAM?</vt:lpstr>
      <vt:lpstr>Circular Flow and Accounting Identities</vt:lpstr>
      <vt:lpstr>SAM Structure</vt:lpstr>
      <vt:lpstr>Macro SAM  |  Data Sources</vt:lpstr>
      <vt:lpstr>Macro SAM  |  Entries </vt:lpstr>
      <vt:lpstr>Macro SAM  |  Details</vt:lpstr>
      <vt:lpstr>Supply-Use Table  |  Details</vt:lpstr>
      <vt:lpstr>Supply-Use Table  |  Data Sources</vt:lpstr>
      <vt:lpstr>Social Transfers  |  Details</vt:lpstr>
      <vt:lpstr>Social Transfers  |  Accounts</vt:lpstr>
      <vt:lpstr>Social Transfers  |  Data Sources</vt:lpstr>
      <vt:lpstr>Balancing SAMs  |  RAS Method</vt:lpstr>
      <vt:lpstr>Balancing SAMs  |  Cross-Entropy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 Economywide Analysis and Policy Prioritization</dc:title>
  <dc:creator>James Thurlow</dc:creator>
  <cp:lastModifiedBy>Thurlow, James (IFPRI)</cp:lastModifiedBy>
  <cp:revision>115</cp:revision>
  <dcterms:created xsi:type="dcterms:W3CDTF">2021-06-25T01:31:33Z</dcterms:created>
  <dcterms:modified xsi:type="dcterms:W3CDTF">2026-01-13T12:39:42Z</dcterms:modified>
</cp:coreProperties>
</file>