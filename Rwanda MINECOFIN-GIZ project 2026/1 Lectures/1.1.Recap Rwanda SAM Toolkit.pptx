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61" r:id="rId2"/>
    <p:sldId id="273" r:id="rId3"/>
    <p:sldId id="274" r:id="rId4"/>
    <p:sldId id="308" r:id="rId5"/>
    <p:sldId id="279" r:id="rId6"/>
    <p:sldId id="280" r:id="rId7"/>
    <p:sldId id="275" r:id="rId8"/>
    <p:sldId id="276" r:id="rId9"/>
    <p:sldId id="350" r:id="rId10"/>
    <p:sldId id="351" r:id="rId11"/>
    <p:sldId id="352" r:id="rId12"/>
    <p:sldId id="353" r:id="rId13"/>
    <p:sldId id="354" r:id="rId14"/>
    <p:sldId id="283" r:id="rId15"/>
    <p:sldId id="355" r:id="rId16"/>
    <p:sldId id="358" r:id="rId17"/>
    <p:sldId id="278" r:id="rId18"/>
    <p:sldId id="356" r:id="rId19"/>
    <p:sldId id="285" r:id="rId20"/>
    <p:sldId id="364" r:id="rId21"/>
    <p:sldId id="359" r:id="rId22"/>
    <p:sldId id="368" r:id="rId23"/>
    <p:sldId id="369" r:id="rId24"/>
    <p:sldId id="370" r:id="rId25"/>
    <p:sldId id="371" r:id="rId26"/>
    <p:sldId id="372" r:id="rId27"/>
    <p:sldId id="373" r:id="rId28"/>
    <p:sldId id="365" r:id="rId29"/>
    <p:sldId id="374" r:id="rId30"/>
    <p:sldId id="366" r:id="rId31"/>
    <p:sldId id="375" r:id="rId32"/>
    <p:sldId id="398" r:id="rId33"/>
    <p:sldId id="376" r:id="rId34"/>
    <p:sldId id="379" r:id="rId35"/>
    <p:sldId id="385" r:id="rId36"/>
    <p:sldId id="381" r:id="rId37"/>
    <p:sldId id="386" r:id="rId38"/>
    <p:sldId id="378" r:id="rId39"/>
    <p:sldId id="387" r:id="rId40"/>
    <p:sldId id="388" r:id="rId41"/>
    <p:sldId id="389" r:id="rId42"/>
    <p:sldId id="395" r:id="rId43"/>
    <p:sldId id="390" r:id="rId44"/>
    <p:sldId id="396" r:id="rId45"/>
    <p:sldId id="397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A63D"/>
    <a:srgbClr val="0B8EB8"/>
    <a:srgbClr val="C34E2D"/>
    <a:srgbClr val="366092"/>
    <a:srgbClr val="FFB300"/>
    <a:srgbClr val="54544B"/>
    <a:srgbClr val="687D2E"/>
    <a:srgbClr val="C65911"/>
    <a:srgbClr val="B9B9B9"/>
    <a:srgbClr val="5C8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8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8C934-C7E8-4610-B2C7-5E22C763977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72739-8F39-4090-97C2-B04BD67F4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09600"/>
            <a:ext cx="9144000" cy="750278"/>
          </a:xfrm>
          <a:prstGeom prst="rect">
            <a:avLst/>
          </a:prstGeom>
          <a:solidFill>
            <a:srgbClr val="545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343876"/>
            <a:ext cx="9144000" cy="265723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82096"/>
            <a:ext cx="7772400" cy="1853101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1154" y="4672746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22" y="1"/>
            <a:ext cx="2488908" cy="135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8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121977"/>
            <a:ext cx="9144000" cy="1000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221998"/>
            <a:ext cx="9144000" cy="850288"/>
          </a:xfrm>
          <a:prstGeom prst="rect">
            <a:avLst/>
          </a:prstGeom>
          <a:solidFill>
            <a:srgbClr val="545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78" y="221997"/>
            <a:ext cx="8077689" cy="85028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514" y="0"/>
            <a:ext cx="769305" cy="10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9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1998"/>
            <a:ext cx="9144000" cy="850288"/>
          </a:xfrm>
          <a:prstGeom prst="rect">
            <a:avLst/>
          </a:prstGeom>
          <a:solidFill>
            <a:srgbClr val="545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rgbClr val="54544B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l">
              <a:buNone/>
              <a:defRPr sz="2400" b="0">
                <a:solidFill>
                  <a:srgbClr val="54544B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21977"/>
            <a:ext cx="9144000" cy="1000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514" y="0"/>
            <a:ext cx="769305" cy="10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0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5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8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3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41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4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80" y="138480"/>
            <a:ext cx="8835781" cy="1088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79" y="1301993"/>
            <a:ext cx="8835781" cy="5395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569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69403" y="2502449"/>
            <a:ext cx="8005194" cy="1853101"/>
          </a:xfrm>
        </p:spPr>
        <p:txBody>
          <a:bodyPr>
            <a:normAutofit/>
          </a:bodyPr>
          <a:lstStyle/>
          <a:p>
            <a:r>
              <a:rPr lang="en-US" b="1" dirty="0"/>
              <a:t>Rwanda SAM Toolkit</a:t>
            </a:r>
            <a:br>
              <a:rPr lang="en-US" dirty="0"/>
            </a:br>
            <a:r>
              <a:rPr lang="en-US" sz="2800" dirty="0"/>
              <a:t>Standardized Approach to Building &amp; Updating SAMs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21154" y="4672746"/>
            <a:ext cx="6858000" cy="1975704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Emerta Aragie and James Thurlow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Recap Session | 30 Oct 2020</a:t>
            </a:r>
          </a:p>
        </p:txBody>
      </p:sp>
    </p:spTree>
    <p:extLst>
      <p:ext uri="{BB962C8B-B14F-4D97-AF65-F5344CB8AC3E}">
        <p14:creationId xmlns:p14="http://schemas.microsoft.com/office/powerpoint/2010/main" val="233544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27902" y="3049170"/>
            <a:ext cx="2601799" cy="381687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7902" y="3430858"/>
            <a:ext cx="2601799" cy="738663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885458" y="3048321"/>
            <a:ext cx="2601799" cy="381687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885458" y="3430009"/>
            <a:ext cx="2601799" cy="1600438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206680" y="3048321"/>
            <a:ext cx="2601799" cy="381687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206680" y="3430009"/>
            <a:ext cx="2601799" cy="738663"/>
          </a:xfrm>
          <a:prstGeom prst="rect">
            <a:avLst/>
          </a:prstGeom>
          <a:solidFill>
            <a:srgbClr val="FFB3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27903" y="3049171"/>
            <a:ext cx="2601798" cy="38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Macro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901" y="3430857"/>
            <a:ext cx="2601800" cy="73866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National accounts (SNA 2008)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Balance of payments (IMF BOP6)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Gov. finance (IMF GFSM2014)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5459" y="3048322"/>
            <a:ext cx="2601798" cy="38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Micro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5457" y="3430008"/>
            <a:ext cx="2601800" cy="160043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Agriculture production (FAOSTAT)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Industrial + economic surveys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Energy balance (IEA)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Trade flows (COMTRADE)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Tariffs (TRAINS)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Labor force surveys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Household surveys (LSMS)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6681" y="3048322"/>
            <a:ext cx="2601798" cy="38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Input-output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6679" y="3430008"/>
            <a:ext cx="2601800" cy="73866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Rebased national accounts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Agriculture censuses + surveys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Industrial firm surveys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SAM-Building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79" y="1301993"/>
            <a:ext cx="8557281" cy="152604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95288" algn="l"/>
              </a:tabLst>
            </a:pPr>
            <a:r>
              <a:rPr lang="en-US" b="1" dirty="0"/>
              <a:t>	Reconciles data from multiple sources</a:t>
            </a:r>
          </a:p>
          <a:p>
            <a:pPr lvl="1">
              <a:tabLst>
                <a:tab pos="395288" algn="l"/>
              </a:tabLst>
            </a:pPr>
            <a:r>
              <a:rPr lang="en-US" dirty="0"/>
              <a:t>Core toolkit tailored to national statistical reports</a:t>
            </a:r>
          </a:p>
          <a:p>
            <a:pPr lvl="1">
              <a:tabLst>
                <a:tab pos="395288" algn="l"/>
              </a:tabLst>
            </a:pPr>
            <a:r>
              <a:rPr lang="en-US" dirty="0"/>
              <a:t>Final data reconciliation uses cross-entropy estimation </a:t>
            </a:r>
          </a:p>
          <a:p>
            <a:pPr lvl="1">
              <a:tabLst>
                <a:tab pos="395288" algn="l"/>
              </a:tabLst>
            </a:pPr>
            <a:r>
              <a:rPr lang="en-US" dirty="0"/>
              <a:t>Coded in Microsoft Excel® and GAMS®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69" y="1301993"/>
            <a:ext cx="437944" cy="42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0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883502" y="1741425"/>
            <a:ext cx="3713898" cy="46166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83502" y="2203089"/>
            <a:ext cx="3713898" cy="646330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83502" y="1741425"/>
            <a:ext cx="37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1: Macro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502" y="2203088"/>
            <a:ext cx="37138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Single aggregate activity, commodity, labor and household accounts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0451" y="3074797"/>
            <a:ext cx="3713898" cy="461665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740451" y="3536460"/>
            <a:ext cx="3713898" cy="646330"/>
          </a:xfrm>
          <a:prstGeom prst="rect">
            <a:avLst/>
          </a:prstGeom>
          <a:solidFill>
            <a:srgbClr val="FFB3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740451" y="3074797"/>
            <a:ext cx="37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2: Supply-Use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0451" y="3536460"/>
            <a:ext cx="37138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Disaggregate and balance activity and commodity accounts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7400" y="4408169"/>
            <a:ext cx="3713898" cy="46166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97400" y="4869832"/>
            <a:ext cx="3713898" cy="646330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597400" y="4408169"/>
            <a:ext cx="37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3: Income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7400" y="4869832"/>
            <a:ext cx="37138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Disaggregate and balance labor and household accounts </a:t>
            </a:r>
          </a:p>
        </p:txBody>
      </p:sp>
    </p:spTree>
    <p:extLst>
      <p:ext uri="{BB962C8B-B14F-4D97-AF65-F5344CB8AC3E}">
        <p14:creationId xmlns:p14="http://schemas.microsoft.com/office/powerpoint/2010/main" val="5764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Toolkit Files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56579C9-050B-40E6-B15E-0F036BA1140A}"/>
              </a:ext>
            </a:extLst>
          </p:cNvPr>
          <p:cNvGrpSpPr/>
          <p:nvPr/>
        </p:nvGrpSpPr>
        <p:grpSpPr>
          <a:xfrm>
            <a:off x="215899" y="1708150"/>
            <a:ext cx="8712202" cy="4229675"/>
            <a:chOff x="286542" y="1727200"/>
            <a:chExt cx="8712202" cy="4229675"/>
          </a:xfrm>
        </p:grpSpPr>
        <p:sp>
          <p:nvSpPr>
            <p:cNvPr id="4" name="Text Box 2"/>
            <p:cNvSpPr txBox="1">
              <a:spLocks noChangeArrowheads="1"/>
            </p:cNvSpPr>
            <p:nvPr/>
          </p:nvSpPr>
          <p:spPr bwMode="auto">
            <a:xfrm>
              <a:off x="1902618" y="4291934"/>
              <a:ext cx="2419351" cy="814131"/>
            </a:xfrm>
            <a:prstGeom prst="rect">
              <a:avLst/>
            </a:prstGeom>
            <a:solidFill>
              <a:srgbClr val="C34E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Build and Balance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3household.gms                 4balance.gms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4748212" y="3489325"/>
              <a:ext cx="2412204" cy="584775"/>
            </a:xfrm>
            <a:prstGeom prst="rect">
              <a:avLst/>
            </a:prstGeom>
            <a:solidFill>
              <a:srgbClr val="0B8EB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Process survey data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(surveys folder)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749800" y="4406900"/>
              <a:ext cx="2410616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Prior Household SAM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3household.xlsx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749800" y="1727200"/>
              <a:ext cx="2419351" cy="584775"/>
            </a:xfrm>
            <a:prstGeom prst="rect">
              <a:avLst/>
            </a:prstGeom>
            <a:solidFill>
              <a:srgbClr val="0B8EB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Estimate SUT Coefficients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(workings folder)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748211" y="2578100"/>
              <a:ext cx="2419351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Prior National SAM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1national.xlsx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AutoShape 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5957887" y="2311975"/>
              <a:ext cx="1589" cy="266125"/>
            </a:xfrm>
            <a:prstGeom prst="straightConnector1">
              <a:avLst/>
            </a:prstGeom>
            <a:noFill/>
            <a:ln w="9525">
              <a:solidFill>
                <a:srgbClr val="0B8EB8"/>
              </a:solidFill>
              <a:round/>
              <a:headEnd/>
              <a:tailEnd type="triangle" w="lg" len="med"/>
            </a:ln>
          </p:spPr>
        </p:cxnSp>
        <p:cxnSp>
          <p:nvCxnSpPr>
            <p:cNvPr id="10" name="AutoShape 8"/>
            <p:cNvCxnSpPr>
              <a:cxnSpLocks noChangeShapeType="1"/>
              <a:stCxn id="8" idx="1"/>
              <a:endCxn id="14" idx="3"/>
            </p:cNvCxnSpPr>
            <p:nvPr/>
          </p:nvCxnSpPr>
          <p:spPr bwMode="auto">
            <a:xfrm flipH="1" flipV="1">
              <a:off x="4324351" y="2870487"/>
              <a:ext cx="423860" cy="1"/>
            </a:xfrm>
            <a:prstGeom prst="straightConnector1">
              <a:avLst/>
            </a:prstGeom>
            <a:noFill/>
            <a:ln w="9525">
              <a:solidFill>
                <a:srgbClr val="5C8E3A"/>
              </a:solidFill>
              <a:round/>
              <a:headEnd/>
              <a:tailEnd type="triangle" w="lg" len="med"/>
            </a:ln>
          </p:spPr>
        </p:cxnSp>
        <p:cxnSp>
          <p:nvCxnSpPr>
            <p:cNvPr id="11" name="AutoShape 9"/>
            <p:cNvCxnSpPr>
              <a:cxnSpLocks noChangeShapeType="1"/>
              <a:stCxn id="14" idx="2"/>
              <a:endCxn id="4" idx="0"/>
            </p:cNvCxnSpPr>
            <p:nvPr/>
          </p:nvCxnSpPr>
          <p:spPr bwMode="auto">
            <a:xfrm flipH="1">
              <a:off x="3112294" y="3285985"/>
              <a:ext cx="2382" cy="1005949"/>
            </a:xfrm>
            <a:prstGeom prst="straightConnector1">
              <a:avLst/>
            </a:prstGeom>
            <a:noFill/>
            <a:ln w="9525">
              <a:solidFill>
                <a:srgbClr val="C34E2D"/>
              </a:solidFill>
              <a:round/>
              <a:headEnd/>
              <a:tailEnd type="triangle" w="lg" len="med"/>
            </a:ln>
          </p:spPr>
        </p:cxnSp>
        <p:cxnSp>
          <p:nvCxnSpPr>
            <p:cNvPr id="12" name="AutoShape 10"/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>
              <a:off x="5954314" y="4074100"/>
              <a:ext cx="794" cy="332800"/>
            </a:xfrm>
            <a:prstGeom prst="straightConnector1">
              <a:avLst/>
            </a:prstGeom>
            <a:noFill/>
            <a:ln w="9525">
              <a:solidFill>
                <a:srgbClr val="0B8EB8"/>
              </a:solidFill>
              <a:round/>
              <a:headEnd/>
              <a:tailEnd type="triangle" w="lg" len="med"/>
            </a:ln>
          </p:spPr>
        </p:cxnSp>
        <p:cxnSp>
          <p:nvCxnSpPr>
            <p:cNvPr id="13" name="AutoShape 11"/>
            <p:cNvCxnSpPr>
              <a:cxnSpLocks noChangeShapeType="1"/>
              <a:stCxn id="6" idx="1"/>
              <a:endCxn id="4" idx="3"/>
            </p:cNvCxnSpPr>
            <p:nvPr/>
          </p:nvCxnSpPr>
          <p:spPr bwMode="auto">
            <a:xfrm flipH="1" flipV="1">
              <a:off x="4321969" y="4699000"/>
              <a:ext cx="427831" cy="288"/>
            </a:xfrm>
            <a:prstGeom prst="straightConnector1">
              <a:avLst/>
            </a:prstGeom>
            <a:noFill/>
            <a:ln w="9525">
              <a:solidFill>
                <a:srgbClr val="5C8E3A"/>
              </a:solidFill>
              <a:round/>
              <a:headEnd/>
              <a:tailEnd type="triangle" w="lg" len="med"/>
            </a:ln>
          </p:spPr>
        </p:cxn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905000" y="2454988"/>
              <a:ext cx="2419351" cy="830997"/>
            </a:xfrm>
            <a:prstGeom prst="rect">
              <a:avLst/>
            </a:prstGeom>
            <a:solidFill>
              <a:srgbClr val="C34E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Build and Balance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1national.gms 2balance.gms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7332905" y="1862717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7369417" y="1877005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solidFill>
                    <a:srgbClr val="54544B"/>
                  </a:solidFill>
                  <a:latin typeface="Calibri" pitchFamily="34" charset="0"/>
                </a:rPr>
                <a:t>Step 1</a:t>
              </a:r>
              <a:endParaRPr lang="en-US" sz="2800" b="1" dirty="0">
                <a:solidFill>
                  <a:srgbClr val="54544B"/>
                </a:solidFill>
              </a:endParaRPr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286542" y="2717096"/>
              <a:ext cx="182086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GAMS</a:t>
              </a:r>
              <a:r>
                <a:rPr lang="en-US" sz="1600" dirty="0">
                  <a:solidFill>
                    <a:srgbClr val="54544B"/>
                  </a:solidFill>
                </a:rPr>
                <a:t>: Press F9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1905001" y="5372100"/>
              <a:ext cx="2419350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Balanced SAMs 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(0output.xlsx)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AutoShape 28"/>
            <p:cNvCxnSpPr>
              <a:cxnSpLocks noChangeShapeType="1"/>
              <a:stCxn id="4" idx="2"/>
              <a:endCxn id="19" idx="0"/>
            </p:cNvCxnSpPr>
            <p:nvPr/>
          </p:nvCxnSpPr>
          <p:spPr bwMode="auto">
            <a:xfrm>
              <a:off x="3112294" y="5106065"/>
              <a:ext cx="2382" cy="266035"/>
            </a:xfrm>
            <a:prstGeom prst="straightConnector1">
              <a:avLst/>
            </a:prstGeom>
            <a:noFill/>
            <a:ln w="9525">
              <a:solidFill>
                <a:srgbClr val="C34E2D"/>
              </a:solidFill>
              <a:round/>
              <a:headEnd/>
              <a:tailEnd type="triangle" w="lg" len="med"/>
            </a:ln>
          </p:spPr>
        </p:cxnSp>
        <p:sp>
          <p:nvSpPr>
            <p:cNvPr id="21" name="Text Box 32"/>
            <p:cNvSpPr txBox="1">
              <a:spLocks noChangeArrowheads="1"/>
            </p:cNvSpPr>
            <p:nvPr/>
          </p:nvSpPr>
          <p:spPr bwMode="auto">
            <a:xfrm>
              <a:off x="7194148" y="4421980"/>
              <a:ext cx="1598613" cy="554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Excel</a:t>
              </a:r>
              <a:r>
                <a:rPr lang="en-US" sz="1600" dirty="0">
                  <a:solidFill>
                    <a:srgbClr val="54544B"/>
                  </a:solidFill>
                </a:rPr>
                <a:t>: Split households 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22" name="Text Box 33"/>
            <p:cNvSpPr txBox="1">
              <a:spLocks noChangeArrowheads="1"/>
            </p:cNvSpPr>
            <p:nvPr/>
          </p:nvSpPr>
          <p:spPr bwMode="auto">
            <a:xfrm>
              <a:off x="325437" y="4529723"/>
              <a:ext cx="22098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GAMS</a:t>
              </a:r>
              <a:r>
                <a:rPr lang="en-US" sz="1600" dirty="0">
                  <a:solidFill>
                    <a:srgbClr val="54544B"/>
                  </a:solidFill>
                </a:rPr>
                <a:t>: Press F9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24" name="Oval 14"/>
            <p:cNvSpPr>
              <a:spLocks noChangeArrowheads="1"/>
            </p:cNvSpPr>
            <p:nvPr/>
          </p:nvSpPr>
          <p:spPr bwMode="auto">
            <a:xfrm>
              <a:off x="407194" y="2297687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443706" y="2311975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solidFill>
                    <a:srgbClr val="54544B"/>
                  </a:solidFill>
                  <a:latin typeface="Calibri" pitchFamily="34" charset="0"/>
                </a:rPr>
                <a:t>Step 2</a:t>
              </a:r>
              <a:endParaRPr lang="en-US" sz="2800" b="1" dirty="0">
                <a:solidFill>
                  <a:srgbClr val="54544B"/>
                </a:solidFill>
              </a:endParaRP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7282105" y="4033985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7318617" y="4048273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solidFill>
                    <a:srgbClr val="54544B"/>
                  </a:solidFill>
                  <a:latin typeface="Calibri" pitchFamily="34" charset="0"/>
                </a:rPr>
                <a:t>Step 3</a:t>
              </a:r>
              <a:endParaRPr lang="en-US" sz="2800" b="1">
                <a:solidFill>
                  <a:srgbClr val="54544B"/>
                </a:solidFill>
              </a:endParaRPr>
            </a:p>
          </p:txBody>
        </p:sp>
        <p:sp>
          <p:nvSpPr>
            <p:cNvPr id="28" name="Oval 14"/>
            <p:cNvSpPr>
              <a:spLocks noChangeArrowheads="1"/>
            </p:cNvSpPr>
            <p:nvPr/>
          </p:nvSpPr>
          <p:spPr bwMode="auto">
            <a:xfrm>
              <a:off x="443706" y="4132998"/>
              <a:ext cx="779463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480219" y="4147286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solidFill>
                    <a:srgbClr val="54544B"/>
                  </a:solidFill>
                  <a:latin typeface="Calibri" pitchFamily="34" charset="0"/>
                </a:rPr>
                <a:t>Step 4</a:t>
              </a:r>
              <a:endParaRPr lang="en-US" sz="2800" b="1">
                <a:solidFill>
                  <a:srgbClr val="54544B"/>
                </a:solidFill>
              </a:endParaRPr>
            </a:p>
          </p:txBody>
        </p:sp>
        <p:sp>
          <p:nvSpPr>
            <p:cNvPr id="58" name="Text Box 32">
              <a:extLst>
                <a:ext uri="{FF2B5EF4-FFF2-40B4-BE49-F238E27FC236}">
                  <a16:creationId xmlns:a16="http://schemas.microsoft.com/office/drawing/2014/main" id="{3E059027-7BCB-4BAB-89F1-A8CFEC3C1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4148" y="2579620"/>
              <a:ext cx="1804596" cy="554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Excel</a:t>
              </a:r>
              <a:r>
                <a:rPr lang="en-US" sz="1600" dirty="0">
                  <a:solidFill>
                    <a:srgbClr val="54544B"/>
                  </a:solidFill>
                </a:rPr>
                <a:t>: Build Macro SAM; split activities &amp; commodities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88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800" y="4121148"/>
            <a:ext cx="608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4544B"/>
                </a:solidFill>
              </a:rPr>
              <a:t>Step 1: Macro SAM</a:t>
            </a:r>
            <a:endParaRPr lang="en-US" sz="2400" b="1" dirty="0">
              <a:solidFill>
                <a:srgbClr val="54544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767478"/>
            <a:ext cx="914400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7800" y="4767478"/>
            <a:ext cx="6085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44B"/>
                </a:solidFill>
              </a:rPr>
              <a:t>Constructing aggregate accounts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 main data sources:</a:t>
            </a:r>
          </a:p>
          <a:p>
            <a:r>
              <a:rPr lang="en-US" dirty="0"/>
              <a:t>National Accounts (activity and commodity accounts)</a:t>
            </a:r>
          </a:p>
          <a:p>
            <a:r>
              <a:rPr lang="en-US" dirty="0"/>
              <a:t>Government Financial Statistics (spending and tax accounts)</a:t>
            </a:r>
          </a:p>
          <a:p>
            <a:r>
              <a:rPr lang="en-US" dirty="0"/>
              <a:t>Balance of Payments (external account)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b="1" dirty="0"/>
              <a:t>Standardized concordance between SAM and classification systems</a:t>
            </a:r>
          </a:p>
          <a:p>
            <a:r>
              <a:rPr lang="en-US" dirty="0"/>
              <a:t>GFS2014 &amp; BOP6 → SNA 2008 → Macro SAM accounts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b="1" dirty="0"/>
              <a:t>Inconsistent values across sources requires reconciliation:</a:t>
            </a:r>
          </a:p>
          <a:p>
            <a:r>
              <a:rPr lang="en-US" dirty="0"/>
              <a:t>Consistency with national accounts afforded highest priority, followed by BOPs  and then GFS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7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777677"/>
              </p:ext>
            </p:extLst>
          </p:nvPr>
        </p:nvGraphicFramePr>
        <p:xfrm>
          <a:off x="123825" y="1263650"/>
          <a:ext cx="883601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34E2D"/>
                          </a:solidFill>
                        </a:rPr>
                        <a:t>NA</a:t>
                      </a: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C8E3A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9578" y="590550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NA    </a:t>
            </a:r>
            <a:r>
              <a:rPr lang="en-US" dirty="0">
                <a:solidFill>
                  <a:srgbClr val="C34E2D"/>
                </a:solidFill>
              </a:rPr>
              <a:t>National Accounts</a:t>
            </a:r>
          </a:p>
          <a:p>
            <a:r>
              <a:rPr lang="en-US" b="1" dirty="0">
                <a:solidFill>
                  <a:srgbClr val="5C8E3A"/>
                </a:solidFill>
              </a:rPr>
              <a:t>GFS   </a:t>
            </a:r>
            <a:r>
              <a:rPr lang="en-US" dirty="0">
                <a:solidFill>
                  <a:srgbClr val="5C8E3A"/>
                </a:solidFill>
              </a:rPr>
              <a:t>Government Financial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8422" y="590550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B8EB8"/>
                </a:solidFill>
              </a:rPr>
              <a:t>BOP   </a:t>
            </a:r>
            <a:r>
              <a:rPr lang="en-US" dirty="0">
                <a:solidFill>
                  <a:srgbClr val="0B8EB8"/>
                </a:solidFill>
              </a:rPr>
              <a:t>Balance of Payments</a:t>
            </a:r>
          </a:p>
          <a:p>
            <a:r>
              <a:rPr lang="en-US" b="1" dirty="0">
                <a:solidFill>
                  <a:srgbClr val="54544B"/>
                </a:solidFill>
              </a:rPr>
              <a:t>X        </a:t>
            </a:r>
            <a:r>
              <a:rPr lang="en-US" dirty="0">
                <a:solidFill>
                  <a:srgbClr val="54544B"/>
                </a:solidFill>
              </a:rPr>
              <a:t>Convention or residual</a:t>
            </a:r>
          </a:p>
        </p:txBody>
      </p:sp>
    </p:spTree>
    <p:extLst>
      <p:ext uri="{BB962C8B-B14F-4D97-AF65-F5344CB8AC3E}">
        <p14:creationId xmlns:p14="http://schemas.microsoft.com/office/powerpoint/2010/main" val="409270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937963"/>
              </p:ext>
            </p:extLst>
          </p:nvPr>
        </p:nvGraphicFramePr>
        <p:xfrm>
          <a:off x="123825" y="1263650"/>
          <a:ext cx="883601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848702" y="4336432"/>
            <a:ext cx="44250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Activities (producer) | Export duties | Import duties | Sales or VAT | Factor | Direct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48702" y="2417061"/>
            <a:ext cx="2380398" cy="46166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48702" y="2878725"/>
            <a:ext cx="2380398" cy="369331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48702" y="2417061"/>
            <a:ext cx="238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8702" y="2878724"/>
            <a:ext cx="2380398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Labor | Land | Capital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8702" y="3874769"/>
            <a:ext cx="4425098" cy="46166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8702" y="4336432"/>
            <a:ext cx="4425098" cy="626715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48702" y="3874769"/>
            <a:ext cx="326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Taxes</a:t>
            </a:r>
          </a:p>
        </p:txBody>
      </p:sp>
    </p:spTree>
    <p:extLst>
      <p:ext uri="{BB962C8B-B14F-4D97-AF65-F5344CB8AC3E}">
        <p14:creationId xmlns:p14="http://schemas.microsoft.com/office/powerpoint/2010/main" val="199067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BCCB-9DF4-455E-9DD3-19EA4205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National SAM Excel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4267B-4F86-4456-9694-2D003856C312}"/>
              </a:ext>
            </a:extLst>
          </p:cNvPr>
          <p:cNvSpPr txBox="1"/>
          <p:nvPr/>
        </p:nvSpPr>
        <p:spPr>
          <a:xfrm>
            <a:off x="1103197" y="1366652"/>
            <a:ext cx="3552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4544B"/>
                </a:solidFill>
              </a:rPr>
              <a:t>1national.xlsx | Notes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3F27E-E0EE-4829-A41E-C9A9DDEE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97" y="1643651"/>
            <a:ext cx="8040803" cy="5109574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7883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09DA-1E7B-4A90-8CA1-29170AA5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3E3D-4644-4F58-82B3-3A74D7BED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Black &amp; gray sheets</a:t>
            </a:r>
          </a:p>
          <a:p>
            <a:pPr lvl="1"/>
            <a:r>
              <a:rPr lang="en-US" dirty="0"/>
              <a:t>Notes and GAMS parameters</a:t>
            </a:r>
          </a:p>
          <a:p>
            <a:endParaRPr lang="en-US" sz="1000" dirty="0"/>
          </a:p>
          <a:p>
            <a:r>
              <a:rPr lang="en-US" b="1" dirty="0">
                <a:solidFill>
                  <a:srgbClr val="0B8EB8"/>
                </a:solidFill>
              </a:rPr>
              <a:t>Blue sheets</a:t>
            </a:r>
          </a:p>
          <a:p>
            <a:pPr lvl="1"/>
            <a:r>
              <a:rPr lang="en-US" dirty="0"/>
              <a:t>Final data imported directly into GAMS</a:t>
            </a:r>
          </a:p>
          <a:p>
            <a:endParaRPr lang="en-US" sz="1000" dirty="0"/>
          </a:p>
          <a:p>
            <a:r>
              <a:rPr lang="en-US" b="1" dirty="0">
                <a:solidFill>
                  <a:srgbClr val="8AA63D"/>
                </a:solidFill>
              </a:rPr>
              <a:t>Green sheets</a:t>
            </a:r>
          </a:p>
          <a:p>
            <a:pPr lvl="1"/>
            <a:r>
              <a:rPr lang="en-US" dirty="0"/>
              <a:t>Working sheets with original data, transformed into GAMS-ready formats</a:t>
            </a:r>
          </a:p>
          <a:p>
            <a:pPr lvl="1"/>
            <a:r>
              <a:rPr lang="en-US" dirty="0"/>
              <a:t>Updated frequently (every year) – national accounts, trade flows, etc.</a:t>
            </a:r>
          </a:p>
          <a:p>
            <a:endParaRPr lang="en-US" sz="1000" dirty="0"/>
          </a:p>
          <a:p>
            <a:r>
              <a:rPr lang="en-US" b="1" dirty="0">
                <a:solidFill>
                  <a:srgbClr val="C65911"/>
                </a:solidFill>
              </a:rPr>
              <a:t>Orange sheets</a:t>
            </a:r>
          </a:p>
          <a:p>
            <a:pPr lvl="1"/>
            <a:r>
              <a:rPr lang="en-US" dirty="0"/>
              <a:t>Working sheets with original data</a:t>
            </a:r>
          </a:p>
          <a:p>
            <a:pPr lvl="1"/>
            <a:r>
              <a:rPr lang="en-US" dirty="0"/>
              <a:t>Updated less frequently (every few years) – survey data, SUT coefficients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1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347A-0C1A-413A-86BE-13650DAC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Sheets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8DB59D-B644-4C93-8786-D54C6D22B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w-GFS</a:t>
            </a:r>
            <a:r>
              <a:rPr lang="en-US" b="1" dirty="0"/>
              <a:t>  </a:t>
            </a:r>
            <a:r>
              <a:rPr lang="en-US" dirty="0"/>
              <a:t>	Government Financial Statistics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w-BOP</a:t>
            </a:r>
            <a:r>
              <a:rPr lang="en-US" b="1" dirty="0"/>
              <a:t>   </a:t>
            </a:r>
            <a:r>
              <a:rPr lang="en-US" dirty="0"/>
              <a:t>	Balance of Payments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GDPe</a:t>
            </a:r>
            <a:r>
              <a:rPr lang="en-US" dirty="0"/>
              <a:t>   	National Accounts (GDP expenditure-side)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GDPp</a:t>
            </a:r>
            <a:r>
              <a:rPr lang="en-US" dirty="0"/>
              <a:t>	National Accounts (GDP production-side)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w-Macro</a:t>
            </a:r>
            <a:r>
              <a:rPr lang="en-US" dirty="0"/>
              <a:t>	Consolidation sheet for balancing Macro SAM</a:t>
            </a:r>
          </a:p>
          <a:p>
            <a:endParaRPr lang="en-US" sz="900" dirty="0"/>
          </a:p>
          <a:p>
            <a:r>
              <a:rPr lang="en-US" b="1" dirty="0">
                <a:solidFill>
                  <a:srgbClr val="0B8EB8"/>
                </a:solidFill>
              </a:rPr>
              <a:t>Macro</a:t>
            </a:r>
            <a:r>
              <a:rPr lang="en-US" b="1" dirty="0"/>
              <a:t> </a:t>
            </a:r>
            <a:r>
              <a:rPr lang="en-US" dirty="0"/>
              <a:t>	Final Macro SAM imported into GAMS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67808-529A-4F59-B17C-6313A15F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86976"/>
            <a:ext cx="9144000" cy="95119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77A91F-BFBE-439C-9733-56CE66282888}"/>
              </a:ext>
            </a:extLst>
          </p:cNvPr>
          <p:cNvSpPr/>
          <p:nvPr/>
        </p:nvSpPr>
        <p:spPr>
          <a:xfrm>
            <a:off x="3295650" y="5486400"/>
            <a:ext cx="3629025" cy="35177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EE8A7-9073-4ED7-87BC-A42EE9527D59}"/>
              </a:ext>
            </a:extLst>
          </p:cNvPr>
          <p:cNvSpPr txBox="1"/>
          <p:nvPr/>
        </p:nvSpPr>
        <p:spPr>
          <a:xfrm>
            <a:off x="6836510" y="5790883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1national.xlsx | Notes</a:t>
            </a:r>
          </a:p>
        </p:txBody>
      </p:sp>
    </p:spTree>
    <p:extLst>
      <p:ext uri="{BB962C8B-B14F-4D97-AF65-F5344CB8AC3E}">
        <p14:creationId xmlns:p14="http://schemas.microsoft.com/office/powerpoint/2010/main" val="105618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750D-2D31-48D2-8BAF-845FF6D4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Macro T-Accounts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450A-513B-4069-9F72-0F050C04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317507"/>
          </a:xfrm>
        </p:spPr>
        <p:txBody>
          <a:bodyPr/>
          <a:lstStyle/>
          <a:p>
            <a:r>
              <a:rPr lang="en-US" b="1" dirty="0"/>
              <a:t>Assign detailed NA, BOP and GFS data to Macro SAM accounts</a:t>
            </a:r>
          </a:p>
          <a:p>
            <a:pPr lvl="1"/>
            <a:r>
              <a:rPr lang="en-US" dirty="0"/>
              <a:t>Following classification guidelines from SNA2008</a:t>
            </a:r>
          </a:p>
          <a:p>
            <a:pPr lvl="1"/>
            <a:r>
              <a:rPr lang="en-US" dirty="0"/>
              <a:t>Double-entry bookkeeping (receipts vs. payments)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D241C-7ECF-48EB-AEB8-25431BF7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7073"/>
            <a:ext cx="9144000" cy="292823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400155-A50A-44DF-AC48-7E0C41017A44}"/>
              </a:ext>
            </a:extLst>
          </p:cNvPr>
          <p:cNvSpPr txBox="1"/>
          <p:nvPr/>
        </p:nvSpPr>
        <p:spPr>
          <a:xfrm>
            <a:off x="6457949" y="264886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1national.xlsx | w-Macro</a:t>
            </a:r>
          </a:p>
        </p:txBody>
      </p:sp>
    </p:spTree>
    <p:extLst>
      <p:ext uri="{BB962C8B-B14F-4D97-AF65-F5344CB8AC3E}">
        <p14:creationId xmlns:p14="http://schemas.microsoft.com/office/powerpoint/2010/main" val="404746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5C4A-376A-4903-9DE7-6191AA0E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Macro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B6E3-15B4-4724-8C15-1475399AC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1774581"/>
          </a:xfrm>
        </p:spPr>
        <p:txBody>
          <a:bodyPr>
            <a:normAutofit/>
          </a:bodyPr>
          <a:lstStyle/>
          <a:p>
            <a:r>
              <a:rPr lang="en-US" dirty="0"/>
              <a:t>Square matrix (rows = columns)</a:t>
            </a:r>
          </a:p>
          <a:p>
            <a:r>
              <a:rPr lang="en-US" dirty="0"/>
              <a:t>Aggregate accounts (1 activity, 1 commodity, 1 households)</a:t>
            </a:r>
          </a:p>
          <a:p>
            <a:r>
              <a:rPr lang="en-US" dirty="0"/>
              <a:t>Detailed factors (labor, land, capital) and taxes (activity, direct, export, import, sales)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C930A-E10A-4852-B643-6AEA43B41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6575"/>
            <a:ext cx="9144000" cy="303928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F0A41-A32C-4491-800B-84782CB8E5DA}"/>
              </a:ext>
            </a:extLst>
          </p:cNvPr>
          <p:cNvSpPr txBox="1"/>
          <p:nvPr/>
        </p:nvSpPr>
        <p:spPr>
          <a:xfrm>
            <a:off x="6493610" y="6190599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1national.xlsx | w-Macro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C401F9-5B85-4477-A7E9-E41EF2A02C40}"/>
              </a:ext>
            </a:extLst>
          </p:cNvPr>
          <p:cNvSpPr/>
          <p:nvPr/>
        </p:nvSpPr>
        <p:spPr>
          <a:xfrm>
            <a:off x="1762125" y="5838825"/>
            <a:ext cx="2219325" cy="35177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1F0BF-CFD9-4950-A1F5-3994680ADE86}"/>
              </a:ext>
            </a:extLst>
          </p:cNvPr>
          <p:cNvSpPr txBox="1"/>
          <p:nvPr/>
        </p:nvSpPr>
        <p:spPr>
          <a:xfrm>
            <a:off x="1042987" y="6219174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34E2D"/>
                </a:solidFill>
              </a:rPr>
              <a:t>Manually separate private savings between households and enterprises</a:t>
            </a:r>
          </a:p>
        </p:txBody>
      </p:sp>
    </p:spTree>
    <p:extLst>
      <p:ext uri="{BB962C8B-B14F-4D97-AF65-F5344CB8AC3E}">
        <p14:creationId xmlns:p14="http://schemas.microsoft.com/office/powerpoint/2010/main" val="2478278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800" y="4121148"/>
            <a:ext cx="608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4544B"/>
                </a:solidFill>
              </a:rPr>
              <a:t>Step 2: Supply-Use Table</a:t>
            </a:r>
            <a:endParaRPr lang="en-US" sz="2400" b="1" dirty="0">
              <a:solidFill>
                <a:srgbClr val="54544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800" y="4767478"/>
            <a:ext cx="788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44B"/>
                </a:solidFill>
              </a:rPr>
              <a:t>Disaggregating activities and commodities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74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3825" y="1263650"/>
          <a:ext cx="883601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2026" y="1628775"/>
            <a:ext cx="7177813" cy="742950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BB4BB3-5B09-4811-A4AB-B45D1132D1DF}"/>
              </a:ext>
            </a:extLst>
          </p:cNvPr>
          <p:cNvSpPr/>
          <p:nvPr/>
        </p:nvSpPr>
        <p:spPr>
          <a:xfrm>
            <a:off x="1782025" y="2371725"/>
            <a:ext cx="1304074" cy="3342005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B7EEF6-3E10-4305-AD55-BD74302A335F}"/>
              </a:ext>
            </a:extLst>
          </p:cNvPr>
          <p:cNvSpPr/>
          <p:nvPr/>
        </p:nvSpPr>
        <p:spPr>
          <a:xfrm>
            <a:off x="2544027" y="1758085"/>
            <a:ext cx="4817947" cy="46166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EB400D-6EAF-44D7-81DC-B7C96D3048BF}"/>
              </a:ext>
            </a:extLst>
          </p:cNvPr>
          <p:cNvSpPr txBox="1"/>
          <p:nvPr/>
        </p:nvSpPr>
        <p:spPr>
          <a:xfrm>
            <a:off x="2731845" y="1748363"/>
            <a:ext cx="4442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117 activities + 117 commodities</a:t>
            </a:r>
          </a:p>
        </p:txBody>
      </p:sp>
    </p:spTree>
    <p:extLst>
      <p:ext uri="{BB962C8B-B14F-4D97-AF65-F5344CB8AC3E}">
        <p14:creationId xmlns:p14="http://schemas.microsoft.com/office/powerpoint/2010/main" val="374322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4786" y="1358821"/>
            <a:ext cx="8514428" cy="1070585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0612" y="1502766"/>
            <a:ext cx="8018889" cy="73866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50" dirty="0">
                <a:solidFill>
                  <a:srgbClr val="54544B"/>
                </a:solidFill>
              </a:rPr>
              <a:t>Maize | Sorghum + millet | Rice | Wheat + barley | Other cereals | Pulses | Groundnuts | Other oilseeds | Cassava | Irish potatoes | Sweet potatoes | Other roots | Leafy vegetables | Other vegetables | Sugarcane | Tobacco | Cotton + fibers | Nuts | Bananas + plantains | Other fruits | Tea | Coffee | Cocoa | Cut flowers | Rubber | Other crops | Cattle | Raw milk | Poultry | Eggs | Sheep + goats | Other livestock | Forestry | Aquaculture | Capture fisheries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Rwanda Activities &amp; Commodities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787" y="1130925"/>
            <a:ext cx="8514426" cy="317302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/>
          <p:cNvSpPr txBox="1"/>
          <p:nvPr/>
        </p:nvSpPr>
        <p:spPr>
          <a:xfrm>
            <a:off x="314790" y="1140450"/>
            <a:ext cx="2537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Agricultural Sectors &amp; Products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AC10DE-5C29-43D9-A0C2-15C55E87DCC9}"/>
              </a:ext>
            </a:extLst>
          </p:cNvPr>
          <p:cNvSpPr/>
          <p:nvPr/>
        </p:nvSpPr>
        <p:spPr>
          <a:xfrm>
            <a:off x="314785" y="2489953"/>
            <a:ext cx="8514428" cy="2233590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ECAFFF-4EDD-471D-8A63-A80646E7E77A}"/>
              </a:ext>
            </a:extLst>
          </p:cNvPr>
          <p:cNvSpPr txBox="1"/>
          <p:nvPr/>
        </p:nvSpPr>
        <p:spPr>
          <a:xfrm>
            <a:off x="680611" y="2683299"/>
            <a:ext cx="8018889" cy="18697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50" dirty="0">
                <a:solidFill>
                  <a:srgbClr val="54544B"/>
                </a:solidFill>
              </a:rPr>
              <a:t>Coal and lignite | Crude oil | Natural gas | Metal ores | Quarry and other mining products | Meat and meat products | Prepared and preserved fish | Dairy products | Prepared and preserved vegetables | Animal and vegetable oils and fats | Milled maize products | Milled sorghum and millet products | Milled rice products | Milled wheat and barley products | Other milled grain products | Sugar refining | Coffee processing |Tea processing | Bakery products| Other foods | Animal feed &amp; other by-products | Alcoholic drinks | Soft drinks | Tobacco products | Cotton yarn | Textiles | Clothing | Leather and footwear | Wood and related products | Paper and related products | Printing and reproduction of recorded media | Coke and refined  | petroleum products | Fertilizers and herbicides | Pharmaceutical products | Rubber and plastics products | Other chemicals  and chemical products | Other non-metallic mineral products | Manufacture of cement, lime and plaster |  Manufacture of clay building materials | Metals &amp; metal products, except machinery and equipment | Machinery (except transport) | Electrical machinery | Transport equipment (incl. vehicles) | Furniture | Other manufacturing | Repair and installation of machinery and equipment | Electricity, gas, steam and air conditioning supply | Water collection, treatment and supply: sewage | Waste collection and management | Construction (modern) | Construction (traditional)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943D11-4DD6-4C6F-AC38-5078330655BC}"/>
              </a:ext>
            </a:extLst>
          </p:cNvPr>
          <p:cNvSpPr/>
          <p:nvPr/>
        </p:nvSpPr>
        <p:spPr>
          <a:xfrm>
            <a:off x="314786" y="2313307"/>
            <a:ext cx="8514426" cy="317302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4DD4FE-E86C-4E98-9943-D00FDAFCC0D7}"/>
              </a:ext>
            </a:extLst>
          </p:cNvPr>
          <p:cNvSpPr txBox="1"/>
          <p:nvPr/>
        </p:nvSpPr>
        <p:spPr>
          <a:xfrm>
            <a:off x="314790" y="2322832"/>
            <a:ext cx="265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Industrial Sectors &amp; Products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2B23D0-0785-48E4-956A-7EA87A9BCF72}"/>
              </a:ext>
            </a:extLst>
          </p:cNvPr>
          <p:cNvSpPr/>
          <p:nvPr/>
        </p:nvSpPr>
        <p:spPr>
          <a:xfrm>
            <a:off x="314782" y="4964220"/>
            <a:ext cx="8514428" cy="1700413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BE5D2-90AE-4D65-94C2-A3E6A02DB64B}"/>
              </a:ext>
            </a:extLst>
          </p:cNvPr>
          <p:cNvSpPr txBox="1"/>
          <p:nvPr/>
        </p:nvSpPr>
        <p:spPr>
          <a:xfrm>
            <a:off x="680611" y="5054801"/>
            <a:ext cx="8018889" cy="15465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50" dirty="0">
                <a:solidFill>
                  <a:srgbClr val="54544B"/>
                </a:solidFill>
              </a:rPr>
              <a:t>Maintenance and repair of motor vehicles | Wholesale and retail trade of motor vehicles and motorcycles | Wholesale trade, except of motor vehicles and motorcycles | Retail trade, except of motor vehicles and motorcycles | Land transport | Air transport | Services related to transport | Postal and courier activities | Accommodation | Restaurants and food services | Publishing, video making, programming &amp; broadcasting activities | Telecommunication | Information technology services | Monetary institutions | Insurance, reinsurance and pension funding, except compulsory social security | Other financial services | Rental value of dwellings | Other real estate activities | Legal, accounting management &amp; head office activities | Architectural and engineering activities | Other professional, scientific and technical activities | Travel agents and tour operators | Other administrative and support service activities | Public administration and </a:t>
            </a:r>
            <a:r>
              <a:rPr lang="en-US" sz="1050" dirty="0" err="1">
                <a:solidFill>
                  <a:srgbClr val="54544B"/>
                </a:solidFill>
              </a:rPr>
              <a:t>defence</a:t>
            </a:r>
            <a:r>
              <a:rPr lang="en-US" sz="1050" dirty="0">
                <a:solidFill>
                  <a:srgbClr val="54544B"/>
                </a:solidFill>
              </a:rPr>
              <a:t>; compulsory social security | Education | Human health activities | Social work activities | Libraries, archives, museums and other cultural activities | Other arts, entertainment and recreation | Domestic services | Other service activities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511AAF-45FC-4457-A132-0A93856259C3}"/>
              </a:ext>
            </a:extLst>
          </p:cNvPr>
          <p:cNvSpPr/>
          <p:nvPr/>
        </p:nvSpPr>
        <p:spPr>
          <a:xfrm>
            <a:off x="314783" y="4715339"/>
            <a:ext cx="8514426" cy="317302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39C7D3-2D4B-414E-9DA2-51653102C806}"/>
              </a:ext>
            </a:extLst>
          </p:cNvPr>
          <p:cNvSpPr txBox="1"/>
          <p:nvPr/>
        </p:nvSpPr>
        <p:spPr>
          <a:xfrm>
            <a:off x="314787" y="4724864"/>
            <a:ext cx="2271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Service Sectors &amp; Products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53033D-AB87-44C7-AF42-FD8B046B15B1}"/>
              </a:ext>
            </a:extLst>
          </p:cNvPr>
          <p:cNvSpPr txBox="1"/>
          <p:nvPr/>
        </p:nvSpPr>
        <p:spPr>
          <a:xfrm>
            <a:off x="314783" y="1463722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43A7-C644-45A0-86EC-15D48F1779DB}"/>
              </a:ext>
            </a:extLst>
          </p:cNvPr>
          <p:cNvSpPr txBox="1"/>
          <p:nvPr/>
        </p:nvSpPr>
        <p:spPr>
          <a:xfrm>
            <a:off x="314783" y="2640400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51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7E42F5-CDFB-4403-BA01-0A4C93309A55}"/>
              </a:ext>
            </a:extLst>
          </p:cNvPr>
          <p:cNvSpPr txBox="1"/>
          <p:nvPr/>
        </p:nvSpPr>
        <p:spPr>
          <a:xfrm>
            <a:off x="314780" y="5048136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81714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Main data sources:</a:t>
            </a:r>
          </a:p>
          <a:p>
            <a:r>
              <a:rPr lang="en-US" dirty="0"/>
              <a:t>National accounts (GDP by sector, trade margins)</a:t>
            </a:r>
          </a:p>
          <a:p>
            <a:r>
              <a:rPr lang="en-US" dirty="0"/>
              <a:t>Agricultural and industrial production data and surveys</a:t>
            </a:r>
          </a:p>
          <a:p>
            <a:r>
              <a:rPr lang="en-US" dirty="0"/>
              <a:t>Input-output table</a:t>
            </a:r>
          </a:p>
          <a:p>
            <a:r>
              <a:rPr lang="en-US" dirty="0"/>
              <a:t>Trade and tax data (esp. VAT and customs duties)</a:t>
            </a:r>
          </a:p>
          <a:p>
            <a:r>
              <a:rPr lang="en-US" dirty="0"/>
              <a:t>Household expenditure survey (consumption demand vector)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b="1" dirty="0"/>
              <a:t>Standardized concordance between SAM and classification systems</a:t>
            </a:r>
          </a:p>
          <a:p>
            <a:r>
              <a:rPr lang="en-US" dirty="0"/>
              <a:t>ISIC3.1, ISIC4, HS2007, COICOP → Disaggregated SAM accounts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b="1" dirty="0"/>
              <a:t>Inconsistent values across sources requires reconciliation:</a:t>
            </a:r>
          </a:p>
          <a:p>
            <a:r>
              <a:rPr lang="en-US" dirty="0"/>
              <a:t>Balanced using cross-entropy techniques in GAMS®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1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510465"/>
              </p:ext>
            </p:extLst>
          </p:nvPr>
        </p:nvGraphicFramePr>
        <p:xfrm>
          <a:off x="123825" y="1263650"/>
          <a:ext cx="883601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SUT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34E2D"/>
                          </a:solidFill>
                        </a:rPr>
                        <a:t>SUT</a:t>
                      </a: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SUT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SVY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8AA63D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TRD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SVY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8AA63D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8AA63D"/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TRD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9578" y="590550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SUT    </a:t>
            </a:r>
            <a:r>
              <a:rPr lang="en-US" dirty="0">
                <a:solidFill>
                  <a:srgbClr val="C34E2D"/>
                </a:solidFill>
              </a:rPr>
              <a:t>Supply-Use Table</a:t>
            </a:r>
          </a:p>
          <a:p>
            <a:r>
              <a:rPr lang="en-US" b="1" dirty="0">
                <a:solidFill>
                  <a:srgbClr val="5C8E3A"/>
                </a:solidFill>
              </a:rPr>
              <a:t>GFS   </a:t>
            </a:r>
            <a:r>
              <a:rPr lang="en-US" dirty="0">
                <a:solidFill>
                  <a:srgbClr val="5C8E3A"/>
                </a:solidFill>
              </a:rPr>
              <a:t>Government Financial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8422" y="590550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B8EB8"/>
                </a:solidFill>
              </a:rPr>
              <a:t>SVY   </a:t>
            </a:r>
            <a:r>
              <a:rPr lang="en-US" dirty="0">
                <a:solidFill>
                  <a:srgbClr val="0B8EB8"/>
                </a:solidFill>
              </a:rPr>
              <a:t>Household &amp; firm surveys</a:t>
            </a:r>
          </a:p>
          <a:p>
            <a:r>
              <a:rPr lang="en-US" b="1" dirty="0">
                <a:solidFill>
                  <a:srgbClr val="54544B"/>
                </a:solidFill>
              </a:rPr>
              <a:t>TRD   </a:t>
            </a:r>
            <a:r>
              <a:rPr lang="en-US" dirty="0">
                <a:solidFill>
                  <a:srgbClr val="54544B"/>
                </a:solidFill>
              </a:rPr>
              <a:t>Customs trade data</a:t>
            </a:r>
          </a:p>
        </p:txBody>
      </p:sp>
    </p:spTree>
    <p:extLst>
      <p:ext uri="{BB962C8B-B14F-4D97-AF65-F5344CB8AC3E}">
        <p14:creationId xmlns:p14="http://schemas.microsoft.com/office/powerpoint/2010/main" val="2301236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Generate input-output table (see Workings Folder)</a:t>
            </a:r>
          </a:p>
          <a:p>
            <a:endParaRPr lang="en-US" sz="1200" dirty="0"/>
          </a:p>
          <a:p>
            <a:r>
              <a:rPr lang="en-US" b="1" dirty="0"/>
              <a:t>Split GDP by sector (w-</a:t>
            </a:r>
            <a:r>
              <a:rPr lang="en-US" b="1" dirty="0" err="1"/>
              <a:t>GDPp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Use sector production and price data to go beyond national accounts</a:t>
            </a:r>
          </a:p>
          <a:p>
            <a:endParaRPr lang="en-US" sz="1200" dirty="0"/>
          </a:p>
          <a:p>
            <a:r>
              <a:rPr lang="en-US" b="1" dirty="0"/>
              <a:t>Map import &amp; export data to SAM accounts (w-TRD)</a:t>
            </a:r>
          </a:p>
          <a:p>
            <a:pPr lvl="1"/>
            <a:r>
              <a:rPr lang="en-US" dirty="0"/>
              <a:t>Combine with services trade data from BOP6</a:t>
            </a:r>
          </a:p>
          <a:p>
            <a:endParaRPr lang="en-US" sz="1200" dirty="0"/>
          </a:p>
          <a:p>
            <a:r>
              <a:rPr lang="en-US" b="1" dirty="0"/>
              <a:t>Estimate consumption &amp; investment demand vectors (w-ABS)</a:t>
            </a:r>
          </a:p>
          <a:p>
            <a:pPr lvl="1"/>
            <a:r>
              <a:rPr lang="en-US" dirty="0"/>
              <a:t>Use latest household survey for private consumption demand</a:t>
            </a:r>
          </a:p>
          <a:p>
            <a:endParaRPr lang="en-US" sz="1200" dirty="0"/>
          </a:p>
          <a:p>
            <a:r>
              <a:rPr lang="en-US" b="1" dirty="0"/>
              <a:t>Estimate tax rates &amp; transaction cost margins (w-TAX, w-TRC)</a:t>
            </a:r>
          </a:p>
        </p:txBody>
      </p:sp>
    </p:spTree>
    <p:extLst>
      <p:ext uri="{BB962C8B-B14F-4D97-AF65-F5344CB8AC3E}">
        <p14:creationId xmlns:p14="http://schemas.microsoft.com/office/powerpoint/2010/main" val="1832816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347A-0C1A-413A-86BE-13650DAC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SUT Sheets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8DB59D-B644-4C93-8786-D54C6D22B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GDPp</a:t>
            </a:r>
            <a:r>
              <a:rPr lang="en-US" b="1" dirty="0"/>
              <a:t>  </a:t>
            </a:r>
            <a:r>
              <a:rPr lang="en-US" dirty="0"/>
              <a:t>	GDP at factor cost by sector</a:t>
            </a:r>
          </a:p>
          <a:p>
            <a:pPr lvl="1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w-AGR</a:t>
            </a:r>
            <a:r>
              <a:rPr lang="en-US" b="1" dirty="0"/>
              <a:t>   </a:t>
            </a:r>
            <a:r>
              <a:rPr lang="en-US" dirty="0"/>
              <a:t>	Agriculture production data (FAOSTAT)</a:t>
            </a:r>
          </a:p>
          <a:p>
            <a:pPr lvl="1"/>
            <a:r>
              <a:rPr lang="en-US" b="1" dirty="0">
                <a:solidFill>
                  <a:srgbClr val="687D2E"/>
                </a:solidFill>
              </a:rPr>
              <a:t>w-FSH</a:t>
            </a:r>
            <a:r>
              <a:rPr lang="en-US" dirty="0"/>
              <a:t>	Fisheries production data (FISHSTAT)</a:t>
            </a:r>
          </a:p>
          <a:p>
            <a:pPr lvl="1"/>
            <a:r>
              <a:rPr lang="en-US" b="1" dirty="0">
                <a:solidFill>
                  <a:srgbClr val="687D2E"/>
                </a:solidFill>
              </a:rPr>
              <a:t>w-MIN</a:t>
            </a:r>
            <a:r>
              <a:rPr lang="en-US" dirty="0"/>
              <a:t>	Mining production data</a:t>
            </a:r>
          </a:p>
          <a:p>
            <a:pPr lvl="1"/>
            <a:r>
              <a:rPr lang="en-US" b="1" dirty="0">
                <a:solidFill>
                  <a:srgbClr val="687D2E"/>
                </a:solidFill>
              </a:rPr>
              <a:t>w-MAN</a:t>
            </a:r>
            <a:r>
              <a:rPr lang="en-US" dirty="0"/>
              <a:t>	Manufacturing production data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w-TRD</a:t>
            </a:r>
            <a:r>
              <a:rPr lang="en-US" dirty="0"/>
              <a:t>   	Imports and Exports (X + M)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w-ABS</a:t>
            </a:r>
            <a:r>
              <a:rPr lang="en-US" dirty="0"/>
              <a:t>	Absorption vectors (C + I + G)</a:t>
            </a:r>
          </a:p>
          <a:p>
            <a:r>
              <a:rPr lang="en-US" b="1" dirty="0">
                <a:solidFill>
                  <a:srgbClr val="C34E2D"/>
                </a:solidFill>
              </a:rPr>
              <a:t>w-TAX</a:t>
            </a:r>
            <a:r>
              <a:rPr lang="en-US" dirty="0"/>
              <a:t>	Indirect taxes on producers &amp; products</a:t>
            </a:r>
          </a:p>
          <a:p>
            <a:r>
              <a:rPr lang="en-US" b="1" dirty="0">
                <a:solidFill>
                  <a:srgbClr val="C34E2D"/>
                </a:solidFill>
              </a:rPr>
              <a:t>w-TRC</a:t>
            </a:r>
            <a:r>
              <a:rPr lang="en-US" dirty="0"/>
              <a:t>	Transaction cost margins</a:t>
            </a:r>
          </a:p>
          <a:p>
            <a:endParaRPr lang="en-US" sz="900" dirty="0"/>
          </a:p>
          <a:p>
            <a:r>
              <a:rPr lang="en-US" b="1" dirty="0">
                <a:solidFill>
                  <a:srgbClr val="0B8EB8"/>
                </a:solidFill>
              </a:rPr>
              <a:t>SUT</a:t>
            </a:r>
            <a:r>
              <a:rPr lang="en-US" dirty="0"/>
              <a:t>		Final supply-use table imported into GAMS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67808-529A-4F59-B17C-6313A15F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0179"/>
            <a:ext cx="9144000" cy="95119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77A91F-BFBE-439C-9733-56CE66282888}"/>
              </a:ext>
            </a:extLst>
          </p:cNvPr>
          <p:cNvSpPr/>
          <p:nvPr/>
        </p:nvSpPr>
        <p:spPr>
          <a:xfrm>
            <a:off x="6140082" y="6519603"/>
            <a:ext cx="3070593" cy="35177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BF06F-8372-4BCE-87C0-9C8A53521B34}"/>
              </a:ext>
            </a:extLst>
          </p:cNvPr>
          <p:cNvSpPr txBox="1"/>
          <p:nvPr/>
        </p:nvSpPr>
        <p:spPr>
          <a:xfrm>
            <a:off x="6836510" y="5643180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1national.xlsx | Notes</a:t>
            </a:r>
          </a:p>
        </p:txBody>
      </p:sp>
    </p:spTree>
    <p:extLst>
      <p:ext uri="{BB962C8B-B14F-4D97-AF65-F5344CB8AC3E}">
        <p14:creationId xmlns:p14="http://schemas.microsoft.com/office/powerpoint/2010/main" val="2151453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CFD7-8AB2-4900-B41C-759AA7B7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Supply-Use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B7052-B71D-495B-A9A2-DDA909F13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4971"/>
            <a:ext cx="9144000" cy="443925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C7D5A3-F911-4ED8-B239-D39F49EC229C}"/>
              </a:ext>
            </a:extLst>
          </p:cNvPr>
          <p:cNvSpPr txBox="1"/>
          <p:nvPr/>
        </p:nvSpPr>
        <p:spPr>
          <a:xfrm>
            <a:off x="6493610" y="280797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1national.xlsx | w-SUT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F9344D-AB74-462A-8ABC-77AAB3A04E08}"/>
              </a:ext>
            </a:extLst>
          </p:cNvPr>
          <p:cNvSpPr/>
          <p:nvPr/>
        </p:nvSpPr>
        <p:spPr>
          <a:xfrm>
            <a:off x="920382" y="3625991"/>
            <a:ext cx="6842493" cy="631683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A9346-6784-433B-B4E9-2EFC69C44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841456"/>
            <a:ext cx="8877300" cy="763207"/>
          </a:xfrm>
          <a:prstGeom prst="rect">
            <a:avLst/>
          </a:prstGeom>
          <a:ln w="28575">
            <a:solidFill>
              <a:srgbClr val="C34E2D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D5DC20-21E8-4B72-8045-FE773E182B25}"/>
              </a:ext>
            </a:extLst>
          </p:cNvPr>
          <p:cNvSpPr txBox="1"/>
          <p:nvPr/>
        </p:nvSpPr>
        <p:spPr>
          <a:xfrm>
            <a:off x="2143125" y="1386280"/>
            <a:ext cx="242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C34E2D"/>
                </a:solidFill>
              </a:rPr>
              <a:t>Supply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AC708-8566-4B6F-847F-4A1F230AFECE}"/>
              </a:ext>
            </a:extLst>
          </p:cNvPr>
          <p:cNvSpPr txBox="1"/>
          <p:nvPr/>
        </p:nvSpPr>
        <p:spPr>
          <a:xfrm>
            <a:off x="4705350" y="1385472"/>
            <a:ext cx="242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Demand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3FB751-8862-42A1-A79E-0BFCD714C1B2}"/>
              </a:ext>
            </a:extLst>
          </p:cNvPr>
          <p:cNvCxnSpPr/>
          <p:nvPr/>
        </p:nvCxnSpPr>
        <p:spPr>
          <a:xfrm flipH="1">
            <a:off x="3124200" y="1570946"/>
            <a:ext cx="600075" cy="0"/>
          </a:xfrm>
          <a:prstGeom prst="straightConnector1">
            <a:avLst/>
          </a:prstGeom>
          <a:ln>
            <a:solidFill>
              <a:srgbClr val="C34E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0B2A06-F527-424D-832E-570D78FC3F64}"/>
              </a:ext>
            </a:extLst>
          </p:cNvPr>
          <p:cNvCxnSpPr>
            <a:cxnSpLocks/>
          </p:cNvCxnSpPr>
          <p:nvPr/>
        </p:nvCxnSpPr>
        <p:spPr>
          <a:xfrm>
            <a:off x="5712561" y="1570138"/>
            <a:ext cx="659664" cy="0"/>
          </a:xfrm>
          <a:prstGeom prst="straightConnector1">
            <a:avLst/>
          </a:prstGeom>
          <a:ln>
            <a:solidFill>
              <a:srgbClr val="C34E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67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Toolkit Files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56579C9-050B-40E6-B15E-0F036BA1140A}"/>
              </a:ext>
            </a:extLst>
          </p:cNvPr>
          <p:cNvGrpSpPr/>
          <p:nvPr/>
        </p:nvGrpSpPr>
        <p:grpSpPr>
          <a:xfrm>
            <a:off x="215899" y="1708150"/>
            <a:ext cx="8712202" cy="4229675"/>
            <a:chOff x="286542" y="1727200"/>
            <a:chExt cx="8712202" cy="4229675"/>
          </a:xfrm>
        </p:grpSpPr>
        <p:sp>
          <p:nvSpPr>
            <p:cNvPr id="4" name="Text Box 2"/>
            <p:cNvSpPr txBox="1">
              <a:spLocks noChangeArrowheads="1"/>
            </p:cNvSpPr>
            <p:nvPr/>
          </p:nvSpPr>
          <p:spPr bwMode="auto">
            <a:xfrm>
              <a:off x="1902618" y="4291934"/>
              <a:ext cx="2419351" cy="814131"/>
            </a:xfrm>
            <a:prstGeom prst="rect">
              <a:avLst/>
            </a:prstGeom>
            <a:solidFill>
              <a:srgbClr val="C34E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Build and Balance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3household.gms                 4balance.gms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4748212" y="3489325"/>
              <a:ext cx="2412204" cy="584775"/>
            </a:xfrm>
            <a:prstGeom prst="rect">
              <a:avLst/>
            </a:prstGeom>
            <a:solidFill>
              <a:srgbClr val="0B8EB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Process survey data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(surveys folder)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749800" y="4406900"/>
              <a:ext cx="2410616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Prior Household SAM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3household.xlsx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749800" y="1727200"/>
              <a:ext cx="2419351" cy="584775"/>
            </a:xfrm>
            <a:prstGeom prst="rect">
              <a:avLst/>
            </a:prstGeom>
            <a:solidFill>
              <a:srgbClr val="0B8EB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Estimate SUT Coefficients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(workings folder)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748211" y="2578100"/>
              <a:ext cx="2419351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Prior National SAM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1national.xlsx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AutoShape 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5957887" y="2311975"/>
              <a:ext cx="1589" cy="266125"/>
            </a:xfrm>
            <a:prstGeom prst="straightConnector1">
              <a:avLst/>
            </a:prstGeom>
            <a:noFill/>
            <a:ln w="9525">
              <a:solidFill>
                <a:srgbClr val="0B8EB8"/>
              </a:solidFill>
              <a:round/>
              <a:headEnd/>
              <a:tailEnd type="triangle" w="lg" len="med"/>
            </a:ln>
          </p:spPr>
        </p:cxnSp>
        <p:cxnSp>
          <p:nvCxnSpPr>
            <p:cNvPr id="10" name="AutoShape 8"/>
            <p:cNvCxnSpPr>
              <a:cxnSpLocks noChangeShapeType="1"/>
              <a:stCxn id="8" idx="1"/>
              <a:endCxn id="14" idx="3"/>
            </p:cNvCxnSpPr>
            <p:nvPr/>
          </p:nvCxnSpPr>
          <p:spPr bwMode="auto">
            <a:xfrm flipH="1" flipV="1">
              <a:off x="4324351" y="2870487"/>
              <a:ext cx="423860" cy="1"/>
            </a:xfrm>
            <a:prstGeom prst="straightConnector1">
              <a:avLst/>
            </a:prstGeom>
            <a:noFill/>
            <a:ln w="9525">
              <a:solidFill>
                <a:srgbClr val="5C8E3A"/>
              </a:solidFill>
              <a:round/>
              <a:headEnd/>
              <a:tailEnd type="triangle" w="lg" len="med"/>
            </a:ln>
          </p:spPr>
        </p:cxnSp>
        <p:cxnSp>
          <p:nvCxnSpPr>
            <p:cNvPr id="11" name="AutoShape 9"/>
            <p:cNvCxnSpPr>
              <a:cxnSpLocks noChangeShapeType="1"/>
              <a:stCxn id="14" idx="2"/>
              <a:endCxn id="4" idx="0"/>
            </p:cNvCxnSpPr>
            <p:nvPr/>
          </p:nvCxnSpPr>
          <p:spPr bwMode="auto">
            <a:xfrm flipH="1">
              <a:off x="3112294" y="3285985"/>
              <a:ext cx="2382" cy="1005949"/>
            </a:xfrm>
            <a:prstGeom prst="straightConnector1">
              <a:avLst/>
            </a:prstGeom>
            <a:noFill/>
            <a:ln w="9525">
              <a:solidFill>
                <a:srgbClr val="C34E2D"/>
              </a:solidFill>
              <a:round/>
              <a:headEnd/>
              <a:tailEnd type="triangle" w="lg" len="med"/>
            </a:ln>
          </p:spPr>
        </p:cxnSp>
        <p:cxnSp>
          <p:nvCxnSpPr>
            <p:cNvPr id="12" name="AutoShape 10"/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>
              <a:off x="5954314" y="4074100"/>
              <a:ext cx="794" cy="332800"/>
            </a:xfrm>
            <a:prstGeom prst="straightConnector1">
              <a:avLst/>
            </a:prstGeom>
            <a:noFill/>
            <a:ln w="9525">
              <a:solidFill>
                <a:srgbClr val="0B8EB8"/>
              </a:solidFill>
              <a:round/>
              <a:headEnd/>
              <a:tailEnd type="triangle" w="lg" len="med"/>
            </a:ln>
          </p:spPr>
        </p:cxnSp>
        <p:cxnSp>
          <p:nvCxnSpPr>
            <p:cNvPr id="13" name="AutoShape 11"/>
            <p:cNvCxnSpPr>
              <a:cxnSpLocks noChangeShapeType="1"/>
              <a:stCxn id="6" idx="1"/>
              <a:endCxn id="4" idx="3"/>
            </p:cNvCxnSpPr>
            <p:nvPr/>
          </p:nvCxnSpPr>
          <p:spPr bwMode="auto">
            <a:xfrm flipH="1" flipV="1">
              <a:off x="4321969" y="4699000"/>
              <a:ext cx="427831" cy="288"/>
            </a:xfrm>
            <a:prstGeom prst="straightConnector1">
              <a:avLst/>
            </a:prstGeom>
            <a:noFill/>
            <a:ln w="9525">
              <a:solidFill>
                <a:srgbClr val="5C8E3A"/>
              </a:solidFill>
              <a:round/>
              <a:headEnd/>
              <a:tailEnd type="triangle" w="lg" len="med"/>
            </a:ln>
          </p:spPr>
        </p:cxn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905000" y="2454988"/>
              <a:ext cx="2419351" cy="830997"/>
            </a:xfrm>
            <a:prstGeom prst="rect">
              <a:avLst/>
            </a:prstGeom>
            <a:solidFill>
              <a:srgbClr val="C34E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Build and Balance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1national.gms 2balance.gms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7332905" y="1862717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7369417" y="1877005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solidFill>
                    <a:srgbClr val="54544B"/>
                  </a:solidFill>
                  <a:latin typeface="Calibri" pitchFamily="34" charset="0"/>
                </a:rPr>
                <a:t>Step 1</a:t>
              </a:r>
              <a:endParaRPr lang="en-US" sz="2800" b="1" dirty="0">
                <a:solidFill>
                  <a:srgbClr val="54544B"/>
                </a:solidFill>
              </a:endParaRPr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286542" y="2717096"/>
              <a:ext cx="182086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GAMS</a:t>
              </a:r>
              <a:r>
                <a:rPr lang="en-US" sz="1600" dirty="0">
                  <a:solidFill>
                    <a:srgbClr val="54544B"/>
                  </a:solidFill>
                </a:rPr>
                <a:t>: Press F9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1905001" y="5372100"/>
              <a:ext cx="2419350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Balanced SAMs 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(0output.xlsx)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AutoShape 28"/>
            <p:cNvCxnSpPr>
              <a:cxnSpLocks noChangeShapeType="1"/>
              <a:stCxn id="4" idx="2"/>
              <a:endCxn id="19" idx="0"/>
            </p:cNvCxnSpPr>
            <p:nvPr/>
          </p:nvCxnSpPr>
          <p:spPr bwMode="auto">
            <a:xfrm>
              <a:off x="3112294" y="5106065"/>
              <a:ext cx="2382" cy="266035"/>
            </a:xfrm>
            <a:prstGeom prst="straightConnector1">
              <a:avLst/>
            </a:prstGeom>
            <a:noFill/>
            <a:ln w="9525">
              <a:solidFill>
                <a:srgbClr val="C34E2D"/>
              </a:solidFill>
              <a:round/>
              <a:headEnd/>
              <a:tailEnd type="triangle" w="lg" len="med"/>
            </a:ln>
          </p:spPr>
        </p:cxnSp>
        <p:sp>
          <p:nvSpPr>
            <p:cNvPr id="21" name="Text Box 32"/>
            <p:cNvSpPr txBox="1">
              <a:spLocks noChangeArrowheads="1"/>
            </p:cNvSpPr>
            <p:nvPr/>
          </p:nvSpPr>
          <p:spPr bwMode="auto">
            <a:xfrm>
              <a:off x="7194148" y="4421980"/>
              <a:ext cx="1598613" cy="554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Excel</a:t>
              </a:r>
              <a:r>
                <a:rPr lang="en-US" sz="1600" dirty="0">
                  <a:solidFill>
                    <a:srgbClr val="54544B"/>
                  </a:solidFill>
                </a:rPr>
                <a:t>: Split households 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22" name="Text Box 33"/>
            <p:cNvSpPr txBox="1">
              <a:spLocks noChangeArrowheads="1"/>
            </p:cNvSpPr>
            <p:nvPr/>
          </p:nvSpPr>
          <p:spPr bwMode="auto">
            <a:xfrm>
              <a:off x="325437" y="4529723"/>
              <a:ext cx="22098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GAMS</a:t>
              </a:r>
              <a:r>
                <a:rPr lang="en-US" sz="1600" dirty="0">
                  <a:solidFill>
                    <a:srgbClr val="54544B"/>
                  </a:solidFill>
                </a:rPr>
                <a:t>: Press F9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24" name="Oval 14"/>
            <p:cNvSpPr>
              <a:spLocks noChangeArrowheads="1"/>
            </p:cNvSpPr>
            <p:nvPr/>
          </p:nvSpPr>
          <p:spPr bwMode="auto">
            <a:xfrm>
              <a:off x="407194" y="2297687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443706" y="2311975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solidFill>
                    <a:srgbClr val="54544B"/>
                  </a:solidFill>
                  <a:latin typeface="Calibri" pitchFamily="34" charset="0"/>
                </a:rPr>
                <a:t>Step 2</a:t>
              </a:r>
              <a:endParaRPr lang="en-US" sz="2800" b="1" dirty="0">
                <a:solidFill>
                  <a:srgbClr val="54544B"/>
                </a:solidFill>
              </a:endParaRP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7282105" y="4033985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7318617" y="4048273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solidFill>
                    <a:srgbClr val="54544B"/>
                  </a:solidFill>
                  <a:latin typeface="Calibri" pitchFamily="34" charset="0"/>
                </a:rPr>
                <a:t>Step 3</a:t>
              </a:r>
              <a:endParaRPr lang="en-US" sz="2800" b="1">
                <a:solidFill>
                  <a:srgbClr val="54544B"/>
                </a:solidFill>
              </a:endParaRPr>
            </a:p>
          </p:txBody>
        </p:sp>
        <p:sp>
          <p:nvSpPr>
            <p:cNvPr id="28" name="Oval 14"/>
            <p:cNvSpPr>
              <a:spLocks noChangeArrowheads="1"/>
            </p:cNvSpPr>
            <p:nvPr/>
          </p:nvSpPr>
          <p:spPr bwMode="auto">
            <a:xfrm>
              <a:off x="443706" y="4132998"/>
              <a:ext cx="779463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480219" y="4147286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solidFill>
                    <a:srgbClr val="54544B"/>
                  </a:solidFill>
                  <a:latin typeface="Calibri" pitchFamily="34" charset="0"/>
                </a:rPr>
                <a:t>Step 4</a:t>
              </a:r>
              <a:endParaRPr lang="en-US" sz="2800" b="1">
                <a:solidFill>
                  <a:srgbClr val="54544B"/>
                </a:solidFill>
              </a:endParaRPr>
            </a:p>
          </p:txBody>
        </p:sp>
        <p:sp>
          <p:nvSpPr>
            <p:cNvPr id="58" name="Text Box 32">
              <a:extLst>
                <a:ext uri="{FF2B5EF4-FFF2-40B4-BE49-F238E27FC236}">
                  <a16:creationId xmlns:a16="http://schemas.microsoft.com/office/drawing/2014/main" id="{3E059027-7BCB-4BAB-89F1-A8CFEC3C1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4148" y="2579620"/>
              <a:ext cx="1804596" cy="554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Excel</a:t>
              </a:r>
              <a:r>
                <a:rPr lang="en-US" sz="1600" dirty="0">
                  <a:solidFill>
                    <a:srgbClr val="54544B"/>
                  </a:solidFill>
                </a:rPr>
                <a:t>: Build Macro SAM; split activities &amp; commodities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2001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CE74-040C-44AB-8839-B8B3E0D5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SAM in GAMS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AF7B0-766E-48D6-81C6-7C6AABC0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708032"/>
          </a:xfrm>
        </p:spPr>
        <p:txBody>
          <a:bodyPr/>
          <a:lstStyle/>
          <a:p>
            <a:r>
              <a:rPr lang="en-US" dirty="0"/>
              <a:t>Create a GAMS project file (</a:t>
            </a:r>
            <a:r>
              <a:rPr lang="en-US" b="1" dirty="0">
                <a:solidFill>
                  <a:srgbClr val="FFB300"/>
                </a:solidFill>
              </a:rPr>
              <a:t>0project.gpr</a:t>
            </a:r>
            <a:r>
              <a:rPr lang="en-US" dirty="0"/>
              <a:t>)</a:t>
            </a:r>
          </a:p>
          <a:p>
            <a:r>
              <a:rPr lang="en-US" dirty="0"/>
              <a:t>Open all GAMS files (</a:t>
            </a:r>
            <a:r>
              <a:rPr lang="en-US" dirty="0">
                <a:solidFill>
                  <a:srgbClr val="54544B"/>
                </a:solidFill>
              </a:rPr>
              <a:t>from 1national.gms to 5aggregate.gms</a:t>
            </a:r>
            <a:r>
              <a:rPr lang="en-US" dirty="0"/>
              <a:t>)</a:t>
            </a:r>
          </a:p>
          <a:p>
            <a:r>
              <a:rPr lang="en-US" dirty="0"/>
              <a:t>Click on national SAM build file (</a:t>
            </a:r>
            <a:r>
              <a:rPr lang="en-US" b="1" dirty="0">
                <a:solidFill>
                  <a:srgbClr val="C34E2D"/>
                </a:solidFill>
              </a:rPr>
              <a:t>1national.gms</a:t>
            </a:r>
            <a:r>
              <a:rPr lang="en-US" dirty="0"/>
              <a:t>)</a:t>
            </a:r>
          </a:p>
          <a:p>
            <a:r>
              <a:rPr lang="en-US" dirty="0"/>
              <a:t>Check that you are using the correct data file (</a:t>
            </a:r>
            <a:r>
              <a:rPr lang="en-US" b="1" dirty="0">
                <a:solidFill>
                  <a:srgbClr val="0B8EB8"/>
                </a:solidFill>
              </a:rPr>
              <a:t>1national_2015</a:t>
            </a:r>
            <a:r>
              <a:rPr lang="en-US" dirty="0"/>
              <a:t>)</a:t>
            </a:r>
          </a:p>
          <a:p>
            <a:r>
              <a:rPr lang="en-US" dirty="0"/>
              <a:t>Press F9 (or click on </a:t>
            </a:r>
            <a:r>
              <a:rPr lang="en-US" b="1" dirty="0">
                <a:solidFill>
                  <a:srgbClr val="8AA63D"/>
                </a:solidFill>
              </a:rPr>
              <a:t>Run Button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A11D92-9967-4FC7-840C-D05663E9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1863"/>
            <a:ext cx="9144000" cy="236832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9B7E1B-0345-46F3-8132-196B7B0AE7F9}"/>
              </a:ext>
            </a:extLst>
          </p:cNvPr>
          <p:cNvSpPr/>
          <p:nvPr/>
        </p:nvSpPr>
        <p:spPr>
          <a:xfrm>
            <a:off x="29795" y="5272069"/>
            <a:ext cx="827455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BB45A-D087-4018-BC05-2B689FDE22B5}"/>
              </a:ext>
            </a:extLst>
          </p:cNvPr>
          <p:cNvSpPr txBox="1"/>
          <p:nvPr/>
        </p:nvSpPr>
        <p:spPr>
          <a:xfrm>
            <a:off x="6426935" y="4155456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1national.gms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77C3F-0D0B-4FB7-A612-7A6316BFF7D7}"/>
              </a:ext>
            </a:extLst>
          </p:cNvPr>
          <p:cNvSpPr/>
          <p:nvPr/>
        </p:nvSpPr>
        <p:spPr>
          <a:xfrm>
            <a:off x="4572000" y="4426260"/>
            <a:ext cx="1356944" cy="276999"/>
          </a:xfrm>
          <a:prstGeom prst="rect">
            <a:avLst/>
          </a:prstGeom>
          <a:noFill/>
          <a:ln w="44450">
            <a:solidFill>
              <a:srgbClr val="FFB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DFFEC-B5EC-4276-BBEB-7C5A656BA107}"/>
              </a:ext>
            </a:extLst>
          </p:cNvPr>
          <p:cNvSpPr/>
          <p:nvPr/>
        </p:nvSpPr>
        <p:spPr>
          <a:xfrm>
            <a:off x="1476375" y="5905462"/>
            <a:ext cx="1228726" cy="311329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921CC0-9ECF-498B-B1E9-DEDE8260C9CE}"/>
              </a:ext>
            </a:extLst>
          </p:cNvPr>
          <p:cNvSpPr/>
          <p:nvPr/>
        </p:nvSpPr>
        <p:spPr>
          <a:xfrm>
            <a:off x="2818178" y="4828769"/>
            <a:ext cx="315547" cy="286156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2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873D-FE9A-4567-BD58-21A09F78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GAMS Process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FEB35-8B8B-4B62-9239-F67EAAEC6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Check the Process Window that GAMS was run successfully</a:t>
            </a:r>
          </a:p>
          <a:p>
            <a:pPr lvl="1"/>
            <a:r>
              <a:rPr lang="en-US" b="1" dirty="0">
                <a:solidFill>
                  <a:srgbClr val="C34E2D"/>
                </a:solidFill>
              </a:rPr>
              <a:t>Normal Completion</a:t>
            </a:r>
          </a:p>
          <a:p>
            <a:pPr lvl="1"/>
            <a:r>
              <a:rPr lang="en-US" dirty="0"/>
              <a:t>No “Division by Zeros” or other errors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F7371-6E74-4AEE-A8CF-F6109952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6900"/>
            <a:ext cx="7229475" cy="42811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48D583-6AA7-496C-8EA0-B704CEB76B3E}"/>
              </a:ext>
            </a:extLst>
          </p:cNvPr>
          <p:cNvSpPr/>
          <p:nvPr/>
        </p:nvSpPr>
        <p:spPr>
          <a:xfrm>
            <a:off x="298203" y="6043594"/>
            <a:ext cx="2387847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07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533A-002F-4DD7-BC27-65A705A7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the SAM in GAMS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CAEB3-C507-4C62-81FD-6EAB2718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2803282"/>
          </a:xfrm>
        </p:spPr>
        <p:txBody>
          <a:bodyPr/>
          <a:lstStyle/>
          <a:p>
            <a:r>
              <a:rPr lang="en-US" dirty="0"/>
              <a:t>Click on SAM balancing file (</a:t>
            </a:r>
            <a:r>
              <a:rPr lang="en-US" b="1" dirty="0">
                <a:solidFill>
                  <a:srgbClr val="C34E2D"/>
                </a:solidFill>
              </a:rPr>
              <a:t>2balance.gms</a:t>
            </a:r>
            <a:r>
              <a:rPr lang="en-US" dirty="0"/>
              <a:t>)</a:t>
            </a:r>
          </a:p>
          <a:p>
            <a:r>
              <a:rPr lang="en-US" dirty="0"/>
              <a:t>Check you are restarting from the previous file (</a:t>
            </a:r>
            <a:r>
              <a:rPr lang="en-US" b="1" dirty="0">
                <a:solidFill>
                  <a:srgbClr val="0B8EB8"/>
                </a:solidFill>
              </a:rPr>
              <a:t>r=national</a:t>
            </a:r>
            <a:r>
              <a:rPr lang="en-US" dirty="0"/>
              <a:t>)</a:t>
            </a:r>
          </a:p>
          <a:p>
            <a:r>
              <a:rPr lang="en-US" dirty="0"/>
              <a:t>Press F9 (or click on </a:t>
            </a:r>
            <a:r>
              <a:rPr lang="en-US" b="1" dirty="0">
                <a:solidFill>
                  <a:srgbClr val="8AA63D"/>
                </a:solidFill>
              </a:rPr>
              <a:t>Run Button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10D4E-FA0A-4208-B52D-7EEBBCB8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3207"/>
            <a:ext cx="9144000" cy="2434793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4FA8E-F2BE-4635-896F-D4775AA73666}"/>
              </a:ext>
            </a:extLst>
          </p:cNvPr>
          <p:cNvSpPr/>
          <p:nvPr/>
        </p:nvSpPr>
        <p:spPr>
          <a:xfrm>
            <a:off x="847724" y="5640603"/>
            <a:ext cx="1219201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95C5B-5D48-46DB-8A2C-F2A9A9DDD248}"/>
              </a:ext>
            </a:extLst>
          </p:cNvPr>
          <p:cNvSpPr/>
          <p:nvPr/>
        </p:nvSpPr>
        <p:spPr>
          <a:xfrm>
            <a:off x="4457700" y="4943437"/>
            <a:ext cx="1228726" cy="311329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C5C61-318B-4D3A-9DFC-8219ECA7FDB9}"/>
              </a:ext>
            </a:extLst>
          </p:cNvPr>
          <p:cNvSpPr/>
          <p:nvPr/>
        </p:nvSpPr>
        <p:spPr>
          <a:xfrm>
            <a:off x="4064973" y="4956023"/>
            <a:ext cx="315547" cy="286156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914FA-C03B-4F82-BD18-D605AC3C82D4}"/>
              </a:ext>
            </a:extLst>
          </p:cNvPr>
          <p:cNvSpPr txBox="1"/>
          <p:nvPr/>
        </p:nvSpPr>
        <p:spPr>
          <a:xfrm>
            <a:off x="6426935" y="4155456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2balance.gms</a:t>
            </a:r>
          </a:p>
        </p:txBody>
      </p:sp>
    </p:spTree>
    <p:extLst>
      <p:ext uri="{BB962C8B-B14F-4D97-AF65-F5344CB8AC3E}">
        <p14:creationId xmlns:p14="http://schemas.microsoft.com/office/powerpoint/2010/main" val="3468935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615E-1A11-4313-9850-89E431B2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GAMS Process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8073-19BB-4B30-B02D-F6C05F02B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80" y="1301993"/>
            <a:ext cx="8817220" cy="5395791"/>
          </a:xfrm>
        </p:spPr>
        <p:txBody>
          <a:bodyPr/>
          <a:lstStyle/>
          <a:p>
            <a:r>
              <a:rPr lang="en-US" b="1" dirty="0"/>
              <a:t>Check Process Window that GAMS was run successfully</a:t>
            </a:r>
          </a:p>
          <a:p>
            <a:pPr lvl="1"/>
            <a:r>
              <a:rPr lang="en-US" b="1" dirty="0">
                <a:solidFill>
                  <a:srgbClr val="8AA63D"/>
                </a:solidFill>
              </a:rPr>
              <a:t>Optimal solution</a:t>
            </a:r>
          </a:p>
          <a:p>
            <a:pPr lvl="1"/>
            <a:r>
              <a:rPr lang="en-US" b="1" dirty="0">
                <a:solidFill>
                  <a:srgbClr val="C34E2D"/>
                </a:solidFill>
              </a:rPr>
              <a:t>Normal Completion</a:t>
            </a:r>
          </a:p>
          <a:p>
            <a:pPr lvl="1"/>
            <a:r>
              <a:rPr lang="en-US" dirty="0">
                <a:solidFill>
                  <a:srgbClr val="54544B"/>
                </a:solidFill>
              </a:rPr>
              <a:t>No errors in exporting to 						Microsoft Excel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1EC59-576D-4E58-B931-0CA40565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778336"/>
            <a:ext cx="5324475" cy="507013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D16E1A-E6AA-462E-8614-661C164A2838}"/>
              </a:ext>
            </a:extLst>
          </p:cNvPr>
          <p:cNvSpPr/>
          <p:nvPr/>
        </p:nvSpPr>
        <p:spPr>
          <a:xfrm>
            <a:off x="4381499" y="5724524"/>
            <a:ext cx="1314451" cy="320909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8672BE-E7B7-4725-9CEB-53F12974F0C0}"/>
              </a:ext>
            </a:extLst>
          </p:cNvPr>
          <p:cNvSpPr/>
          <p:nvPr/>
        </p:nvSpPr>
        <p:spPr>
          <a:xfrm>
            <a:off x="4066074" y="3765398"/>
            <a:ext cx="1088052" cy="320909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99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9B61-37C8-455B-8F4A-F1DF90A7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Balanced National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61FC5-219A-4123-A403-AAEAE81B2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5058972" cy="4041532"/>
          </a:xfrm>
        </p:spPr>
        <p:txBody>
          <a:bodyPr/>
          <a:lstStyle/>
          <a:p>
            <a:r>
              <a:rPr lang="en-US" dirty="0"/>
              <a:t>Balanced SAMs are exported to the </a:t>
            </a:r>
            <a:r>
              <a:rPr lang="en-US" b="1" dirty="0"/>
              <a:t>0output.xlsx </a:t>
            </a:r>
            <a:r>
              <a:rPr lang="en-US" dirty="0"/>
              <a:t>file</a:t>
            </a:r>
          </a:p>
          <a:p>
            <a:endParaRPr lang="en-US" dirty="0"/>
          </a:p>
          <a:p>
            <a:r>
              <a:rPr lang="en-US" b="1" dirty="0"/>
              <a:t>SAM data sheets</a:t>
            </a:r>
          </a:p>
          <a:p>
            <a:pPr lvl="1"/>
            <a:r>
              <a:rPr lang="en-US" dirty="0"/>
              <a:t>Balanced National SAM (</a:t>
            </a:r>
            <a:r>
              <a:rPr lang="en-US" b="1" dirty="0">
                <a:solidFill>
                  <a:srgbClr val="C34E2D"/>
                </a:solidFill>
              </a:rPr>
              <a:t>national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Balanced Household SAM (</a:t>
            </a:r>
            <a:r>
              <a:rPr lang="en-US" b="1" dirty="0">
                <a:solidFill>
                  <a:srgbClr val="C34E2D"/>
                </a:solidFill>
              </a:rPr>
              <a:t>households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Aggregated SAM (</a:t>
            </a:r>
            <a:r>
              <a:rPr lang="en-US" b="1" dirty="0">
                <a:solidFill>
                  <a:srgbClr val="002060"/>
                </a:solidFill>
              </a:rPr>
              <a:t>aggregate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A0BB9-78E7-45CA-8A1D-BF9C1964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251" y="1371853"/>
            <a:ext cx="3948749" cy="5476622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BD6983-E72F-4CE0-BF85-1EBCA5401471}"/>
              </a:ext>
            </a:extLst>
          </p:cNvPr>
          <p:cNvSpPr txBox="1"/>
          <p:nvPr/>
        </p:nvSpPr>
        <p:spPr>
          <a:xfrm>
            <a:off x="6493610" y="1083569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0output.xlsx | National sheet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E7854-91AD-4E5C-A943-1E467C635BD6}"/>
              </a:ext>
            </a:extLst>
          </p:cNvPr>
          <p:cNvSpPr/>
          <p:nvPr/>
        </p:nvSpPr>
        <p:spPr>
          <a:xfrm>
            <a:off x="5800725" y="6471556"/>
            <a:ext cx="3276600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434D42-3CEE-4171-A790-CC1BA04B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8" y="4283328"/>
            <a:ext cx="4295775" cy="495300"/>
          </a:xfrm>
          <a:prstGeom prst="rect">
            <a:avLst/>
          </a:prstGeom>
          <a:ln w="44450">
            <a:solidFill>
              <a:srgbClr val="C34E2D"/>
            </a:solidFill>
          </a:ln>
        </p:spPr>
      </p:pic>
    </p:spTree>
    <p:extLst>
      <p:ext uri="{BB962C8B-B14F-4D97-AF65-F5344CB8AC3E}">
        <p14:creationId xmlns:p14="http://schemas.microsoft.com/office/powerpoint/2010/main" val="4141467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E999-5322-43B7-A382-6A33A496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SAMs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192A-0F1C-43E6-8048-2773E82D2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One approach is to use the RAS method</a:t>
            </a:r>
          </a:p>
          <a:p>
            <a:pPr lvl="1"/>
            <a:r>
              <a:rPr lang="en-US" dirty="0"/>
              <a:t>Rows and columns are uniformly scaled in iteration until totals converge</a:t>
            </a:r>
          </a:p>
          <a:p>
            <a:pPr lvl="1"/>
            <a:r>
              <a:rPr lang="en-US" b="1" dirty="0"/>
              <a:t>Advantages</a:t>
            </a:r>
            <a:r>
              <a:rPr lang="en-US" dirty="0"/>
              <a:t>: Simple to implement (even in Excel)</a:t>
            </a:r>
          </a:p>
          <a:p>
            <a:pPr lvl="1"/>
            <a:r>
              <a:rPr lang="en-US" b="1" dirty="0"/>
              <a:t>Shortcoming</a:t>
            </a:r>
            <a:r>
              <a:rPr lang="en-US" dirty="0"/>
              <a:t>: Can do significant “damage” to the original data (make adjustments to cells, even if they are not causing the imbalance)</a:t>
            </a:r>
          </a:p>
          <a:p>
            <a:pPr lvl="1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07F459-29E3-4C9B-8D12-077D537FE555}"/>
              </a:ext>
            </a:extLst>
          </p:cNvPr>
          <p:cNvGrpSpPr/>
          <p:nvPr/>
        </p:nvGrpSpPr>
        <p:grpSpPr>
          <a:xfrm>
            <a:off x="1415196" y="3380528"/>
            <a:ext cx="6277946" cy="3255475"/>
            <a:chOff x="1426799" y="3164375"/>
            <a:chExt cx="6277946" cy="3255475"/>
          </a:xfrm>
        </p:grpSpPr>
        <p:graphicFrame>
          <p:nvGraphicFramePr>
            <p:cNvPr id="4" name="Content Placeholder 5">
              <a:extLst>
                <a:ext uri="{FF2B5EF4-FFF2-40B4-BE49-F238E27FC236}">
                  <a16:creationId xmlns:a16="http://schemas.microsoft.com/office/drawing/2014/main" id="{70730CAD-D690-44D8-A85F-085122A37DD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49580530"/>
                </p:ext>
              </p:extLst>
            </p:nvPr>
          </p:nvGraphicFramePr>
          <p:xfrm>
            <a:off x="1426799" y="3164375"/>
            <a:ext cx="6026140" cy="30175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13680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</a:tblGrid>
                <a:tr h="218546">
                  <a:tc>
                    <a:txBody>
                      <a:bodyPr/>
                      <a:lstStyle/>
                      <a:p>
                        <a:endParaRPr lang="en-US" sz="1050" dirty="0"/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Act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Com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Fact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Ent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Hhd</a:t>
                        </a:r>
                        <a:endParaRPr lang="en-US" sz="1050" dirty="0"/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Gov</a:t>
                        </a:r>
                        <a:endParaRPr lang="en-US" sz="1050" dirty="0"/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Tax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S-I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Stk</a:t>
                        </a:r>
                        <a:endParaRPr lang="en-US" sz="1050" dirty="0"/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Wld</a:t>
                        </a:r>
                        <a:endParaRPr lang="en-US" sz="1050" dirty="0"/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Tot</a:t>
                        </a:r>
                      </a:p>
                    </a:txBody>
                    <a:tcPr>
                      <a:lnB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Activities</a:t>
                        </a: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>
                      <a:lnT w="12700" cap="flat" cmpd="sng" algn="ctr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Commodities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Factors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Enterprises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Households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Government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Taxes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Savings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Stock change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Rest of world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rPr>
                          <a:t>Total</a:t>
                        </a:r>
                      </a:p>
                    </a:txBody>
                    <a:tcPr>
                      <a:solidFill>
                        <a:srgbClr val="54544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a:t>X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97FC62E-EF81-4247-B24A-11EE52FDB65B}"/>
                </a:ext>
              </a:extLst>
            </p:cNvPr>
            <p:cNvCxnSpPr/>
            <p:nvPr/>
          </p:nvCxnSpPr>
          <p:spPr>
            <a:xfrm>
              <a:off x="2800350" y="3524250"/>
              <a:ext cx="0" cy="289560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E53D0C-3BC2-4260-B4AD-9D9BEAE0DF99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3524250"/>
              <a:ext cx="4895850" cy="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31E2EF5-49D5-4AC2-AFFA-1A3BC15A229F}"/>
                </a:ext>
              </a:extLst>
            </p:cNvPr>
            <p:cNvCxnSpPr/>
            <p:nvPr/>
          </p:nvCxnSpPr>
          <p:spPr>
            <a:xfrm>
              <a:off x="3152775" y="3524250"/>
              <a:ext cx="0" cy="2895600"/>
            </a:xfrm>
            <a:prstGeom prst="straightConnector1">
              <a:avLst/>
            </a:prstGeom>
            <a:ln w="31750">
              <a:solidFill>
                <a:srgbClr val="0B8EB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14A5C53-28DC-451F-B70C-9AD5BAACFDFA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3743325"/>
              <a:ext cx="4895850" cy="0"/>
            </a:xfrm>
            <a:prstGeom prst="straightConnector1">
              <a:avLst/>
            </a:prstGeom>
            <a:ln w="31750">
              <a:solidFill>
                <a:srgbClr val="0B8EB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CEDD94F-C9AD-4C37-BBE9-B684E27E59C4}"/>
                </a:ext>
              </a:extLst>
            </p:cNvPr>
            <p:cNvCxnSpPr/>
            <p:nvPr/>
          </p:nvCxnSpPr>
          <p:spPr>
            <a:xfrm>
              <a:off x="3648075" y="3524250"/>
              <a:ext cx="0" cy="2895600"/>
            </a:xfrm>
            <a:prstGeom prst="straightConnector1">
              <a:avLst/>
            </a:prstGeom>
            <a:ln w="31750">
              <a:solidFill>
                <a:srgbClr val="FFB3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5EEC017-C00A-4348-9B46-CC05A53A0582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3999276"/>
              <a:ext cx="4895850" cy="0"/>
            </a:xfrm>
            <a:prstGeom prst="straightConnector1">
              <a:avLst/>
            </a:prstGeom>
            <a:ln w="31750">
              <a:solidFill>
                <a:srgbClr val="FFB3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B8F9126-5CDE-4683-8743-B19299B6971A}"/>
                </a:ext>
              </a:extLst>
            </p:cNvPr>
            <p:cNvCxnSpPr/>
            <p:nvPr/>
          </p:nvCxnSpPr>
          <p:spPr>
            <a:xfrm>
              <a:off x="4076210" y="3524250"/>
              <a:ext cx="0" cy="289560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FC59D6B-77D4-4CFC-BA6A-FF9049C14A14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4257675"/>
              <a:ext cx="4895850" cy="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11B88FE-04F2-4325-A3BB-3AD7E3AD0725}"/>
                </a:ext>
              </a:extLst>
            </p:cNvPr>
            <p:cNvCxnSpPr/>
            <p:nvPr/>
          </p:nvCxnSpPr>
          <p:spPr>
            <a:xfrm>
              <a:off x="4572729" y="3524250"/>
              <a:ext cx="0" cy="2895600"/>
            </a:xfrm>
            <a:prstGeom prst="straightConnector1">
              <a:avLst/>
            </a:prstGeom>
            <a:ln w="31750">
              <a:solidFill>
                <a:srgbClr val="0B8EB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808297-6879-4555-A143-B161B25C09E0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4514850"/>
              <a:ext cx="4895850" cy="0"/>
            </a:xfrm>
            <a:prstGeom prst="straightConnector1">
              <a:avLst/>
            </a:prstGeom>
            <a:ln w="31750">
              <a:solidFill>
                <a:srgbClr val="0B8EB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B19DE97-924D-4C43-BEDB-48C71B40FD72}"/>
                </a:ext>
              </a:extLst>
            </p:cNvPr>
            <p:cNvCxnSpPr/>
            <p:nvPr/>
          </p:nvCxnSpPr>
          <p:spPr>
            <a:xfrm>
              <a:off x="4981085" y="3524250"/>
              <a:ext cx="0" cy="2895600"/>
            </a:xfrm>
            <a:prstGeom prst="straightConnector1">
              <a:avLst/>
            </a:prstGeom>
            <a:ln w="31750">
              <a:solidFill>
                <a:srgbClr val="FFB3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95EA03-2FC5-45AC-8B39-A04FDC03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808895" y="4780326"/>
              <a:ext cx="4895850" cy="0"/>
            </a:xfrm>
            <a:prstGeom prst="straightConnector1">
              <a:avLst/>
            </a:prstGeom>
            <a:ln w="31750">
              <a:solidFill>
                <a:srgbClr val="FFB3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0E97C3D-643C-423B-B8E7-CD2528A6BAE4}"/>
                </a:ext>
              </a:extLst>
            </p:cNvPr>
            <p:cNvCxnSpPr/>
            <p:nvPr/>
          </p:nvCxnSpPr>
          <p:spPr>
            <a:xfrm>
              <a:off x="5429250" y="3524250"/>
              <a:ext cx="0" cy="289560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7E938E5-0EB5-42F2-B695-5A0AF07729F2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5019675"/>
              <a:ext cx="4895850" cy="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B46D8ED-F297-43AC-A615-10B2AC1BDDBD}"/>
                </a:ext>
              </a:extLst>
            </p:cNvPr>
            <p:cNvCxnSpPr/>
            <p:nvPr/>
          </p:nvCxnSpPr>
          <p:spPr>
            <a:xfrm>
              <a:off x="5895975" y="3524250"/>
              <a:ext cx="0" cy="2895600"/>
            </a:xfrm>
            <a:prstGeom prst="straightConnector1">
              <a:avLst/>
            </a:prstGeom>
            <a:ln w="31750">
              <a:solidFill>
                <a:srgbClr val="0B8EB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F388630-84F3-48E2-A2DF-95DF9D92C7DD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5295900"/>
              <a:ext cx="4895850" cy="0"/>
            </a:xfrm>
            <a:prstGeom prst="straightConnector1">
              <a:avLst/>
            </a:prstGeom>
            <a:ln w="31750">
              <a:solidFill>
                <a:srgbClr val="0B8EB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B91D70-868E-4C65-B977-94DED670C661}"/>
                </a:ext>
              </a:extLst>
            </p:cNvPr>
            <p:cNvCxnSpPr/>
            <p:nvPr/>
          </p:nvCxnSpPr>
          <p:spPr>
            <a:xfrm>
              <a:off x="6353175" y="3524250"/>
              <a:ext cx="0" cy="2895600"/>
            </a:xfrm>
            <a:prstGeom prst="straightConnector1">
              <a:avLst/>
            </a:prstGeom>
            <a:ln w="31750">
              <a:solidFill>
                <a:srgbClr val="FFB3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E80A11B-1CD2-4296-8B4F-A84CC8EBCC77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5551851"/>
              <a:ext cx="4895850" cy="0"/>
            </a:xfrm>
            <a:prstGeom prst="straightConnector1">
              <a:avLst/>
            </a:prstGeom>
            <a:ln w="31750">
              <a:solidFill>
                <a:srgbClr val="FFB3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F58579B-B6C2-4EE9-B9EF-42B7382625B0}"/>
                </a:ext>
              </a:extLst>
            </p:cNvPr>
            <p:cNvCxnSpPr/>
            <p:nvPr/>
          </p:nvCxnSpPr>
          <p:spPr>
            <a:xfrm>
              <a:off x="6772275" y="3524250"/>
              <a:ext cx="0" cy="289560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A2359BB-0EED-40C0-8053-88DA2AF07A46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0" y="5791200"/>
              <a:ext cx="4895850" cy="0"/>
            </a:xfrm>
            <a:prstGeom prst="straightConnector1">
              <a:avLst/>
            </a:prstGeom>
            <a:ln w="31750">
              <a:solidFill>
                <a:srgbClr val="C34E2D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6416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E999-5322-43B7-A382-6A33A496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SAMs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192A-0F1C-43E6-8048-2773E82D2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Better approach is to use the cross-entropy method</a:t>
            </a:r>
          </a:p>
          <a:p>
            <a:pPr lvl="1"/>
            <a:r>
              <a:rPr lang="en-US" dirty="0"/>
              <a:t>Each cell is adjusted individually (rather than entire rows &amp; columns)</a:t>
            </a:r>
          </a:p>
          <a:p>
            <a:pPr lvl="1"/>
            <a:r>
              <a:rPr lang="en-US" dirty="0"/>
              <a:t>Minimize deviation from original data (using error distributions)</a:t>
            </a:r>
          </a:p>
          <a:p>
            <a:pPr lvl="1"/>
            <a:r>
              <a:rPr lang="en-US" b="1" dirty="0"/>
              <a:t>Advantages</a:t>
            </a:r>
            <a:r>
              <a:rPr lang="en-US" dirty="0"/>
              <a:t>: Focus more on cells that are causing imbalances </a:t>
            </a:r>
          </a:p>
          <a:p>
            <a:pPr lvl="1"/>
            <a:r>
              <a:rPr lang="en-US" b="1" dirty="0"/>
              <a:t>Shortcoming</a:t>
            </a:r>
            <a:r>
              <a:rPr lang="en-US" dirty="0"/>
              <a:t>: More complex (need GAMS rather than just Excel)</a:t>
            </a:r>
          </a:p>
          <a:p>
            <a:pPr lvl="1"/>
            <a:endParaRPr lang="en-US" dirty="0"/>
          </a:p>
        </p:txBody>
      </p:sp>
      <p:graphicFrame>
        <p:nvGraphicFramePr>
          <p:cNvPr id="28" name="Content Placeholder 5">
            <a:extLst>
              <a:ext uri="{FF2B5EF4-FFF2-40B4-BE49-F238E27FC236}">
                <a16:creationId xmlns:a16="http://schemas.microsoft.com/office/drawing/2014/main" id="{2CB9E534-1204-4B81-8FC2-B61A31C70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209025"/>
              </p:ext>
            </p:extLst>
          </p:nvPr>
        </p:nvGraphicFramePr>
        <p:xfrm>
          <a:off x="1415196" y="3380528"/>
          <a:ext cx="60261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8546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Hhd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Gov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Stk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Wld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A966D2CA-394A-4E1F-AC07-BDE48593E0E3}"/>
              </a:ext>
            </a:extLst>
          </p:cNvPr>
          <p:cNvSpPr/>
          <p:nvPr/>
        </p:nvSpPr>
        <p:spPr>
          <a:xfrm>
            <a:off x="4305300" y="3880756"/>
            <a:ext cx="495300" cy="29119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C20AD1-E90C-480F-AD82-1CBC74A2E086}"/>
              </a:ext>
            </a:extLst>
          </p:cNvPr>
          <p:cNvSpPr/>
          <p:nvPr/>
        </p:nvSpPr>
        <p:spPr>
          <a:xfrm>
            <a:off x="2526926" y="4128406"/>
            <a:ext cx="495300" cy="29119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AA948B-67DD-4100-BDA1-ACCD5703D14E}"/>
              </a:ext>
            </a:extLst>
          </p:cNvPr>
          <p:cNvSpPr/>
          <p:nvPr/>
        </p:nvSpPr>
        <p:spPr>
          <a:xfrm>
            <a:off x="2984126" y="5848560"/>
            <a:ext cx="495300" cy="29119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176B1F-8579-45C1-97A6-2E5E19575917}"/>
              </a:ext>
            </a:extLst>
          </p:cNvPr>
          <p:cNvSpPr/>
          <p:nvPr/>
        </p:nvSpPr>
        <p:spPr>
          <a:xfrm>
            <a:off x="2560689" y="3648075"/>
            <a:ext cx="918737" cy="2749973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E302F8-25BD-4E0F-ACA8-7940267E3448}"/>
              </a:ext>
            </a:extLst>
          </p:cNvPr>
          <p:cNvSpPr/>
          <p:nvPr/>
        </p:nvSpPr>
        <p:spPr>
          <a:xfrm>
            <a:off x="3472114" y="3648075"/>
            <a:ext cx="3969222" cy="480331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81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3B50-929E-4EAA-8E59-77F794F9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7D0DB-3999-4735-B3F7-F1CAD19B2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1498357"/>
          </a:xfrm>
        </p:spPr>
        <p:txBody>
          <a:bodyPr/>
          <a:lstStyle/>
          <a:p>
            <a:r>
              <a:rPr lang="en-US" dirty="0"/>
              <a:t>Each cell in the SAM is assigned a range &amp; error distribution</a:t>
            </a:r>
          </a:p>
          <a:p>
            <a:r>
              <a:rPr lang="en-US" dirty="0"/>
              <a:t>Impose a penalty whenever cell data deviates from original value</a:t>
            </a:r>
          </a:p>
          <a:p>
            <a:r>
              <a:rPr lang="en-US" dirty="0"/>
              <a:t>Penalty gets exponentially worse the further the deviation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ECB5B4-E1F2-4FAD-BDB4-EF2AFE0BD2B4}"/>
              </a:ext>
            </a:extLst>
          </p:cNvPr>
          <p:cNvCxnSpPr/>
          <p:nvPr/>
        </p:nvCxnSpPr>
        <p:spPr>
          <a:xfrm>
            <a:off x="2057400" y="5562600"/>
            <a:ext cx="489585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14CA9EE-9C76-4573-B4BF-22E92E09E0D7}"/>
              </a:ext>
            </a:extLst>
          </p:cNvPr>
          <p:cNvSpPr/>
          <p:nvPr/>
        </p:nvSpPr>
        <p:spPr>
          <a:xfrm>
            <a:off x="2309812" y="3600433"/>
            <a:ext cx="4391025" cy="1962167"/>
          </a:xfrm>
          <a:custGeom>
            <a:avLst/>
            <a:gdLst>
              <a:gd name="connsiteX0" fmla="*/ 0 w 6467475"/>
              <a:gd name="connsiteY0" fmla="*/ 1933592 h 1962167"/>
              <a:gd name="connsiteX1" fmla="*/ 3228975 w 6467475"/>
              <a:gd name="connsiteY1" fmla="*/ 17 h 1962167"/>
              <a:gd name="connsiteX2" fmla="*/ 6467475 w 6467475"/>
              <a:gd name="connsiteY2" fmla="*/ 1962167 h 196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67475" h="1962167">
                <a:moveTo>
                  <a:pt x="0" y="1933592"/>
                </a:moveTo>
                <a:cubicBezTo>
                  <a:pt x="1075531" y="964423"/>
                  <a:pt x="2151063" y="-4745"/>
                  <a:pt x="3228975" y="17"/>
                </a:cubicBezTo>
                <a:cubicBezTo>
                  <a:pt x="4306887" y="4779"/>
                  <a:pt x="6016625" y="1695467"/>
                  <a:pt x="6467475" y="1962167"/>
                </a:cubicBezTo>
              </a:path>
            </a:pathLst>
          </a:custGeom>
          <a:noFill/>
          <a:ln w="2540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A7C735-0919-451D-A1D3-E50F080400D6}"/>
              </a:ext>
            </a:extLst>
          </p:cNvPr>
          <p:cNvCxnSpPr>
            <a:stCxn id="8" idx="1"/>
          </p:cNvCxnSpPr>
          <p:nvPr/>
        </p:nvCxnSpPr>
        <p:spPr>
          <a:xfrm>
            <a:off x="4502091" y="3600450"/>
            <a:ext cx="3233" cy="1962150"/>
          </a:xfrm>
          <a:prstGeom prst="line">
            <a:avLst/>
          </a:prstGeom>
          <a:ln>
            <a:solidFill>
              <a:srgbClr val="C34E2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9311C6-2AE1-475E-964E-E6A59C101B35}"/>
              </a:ext>
            </a:extLst>
          </p:cNvPr>
          <p:cNvCxnSpPr/>
          <p:nvPr/>
        </p:nvCxnSpPr>
        <p:spPr>
          <a:xfrm>
            <a:off x="2181225" y="4581516"/>
            <a:ext cx="4600575" cy="0"/>
          </a:xfrm>
          <a:prstGeom prst="line">
            <a:avLst/>
          </a:prstGeom>
          <a:ln w="25400">
            <a:solidFill>
              <a:srgbClr val="0B8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EA883E-01C5-4D2D-957B-10B81F1AE1A6}"/>
              </a:ext>
            </a:extLst>
          </p:cNvPr>
          <p:cNvSpPr txBox="1"/>
          <p:nvPr/>
        </p:nvSpPr>
        <p:spPr>
          <a:xfrm>
            <a:off x="3257549" y="5562583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4544B"/>
                </a:solidFill>
              </a:rPr>
              <a:t>Initial cell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0B4960-BA08-486A-8DD6-F184203D6E76}"/>
              </a:ext>
            </a:extLst>
          </p:cNvPr>
          <p:cNvSpPr txBox="1"/>
          <p:nvPr/>
        </p:nvSpPr>
        <p:spPr>
          <a:xfrm>
            <a:off x="5476874" y="5594832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4544B"/>
                </a:solidFill>
              </a:rPr>
              <a:t>Upper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119C5-4B98-4637-ADC5-2F7667149BD1}"/>
              </a:ext>
            </a:extLst>
          </p:cNvPr>
          <p:cNvSpPr txBox="1"/>
          <p:nvPr/>
        </p:nvSpPr>
        <p:spPr>
          <a:xfrm>
            <a:off x="957262" y="5578699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4544B"/>
                </a:solidFill>
              </a:rPr>
              <a:t>Lower bound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26400A-05C8-486B-B089-F351DD4C8B18}"/>
              </a:ext>
            </a:extLst>
          </p:cNvPr>
          <p:cNvSpPr txBox="1"/>
          <p:nvPr/>
        </p:nvSpPr>
        <p:spPr>
          <a:xfrm>
            <a:off x="4852987" y="3506267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34E2D"/>
                </a:solidFill>
              </a:rPr>
              <a:t>Normal distribution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713BA-7AEC-488C-9161-725F85365E6D}"/>
              </a:ext>
            </a:extLst>
          </p:cNvPr>
          <p:cNvSpPr txBox="1"/>
          <p:nvPr/>
        </p:nvSpPr>
        <p:spPr>
          <a:xfrm>
            <a:off x="5929312" y="4212184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8EB8"/>
                </a:solidFill>
              </a:rPr>
              <a:t>Uniform distribution</a:t>
            </a:r>
          </a:p>
        </p:txBody>
      </p:sp>
    </p:spTree>
    <p:extLst>
      <p:ext uri="{BB962C8B-B14F-4D97-AF65-F5344CB8AC3E}">
        <p14:creationId xmlns:p14="http://schemas.microsoft.com/office/powerpoint/2010/main" val="2111876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E999-5322-43B7-A382-6A33A496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192A-0F1C-43E6-8048-2773E82D2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 can impose three controls or constraints on the solution</a:t>
            </a:r>
          </a:p>
          <a:p>
            <a:pPr lvl="1"/>
            <a:r>
              <a:rPr lang="en-US" b="1" dirty="0">
                <a:solidFill>
                  <a:srgbClr val="8AA63D"/>
                </a:solidFill>
              </a:rPr>
              <a:t>Row &amp; column totals</a:t>
            </a:r>
            <a:r>
              <a:rPr lang="en-US" dirty="0"/>
              <a:t>: Equalize</a:t>
            </a:r>
          </a:p>
          <a:p>
            <a:pPr lvl="1"/>
            <a:r>
              <a:rPr lang="en-US" b="1" dirty="0">
                <a:solidFill>
                  <a:srgbClr val="C34E2D"/>
                </a:solidFill>
              </a:rPr>
              <a:t>Cell values</a:t>
            </a:r>
            <a:r>
              <a:rPr lang="en-US" dirty="0"/>
              <a:t>: Maintain original values</a:t>
            </a:r>
          </a:p>
          <a:p>
            <a:pPr lvl="1"/>
            <a:r>
              <a:rPr lang="en-US" b="1" dirty="0">
                <a:solidFill>
                  <a:srgbClr val="0B8EB8"/>
                </a:solidFill>
              </a:rPr>
              <a:t>Macro controls</a:t>
            </a:r>
            <a:r>
              <a:rPr lang="en-US" dirty="0"/>
              <a:t>: Maintain original sum of groups of cells</a:t>
            </a:r>
          </a:p>
          <a:p>
            <a:r>
              <a:rPr lang="en-US" b="1" dirty="0"/>
              <a:t>CE minimizes errors arising if constraints cannot be met</a:t>
            </a:r>
          </a:p>
          <a:p>
            <a:pPr lvl="1"/>
            <a:endParaRPr lang="en-US" dirty="0"/>
          </a:p>
        </p:txBody>
      </p:sp>
      <p:graphicFrame>
        <p:nvGraphicFramePr>
          <p:cNvPr id="28" name="Content Placeholder 5">
            <a:extLst>
              <a:ext uri="{FF2B5EF4-FFF2-40B4-BE49-F238E27FC236}">
                <a16:creationId xmlns:a16="http://schemas.microsoft.com/office/drawing/2014/main" id="{2CB9E534-1204-4B81-8FC2-B61A31C70B18}"/>
              </a:ext>
            </a:extLst>
          </p:cNvPr>
          <p:cNvGraphicFramePr>
            <a:graphicFrameLocks/>
          </p:cNvGraphicFramePr>
          <p:nvPr/>
        </p:nvGraphicFramePr>
        <p:xfrm>
          <a:off x="1415196" y="3380528"/>
          <a:ext cx="60261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8546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Hhd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Gov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Stk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Wld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A966D2CA-394A-4E1F-AC07-BDE48593E0E3}"/>
              </a:ext>
            </a:extLst>
          </p:cNvPr>
          <p:cNvSpPr/>
          <p:nvPr/>
        </p:nvSpPr>
        <p:spPr>
          <a:xfrm>
            <a:off x="4306518" y="3837212"/>
            <a:ext cx="2246682" cy="291193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C20AD1-E90C-480F-AD82-1CBC74A2E086}"/>
              </a:ext>
            </a:extLst>
          </p:cNvPr>
          <p:cNvSpPr/>
          <p:nvPr/>
        </p:nvSpPr>
        <p:spPr>
          <a:xfrm>
            <a:off x="2970941" y="5128531"/>
            <a:ext cx="495300" cy="29119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AA948B-67DD-4100-BDA1-ACCD5703D14E}"/>
              </a:ext>
            </a:extLst>
          </p:cNvPr>
          <p:cNvSpPr/>
          <p:nvPr/>
        </p:nvSpPr>
        <p:spPr>
          <a:xfrm>
            <a:off x="2526926" y="6107064"/>
            <a:ext cx="4483474" cy="290984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4E8CD-D813-4046-B77A-D581322FB47B}"/>
              </a:ext>
            </a:extLst>
          </p:cNvPr>
          <p:cNvSpPr/>
          <p:nvPr/>
        </p:nvSpPr>
        <p:spPr>
          <a:xfrm>
            <a:off x="7010400" y="3651380"/>
            <a:ext cx="430936" cy="2455684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17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C514-04B3-4CAE-B72F-C4A36B34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Rwanda SAM Macro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0303E-E0E8-4851-A2F6-464FCD4C0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127007"/>
          </a:xfrm>
        </p:spPr>
        <p:txBody>
          <a:bodyPr/>
          <a:lstStyle/>
          <a:p>
            <a:r>
              <a:rPr lang="en-US" dirty="0">
                <a:solidFill>
                  <a:srgbClr val="C34E2D"/>
                </a:solidFill>
              </a:rPr>
              <a:t>Total labor, land &amp; capital</a:t>
            </a:r>
            <a:r>
              <a:rPr lang="en-US" dirty="0"/>
              <a:t> value-added</a:t>
            </a:r>
          </a:p>
          <a:p>
            <a:r>
              <a:rPr lang="en-US" dirty="0">
                <a:solidFill>
                  <a:srgbClr val="0B8EB8"/>
                </a:solidFill>
              </a:rPr>
              <a:t>Tax revenue </a:t>
            </a:r>
            <a:r>
              <a:rPr lang="en-US" dirty="0"/>
              <a:t>collections for each tax type </a:t>
            </a:r>
            <a:r>
              <a:rPr lang="en-US" sz="1600" dirty="0"/>
              <a:t>(e.g., VAT, excise, custom duties)</a:t>
            </a:r>
            <a:endParaRPr lang="en-US" dirty="0"/>
          </a:p>
          <a:p>
            <a:r>
              <a:rPr lang="en-US" dirty="0"/>
              <a:t>Inter-institutional </a:t>
            </a:r>
            <a:r>
              <a:rPr lang="en-US" dirty="0">
                <a:solidFill>
                  <a:srgbClr val="8AA63D"/>
                </a:solidFill>
              </a:rPr>
              <a:t>transfers</a:t>
            </a:r>
            <a:r>
              <a:rPr lang="en-US" dirty="0"/>
              <a:t> </a:t>
            </a:r>
            <a:r>
              <a:rPr lang="en-US" sz="1600" dirty="0"/>
              <a:t>(e.g., government, households, enterprises, rest of world)</a:t>
            </a:r>
          </a:p>
          <a:p>
            <a:r>
              <a:rPr lang="en-US" dirty="0"/>
              <a:t>Total value-added in sector groupings </a:t>
            </a:r>
            <a:r>
              <a:rPr lang="en-US" sz="1600" dirty="0"/>
              <a:t>(i.e., AGR, MIN, MAN, UTL, CON, etc.)</a:t>
            </a:r>
            <a:endParaRPr lang="en-US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A39DF652-FAC8-470A-8545-CF2A82D1E4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1402206"/>
              </p:ext>
            </p:extLst>
          </p:nvPr>
        </p:nvGraphicFramePr>
        <p:xfrm>
          <a:off x="2867007" y="3618483"/>
          <a:ext cx="60261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8546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Hhd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Gov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Stk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Wld</a:t>
                      </a:r>
                      <a:endParaRPr lang="en-US" sz="105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A6CA1E6-DE4A-4D0B-80CF-AFFB292111F9}"/>
              </a:ext>
            </a:extLst>
          </p:cNvPr>
          <p:cNvSpPr/>
          <p:nvPr/>
        </p:nvSpPr>
        <p:spPr>
          <a:xfrm>
            <a:off x="4001717" y="5373679"/>
            <a:ext cx="883103" cy="291193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AA5CE-D535-4698-8C4B-CDB1FB0E513D}"/>
              </a:ext>
            </a:extLst>
          </p:cNvPr>
          <p:cNvSpPr/>
          <p:nvPr/>
        </p:nvSpPr>
        <p:spPr>
          <a:xfrm>
            <a:off x="4001717" y="4350484"/>
            <a:ext cx="441946" cy="29119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E84E5A-3E32-403B-BB91-13307AC67169}"/>
              </a:ext>
            </a:extLst>
          </p:cNvPr>
          <p:cNvSpPr/>
          <p:nvPr/>
        </p:nvSpPr>
        <p:spPr>
          <a:xfrm>
            <a:off x="5349253" y="4641677"/>
            <a:ext cx="1335751" cy="732001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B87549-135B-4327-BFD2-E53946762ABD}"/>
              </a:ext>
            </a:extLst>
          </p:cNvPr>
          <p:cNvSpPr/>
          <p:nvPr/>
        </p:nvSpPr>
        <p:spPr>
          <a:xfrm>
            <a:off x="5349254" y="5373679"/>
            <a:ext cx="883103" cy="291193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7AD582-6A6C-4447-8785-F583944D6131}"/>
              </a:ext>
            </a:extLst>
          </p:cNvPr>
          <p:cNvSpPr/>
          <p:nvPr/>
        </p:nvSpPr>
        <p:spPr>
          <a:xfrm>
            <a:off x="8009649" y="4641676"/>
            <a:ext cx="441946" cy="732001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0CB190-DCC5-4FA5-BDA5-BDD0FDDE8479}"/>
              </a:ext>
            </a:extLst>
          </p:cNvPr>
          <p:cNvSpPr/>
          <p:nvPr/>
        </p:nvSpPr>
        <p:spPr>
          <a:xfrm>
            <a:off x="5348859" y="6093485"/>
            <a:ext cx="1335750" cy="291193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20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800" y="4121148"/>
            <a:ext cx="608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4544B"/>
                </a:solidFill>
              </a:rPr>
              <a:t>Step 3: Income Distribution</a:t>
            </a:r>
            <a:endParaRPr lang="en-US" sz="2400" b="1" dirty="0">
              <a:solidFill>
                <a:srgbClr val="54544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767478"/>
            <a:ext cx="914400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7800" y="4767478"/>
            <a:ext cx="780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44B"/>
                </a:solidFill>
              </a:rPr>
              <a:t>Disaggregate and balance labor and household accounts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464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3825" y="1263650"/>
          <a:ext cx="883601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1772" y="2357093"/>
            <a:ext cx="7177813" cy="371475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BB4BB3-5B09-4811-A4AB-B45D1132D1DF}"/>
              </a:ext>
            </a:extLst>
          </p:cNvPr>
          <p:cNvSpPr/>
          <p:nvPr/>
        </p:nvSpPr>
        <p:spPr>
          <a:xfrm>
            <a:off x="3086534" y="1515941"/>
            <a:ext cx="656789" cy="4078409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B7EEF6-3E10-4305-AD55-BD74302A335F}"/>
              </a:ext>
            </a:extLst>
          </p:cNvPr>
          <p:cNvSpPr/>
          <p:nvPr/>
        </p:nvSpPr>
        <p:spPr>
          <a:xfrm>
            <a:off x="2025538" y="2319446"/>
            <a:ext cx="1463097" cy="46166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EB400D-6EAF-44D7-81DC-B7C96D3048BF}"/>
              </a:ext>
            </a:extLst>
          </p:cNvPr>
          <p:cNvSpPr txBox="1"/>
          <p:nvPr/>
        </p:nvSpPr>
        <p:spPr>
          <a:xfrm>
            <a:off x="2025538" y="2322029"/>
            <a:ext cx="146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13 factors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B384D6-82ED-4BBF-B163-A4C8237EBB4A}"/>
              </a:ext>
            </a:extLst>
          </p:cNvPr>
          <p:cNvSpPr/>
          <p:nvPr/>
        </p:nvSpPr>
        <p:spPr>
          <a:xfrm>
            <a:off x="5041188" y="3117215"/>
            <a:ext cx="3918651" cy="371475"/>
          </a:xfrm>
          <a:prstGeom prst="rect">
            <a:avLst/>
          </a:prstGeom>
          <a:solidFill>
            <a:srgbClr val="0B8EB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21C8E-78CB-447F-989B-25E172CFEF63}"/>
              </a:ext>
            </a:extLst>
          </p:cNvPr>
          <p:cNvSpPr/>
          <p:nvPr/>
        </p:nvSpPr>
        <p:spPr>
          <a:xfrm>
            <a:off x="4384400" y="1635321"/>
            <a:ext cx="656789" cy="4078410"/>
          </a:xfrm>
          <a:prstGeom prst="rect">
            <a:avLst/>
          </a:prstGeom>
          <a:solidFill>
            <a:srgbClr val="0B8EB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D3CB9-0211-4923-87FD-544DEE5D3FDD}"/>
              </a:ext>
            </a:extLst>
          </p:cNvPr>
          <p:cNvSpPr/>
          <p:nvPr/>
        </p:nvSpPr>
        <p:spPr>
          <a:xfrm>
            <a:off x="1782028" y="3117215"/>
            <a:ext cx="2212218" cy="371475"/>
          </a:xfrm>
          <a:prstGeom prst="rect">
            <a:avLst/>
          </a:prstGeom>
          <a:solidFill>
            <a:srgbClr val="0B8EB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C32A21-1234-4968-B328-51E94EEC40DF}"/>
              </a:ext>
            </a:extLst>
          </p:cNvPr>
          <p:cNvSpPr/>
          <p:nvPr/>
        </p:nvSpPr>
        <p:spPr>
          <a:xfrm>
            <a:off x="3743324" y="3073049"/>
            <a:ext cx="1965415" cy="461665"/>
          </a:xfrm>
          <a:prstGeom prst="rect">
            <a:avLst/>
          </a:prstGeom>
          <a:solidFill>
            <a:srgbClr val="0B8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07399-B4D5-4B7D-857C-AAA002B3AD6D}"/>
              </a:ext>
            </a:extLst>
          </p:cNvPr>
          <p:cNvSpPr txBox="1"/>
          <p:nvPr/>
        </p:nvSpPr>
        <p:spPr>
          <a:xfrm>
            <a:off x="3743323" y="3061358"/>
            <a:ext cx="2121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15 households</a:t>
            </a:r>
          </a:p>
        </p:txBody>
      </p:sp>
    </p:spTree>
    <p:extLst>
      <p:ext uri="{BB962C8B-B14F-4D97-AF65-F5344CB8AC3E}">
        <p14:creationId xmlns:p14="http://schemas.microsoft.com/office/powerpoint/2010/main" val="1962599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F33B3A5-8E0A-4278-BC82-69881846E8CC}"/>
              </a:ext>
            </a:extLst>
          </p:cNvPr>
          <p:cNvSpPr/>
          <p:nvPr/>
        </p:nvSpPr>
        <p:spPr>
          <a:xfrm>
            <a:off x="314786" y="1945516"/>
            <a:ext cx="8514428" cy="401644"/>
          </a:xfrm>
          <a:prstGeom prst="rect">
            <a:avLst/>
          </a:prstGeom>
          <a:solidFill>
            <a:srgbClr val="FFB3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&amp; Households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967EE2-163B-47D9-8CFB-B3554F98D83D}"/>
              </a:ext>
            </a:extLst>
          </p:cNvPr>
          <p:cNvSpPr txBox="1"/>
          <p:nvPr/>
        </p:nvSpPr>
        <p:spPr>
          <a:xfrm>
            <a:off x="680613" y="2009012"/>
            <a:ext cx="7807632" cy="2756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rgbClr val="54544B"/>
                </a:solidFill>
              </a:rPr>
              <a:t>Crop land | Crop, livestock, mining and nonagricultural capital | Rural and urban labor by education category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7E14C-0D61-45A5-84E5-324BD28E8AC8}"/>
              </a:ext>
            </a:extLst>
          </p:cNvPr>
          <p:cNvSpPr/>
          <p:nvPr/>
        </p:nvSpPr>
        <p:spPr>
          <a:xfrm>
            <a:off x="314787" y="1661534"/>
            <a:ext cx="8514426" cy="31730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78D774-B492-453C-9EBB-F8789EDCE738}"/>
              </a:ext>
            </a:extLst>
          </p:cNvPr>
          <p:cNvSpPr txBox="1"/>
          <p:nvPr/>
        </p:nvSpPr>
        <p:spPr>
          <a:xfrm>
            <a:off x="314790" y="1671059"/>
            <a:ext cx="227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Factors of Production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321A18-532B-4792-82D3-2F376208B8B4}"/>
              </a:ext>
            </a:extLst>
          </p:cNvPr>
          <p:cNvSpPr/>
          <p:nvPr/>
        </p:nvSpPr>
        <p:spPr>
          <a:xfrm>
            <a:off x="314786" y="2631143"/>
            <a:ext cx="8514427" cy="323898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04F86B-C96E-492D-921D-3FE2ED15783B}"/>
              </a:ext>
            </a:extLst>
          </p:cNvPr>
          <p:cNvSpPr txBox="1"/>
          <p:nvPr/>
        </p:nvSpPr>
        <p:spPr>
          <a:xfrm>
            <a:off x="680614" y="2656567"/>
            <a:ext cx="7807630" cy="27699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rgbClr val="54544B"/>
                </a:solidFill>
              </a:rPr>
              <a:t>Rural farm and nonfarm households and urban households by national per capita expenditure quintiles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D5F237-583D-4459-AA3F-BF0A762D4E5A}"/>
              </a:ext>
            </a:extLst>
          </p:cNvPr>
          <p:cNvSpPr/>
          <p:nvPr/>
        </p:nvSpPr>
        <p:spPr>
          <a:xfrm>
            <a:off x="314787" y="2316269"/>
            <a:ext cx="8514426" cy="317302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75EE44-E89D-472C-B6D0-E296E44562D9}"/>
              </a:ext>
            </a:extLst>
          </p:cNvPr>
          <p:cNvSpPr txBox="1"/>
          <p:nvPr/>
        </p:nvSpPr>
        <p:spPr>
          <a:xfrm>
            <a:off x="314790" y="2325794"/>
            <a:ext cx="227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Household groups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CBE490-2240-42A8-BD09-762C10215275}"/>
              </a:ext>
            </a:extLst>
          </p:cNvPr>
          <p:cNvSpPr txBox="1"/>
          <p:nvPr/>
        </p:nvSpPr>
        <p:spPr>
          <a:xfrm>
            <a:off x="314785" y="1978836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13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83FBEF-3D54-4D73-AAA8-FB0BD983E072}"/>
              </a:ext>
            </a:extLst>
          </p:cNvPr>
          <p:cNvSpPr txBox="1"/>
          <p:nvPr/>
        </p:nvSpPr>
        <p:spPr>
          <a:xfrm>
            <a:off x="314787" y="2622142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67242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Main data sources:</a:t>
            </a:r>
          </a:p>
          <a:p>
            <a:r>
              <a:rPr lang="en-US" dirty="0"/>
              <a:t>Household &amp; labor force surveys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b="1" dirty="0"/>
              <a:t>Map sector of employment to Rwanda activities</a:t>
            </a:r>
          </a:p>
          <a:p>
            <a:r>
              <a:rPr lang="en-US" dirty="0"/>
              <a:t>ISIC3.1, ISIC4 → Disaggregated SAM accounts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b="1" dirty="0"/>
              <a:t>Map consumption items to Rwanda commodities</a:t>
            </a:r>
          </a:p>
          <a:p>
            <a:r>
              <a:rPr lang="en-US" dirty="0"/>
              <a:t>COICOP, etc. → Disaggregated SAM accounts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b="1" dirty="0"/>
              <a:t>Maintain macro SAM &amp; non-factor/household accounts</a:t>
            </a:r>
          </a:p>
          <a:p>
            <a:r>
              <a:rPr lang="en-US" dirty="0"/>
              <a:t>Only imbalances are for detailed household accounts </a:t>
            </a:r>
          </a:p>
          <a:p>
            <a:r>
              <a:rPr lang="en-US" dirty="0"/>
              <a:t>Balanced using cross-entropy in GAMS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177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AC4D-3718-424C-8C20-645D45F4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Excel File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296C56-EE58-4E18-89CC-2A6C3378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3159371" cy="5395791"/>
          </a:xfrm>
        </p:spPr>
        <p:txBody>
          <a:bodyPr/>
          <a:lstStyle/>
          <a:p>
            <a:r>
              <a:rPr lang="en-US" dirty="0"/>
              <a:t>More detailed </a:t>
            </a:r>
            <a:r>
              <a:rPr lang="en-US" b="1" dirty="0">
                <a:solidFill>
                  <a:srgbClr val="FFB300"/>
                </a:solidFill>
              </a:rPr>
              <a:t>factors</a:t>
            </a:r>
            <a:r>
              <a:rPr lang="en-US" b="1" dirty="0">
                <a:solidFill>
                  <a:srgbClr val="0B8EB8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B300"/>
                </a:solidFill>
              </a:rPr>
              <a:t>households</a:t>
            </a:r>
          </a:p>
          <a:p>
            <a:endParaRPr lang="en-US" sz="1200" dirty="0"/>
          </a:p>
          <a:p>
            <a:r>
              <a:rPr lang="en-US" b="1" dirty="0">
                <a:solidFill>
                  <a:srgbClr val="0B8EB8"/>
                </a:solidFill>
              </a:rPr>
              <a:t>Blue sheets </a:t>
            </a:r>
            <a:r>
              <a:rPr lang="en-US" dirty="0"/>
              <a:t>are imported into GAMS</a:t>
            </a:r>
          </a:p>
          <a:p>
            <a:endParaRPr lang="en-US" sz="1200" dirty="0"/>
          </a:p>
          <a:p>
            <a:r>
              <a:rPr lang="en-US" b="1" dirty="0">
                <a:solidFill>
                  <a:srgbClr val="8AA63D"/>
                </a:solidFill>
              </a:rPr>
              <a:t>Green sheet </a:t>
            </a:r>
            <a:r>
              <a:rPr lang="en-US" dirty="0"/>
              <a:t>contains information from household and labor force surveys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401F2-66F8-41D9-A2C4-69D685D1F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883" y="1206285"/>
            <a:ext cx="5696117" cy="558720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80DF3F-9117-40B3-81D6-AB73208EF637}"/>
              </a:ext>
            </a:extLst>
          </p:cNvPr>
          <p:cNvSpPr/>
          <p:nvPr/>
        </p:nvSpPr>
        <p:spPr>
          <a:xfrm>
            <a:off x="3876675" y="6505575"/>
            <a:ext cx="4543425" cy="244727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F12AC-B550-4786-B81F-81A070A43E9A}"/>
              </a:ext>
            </a:extLst>
          </p:cNvPr>
          <p:cNvSpPr/>
          <p:nvPr/>
        </p:nvSpPr>
        <p:spPr>
          <a:xfrm>
            <a:off x="4943476" y="3488840"/>
            <a:ext cx="2914650" cy="2007085"/>
          </a:xfrm>
          <a:prstGeom prst="rect">
            <a:avLst/>
          </a:prstGeom>
          <a:noFill/>
          <a:ln w="44450">
            <a:solidFill>
              <a:srgbClr val="FFB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A399DB-3873-42BC-A3CC-BC4581D121D3}"/>
              </a:ext>
            </a:extLst>
          </p:cNvPr>
          <p:cNvSpPr txBox="1"/>
          <p:nvPr/>
        </p:nvSpPr>
        <p:spPr>
          <a:xfrm>
            <a:off x="797493" y="642078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3households.xlsx | Notes</a:t>
            </a:r>
          </a:p>
        </p:txBody>
      </p:sp>
    </p:spTree>
    <p:extLst>
      <p:ext uri="{BB962C8B-B14F-4D97-AF65-F5344CB8AC3E}">
        <p14:creationId xmlns:p14="http://schemas.microsoft.com/office/powerpoint/2010/main" val="3131100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7674-9037-4DEB-A74D-AE039EFF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&amp; Household Worksheets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2D06C-E617-460E-8584-BDA5474B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366092"/>
                </a:solidFill>
              </a:rPr>
              <a:t>FacAct</a:t>
            </a:r>
            <a:r>
              <a:rPr lang="en-US" dirty="0"/>
              <a:t>	Income generation (activity payments to factors)</a:t>
            </a:r>
          </a:p>
          <a:p>
            <a:r>
              <a:rPr lang="en-US" b="1" dirty="0" err="1">
                <a:solidFill>
                  <a:srgbClr val="366092"/>
                </a:solidFill>
              </a:rPr>
              <a:t>MiscFac</a:t>
            </a:r>
            <a:r>
              <a:rPr lang="en-US" dirty="0"/>
              <a:t>	Non-activity receipts and payments for factors</a:t>
            </a:r>
          </a:p>
          <a:p>
            <a:r>
              <a:rPr lang="en-US" b="1" dirty="0" err="1">
                <a:solidFill>
                  <a:srgbClr val="366092"/>
                </a:solidFill>
              </a:rPr>
              <a:t>HhdFac</a:t>
            </a:r>
            <a:r>
              <a:rPr lang="en-US" dirty="0"/>
              <a:t>	Income distribution (factor payments to households)</a:t>
            </a:r>
          </a:p>
          <a:p>
            <a:r>
              <a:rPr lang="en-US" b="1" dirty="0" err="1">
                <a:solidFill>
                  <a:srgbClr val="366092"/>
                </a:solidFill>
              </a:rPr>
              <a:t>ActHhd</a:t>
            </a:r>
            <a:r>
              <a:rPr lang="en-US" dirty="0"/>
              <a:t>	Household own consumption shares</a:t>
            </a:r>
          </a:p>
          <a:p>
            <a:r>
              <a:rPr lang="en-US" b="1" dirty="0" err="1">
                <a:solidFill>
                  <a:srgbClr val="366092"/>
                </a:solidFill>
              </a:rPr>
              <a:t>ComHhd</a:t>
            </a:r>
            <a:r>
              <a:rPr lang="en-US" dirty="0"/>
              <a:t>	Household marketed consumption shares</a:t>
            </a:r>
          </a:p>
          <a:p>
            <a:r>
              <a:rPr lang="en-US" b="1" dirty="0" err="1">
                <a:solidFill>
                  <a:srgbClr val="366092"/>
                </a:solidFill>
              </a:rPr>
              <a:t>MiscHhd</a:t>
            </a:r>
            <a:r>
              <a:rPr lang="en-US" dirty="0"/>
              <a:t>	Non-commodity/factor transactions for households</a:t>
            </a:r>
          </a:p>
          <a:p>
            <a:endParaRPr lang="en-US" sz="1100" dirty="0"/>
          </a:p>
          <a:p>
            <a:r>
              <a:rPr lang="en-US" b="1" dirty="0">
                <a:solidFill>
                  <a:srgbClr val="8AA63D"/>
                </a:solidFill>
              </a:rPr>
              <a:t>Survey</a:t>
            </a:r>
            <a:r>
              <a:rPr lang="en-US" dirty="0"/>
              <a:t>	Raw data from surveys, transformed to Rwanda 			accounts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F9F98-376E-4923-9F68-3F66BD33B814}"/>
              </a:ext>
            </a:extLst>
          </p:cNvPr>
          <p:cNvSpPr txBox="1"/>
          <p:nvPr/>
        </p:nvSpPr>
        <p:spPr>
          <a:xfrm>
            <a:off x="6836510" y="5968697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3households.xlsx | 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896B0-7221-4A46-BD52-EEA8E3089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6336905"/>
            <a:ext cx="8867775" cy="44767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8679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0C20-AE6F-4A6A-A30C-FD93B355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Generation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607BD-A826-4AB2-AF6B-5196DA28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6262"/>
            <a:ext cx="9144000" cy="242173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23C9C1-7BF4-4762-9CD5-ADDC1DD6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835553"/>
          </a:xfrm>
        </p:spPr>
        <p:txBody>
          <a:bodyPr>
            <a:normAutofit/>
          </a:bodyPr>
          <a:lstStyle/>
          <a:p>
            <a:r>
              <a:rPr lang="en-US" b="1" dirty="0"/>
              <a:t>Share of each sector’s value added allocated to different factors</a:t>
            </a:r>
          </a:p>
          <a:p>
            <a:pPr lvl="1"/>
            <a:r>
              <a:rPr lang="en-US" dirty="0"/>
              <a:t>Within labor (8 types) and within capital (4 types)</a:t>
            </a:r>
          </a:p>
          <a:p>
            <a:endParaRPr lang="en-US" sz="800" dirty="0"/>
          </a:p>
          <a:p>
            <a:r>
              <a:rPr lang="en-US" b="1" dirty="0"/>
              <a:t>Data from labor force and/or household surveys </a:t>
            </a:r>
          </a:p>
          <a:p>
            <a:pPr lvl="1"/>
            <a:r>
              <a:rPr lang="en-US" dirty="0"/>
              <a:t>Information on sectoral employment, including earnings from wages, nonfarm enterprises, an crop and livestock production</a:t>
            </a:r>
          </a:p>
          <a:p>
            <a:endParaRPr lang="en-US" sz="100" dirty="0"/>
          </a:p>
          <a:p>
            <a:r>
              <a:rPr lang="en-US" b="1" dirty="0"/>
              <a:t>Raw survey data imported and adjusted on “Survey” sheet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E5114-A5AD-43BF-8894-01D11B1070AC}"/>
              </a:ext>
            </a:extLst>
          </p:cNvPr>
          <p:cNvSpPr txBox="1"/>
          <p:nvPr/>
        </p:nvSpPr>
        <p:spPr>
          <a:xfrm>
            <a:off x="6357331" y="4137546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3households.xlsx | </a:t>
            </a:r>
            <a:r>
              <a:rPr lang="en-US" sz="1200" dirty="0" err="1">
                <a:solidFill>
                  <a:srgbClr val="54544B"/>
                </a:solidFill>
              </a:rPr>
              <a:t>FacAct</a:t>
            </a:r>
            <a:endParaRPr lang="en-US" sz="1200" dirty="0">
              <a:solidFill>
                <a:srgbClr val="54544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3B83C-639D-4992-980B-FFC7246E0521}"/>
              </a:ext>
            </a:extLst>
          </p:cNvPr>
          <p:cNvSpPr txBox="1"/>
          <p:nvPr/>
        </p:nvSpPr>
        <p:spPr>
          <a:xfrm>
            <a:off x="2876550" y="4888718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Labor earnings (sums to 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7BBEBF-3932-4628-8693-0099367BC256}"/>
              </a:ext>
            </a:extLst>
          </p:cNvPr>
          <p:cNvSpPr/>
          <p:nvPr/>
        </p:nvSpPr>
        <p:spPr>
          <a:xfrm>
            <a:off x="714375" y="5372100"/>
            <a:ext cx="5438775" cy="8096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18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5061-F050-4CA2-ADC7-253B897D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Distribution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1A461-3A05-4F8B-8674-CD2C54342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Share of each factor’s earnings distributed to different households</a:t>
            </a:r>
          </a:p>
          <a:p>
            <a:pPr lvl="1"/>
            <a:r>
              <a:rPr lang="en-US" dirty="0"/>
              <a:t>13 factors across 15 households</a:t>
            </a:r>
          </a:p>
          <a:p>
            <a:endParaRPr lang="en-US" sz="800" dirty="0"/>
          </a:p>
          <a:p>
            <a:pPr>
              <a:tabLst>
                <a:tab pos="285750" algn="l"/>
              </a:tabLst>
            </a:pPr>
            <a:r>
              <a:rPr lang="en-US" b="1" dirty="0"/>
              <a:t>Household survey data</a:t>
            </a:r>
          </a:p>
          <a:p>
            <a:pPr lvl="1">
              <a:tabLst>
                <a:tab pos="285750" algn="l"/>
              </a:tabLst>
            </a:pPr>
            <a:r>
              <a:rPr lang="en-US" dirty="0"/>
              <a:t>On Survey sheet</a:t>
            </a:r>
          </a:p>
          <a:p>
            <a:endParaRPr lang="en-US" sz="1000" dirty="0"/>
          </a:p>
          <a:p>
            <a:pPr>
              <a:tabLst>
                <a:tab pos="285750" algn="l"/>
              </a:tabLst>
            </a:pPr>
            <a:r>
              <a:rPr lang="en-US" b="1" dirty="0"/>
              <a:t>Adjustments needed to 						avoid outliers </a:t>
            </a:r>
          </a:p>
          <a:p>
            <a:pPr lvl="1">
              <a:tabLst>
                <a:tab pos="285750" algn="l"/>
              </a:tabLst>
            </a:pPr>
            <a:r>
              <a:rPr lang="en-US" dirty="0"/>
              <a:t>Also on Survey sheet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10036-B9AE-46BB-B8A7-F517B5A4D5CB}"/>
              </a:ext>
            </a:extLst>
          </p:cNvPr>
          <p:cNvSpPr txBox="1"/>
          <p:nvPr/>
        </p:nvSpPr>
        <p:spPr>
          <a:xfrm>
            <a:off x="6357331" y="193236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3households.xlsx | </a:t>
            </a:r>
            <a:r>
              <a:rPr lang="en-US" sz="1200" dirty="0" err="1">
                <a:solidFill>
                  <a:srgbClr val="54544B"/>
                </a:solidFill>
              </a:rPr>
              <a:t>HhdFac</a:t>
            </a:r>
            <a:endParaRPr lang="en-US" sz="1200" dirty="0">
              <a:solidFill>
                <a:srgbClr val="54544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D6ABDC-A931-42BC-82F0-28EA70643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300570"/>
            <a:ext cx="5372100" cy="4557430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74E88D-F6E7-45FB-A294-22B5012CF179}"/>
              </a:ext>
            </a:extLst>
          </p:cNvPr>
          <p:cNvSpPr txBox="1"/>
          <p:nvPr/>
        </p:nvSpPr>
        <p:spPr>
          <a:xfrm>
            <a:off x="1104900" y="5405897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Factor payments (sums to 1 across households)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CEDCA-356A-46E6-A68B-86AAE816F973}"/>
              </a:ext>
            </a:extLst>
          </p:cNvPr>
          <p:cNvSpPr/>
          <p:nvPr/>
        </p:nvSpPr>
        <p:spPr>
          <a:xfrm>
            <a:off x="4492871" y="3319199"/>
            <a:ext cx="1260229" cy="30530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43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2043-BBFB-4532-8186-16DB9D7E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Consumption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E81A0-E952-4633-A2B1-4748B2EC2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3278512"/>
          </a:xfrm>
        </p:spPr>
        <p:txBody>
          <a:bodyPr>
            <a:normAutofit/>
          </a:bodyPr>
          <a:lstStyle/>
          <a:p>
            <a:r>
              <a:rPr lang="en-US" b="1" dirty="0"/>
              <a:t>Data on own &amp; marketed consumption (</a:t>
            </a:r>
            <a:r>
              <a:rPr lang="en-US" b="1" dirty="0" err="1"/>
              <a:t>ActHhd</a:t>
            </a:r>
            <a:r>
              <a:rPr lang="en-US" b="1" dirty="0"/>
              <a:t> &amp; </a:t>
            </a:r>
            <a:r>
              <a:rPr lang="en-US" b="1" dirty="0" err="1"/>
              <a:t>ComHhd</a:t>
            </a:r>
            <a:r>
              <a:rPr lang="en-US" b="1" dirty="0"/>
              <a:t>)</a:t>
            </a:r>
          </a:p>
          <a:p>
            <a:endParaRPr lang="en-US" sz="300" b="1" dirty="0"/>
          </a:p>
          <a:p>
            <a:r>
              <a:rPr lang="en-US" b="1" dirty="0"/>
              <a:t>Share of each product’s total consumption demand generated by different households</a:t>
            </a:r>
          </a:p>
          <a:p>
            <a:pPr lvl="1"/>
            <a:r>
              <a:rPr lang="en-US" dirty="0"/>
              <a:t>30 commodities across 15 households</a:t>
            </a:r>
          </a:p>
          <a:p>
            <a:pPr>
              <a:tabLst>
                <a:tab pos="285750" algn="l"/>
              </a:tabLst>
            </a:pPr>
            <a:r>
              <a:rPr lang="en-US" b="1" dirty="0"/>
              <a:t>Household survey data</a:t>
            </a:r>
          </a:p>
          <a:p>
            <a:pPr lvl="1">
              <a:tabLst>
                <a:tab pos="285750" algn="l"/>
              </a:tabLst>
            </a:pPr>
            <a:r>
              <a:rPr lang="en-US" dirty="0"/>
              <a:t>On Survey sheet</a:t>
            </a:r>
          </a:p>
          <a:p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E27CB-93F5-4207-BB1F-11CFD5B24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2358"/>
            <a:ext cx="9144000" cy="172542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B87694-AAF0-4ADE-97B8-AE0B4E8E5E55}"/>
              </a:ext>
            </a:extLst>
          </p:cNvPr>
          <p:cNvSpPr txBox="1"/>
          <p:nvPr/>
        </p:nvSpPr>
        <p:spPr>
          <a:xfrm>
            <a:off x="6357331" y="458050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3households.xlsx | </a:t>
            </a:r>
            <a:r>
              <a:rPr lang="en-US" sz="1200" dirty="0" err="1">
                <a:solidFill>
                  <a:srgbClr val="54544B"/>
                </a:solidFill>
              </a:rPr>
              <a:t>ActHhd</a:t>
            </a:r>
            <a:endParaRPr lang="en-US" sz="1200" dirty="0">
              <a:solidFill>
                <a:srgbClr val="54544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AAD6F-475C-4270-BA32-EBC97ADF013B}"/>
              </a:ext>
            </a:extLst>
          </p:cNvPr>
          <p:cNvSpPr txBox="1"/>
          <p:nvPr/>
        </p:nvSpPr>
        <p:spPr>
          <a:xfrm>
            <a:off x="4362449" y="5145822"/>
            <a:ext cx="412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Product consumption shares (sum to 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D9C2E-D5FC-4283-BE37-DB1C3A909382}"/>
              </a:ext>
            </a:extLst>
          </p:cNvPr>
          <p:cNvSpPr/>
          <p:nvPr/>
        </p:nvSpPr>
        <p:spPr>
          <a:xfrm>
            <a:off x="2152650" y="5573104"/>
            <a:ext cx="6991350" cy="8096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62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33163-DEAB-4430-9C52-D4E863BFD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31" y="4120387"/>
            <a:ext cx="9144000" cy="2737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0CCE74-040C-44AB-8839-B8B3E0D5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Household SAM in GAMS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AF7B0-766E-48D6-81C6-7C6AABC0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708032"/>
          </a:xfrm>
        </p:spPr>
        <p:txBody>
          <a:bodyPr/>
          <a:lstStyle/>
          <a:p>
            <a:r>
              <a:rPr lang="en-US" dirty="0"/>
              <a:t>Click on household SAM build file (</a:t>
            </a:r>
            <a:r>
              <a:rPr lang="en-US" b="1" dirty="0">
                <a:solidFill>
                  <a:srgbClr val="C34E2D"/>
                </a:solidFill>
              </a:rPr>
              <a:t>3households.gms</a:t>
            </a:r>
            <a:r>
              <a:rPr lang="en-US" dirty="0"/>
              <a:t>)</a:t>
            </a:r>
          </a:p>
          <a:p>
            <a:r>
              <a:rPr lang="en-US" dirty="0"/>
              <a:t>Check that you are using the correct data file (</a:t>
            </a:r>
            <a:r>
              <a:rPr lang="en-US" b="1" dirty="0">
                <a:solidFill>
                  <a:srgbClr val="0B8EB8"/>
                </a:solidFill>
              </a:rPr>
              <a:t>3households_2015</a:t>
            </a:r>
            <a:r>
              <a:rPr lang="en-US" dirty="0"/>
              <a:t>)</a:t>
            </a:r>
          </a:p>
          <a:p>
            <a:r>
              <a:rPr lang="en-US" dirty="0"/>
              <a:t>Press F9 (or click on </a:t>
            </a:r>
            <a:r>
              <a:rPr lang="en-US" b="1" dirty="0">
                <a:solidFill>
                  <a:srgbClr val="8AA63D"/>
                </a:solidFill>
              </a:rPr>
              <a:t>Run Button</a:t>
            </a:r>
            <a:r>
              <a:rPr lang="en-US" dirty="0"/>
              <a:t>)</a:t>
            </a:r>
          </a:p>
          <a:p>
            <a:endParaRPr lang="en-US" sz="500" dirty="0"/>
          </a:p>
          <a:p>
            <a:r>
              <a:rPr lang="en-US" dirty="0"/>
              <a:t>Check process window (Normal Completion)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9B7E1B-0345-46F3-8132-196B7B0AE7F9}"/>
              </a:ext>
            </a:extLst>
          </p:cNvPr>
          <p:cNvSpPr/>
          <p:nvPr/>
        </p:nvSpPr>
        <p:spPr>
          <a:xfrm>
            <a:off x="1877646" y="5418844"/>
            <a:ext cx="1256079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BB45A-D087-4018-BC05-2B689FDE22B5}"/>
              </a:ext>
            </a:extLst>
          </p:cNvPr>
          <p:cNvSpPr txBox="1"/>
          <p:nvPr/>
        </p:nvSpPr>
        <p:spPr>
          <a:xfrm>
            <a:off x="6426935" y="4155456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1national.gms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DFFEC-B5EC-4276-BBEB-7C5A656BA107}"/>
              </a:ext>
            </a:extLst>
          </p:cNvPr>
          <p:cNvSpPr/>
          <p:nvPr/>
        </p:nvSpPr>
        <p:spPr>
          <a:xfrm>
            <a:off x="2009775" y="6324674"/>
            <a:ext cx="1847850" cy="311329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921CC0-9ECF-498B-B1E9-DEDE8260C9CE}"/>
              </a:ext>
            </a:extLst>
          </p:cNvPr>
          <p:cNvSpPr/>
          <p:nvPr/>
        </p:nvSpPr>
        <p:spPr>
          <a:xfrm>
            <a:off x="4210047" y="4676369"/>
            <a:ext cx="333378" cy="381406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36431-96B6-484C-93AB-6DD410F8E341}"/>
              </a:ext>
            </a:extLst>
          </p:cNvPr>
          <p:cNvSpPr txBox="1"/>
          <p:nvPr/>
        </p:nvSpPr>
        <p:spPr>
          <a:xfrm>
            <a:off x="6426935" y="3788207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3households.gms</a:t>
            </a:r>
          </a:p>
        </p:txBody>
      </p:sp>
    </p:spTree>
    <p:extLst>
      <p:ext uri="{BB962C8B-B14F-4D97-AF65-F5344CB8AC3E}">
        <p14:creationId xmlns:p14="http://schemas.microsoft.com/office/powerpoint/2010/main" val="16865708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1DE9-C6D1-47EF-ADD0-B3C8D25E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Imbalances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7E3F-1441-4FAC-B6BB-C20EFB341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8" y="1297800"/>
            <a:ext cx="5540621" cy="3736732"/>
          </a:xfrm>
        </p:spPr>
        <p:txBody>
          <a:bodyPr/>
          <a:lstStyle/>
          <a:p>
            <a:r>
              <a:rPr lang="en-US" dirty="0"/>
              <a:t>Check </a:t>
            </a:r>
            <a:r>
              <a:rPr lang="en-US" b="1" dirty="0"/>
              <a:t>0households_national.xlsx</a:t>
            </a:r>
          </a:p>
          <a:p>
            <a:endParaRPr lang="en-US" sz="900" dirty="0"/>
          </a:p>
          <a:p>
            <a:r>
              <a:rPr lang="en-US" b="1" dirty="0"/>
              <a:t>Household information </a:t>
            </a:r>
          </a:p>
          <a:p>
            <a:pPr lvl="1"/>
            <a:r>
              <a:rPr lang="en-US" dirty="0">
                <a:solidFill>
                  <a:srgbClr val="C34E2D"/>
                </a:solidFill>
              </a:rPr>
              <a:t>Income shares </a:t>
            </a:r>
            <a:r>
              <a:rPr lang="en-US" dirty="0"/>
              <a:t>across factors &amp; other sources</a:t>
            </a:r>
          </a:p>
          <a:p>
            <a:pPr lvl="1"/>
            <a:r>
              <a:rPr lang="en-US" dirty="0"/>
              <a:t>Comparison of </a:t>
            </a:r>
            <a:r>
              <a:rPr lang="en-US" dirty="0">
                <a:solidFill>
                  <a:srgbClr val="0B8EB8"/>
                </a:solidFill>
              </a:rPr>
              <a:t>survey vs. SAM </a:t>
            </a:r>
            <a:r>
              <a:rPr lang="en-US" dirty="0"/>
              <a:t>per capita consumption </a:t>
            </a:r>
          </a:p>
          <a:p>
            <a:pPr lvl="1"/>
            <a:r>
              <a:rPr lang="en-US" dirty="0"/>
              <a:t>Household incomes vs. expenditures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BCB83-30B1-4C9E-8819-F390F31E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0048"/>
            <a:ext cx="9144000" cy="143773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7A0BFE-799A-4FEE-A086-4EDB78B2D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276351"/>
            <a:ext cx="2581275" cy="372427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C6A8F7-A35D-4C93-AA1C-D6DDCE99D86E}"/>
              </a:ext>
            </a:extLst>
          </p:cNvPr>
          <p:cNvSpPr/>
          <p:nvPr/>
        </p:nvSpPr>
        <p:spPr>
          <a:xfrm>
            <a:off x="1258521" y="5372071"/>
            <a:ext cx="7656879" cy="619153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305B-920E-4BD4-B29A-0B2124A60F16}"/>
              </a:ext>
            </a:extLst>
          </p:cNvPr>
          <p:cNvSpPr/>
          <p:nvPr/>
        </p:nvSpPr>
        <p:spPr>
          <a:xfrm>
            <a:off x="6967537" y="1937035"/>
            <a:ext cx="885825" cy="2616453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37F24-176B-415D-ABAA-5A975DDE76D1}"/>
              </a:ext>
            </a:extLst>
          </p:cNvPr>
          <p:cNvSpPr txBox="1"/>
          <p:nvPr/>
        </p:nvSpPr>
        <p:spPr>
          <a:xfrm>
            <a:off x="3761765" y="4853338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0households.xlsx | Workings</a:t>
            </a:r>
          </a:p>
        </p:txBody>
      </p:sp>
    </p:spTree>
    <p:extLst>
      <p:ext uri="{BB962C8B-B14F-4D97-AF65-F5344CB8AC3E}">
        <p14:creationId xmlns:p14="http://schemas.microsoft.com/office/powerpoint/2010/main" val="3400878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05FCF8B-8FBE-49E1-985B-7FABC03A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2455"/>
            <a:ext cx="9144000" cy="2060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2533A-002F-4DD7-BC27-65A705A7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the SAM in GAMS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CAEB3-C507-4C62-81FD-6EAB2718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2803282"/>
          </a:xfrm>
        </p:spPr>
        <p:txBody>
          <a:bodyPr/>
          <a:lstStyle/>
          <a:p>
            <a:r>
              <a:rPr lang="en-US" dirty="0"/>
              <a:t>Click on SAM balancing file (</a:t>
            </a:r>
            <a:r>
              <a:rPr lang="en-US" b="1" dirty="0">
                <a:solidFill>
                  <a:srgbClr val="C34E2D"/>
                </a:solidFill>
              </a:rPr>
              <a:t>4balance.gms</a:t>
            </a:r>
            <a:r>
              <a:rPr lang="en-US" dirty="0"/>
              <a:t>)</a:t>
            </a:r>
          </a:p>
          <a:p>
            <a:r>
              <a:rPr lang="en-US" dirty="0"/>
              <a:t>Check you are restarting from the previous file (</a:t>
            </a:r>
            <a:r>
              <a:rPr lang="en-US" b="1" dirty="0">
                <a:solidFill>
                  <a:srgbClr val="0B8EB8"/>
                </a:solidFill>
              </a:rPr>
              <a:t>r=households</a:t>
            </a:r>
            <a:r>
              <a:rPr lang="en-US" dirty="0"/>
              <a:t>)</a:t>
            </a:r>
          </a:p>
          <a:p>
            <a:r>
              <a:rPr lang="en-US" dirty="0"/>
              <a:t>Press F9 (or click on </a:t>
            </a:r>
            <a:r>
              <a:rPr lang="en-US" b="1" dirty="0">
                <a:solidFill>
                  <a:srgbClr val="8AA63D"/>
                </a:solidFill>
              </a:rPr>
              <a:t>Run Button</a:t>
            </a:r>
            <a:r>
              <a:rPr lang="en-US" dirty="0"/>
              <a:t>)</a:t>
            </a:r>
          </a:p>
          <a:p>
            <a:endParaRPr lang="en-US" sz="800" dirty="0"/>
          </a:p>
          <a:p>
            <a:r>
              <a:rPr lang="en-US" dirty="0"/>
              <a:t>Check process window (Optimal Solution &amp; Normal Completion)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4FA8E-F2BE-4635-896F-D4775AA73666}"/>
              </a:ext>
            </a:extLst>
          </p:cNvPr>
          <p:cNvSpPr/>
          <p:nvPr/>
        </p:nvSpPr>
        <p:spPr>
          <a:xfrm>
            <a:off x="2666999" y="5584581"/>
            <a:ext cx="1219201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95C5B-5D48-46DB-8A2C-F2A9A9DDD248}"/>
              </a:ext>
            </a:extLst>
          </p:cNvPr>
          <p:cNvSpPr/>
          <p:nvPr/>
        </p:nvSpPr>
        <p:spPr>
          <a:xfrm>
            <a:off x="4299317" y="4937596"/>
            <a:ext cx="1228726" cy="311329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C5C61-318B-4D3A-9DFC-8219ECA7FDB9}"/>
              </a:ext>
            </a:extLst>
          </p:cNvPr>
          <p:cNvSpPr/>
          <p:nvPr/>
        </p:nvSpPr>
        <p:spPr>
          <a:xfrm>
            <a:off x="3914775" y="4937596"/>
            <a:ext cx="315547" cy="286156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914FA-C03B-4F82-BD18-D605AC3C82D4}"/>
              </a:ext>
            </a:extLst>
          </p:cNvPr>
          <p:cNvSpPr txBox="1"/>
          <p:nvPr/>
        </p:nvSpPr>
        <p:spPr>
          <a:xfrm>
            <a:off x="6426935" y="4155456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4balance.gms</a:t>
            </a:r>
          </a:p>
        </p:txBody>
      </p:sp>
    </p:spTree>
    <p:extLst>
      <p:ext uri="{BB962C8B-B14F-4D97-AF65-F5344CB8AC3E}">
        <p14:creationId xmlns:p14="http://schemas.microsoft.com/office/powerpoint/2010/main" val="1677629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79EBEB-04F2-4999-BF5F-6C554BBEB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919" y="1455998"/>
            <a:ext cx="3824081" cy="5353714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D29B61-37C8-455B-8F4A-F1DF90A7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Balanced Household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61FC5-219A-4123-A403-AAEAE81B2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5058972" cy="4041532"/>
          </a:xfrm>
        </p:spPr>
        <p:txBody>
          <a:bodyPr/>
          <a:lstStyle/>
          <a:p>
            <a:r>
              <a:rPr lang="en-US" dirty="0"/>
              <a:t>Balanced SAMs are exported to the </a:t>
            </a:r>
            <a:r>
              <a:rPr lang="en-US" b="1" dirty="0"/>
              <a:t>0results.xlsx </a:t>
            </a:r>
            <a:r>
              <a:rPr lang="en-US" dirty="0"/>
              <a:t>file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</a:t>
            </a:r>
            <a:r>
              <a:rPr lang="en-US" b="1" dirty="0"/>
              <a:t>0households_national.xlsx </a:t>
            </a:r>
            <a:r>
              <a:rPr lang="en-US" dirty="0"/>
              <a:t>again to see how income and expenditure share changed during balancing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D6983-E72F-4CE0-BF85-1EBCA5401471}"/>
              </a:ext>
            </a:extLst>
          </p:cNvPr>
          <p:cNvSpPr txBox="1"/>
          <p:nvPr/>
        </p:nvSpPr>
        <p:spPr>
          <a:xfrm>
            <a:off x="6493610" y="1083569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0output.xlsx | Household sheet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E7854-91AD-4E5C-A943-1E467C635BD6}"/>
              </a:ext>
            </a:extLst>
          </p:cNvPr>
          <p:cNvSpPr/>
          <p:nvPr/>
        </p:nvSpPr>
        <p:spPr>
          <a:xfrm>
            <a:off x="5800725" y="6471556"/>
            <a:ext cx="3276600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3877D-B9C2-486F-A197-D2A740714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52" y="2352675"/>
            <a:ext cx="4314825" cy="361950"/>
          </a:xfrm>
          <a:prstGeom prst="rect">
            <a:avLst/>
          </a:prstGeom>
          <a:ln w="44450">
            <a:solidFill>
              <a:srgbClr val="C34E2D"/>
            </a:solidFill>
          </a:ln>
        </p:spPr>
      </p:pic>
    </p:spTree>
    <p:extLst>
      <p:ext uri="{BB962C8B-B14F-4D97-AF65-F5344CB8AC3E}">
        <p14:creationId xmlns:p14="http://schemas.microsoft.com/office/powerpoint/2010/main" val="23768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4544B"/>
      </a:accent1>
      <a:accent2>
        <a:srgbClr val="FFB301"/>
      </a:accent2>
      <a:accent3>
        <a:srgbClr val="8AA63D"/>
      </a:accent3>
      <a:accent4>
        <a:srgbClr val="C34E2D"/>
      </a:accent4>
      <a:accent5>
        <a:srgbClr val="0B8EB8"/>
      </a:accent5>
      <a:accent6>
        <a:srgbClr val="F5F4F0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6490</TotalTime>
  <Words>2892</Words>
  <Application>Microsoft Office PowerPoint</Application>
  <PresentationFormat>On-screen Show (4:3)</PresentationFormat>
  <Paragraphs>698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</vt:lpstr>
      <vt:lpstr>Office Theme</vt:lpstr>
      <vt:lpstr>Rwanda SAM Toolkit Standardized Approach to Building &amp; Updating SAMs</vt:lpstr>
      <vt:lpstr>SAM-Building Toolkit</vt:lpstr>
      <vt:lpstr>Process</vt:lpstr>
      <vt:lpstr>Toolkit Files</vt:lpstr>
      <vt:lpstr>PowerPoint Presentation</vt:lpstr>
      <vt:lpstr>Data Sources</vt:lpstr>
      <vt:lpstr>Entries</vt:lpstr>
      <vt:lpstr>Details</vt:lpstr>
      <vt:lpstr>Opening National SAM Excel File</vt:lpstr>
      <vt:lpstr>Worksheet Names</vt:lpstr>
      <vt:lpstr>Macro SAM Sheets</vt:lpstr>
      <vt:lpstr>Creating Macro T-Accounts</vt:lpstr>
      <vt:lpstr>Final Macro SAM</vt:lpstr>
      <vt:lpstr>PowerPoint Presentation</vt:lpstr>
      <vt:lpstr>Details</vt:lpstr>
      <vt:lpstr>Rwanda Activities &amp; Commodities</vt:lpstr>
      <vt:lpstr>Data Sources</vt:lpstr>
      <vt:lpstr>Entries</vt:lpstr>
      <vt:lpstr>Process</vt:lpstr>
      <vt:lpstr>SUT Sheets</vt:lpstr>
      <vt:lpstr>Supply-Use Table</vt:lpstr>
      <vt:lpstr>Toolkit Files</vt:lpstr>
      <vt:lpstr>Building the SAM in GAMS</vt:lpstr>
      <vt:lpstr>Checking GAMS Process Window</vt:lpstr>
      <vt:lpstr>Balancing the SAM in GAMS</vt:lpstr>
      <vt:lpstr>Checking GAMS Process Window</vt:lpstr>
      <vt:lpstr>Viewing Balanced National SAM</vt:lpstr>
      <vt:lpstr>Balancing SAMs (1)</vt:lpstr>
      <vt:lpstr>Balancing SAMs (2)</vt:lpstr>
      <vt:lpstr>Cross-Entropy</vt:lpstr>
      <vt:lpstr>Three Types of Controls</vt:lpstr>
      <vt:lpstr>Rwanda SAM Macro Controls</vt:lpstr>
      <vt:lpstr>PowerPoint Presentation</vt:lpstr>
      <vt:lpstr>Details</vt:lpstr>
      <vt:lpstr>Factors &amp; Households</vt:lpstr>
      <vt:lpstr>Data Sources</vt:lpstr>
      <vt:lpstr>Household Excel File</vt:lpstr>
      <vt:lpstr>Factor &amp; Household Worksheets</vt:lpstr>
      <vt:lpstr>Income Generation Matrix</vt:lpstr>
      <vt:lpstr>Income Distribution Matrix</vt:lpstr>
      <vt:lpstr>Household Consumption Matrices</vt:lpstr>
      <vt:lpstr>Building the Household SAM in GAMS</vt:lpstr>
      <vt:lpstr>Household Imbalances</vt:lpstr>
      <vt:lpstr>Balancing the SAM in GAMS</vt:lpstr>
      <vt:lpstr>Viewing Balanced Household SAM</vt:lpstr>
    </vt:vector>
  </TitlesOfParts>
  <Company>IFPRI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Thurlow, James (IFPRI)</dc:creator>
  <cp:lastModifiedBy>Aragie, Emerta (IFPRI)</cp:lastModifiedBy>
  <cp:revision>774</cp:revision>
  <dcterms:created xsi:type="dcterms:W3CDTF">2014-12-01T13:38:06Z</dcterms:created>
  <dcterms:modified xsi:type="dcterms:W3CDTF">2026-02-04T20:16:46Z</dcterms:modified>
</cp:coreProperties>
</file>