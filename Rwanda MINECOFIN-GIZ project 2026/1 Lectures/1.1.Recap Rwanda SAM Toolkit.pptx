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7"/>
  </p:notesMasterIdLst>
  <p:sldIdLst>
    <p:sldId id="261" r:id="rId2"/>
    <p:sldId id="273" r:id="rId3"/>
    <p:sldId id="274" r:id="rId4"/>
    <p:sldId id="308" r:id="rId5"/>
    <p:sldId id="279" r:id="rId6"/>
    <p:sldId id="280" r:id="rId7"/>
    <p:sldId id="275" r:id="rId8"/>
    <p:sldId id="276" r:id="rId9"/>
    <p:sldId id="350" r:id="rId10"/>
    <p:sldId id="351" r:id="rId11"/>
    <p:sldId id="352" r:id="rId12"/>
    <p:sldId id="353" r:id="rId13"/>
    <p:sldId id="354" r:id="rId14"/>
    <p:sldId id="283" r:id="rId15"/>
    <p:sldId id="355" r:id="rId16"/>
    <p:sldId id="358" r:id="rId17"/>
    <p:sldId id="278" r:id="rId18"/>
    <p:sldId id="356" r:id="rId19"/>
    <p:sldId id="285" r:id="rId20"/>
    <p:sldId id="364" r:id="rId21"/>
    <p:sldId id="359" r:id="rId22"/>
    <p:sldId id="368" r:id="rId23"/>
    <p:sldId id="369" r:id="rId24"/>
    <p:sldId id="370" r:id="rId25"/>
    <p:sldId id="371" r:id="rId26"/>
    <p:sldId id="372" r:id="rId27"/>
    <p:sldId id="373" r:id="rId28"/>
    <p:sldId id="365" r:id="rId29"/>
    <p:sldId id="374" r:id="rId30"/>
    <p:sldId id="366" r:id="rId31"/>
    <p:sldId id="375" r:id="rId32"/>
    <p:sldId id="398" r:id="rId33"/>
    <p:sldId id="376" r:id="rId34"/>
    <p:sldId id="379" r:id="rId35"/>
    <p:sldId id="385" r:id="rId36"/>
    <p:sldId id="381" r:id="rId37"/>
    <p:sldId id="386" r:id="rId38"/>
    <p:sldId id="378" r:id="rId39"/>
    <p:sldId id="387" r:id="rId40"/>
    <p:sldId id="388" r:id="rId41"/>
    <p:sldId id="389" r:id="rId42"/>
    <p:sldId id="395" r:id="rId43"/>
    <p:sldId id="390" r:id="rId44"/>
    <p:sldId id="396" r:id="rId45"/>
    <p:sldId id="397" r:id="rId46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AA63D"/>
    <a:srgbClr val="0B8EB8"/>
    <a:srgbClr val="C34E2D"/>
    <a:srgbClr val="366092"/>
    <a:srgbClr val="FFB300"/>
    <a:srgbClr val="54544B"/>
    <a:srgbClr val="687D2E"/>
    <a:srgbClr val="C65911"/>
    <a:srgbClr val="B9B9B9"/>
    <a:srgbClr val="5C8E3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19" d="100"/>
          <a:sy n="119" d="100"/>
        </p:scale>
        <p:origin x="1296" y="11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08C934-C7E8-4610-B2C7-5E22C7639776}" type="datetimeFigureOut">
              <a:rPr lang="en-US" smtClean="0"/>
              <a:t>11/5/2020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C72739-8F39-4090-97C2-B04BD67F46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17193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5F4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0" y="609600"/>
            <a:ext cx="9144000" cy="750278"/>
          </a:xfrm>
          <a:prstGeom prst="rect">
            <a:avLst/>
          </a:prstGeom>
          <a:solidFill>
            <a:srgbClr val="54544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 userDrawn="1"/>
        </p:nvSpPr>
        <p:spPr>
          <a:xfrm>
            <a:off x="0" y="343876"/>
            <a:ext cx="9144000" cy="265723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482096"/>
            <a:ext cx="7772400" cy="1853101"/>
          </a:xfrm>
        </p:spPr>
        <p:txBody>
          <a:bodyPr anchor="b">
            <a:normAutofit/>
          </a:bodyPr>
          <a:lstStyle>
            <a:lvl1pPr algn="ctr">
              <a:defRPr sz="44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21154" y="4672746"/>
            <a:ext cx="6858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622" y="1"/>
            <a:ext cx="2488908" cy="1359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85887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5F4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0" y="121977"/>
            <a:ext cx="9144000" cy="10002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 userDrawn="1"/>
        </p:nvSpPr>
        <p:spPr>
          <a:xfrm>
            <a:off x="0" y="221998"/>
            <a:ext cx="9144000" cy="850288"/>
          </a:xfrm>
          <a:prstGeom prst="rect">
            <a:avLst/>
          </a:prstGeom>
          <a:solidFill>
            <a:srgbClr val="54544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278" y="221997"/>
            <a:ext cx="8077689" cy="850288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24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1pPr>
            <a:lvl2pPr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2pPr>
            <a:lvl3pPr>
              <a:defRPr sz="18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3pPr>
            <a:lvl4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4pPr>
            <a:lvl5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74514" y="0"/>
            <a:ext cx="769305" cy="1072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4891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F5F4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221998"/>
            <a:ext cx="9144000" cy="850288"/>
          </a:xfrm>
          <a:prstGeom prst="rect">
            <a:avLst/>
          </a:prstGeom>
          <a:solidFill>
            <a:srgbClr val="54544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>
            <a:normAutofit/>
          </a:bodyPr>
          <a:lstStyle>
            <a:lvl1pPr algn="l">
              <a:defRPr sz="4400">
                <a:solidFill>
                  <a:srgbClr val="54544B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 algn="l">
              <a:buNone/>
              <a:defRPr sz="2400" b="0">
                <a:solidFill>
                  <a:srgbClr val="54544B"/>
                </a:solidFill>
                <a:latin typeface="+mn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Rectangle 6"/>
          <p:cNvSpPr/>
          <p:nvPr userDrawn="1"/>
        </p:nvSpPr>
        <p:spPr>
          <a:xfrm>
            <a:off x="0" y="121977"/>
            <a:ext cx="9144000" cy="10002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74514" y="0"/>
            <a:ext cx="769305" cy="1072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58018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039FD7E3-E8B7-41B6-8E11-9BF22DB8AD7D}" type="datetimeFigureOut">
              <a:rPr lang="en-US" smtClean="0"/>
              <a:t>11/5/2020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9530BFE8-97C6-45A2-90EF-DB887EEA2C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61563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039FD7E3-E8B7-41B6-8E11-9BF22DB8AD7D}" type="datetimeFigureOut">
              <a:rPr lang="en-US" smtClean="0"/>
              <a:t>11/5/2020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9530BFE8-97C6-45A2-90EF-DB887EEA2C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8660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039FD7E3-E8B7-41B6-8E11-9BF22DB8AD7D}" type="datetimeFigureOut">
              <a:rPr lang="en-US" smtClean="0"/>
              <a:t>11/5/2020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9530BFE8-97C6-45A2-90EF-DB887EEA2C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64829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039FD7E3-E8B7-41B6-8E11-9BF22DB8AD7D}" type="datetimeFigureOut">
              <a:rPr lang="en-US" smtClean="0"/>
              <a:t>11/5/2020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9530BFE8-97C6-45A2-90EF-DB887EEA2C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46880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039FD7E3-E8B7-41B6-8E11-9BF22DB8AD7D}" type="datetimeFigureOut">
              <a:rPr lang="en-US" smtClean="0"/>
              <a:t>11/5/2020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9530BFE8-97C6-45A2-90EF-DB887EEA2C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38357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039FD7E3-E8B7-41B6-8E11-9BF22DB8AD7D}" type="datetimeFigureOut">
              <a:rPr lang="en-US" smtClean="0"/>
              <a:t>11/5/2020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9530BFE8-97C6-45A2-90EF-DB887EEA2C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72410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039FD7E3-E8B7-41B6-8E11-9BF22DB8AD7D}" type="datetimeFigureOut">
              <a:rPr lang="en-US" smtClean="0"/>
              <a:t>11/5/2020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9530BFE8-97C6-45A2-90EF-DB887EEA2C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34431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039FD7E3-E8B7-41B6-8E11-9BF22DB8AD7D}" type="datetimeFigureOut">
              <a:rPr lang="en-US" smtClean="0"/>
              <a:t>11/5/2020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9530BFE8-97C6-45A2-90EF-DB887EEA2C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07227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6280" y="138480"/>
            <a:ext cx="8835781" cy="10885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79" y="1301993"/>
            <a:ext cx="8835781" cy="53957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356922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Cambria" panose="02040503050406030204" pitchFamily="18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mbria" panose="02040503050406030204" pitchFamily="18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mbria" panose="02040503050406030204" pitchFamily="18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mbria" panose="02040503050406030204" pitchFamily="18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Cambria" panose="02040503050406030204" pitchFamily="18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Cambria" panose="02040503050406030204" pitchFamily="18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ctrTitle"/>
          </p:nvPr>
        </p:nvSpPr>
        <p:spPr>
          <a:xfrm>
            <a:off x="569403" y="2502449"/>
            <a:ext cx="8005194" cy="1853101"/>
          </a:xfrm>
        </p:spPr>
        <p:txBody>
          <a:bodyPr>
            <a:normAutofit/>
          </a:bodyPr>
          <a:lstStyle/>
          <a:p>
            <a:r>
              <a:rPr lang="en-US" b="1" dirty="0"/>
              <a:t>Rwanda SAM Toolkit</a:t>
            </a:r>
            <a:br>
              <a:rPr lang="en-US" dirty="0"/>
            </a:br>
            <a:r>
              <a:rPr lang="en-US" sz="2800" dirty="0"/>
              <a:t>Standardized Approach to Building &amp; Updating SAMs</a:t>
            </a:r>
            <a:endParaRPr lang="en-US" dirty="0"/>
          </a:p>
        </p:txBody>
      </p:sp>
      <p:sp>
        <p:nvSpPr>
          <p:cNvPr id="2" name="Subtitle 1"/>
          <p:cNvSpPr>
            <a:spLocks noGrp="1"/>
          </p:cNvSpPr>
          <p:nvPr>
            <p:ph type="subTitle" idx="1"/>
          </p:nvPr>
        </p:nvSpPr>
        <p:spPr>
          <a:xfrm>
            <a:off x="1221154" y="4672746"/>
            <a:ext cx="6858000" cy="1975704"/>
          </a:xfrm>
        </p:spPr>
        <p:txBody>
          <a:bodyPr>
            <a:normAutofit/>
          </a:bodyPr>
          <a:lstStyle/>
          <a:p>
            <a:endParaRPr lang="en-US" sz="1600" dirty="0"/>
          </a:p>
          <a:p>
            <a:r>
              <a:rPr lang="en-US" sz="1600" dirty="0"/>
              <a:t>Emerta Aragie and James Thurlow</a:t>
            </a:r>
          </a:p>
          <a:p>
            <a:endParaRPr lang="en-US" sz="1600" dirty="0"/>
          </a:p>
          <a:p>
            <a:endParaRPr lang="en-US" sz="1600" dirty="0"/>
          </a:p>
          <a:p>
            <a:r>
              <a:rPr lang="en-US" sz="1600" dirty="0"/>
              <a:t>Recap Session | 30 Oct 2020</a:t>
            </a:r>
          </a:p>
        </p:txBody>
      </p:sp>
    </p:spTree>
    <p:extLst>
      <p:ext uri="{BB962C8B-B14F-4D97-AF65-F5344CB8AC3E}">
        <p14:creationId xmlns:p14="http://schemas.microsoft.com/office/powerpoint/2010/main" val="23354491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527902" y="3049170"/>
            <a:ext cx="2601799" cy="381687"/>
          </a:xfrm>
          <a:prstGeom prst="rect">
            <a:avLst/>
          </a:prstGeom>
          <a:solidFill>
            <a:srgbClr val="C34E2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527902" y="3430858"/>
            <a:ext cx="2601799" cy="738663"/>
          </a:xfrm>
          <a:prstGeom prst="rect">
            <a:avLst/>
          </a:prstGeom>
          <a:solidFill>
            <a:srgbClr val="C34E2D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5885458" y="3048321"/>
            <a:ext cx="2601799" cy="381687"/>
          </a:xfrm>
          <a:prstGeom prst="rect">
            <a:avLst/>
          </a:prstGeom>
          <a:solidFill>
            <a:srgbClr val="5C8E3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5885458" y="3430009"/>
            <a:ext cx="2601799" cy="1600438"/>
          </a:xfrm>
          <a:prstGeom prst="rect">
            <a:avLst/>
          </a:prstGeom>
          <a:solidFill>
            <a:srgbClr val="5C8E3A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3206680" y="3048321"/>
            <a:ext cx="2601799" cy="381687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3206680" y="3430009"/>
            <a:ext cx="2601799" cy="738663"/>
          </a:xfrm>
          <a:prstGeom prst="rect">
            <a:avLst/>
          </a:prstGeom>
          <a:solidFill>
            <a:srgbClr val="FFB3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527903" y="3049171"/>
            <a:ext cx="2601798" cy="3816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Macro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7901" y="3430857"/>
            <a:ext cx="2601800" cy="738664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sz="1400" dirty="0">
                <a:solidFill>
                  <a:srgbClr val="54544B"/>
                </a:solidFill>
              </a:rPr>
              <a:t>National accounts (SNA 2008)</a:t>
            </a:r>
          </a:p>
          <a:p>
            <a:r>
              <a:rPr lang="en-US" sz="1400" dirty="0">
                <a:solidFill>
                  <a:srgbClr val="54544B"/>
                </a:solidFill>
              </a:rPr>
              <a:t>Balance of payments (IMF BOP6)</a:t>
            </a:r>
          </a:p>
          <a:p>
            <a:r>
              <a:rPr lang="en-US" sz="1400" dirty="0">
                <a:solidFill>
                  <a:srgbClr val="54544B"/>
                </a:solidFill>
              </a:rPr>
              <a:t>Gov. finance (IMF GFSM2014)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85459" y="3048322"/>
            <a:ext cx="2601798" cy="3816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Micro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5457" y="3430008"/>
            <a:ext cx="2601800" cy="1600438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sz="1400" dirty="0">
                <a:solidFill>
                  <a:srgbClr val="54544B"/>
                </a:solidFill>
              </a:rPr>
              <a:t>Agriculture production (FAOSTAT)</a:t>
            </a:r>
          </a:p>
          <a:p>
            <a:r>
              <a:rPr lang="en-US" sz="1400" dirty="0">
                <a:solidFill>
                  <a:srgbClr val="54544B"/>
                </a:solidFill>
              </a:rPr>
              <a:t>Industrial + economic surveys</a:t>
            </a:r>
          </a:p>
          <a:p>
            <a:r>
              <a:rPr lang="en-US" sz="1400" dirty="0">
                <a:solidFill>
                  <a:srgbClr val="54544B"/>
                </a:solidFill>
              </a:rPr>
              <a:t>Energy balance (IEA)</a:t>
            </a:r>
          </a:p>
          <a:p>
            <a:r>
              <a:rPr lang="en-US" sz="1400" dirty="0">
                <a:solidFill>
                  <a:srgbClr val="54544B"/>
                </a:solidFill>
              </a:rPr>
              <a:t>Trade flows (COMTRADE)</a:t>
            </a:r>
          </a:p>
          <a:p>
            <a:r>
              <a:rPr lang="en-US" sz="1400" dirty="0">
                <a:solidFill>
                  <a:srgbClr val="54544B"/>
                </a:solidFill>
              </a:rPr>
              <a:t>Tariffs (TRAINS)</a:t>
            </a:r>
          </a:p>
          <a:p>
            <a:r>
              <a:rPr lang="en-US" sz="1400" dirty="0">
                <a:solidFill>
                  <a:srgbClr val="54544B"/>
                </a:solidFill>
              </a:rPr>
              <a:t>Labor force surveys</a:t>
            </a:r>
          </a:p>
          <a:p>
            <a:r>
              <a:rPr lang="en-US" sz="1400" dirty="0">
                <a:solidFill>
                  <a:srgbClr val="54544B"/>
                </a:solidFill>
              </a:rPr>
              <a:t>Household surveys (LSMS)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6681" y="3048322"/>
            <a:ext cx="2601798" cy="3816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Input-output table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6679" y="3430008"/>
            <a:ext cx="2601800" cy="738664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sz="1400" dirty="0">
                <a:solidFill>
                  <a:srgbClr val="54544B"/>
                </a:solidFill>
              </a:rPr>
              <a:t>Rebased national accounts</a:t>
            </a:r>
          </a:p>
          <a:p>
            <a:r>
              <a:rPr lang="en-US" sz="1400" dirty="0">
                <a:solidFill>
                  <a:srgbClr val="54544B"/>
                </a:solidFill>
              </a:rPr>
              <a:t>Agriculture censuses + surveys</a:t>
            </a:r>
          </a:p>
          <a:p>
            <a:r>
              <a:rPr lang="en-US" sz="1400" dirty="0">
                <a:solidFill>
                  <a:srgbClr val="54544B"/>
                </a:solidFill>
              </a:rPr>
              <a:t>Industrial firm surveys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SAM-Building Toolkit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4779" y="1301993"/>
            <a:ext cx="8557281" cy="1526048"/>
          </a:xfrm>
        </p:spPr>
        <p:txBody>
          <a:bodyPr>
            <a:normAutofit/>
          </a:bodyPr>
          <a:lstStyle/>
          <a:p>
            <a:pPr marL="0" indent="0">
              <a:buNone/>
              <a:tabLst>
                <a:tab pos="395288" algn="l"/>
              </a:tabLst>
            </a:pPr>
            <a:r>
              <a:rPr lang="en-US" b="1" dirty="0"/>
              <a:t>	Reconciles data from multiple sources</a:t>
            </a:r>
          </a:p>
          <a:p>
            <a:pPr lvl="1">
              <a:tabLst>
                <a:tab pos="395288" algn="l"/>
              </a:tabLst>
            </a:pPr>
            <a:r>
              <a:rPr lang="en-US" dirty="0"/>
              <a:t>Core toolkit tailored to national statistical reports</a:t>
            </a:r>
          </a:p>
          <a:p>
            <a:pPr lvl="1">
              <a:tabLst>
                <a:tab pos="395288" algn="l"/>
              </a:tabLst>
            </a:pPr>
            <a:r>
              <a:rPr lang="en-US" dirty="0"/>
              <a:t>Final data reconciliation uses cross-entropy estimation </a:t>
            </a:r>
          </a:p>
          <a:p>
            <a:pPr lvl="1">
              <a:tabLst>
                <a:tab pos="395288" algn="l"/>
              </a:tabLst>
            </a:pPr>
            <a:r>
              <a:rPr lang="en-US" dirty="0"/>
              <a:t>Coded in Microsoft Excel® and GAMS®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569" y="1301993"/>
            <a:ext cx="437944" cy="421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05094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Process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883502" y="1741425"/>
            <a:ext cx="3713898" cy="461665"/>
          </a:xfrm>
          <a:prstGeom prst="rect">
            <a:avLst/>
          </a:prstGeom>
          <a:solidFill>
            <a:srgbClr val="C34E2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883502" y="2203089"/>
            <a:ext cx="3713898" cy="646330"/>
          </a:xfrm>
          <a:prstGeom prst="rect">
            <a:avLst/>
          </a:prstGeom>
          <a:solidFill>
            <a:srgbClr val="C34E2D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883502" y="1741425"/>
            <a:ext cx="37138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Step 1: Macro SAM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3502" y="2203088"/>
            <a:ext cx="3713898" cy="646331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dirty="0">
                <a:solidFill>
                  <a:srgbClr val="54544B"/>
                </a:solidFill>
              </a:rPr>
              <a:t>Single aggregate activity, commodity, labor and household accounts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0451" y="3074797"/>
            <a:ext cx="3713898" cy="461665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2740451" y="3536460"/>
            <a:ext cx="3713898" cy="646330"/>
          </a:xfrm>
          <a:prstGeom prst="rect">
            <a:avLst/>
          </a:prstGeom>
          <a:solidFill>
            <a:srgbClr val="FFB3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2740451" y="3074797"/>
            <a:ext cx="37138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Step 2: Supply-Use Table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0451" y="3536460"/>
            <a:ext cx="3713898" cy="646331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dirty="0">
                <a:solidFill>
                  <a:srgbClr val="54544B"/>
                </a:solidFill>
              </a:rPr>
              <a:t>Disaggregate and balance activity and commodity accounts 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97400" y="4408169"/>
            <a:ext cx="3713898" cy="461665"/>
          </a:xfrm>
          <a:prstGeom prst="rect">
            <a:avLst/>
          </a:prstGeom>
          <a:solidFill>
            <a:srgbClr val="5C8E3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4597400" y="4869832"/>
            <a:ext cx="3713898" cy="646330"/>
          </a:xfrm>
          <a:prstGeom prst="rect">
            <a:avLst/>
          </a:prstGeom>
          <a:solidFill>
            <a:srgbClr val="5C8E3A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xfrm>
            <a:off x="4597400" y="4408169"/>
            <a:ext cx="37138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Step 3: Income Distribution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7400" y="4869832"/>
            <a:ext cx="3713898" cy="646331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dirty="0">
                <a:solidFill>
                  <a:srgbClr val="54544B"/>
                </a:solidFill>
              </a:rPr>
              <a:t>Disaggregate and balance labor and household accounts </a:t>
            </a:r>
          </a:p>
        </p:txBody>
      </p:sp>
    </p:spTree>
    <p:extLst>
      <p:ext uri="{BB962C8B-B14F-4D97-AF65-F5344CB8AC3E}">
        <p14:creationId xmlns:p14="http://schemas.microsoft.com/office/powerpoint/2010/main" val="576495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Toolkit Files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456579C9-050B-40E6-B15E-0F036BA1140A}"/>
              </a:ext>
            </a:extLst>
          </p:cNvPr>
          <p:cNvGrpSpPr/>
          <p:nvPr/>
        </p:nvGrpSpPr>
        <p:grpSpPr>
          <a:xfrm>
            <a:off x="215899" y="1708150"/>
            <a:ext cx="8712202" cy="4229675"/>
            <a:chOff x="286542" y="1727200"/>
            <a:chExt cx="8712202" cy="4229675"/>
          </a:xfrm>
        </p:grpSpPr>
        <p:sp>
          <p:nvSpPr>
            <p:cNvPr id="4" name="Text Box 2"/>
            <p:cNvSpPr txBox="1">
              <a:spLocks noChangeArrowheads="1"/>
            </p:cNvSpPr>
            <p:nvPr/>
          </p:nvSpPr>
          <p:spPr bwMode="auto">
            <a:xfrm>
              <a:off x="1902618" y="4291934"/>
              <a:ext cx="2419351" cy="814131"/>
            </a:xfrm>
            <a:prstGeom prst="rect">
              <a:avLst/>
            </a:prstGeom>
            <a:solidFill>
              <a:srgbClr val="C34E2D"/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/>
            <a:lstStyle/>
            <a:p>
              <a:pPr algn="ctr">
                <a:spcAft>
                  <a:spcPts val="1000"/>
                </a:spcAft>
              </a:pPr>
              <a:r>
                <a:rPr lang="en-US" sz="1600" b="1" dirty="0">
                  <a:solidFill>
                    <a:schemeClr val="bg1"/>
                  </a:solidFill>
                  <a:latin typeface="Calibri" pitchFamily="34" charset="0"/>
                </a:rPr>
                <a:t>Build and Balance </a:t>
              </a:r>
              <a:r>
                <a:rPr lang="en-US" sz="1600" dirty="0">
                  <a:solidFill>
                    <a:schemeClr val="bg1"/>
                  </a:solidFill>
                  <a:latin typeface="Calibri" pitchFamily="34" charset="0"/>
                </a:rPr>
                <a:t>3household.gms                 4balance.gms</a:t>
              </a:r>
              <a:endParaRPr lang="en-US" sz="2800" dirty="0">
                <a:solidFill>
                  <a:schemeClr val="bg1"/>
                </a:solidFill>
              </a:endParaRPr>
            </a:p>
          </p:txBody>
        </p:sp>
        <p:sp>
          <p:nvSpPr>
            <p:cNvPr id="5" name="Text Box 3"/>
            <p:cNvSpPr txBox="1">
              <a:spLocks noChangeArrowheads="1"/>
            </p:cNvSpPr>
            <p:nvPr/>
          </p:nvSpPr>
          <p:spPr bwMode="auto">
            <a:xfrm>
              <a:off x="4748212" y="3489325"/>
              <a:ext cx="2412204" cy="584775"/>
            </a:xfrm>
            <a:prstGeom prst="rect">
              <a:avLst/>
            </a:prstGeom>
            <a:solidFill>
              <a:srgbClr val="0B8EB8"/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square">
              <a:spAutoFit/>
            </a:bodyPr>
            <a:lstStyle/>
            <a:p>
              <a:pPr algn="ctr">
                <a:spcAft>
                  <a:spcPts val="1000"/>
                </a:spcAft>
              </a:pPr>
              <a:r>
                <a:rPr lang="en-US" sz="1600" b="1" dirty="0">
                  <a:solidFill>
                    <a:schemeClr val="bg1"/>
                  </a:solidFill>
                  <a:latin typeface="Calibri" pitchFamily="34" charset="0"/>
                </a:rPr>
                <a:t>Process survey data </a:t>
              </a:r>
              <a:r>
                <a:rPr lang="en-US" sz="1600" dirty="0">
                  <a:solidFill>
                    <a:schemeClr val="bg1"/>
                  </a:solidFill>
                  <a:latin typeface="Calibri" pitchFamily="34" charset="0"/>
                </a:rPr>
                <a:t>(surveys folder)</a:t>
              </a:r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6" name="Text Box 4"/>
            <p:cNvSpPr txBox="1">
              <a:spLocks noChangeArrowheads="1"/>
            </p:cNvSpPr>
            <p:nvPr/>
          </p:nvSpPr>
          <p:spPr bwMode="auto">
            <a:xfrm>
              <a:off x="4749800" y="4406900"/>
              <a:ext cx="2410616" cy="584775"/>
            </a:xfrm>
            <a:prstGeom prst="rect">
              <a:avLst/>
            </a:prstGeom>
            <a:solidFill>
              <a:srgbClr val="8AA63D"/>
            </a:solidFill>
            <a:ln w="9525">
              <a:noFill/>
              <a:prstDash val="dash"/>
              <a:miter lim="800000"/>
              <a:headEnd/>
              <a:tailEnd/>
            </a:ln>
            <a:effectLst/>
          </p:spPr>
          <p:txBody>
            <a:bodyPr wrap="square">
              <a:spAutoFit/>
            </a:bodyPr>
            <a:lstStyle/>
            <a:p>
              <a:pPr algn="ctr">
                <a:spcAft>
                  <a:spcPts val="1000"/>
                </a:spcAft>
              </a:pPr>
              <a:r>
                <a:rPr lang="en-US" sz="1600" b="1" dirty="0">
                  <a:solidFill>
                    <a:schemeClr val="bg1"/>
                  </a:solidFill>
                  <a:latin typeface="Calibri" pitchFamily="34" charset="0"/>
                </a:rPr>
                <a:t>Prior Household SAM </a:t>
              </a:r>
              <a:r>
                <a:rPr lang="en-US" sz="1600" dirty="0">
                  <a:solidFill>
                    <a:schemeClr val="bg1"/>
                  </a:solidFill>
                  <a:latin typeface="Calibri" pitchFamily="34" charset="0"/>
                </a:rPr>
                <a:t>3household.xlsx</a:t>
              </a:r>
              <a:endParaRPr lang="en-US" sz="2800" dirty="0">
                <a:solidFill>
                  <a:schemeClr val="bg1"/>
                </a:solidFill>
              </a:endParaRPr>
            </a:p>
          </p:txBody>
        </p:sp>
        <p:sp>
          <p:nvSpPr>
            <p:cNvPr id="7" name="Text Box 5"/>
            <p:cNvSpPr txBox="1">
              <a:spLocks noChangeArrowheads="1"/>
            </p:cNvSpPr>
            <p:nvPr/>
          </p:nvSpPr>
          <p:spPr bwMode="auto">
            <a:xfrm>
              <a:off x="4749800" y="1727200"/>
              <a:ext cx="2419351" cy="584775"/>
            </a:xfrm>
            <a:prstGeom prst="rect">
              <a:avLst/>
            </a:prstGeom>
            <a:solidFill>
              <a:srgbClr val="0B8EB8"/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square">
              <a:spAutoFit/>
            </a:bodyPr>
            <a:lstStyle/>
            <a:p>
              <a:pPr algn="ctr">
                <a:spcAft>
                  <a:spcPts val="1000"/>
                </a:spcAft>
              </a:pPr>
              <a:r>
                <a:rPr lang="en-US" sz="1600" b="1" dirty="0">
                  <a:solidFill>
                    <a:schemeClr val="bg1"/>
                  </a:solidFill>
                  <a:latin typeface="Calibri" pitchFamily="34" charset="0"/>
                </a:rPr>
                <a:t>Estimate SUT Coefficients </a:t>
              </a:r>
              <a:r>
                <a:rPr lang="en-US" sz="1600" dirty="0">
                  <a:solidFill>
                    <a:schemeClr val="bg1"/>
                  </a:solidFill>
                  <a:latin typeface="Calibri" pitchFamily="34" charset="0"/>
                </a:rPr>
                <a:t>(workings folder)</a:t>
              </a:r>
            </a:p>
          </p:txBody>
        </p:sp>
        <p:sp>
          <p:nvSpPr>
            <p:cNvPr id="8" name="Text Box 6"/>
            <p:cNvSpPr txBox="1">
              <a:spLocks noChangeArrowheads="1"/>
            </p:cNvSpPr>
            <p:nvPr/>
          </p:nvSpPr>
          <p:spPr bwMode="auto">
            <a:xfrm>
              <a:off x="4748211" y="2578100"/>
              <a:ext cx="2419351" cy="584775"/>
            </a:xfrm>
            <a:prstGeom prst="rect">
              <a:avLst/>
            </a:prstGeom>
            <a:solidFill>
              <a:srgbClr val="8AA63D"/>
            </a:solidFill>
            <a:ln w="9525">
              <a:noFill/>
              <a:prstDash val="dash"/>
              <a:miter lim="800000"/>
              <a:headEnd/>
              <a:tailEnd/>
            </a:ln>
            <a:effectLst/>
          </p:spPr>
          <p:txBody>
            <a:bodyPr wrap="square">
              <a:spAutoFit/>
            </a:bodyPr>
            <a:lstStyle/>
            <a:p>
              <a:pPr algn="ctr">
                <a:spcAft>
                  <a:spcPts val="1000"/>
                </a:spcAft>
              </a:pPr>
              <a:r>
                <a:rPr lang="en-US" sz="1600" b="1" dirty="0">
                  <a:solidFill>
                    <a:schemeClr val="bg1"/>
                  </a:solidFill>
                  <a:latin typeface="Calibri" pitchFamily="34" charset="0"/>
                </a:rPr>
                <a:t>Prior National SAM </a:t>
              </a:r>
              <a:r>
                <a:rPr lang="en-US" sz="1600" dirty="0">
                  <a:solidFill>
                    <a:schemeClr val="bg1"/>
                  </a:solidFill>
                  <a:latin typeface="Calibri" pitchFamily="34" charset="0"/>
                </a:rPr>
                <a:t>1national.xlsx</a:t>
              </a:r>
              <a:endParaRPr lang="en-US" sz="2800" dirty="0">
                <a:solidFill>
                  <a:schemeClr val="bg1"/>
                </a:solidFill>
              </a:endParaRPr>
            </a:p>
          </p:txBody>
        </p:sp>
        <p:cxnSp>
          <p:nvCxnSpPr>
            <p:cNvPr id="9" name="AutoShape 7"/>
            <p:cNvCxnSpPr>
              <a:cxnSpLocks noChangeShapeType="1"/>
              <a:stCxn id="7" idx="2"/>
              <a:endCxn id="8" idx="0"/>
            </p:cNvCxnSpPr>
            <p:nvPr/>
          </p:nvCxnSpPr>
          <p:spPr bwMode="auto">
            <a:xfrm flipH="1">
              <a:off x="5957887" y="2311975"/>
              <a:ext cx="1589" cy="266125"/>
            </a:xfrm>
            <a:prstGeom prst="straightConnector1">
              <a:avLst/>
            </a:prstGeom>
            <a:noFill/>
            <a:ln w="9525">
              <a:solidFill>
                <a:srgbClr val="0B8EB8"/>
              </a:solidFill>
              <a:round/>
              <a:headEnd/>
              <a:tailEnd type="triangle" w="lg" len="med"/>
            </a:ln>
          </p:spPr>
        </p:cxnSp>
        <p:cxnSp>
          <p:nvCxnSpPr>
            <p:cNvPr id="10" name="AutoShape 8"/>
            <p:cNvCxnSpPr>
              <a:cxnSpLocks noChangeShapeType="1"/>
              <a:stCxn id="8" idx="1"/>
              <a:endCxn id="14" idx="3"/>
            </p:cNvCxnSpPr>
            <p:nvPr/>
          </p:nvCxnSpPr>
          <p:spPr bwMode="auto">
            <a:xfrm flipH="1" flipV="1">
              <a:off x="4324351" y="2870487"/>
              <a:ext cx="423860" cy="1"/>
            </a:xfrm>
            <a:prstGeom prst="straightConnector1">
              <a:avLst/>
            </a:prstGeom>
            <a:noFill/>
            <a:ln w="9525">
              <a:solidFill>
                <a:srgbClr val="5C8E3A"/>
              </a:solidFill>
              <a:round/>
              <a:headEnd/>
              <a:tailEnd type="triangle" w="lg" len="med"/>
            </a:ln>
          </p:spPr>
        </p:cxnSp>
        <p:cxnSp>
          <p:nvCxnSpPr>
            <p:cNvPr id="11" name="AutoShape 9"/>
            <p:cNvCxnSpPr>
              <a:cxnSpLocks noChangeShapeType="1"/>
              <a:stCxn id="14" idx="2"/>
              <a:endCxn id="4" idx="0"/>
            </p:cNvCxnSpPr>
            <p:nvPr/>
          </p:nvCxnSpPr>
          <p:spPr bwMode="auto">
            <a:xfrm flipH="1">
              <a:off x="3112294" y="3285985"/>
              <a:ext cx="2382" cy="1005949"/>
            </a:xfrm>
            <a:prstGeom prst="straightConnector1">
              <a:avLst/>
            </a:prstGeom>
            <a:noFill/>
            <a:ln w="9525">
              <a:solidFill>
                <a:srgbClr val="C34E2D"/>
              </a:solidFill>
              <a:round/>
              <a:headEnd/>
              <a:tailEnd type="triangle" w="lg" len="med"/>
            </a:ln>
          </p:spPr>
        </p:cxnSp>
        <p:cxnSp>
          <p:nvCxnSpPr>
            <p:cNvPr id="12" name="AutoShape 10"/>
            <p:cNvCxnSpPr>
              <a:cxnSpLocks noChangeShapeType="1"/>
              <a:stCxn id="5" idx="2"/>
              <a:endCxn id="6" idx="0"/>
            </p:cNvCxnSpPr>
            <p:nvPr/>
          </p:nvCxnSpPr>
          <p:spPr bwMode="auto">
            <a:xfrm>
              <a:off x="5954314" y="4074100"/>
              <a:ext cx="794" cy="332800"/>
            </a:xfrm>
            <a:prstGeom prst="straightConnector1">
              <a:avLst/>
            </a:prstGeom>
            <a:noFill/>
            <a:ln w="9525">
              <a:solidFill>
                <a:srgbClr val="0B8EB8"/>
              </a:solidFill>
              <a:round/>
              <a:headEnd/>
              <a:tailEnd type="triangle" w="lg" len="med"/>
            </a:ln>
          </p:spPr>
        </p:cxnSp>
        <p:cxnSp>
          <p:nvCxnSpPr>
            <p:cNvPr id="13" name="AutoShape 11"/>
            <p:cNvCxnSpPr>
              <a:cxnSpLocks noChangeShapeType="1"/>
              <a:stCxn id="6" idx="1"/>
              <a:endCxn id="4" idx="3"/>
            </p:cNvCxnSpPr>
            <p:nvPr/>
          </p:nvCxnSpPr>
          <p:spPr bwMode="auto">
            <a:xfrm flipH="1" flipV="1">
              <a:off x="4321969" y="4699000"/>
              <a:ext cx="427831" cy="288"/>
            </a:xfrm>
            <a:prstGeom prst="straightConnector1">
              <a:avLst/>
            </a:prstGeom>
            <a:noFill/>
            <a:ln w="9525">
              <a:solidFill>
                <a:srgbClr val="5C8E3A"/>
              </a:solidFill>
              <a:round/>
              <a:headEnd/>
              <a:tailEnd type="triangle" w="lg" len="med"/>
            </a:ln>
          </p:spPr>
        </p:cxnSp>
        <p:sp>
          <p:nvSpPr>
            <p:cNvPr id="14" name="Text Box 12"/>
            <p:cNvSpPr txBox="1">
              <a:spLocks noChangeArrowheads="1"/>
            </p:cNvSpPr>
            <p:nvPr/>
          </p:nvSpPr>
          <p:spPr bwMode="auto">
            <a:xfrm>
              <a:off x="1905000" y="2454988"/>
              <a:ext cx="2419351" cy="830997"/>
            </a:xfrm>
            <a:prstGeom prst="rect">
              <a:avLst/>
            </a:prstGeom>
            <a:solidFill>
              <a:srgbClr val="C34E2D"/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square">
              <a:spAutoFit/>
            </a:bodyPr>
            <a:lstStyle/>
            <a:p>
              <a:pPr algn="ctr">
                <a:spcAft>
                  <a:spcPts val="1000"/>
                </a:spcAft>
              </a:pPr>
              <a:r>
                <a:rPr lang="en-US" sz="1600" b="1" dirty="0">
                  <a:solidFill>
                    <a:schemeClr val="bg1"/>
                  </a:solidFill>
                  <a:latin typeface="Calibri" pitchFamily="34" charset="0"/>
                </a:rPr>
                <a:t>Build and Balance </a:t>
              </a:r>
              <a:r>
                <a:rPr lang="en-US" sz="1600" dirty="0">
                  <a:solidFill>
                    <a:schemeClr val="bg1"/>
                  </a:solidFill>
                  <a:latin typeface="Calibri" pitchFamily="34" charset="0"/>
                </a:rPr>
                <a:t>1national.gms 2balance.gms</a:t>
              </a:r>
              <a:endParaRPr lang="en-US" sz="2800" dirty="0">
                <a:solidFill>
                  <a:schemeClr val="bg1"/>
                </a:solidFill>
              </a:endParaRPr>
            </a:p>
          </p:txBody>
        </p:sp>
        <p:sp>
          <p:nvSpPr>
            <p:cNvPr id="15" name="Oval 14"/>
            <p:cNvSpPr>
              <a:spLocks noChangeArrowheads="1"/>
            </p:cNvSpPr>
            <p:nvPr/>
          </p:nvSpPr>
          <p:spPr bwMode="auto">
            <a:xfrm>
              <a:off x="7332905" y="1862717"/>
              <a:ext cx="779462" cy="349250"/>
            </a:xfrm>
            <a:prstGeom prst="ellipse">
              <a:avLst/>
            </a:prstGeom>
            <a:solidFill>
              <a:srgbClr val="FFB300"/>
            </a:solidFill>
            <a:ln w="9525">
              <a:noFill/>
              <a:round/>
              <a:headEnd/>
              <a:tailEnd/>
            </a:ln>
            <a:effectLst/>
          </p:spPr>
          <p:txBody>
            <a:bodyPr/>
            <a:lstStyle/>
            <a:p>
              <a:endParaRPr lang="en-US">
                <a:solidFill>
                  <a:srgbClr val="54544B"/>
                </a:solidFill>
              </a:endParaRPr>
            </a:p>
          </p:txBody>
        </p:sp>
        <p:sp>
          <p:nvSpPr>
            <p:cNvPr id="16" name="Text Box 15"/>
            <p:cNvSpPr txBox="1">
              <a:spLocks noChangeArrowheads="1"/>
            </p:cNvSpPr>
            <p:nvPr/>
          </p:nvSpPr>
          <p:spPr bwMode="auto">
            <a:xfrm>
              <a:off x="7369417" y="1877005"/>
              <a:ext cx="838200" cy="3048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/>
            <a:lstStyle/>
            <a:p>
              <a:pPr>
                <a:spcAft>
                  <a:spcPts val="1000"/>
                </a:spcAft>
              </a:pPr>
              <a:r>
                <a:rPr lang="en-US" sz="1600" b="1" dirty="0">
                  <a:solidFill>
                    <a:srgbClr val="54544B"/>
                  </a:solidFill>
                  <a:latin typeface="Calibri" pitchFamily="34" charset="0"/>
                </a:rPr>
                <a:t>Step 1</a:t>
              </a:r>
              <a:endParaRPr lang="en-US" sz="2800" b="1" dirty="0">
                <a:solidFill>
                  <a:srgbClr val="54544B"/>
                </a:solidFill>
              </a:endParaRPr>
            </a:p>
          </p:txBody>
        </p:sp>
        <p:sp>
          <p:nvSpPr>
            <p:cNvPr id="18" name="Text Box 26"/>
            <p:cNvSpPr txBox="1">
              <a:spLocks noChangeArrowheads="1"/>
            </p:cNvSpPr>
            <p:nvPr/>
          </p:nvSpPr>
          <p:spPr bwMode="auto">
            <a:xfrm>
              <a:off x="286542" y="2717096"/>
              <a:ext cx="1820863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Aft>
                  <a:spcPts val="1000"/>
                </a:spcAft>
              </a:pPr>
              <a:r>
                <a:rPr lang="en-US" sz="1600" b="1" u="sng" dirty="0">
                  <a:solidFill>
                    <a:srgbClr val="54544B"/>
                  </a:solidFill>
                </a:rPr>
                <a:t>GAMS</a:t>
              </a:r>
              <a:r>
                <a:rPr lang="en-US" sz="1600" dirty="0">
                  <a:solidFill>
                    <a:srgbClr val="54544B"/>
                  </a:solidFill>
                </a:rPr>
                <a:t>: Press F9</a:t>
              </a:r>
              <a:endParaRPr lang="en-US" sz="3600" dirty="0">
                <a:solidFill>
                  <a:srgbClr val="54544B"/>
                </a:solidFill>
              </a:endParaRPr>
            </a:p>
          </p:txBody>
        </p:sp>
        <p:sp>
          <p:nvSpPr>
            <p:cNvPr id="19" name="Text Box 27"/>
            <p:cNvSpPr txBox="1">
              <a:spLocks noChangeArrowheads="1"/>
            </p:cNvSpPr>
            <p:nvPr/>
          </p:nvSpPr>
          <p:spPr bwMode="auto">
            <a:xfrm>
              <a:off x="1905001" y="5372100"/>
              <a:ext cx="2419350" cy="584775"/>
            </a:xfrm>
            <a:prstGeom prst="rect">
              <a:avLst/>
            </a:prstGeom>
            <a:solidFill>
              <a:srgbClr val="8AA63D"/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square">
              <a:spAutoFit/>
            </a:bodyPr>
            <a:lstStyle/>
            <a:p>
              <a:pPr algn="ctr">
                <a:spcAft>
                  <a:spcPts val="1000"/>
                </a:spcAft>
              </a:pPr>
              <a:r>
                <a:rPr lang="en-US" sz="1600" b="1" dirty="0">
                  <a:solidFill>
                    <a:schemeClr val="bg1"/>
                  </a:solidFill>
                  <a:latin typeface="Calibri" pitchFamily="34" charset="0"/>
                </a:rPr>
                <a:t>Balanced SAMs  </a:t>
              </a:r>
              <a:r>
                <a:rPr lang="en-US" sz="1600" dirty="0">
                  <a:solidFill>
                    <a:schemeClr val="bg1"/>
                  </a:solidFill>
                  <a:latin typeface="Calibri" pitchFamily="34" charset="0"/>
                </a:rPr>
                <a:t>(0output.xlsx)</a:t>
              </a:r>
              <a:endParaRPr lang="en-US" sz="2800" dirty="0">
                <a:solidFill>
                  <a:schemeClr val="bg1"/>
                </a:solidFill>
              </a:endParaRPr>
            </a:p>
          </p:txBody>
        </p:sp>
        <p:cxnSp>
          <p:nvCxnSpPr>
            <p:cNvPr id="20" name="AutoShape 28"/>
            <p:cNvCxnSpPr>
              <a:cxnSpLocks noChangeShapeType="1"/>
              <a:stCxn id="4" idx="2"/>
              <a:endCxn id="19" idx="0"/>
            </p:cNvCxnSpPr>
            <p:nvPr/>
          </p:nvCxnSpPr>
          <p:spPr bwMode="auto">
            <a:xfrm>
              <a:off x="3112294" y="5106065"/>
              <a:ext cx="2382" cy="266035"/>
            </a:xfrm>
            <a:prstGeom prst="straightConnector1">
              <a:avLst/>
            </a:prstGeom>
            <a:noFill/>
            <a:ln w="9525">
              <a:solidFill>
                <a:srgbClr val="C34E2D"/>
              </a:solidFill>
              <a:round/>
              <a:headEnd/>
              <a:tailEnd type="triangle" w="lg" len="med"/>
            </a:ln>
          </p:spPr>
        </p:cxnSp>
        <p:sp>
          <p:nvSpPr>
            <p:cNvPr id="21" name="Text Box 32"/>
            <p:cNvSpPr txBox="1">
              <a:spLocks noChangeArrowheads="1"/>
            </p:cNvSpPr>
            <p:nvPr/>
          </p:nvSpPr>
          <p:spPr bwMode="auto">
            <a:xfrm>
              <a:off x="7194148" y="4421980"/>
              <a:ext cx="1598613" cy="5540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/>
            <a:lstStyle/>
            <a:p>
              <a:pPr>
                <a:spcAft>
                  <a:spcPts val="1000"/>
                </a:spcAft>
              </a:pPr>
              <a:r>
                <a:rPr lang="en-US" sz="1600" b="1" u="sng" dirty="0">
                  <a:solidFill>
                    <a:srgbClr val="54544B"/>
                  </a:solidFill>
                </a:rPr>
                <a:t>Excel</a:t>
              </a:r>
              <a:r>
                <a:rPr lang="en-US" sz="1600" dirty="0">
                  <a:solidFill>
                    <a:srgbClr val="54544B"/>
                  </a:solidFill>
                </a:rPr>
                <a:t>: Split households </a:t>
              </a:r>
              <a:endParaRPr lang="en-US" sz="3600" dirty="0">
                <a:solidFill>
                  <a:srgbClr val="54544B"/>
                </a:solidFill>
              </a:endParaRPr>
            </a:p>
          </p:txBody>
        </p:sp>
        <p:sp>
          <p:nvSpPr>
            <p:cNvPr id="22" name="Text Box 33"/>
            <p:cNvSpPr txBox="1">
              <a:spLocks noChangeArrowheads="1"/>
            </p:cNvSpPr>
            <p:nvPr/>
          </p:nvSpPr>
          <p:spPr bwMode="auto">
            <a:xfrm>
              <a:off x="325437" y="4529723"/>
              <a:ext cx="2209800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Aft>
                  <a:spcPts val="1000"/>
                </a:spcAft>
              </a:pPr>
              <a:r>
                <a:rPr lang="en-US" sz="1600" b="1" u="sng" dirty="0">
                  <a:solidFill>
                    <a:srgbClr val="54544B"/>
                  </a:solidFill>
                </a:rPr>
                <a:t>GAMS</a:t>
              </a:r>
              <a:r>
                <a:rPr lang="en-US" sz="1600" dirty="0">
                  <a:solidFill>
                    <a:srgbClr val="54544B"/>
                  </a:solidFill>
                </a:rPr>
                <a:t>: Press F9</a:t>
              </a:r>
              <a:endParaRPr lang="en-US" sz="3600" dirty="0">
                <a:solidFill>
                  <a:srgbClr val="54544B"/>
                </a:solidFill>
              </a:endParaRPr>
            </a:p>
          </p:txBody>
        </p:sp>
        <p:sp>
          <p:nvSpPr>
            <p:cNvPr id="24" name="Oval 14"/>
            <p:cNvSpPr>
              <a:spLocks noChangeArrowheads="1"/>
            </p:cNvSpPr>
            <p:nvPr/>
          </p:nvSpPr>
          <p:spPr bwMode="auto">
            <a:xfrm>
              <a:off x="407194" y="2297687"/>
              <a:ext cx="779462" cy="349250"/>
            </a:xfrm>
            <a:prstGeom prst="ellipse">
              <a:avLst/>
            </a:prstGeom>
            <a:solidFill>
              <a:srgbClr val="FFB300"/>
            </a:solidFill>
            <a:ln w="9525">
              <a:noFill/>
              <a:round/>
              <a:headEnd/>
              <a:tailEnd/>
            </a:ln>
            <a:effectLst/>
          </p:spPr>
          <p:txBody>
            <a:bodyPr/>
            <a:lstStyle/>
            <a:p>
              <a:endParaRPr lang="en-US">
                <a:solidFill>
                  <a:srgbClr val="54544B"/>
                </a:solidFill>
              </a:endParaRPr>
            </a:p>
          </p:txBody>
        </p:sp>
        <p:sp>
          <p:nvSpPr>
            <p:cNvPr id="25" name="Text Box 15"/>
            <p:cNvSpPr txBox="1">
              <a:spLocks noChangeArrowheads="1"/>
            </p:cNvSpPr>
            <p:nvPr/>
          </p:nvSpPr>
          <p:spPr bwMode="auto">
            <a:xfrm>
              <a:off x="443706" y="2311975"/>
              <a:ext cx="838200" cy="3048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/>
            <a:lstStyle/>
            <a:p>
              <a:pPr>
                <a:spcAft>
                  <a:spcPts val="1000"/>
                </a:spcAft>
              </a:pPr>
              <a:r>
                <a:rPr lang="en-US" sz="1600" b="1" dirty="0">
                  <a:solidFill>
                    <a:srgbClr val="54544B"/>
                  </a:solidFill>
                  <a:latin typeface="Calibri" pitchFamily="34" charset="0"/>
                </a:rPr>
                <a:t>Step 2</a:t>
              </a:r>
              <a:endParaRPr lang="en-US" sz="2800" b="1" dirty="0">
                <a:solidFill>
                  <a:srgbClr val="54544B"/>
                </a:solidFill>
              </a:endParaRPr>
            </a:p>
          </p:txBody>
        </p:sp>
        <p:sp>
          <p:nvSpPr>
            <p:cNvPr id="26" name="Oval 14"/>
            <p:cNvSpPr>
              <a:spLocks noChangeArrowheads="1"/>
            </p:cNvSpPr>
            <p:nvPr/>
          </p:nvSpPr>
          <p:spPr bwMode="auto">
            <a:xfrm>
              <a:off x="7282105" y="4033985"/>
              <a:ext cx="779462" cy="349250"/>
            </a:xfrm>
            <a:prstGeom prst="ellipse">
              <a:avLst/>
            </a:prstGeom>
            <a:solidFill>
              <a:srgbClr val="FFB300"/>
            </a:solidFill>
            <a:ln w="9525">
              <a:noFill/>
              <a:round/>
              <a:headEnd/>
              <a:tailEnd/>
            </a:ln>
            <a:effectLst/>
          </p:spPr>
          <p:txBody>
            <a:bodyPr/>
            <a:lstStyle/>
            <a:p>
              <a:endParaRPr lang="en-US">
                <a:solidFill>
                  <a:srgbClr val="54544B"/>
                </a:solidFill>
              </a:endParaRPr>
            </a:p>
          </p:txBody>
        </p:sp>
        <p:sp>
          <p:nvSpPr>
            <p:cNvPr id="27" name="Text Box 15"/>
            <p:cNvSpPr txBox="1">
              <a:spLocks noChangeArrowheads="1"/>
            </p:cNvSpPr>
            <p:nvPr/>
          </p:nvSpPr>
          <p:spPr bwMode="auto">
            <a:xfrm>
              <a:off x="7318617" y="4048273"/>
              <a:ext cx="838200" cy="3048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/>
            <a:lstStyle/>
            <a:p>
              <a:pPr>
                <a:spcAft>
                  <a:spcPts val="1000"/>
                </a:spcAft>
              </a:pPr>
              <a:r>
                <a:rPr lang="en-US" sz="1600" b="1">
                  <a:solidFill>
                    <a:srgbClr val="54544B"/>
                  </a:solidFill>
                  <a:latin typeface="Calibri" pitchFamily="34" charset="0"/>
                </a:rPr>
                <a:t>Step 3</a:t>
              </a:r>
              <a:endParaRPr lang="en-US" sz="2800" b="1">
                <a:solidFill>
                  <a:srgbClr val="54544B"/>
                </a:solidFill>
              </a:endParaRPr>
            </a:p>
          </p:txBody>
        </p:sp>
        <p:sp>
          <p:nvSpPr>
            <p:cNvPr id="28" name="Oval 14"/>
            <p:cNvSpPr>
              <a:spLocks noChangeArrowheads="1"/>
            </p:cNvSpPr>
            <p:nvPr/>
          </p:nvSpPr>
          <p:spPr bwMode="auto">
            <a:xfrm>
              <a:off x="443706" y="4132998"/>
              <a:ext cx="779463" cy="349250"/>
            </a:xfrm>
            <a:prstGeom prst="ellipse">
              <a:avLst/>
            </a:prstGeom>
            <a:solidFill>
              <a:srgbClr val="FFB300"/>
            </a:solidFill>
            <a:ln w="9525">
              <a:noFill/>
              <a:round/>
              <a:headEnd/>
              <a:tailEnd/>
            </a:ln>
            <a:effectLst/>
          </p:spPr>
          <p:txBody>
            <a:bodyPr/>
            <a:lstStyle/>
            <a:p>
              <a:endParaRPr lang="en-US">
                <a:solidFill>
                  <a:srgbClr val="54544B"/>
                </a:solidFill>
              </a:endParaRPr>
            </a:p>
          </p:txBody>
        </p:sp>
        <p:sp>
          <p:nvSpPr>
            <p:cNvPr id="29" name="Text Box 15"/>
            <p:cNvSpPr txBox="1">
              <a:spLocks noChangeArrowheads="1"/>
            </p:cNvSpPr>
            <p:nvPr/>
          </p:nvSpPr>
          <p:spPr bwMode="auto">
            <a:xfrm>
              <a:off x="480219" y="4147286"/>
              <a:ext cx="838200" cy="3048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/>
            <a:lstStyle/>
            <a:p>
              <a:pPr>
                <a:spcAft>
                  <a:spcPts val="1000"/>
                </a:spcAft>
              </a:pPr>
              <a:r>
                <a:rPr lang="en-US" sz="1600" b="1">
                  <a:solidFill>
                    <a:srgbClr val="54544B"/>
                  </a:solidFill>
                  <a:latin typeface="Calibri" pitchFamily="34" charset="0"/>
                </a:rPr>
                <a:t>Step 4</a:t>
              </a:r>
              <a:endParaRPr lang="en-US" sz="2800" b="1">
                <a:solidFill>
                  <a:srgbClr val="54544B"/>
                </a:solidFill>
              </a:endParaRPr>
            </a:p>
          </p:txBody>
        </p:sp>
        <p:sp>
          <p:nvSpPr>
            <p:cNvPr id="58" name="Text Box 32">
              <a:extLst>
                <a:ext uri="{FF2B5EF4-FFF2-40B4-BE49-F238E27FC236}">
                  <a16:creationId xmlns:a16="http://schemas.microsoft.com/office/drawing/2014/main" id="{3E059027-7BCB-4BAB-89F1-A8CFEC3C1BA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194148" y="2579620"/>
              <a:ext cx="1804596" cy="5540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/>
            <a:lstStyle/>
            <a:p>
              <a:pPr>
                <a:spcAft>
                  <a:spcPts val="1000"/>
                </a:spcAft>
              </a:pPr>
              <a:r>
                <a:rPr lang="en-US" sz="1600" b="1" u="sng" dirty="0">
                  <a:solidFill>
                    <a:srgbClr val="54544B"/>
                  </a:solidFill>
                </a:rPr>
                <a:t>Excel</a:t>
              </a:r>
              <a:r>
                <a:rPr lang="en-US" sz="1600" dirty="0">
                  <a:solidFill>
                    <a:srgbClr val="54544B"/>
                  </a:solidFill>
                </a:rPr>
                <a:t>: Build Macro SAM; split activities &amp; commodities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178812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/>
          <p:cNvSpPr txBox="1"/>
          <p:nvPr/>
        </p:nvSpPr>
        <p:spPr>
          <a:xfrm>
            <a:off x="177800" y="4121148"/>
            <a:ext cx="60858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54544B"/>
                </a:solidFill>
              </a:rPr>
              <a:t>Step 1: Macro SAM</a:t>
            </a:r>
            <a:endParaRPr lang="en-US" sz="2400" b="1" dirty="0">
              <a:solidFill>
                <a:srgbClr val="54544B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0" y="4767478"/>
            <a:ext cx="9144000" cy="461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177800" y="4767478"/>
            <a:ext cx="608584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54544B"/>
                </a:solidFill>
              </a:rPr>
              <a:t>Constructing aggregate accounts</a:t>
            </a:r>
            <a:endParaRPr lang="en-US" dirty="0">
              <a:solidFill>
                <a:srgbClr val="54544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93811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Sources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Three main data sources:</a:t>
            </a:r>
          </a:p>
          <a:p>
            <a:r>
              <a:rPr lang="en-US" dirty="0"/>
              <a:t>National Accounts (activity and commodity accounts)</a:t>
            </a:r>
          </a:p>
          <a:p>
            <a:r>
              <a:rPr lang="en-US" dirty="0"/>
              <a:t>Government Financial Statistics (spending and tax accounts)</a:t>
            </a:r>
          </a:p>
          <a:p>
            <a:r>
              <a:rPr lang="en-US" dirty="0"/>
              <a:t>Balance of Payments (external account)</a:t>
            </a:r>
          </a:p>
          <a:p>
            <a:endParaRPr lang="en-US" sz="1200" dirty="0"/>
          </a:p>
          <a:p>
            <a:pPr marL="0" indent="0">
              <a:buNone/>
            </a:pPr>
            <a:r>
              <a:rPr lang="en-US" b="1" dirty="0"/>
              <a:t>Standardized concordance between SAM and classification systems</a:t>
            </a:r>
          </a:p>
          <a:p>
            <a:r>
              <a:rPr lang="en-US" dirty="0"/>
              <a:t>GFS2014 &amp; BOP6 → SNA 2008 → Macro SAM accounts</a:t>
            </a:r>
          </a:p>
          <a:p>
            <a:pPr marL="0" indent="0">
              <a:buNone/>
            </a:pPr>
            <a:endParaRPr lang="en-US" sz="1100" b="1" dirty="0"/>
          </a:p>
          <a:p>
            <a:pPr marL="0" indent="0">
              <a:buNone/>
            </a:pPr>
            <a:r>
              <a:rPr lang="en-US" b="1" dirty="0"/>
              <a:t>Inconsistent values across sources requires reconciliation:</a:t>
            </a:r>
          </a:p>
          <a:p>
            <a:r>
              <a:rPr lang="en-US" dirty="0"/>
              <a:t>Consistency with national accounts afforded highest priority, followed by BOPs  and then GFS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38730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Entries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99777677"/>
              </p:ext>
            </p:extLst>
          </p:nvPr>
        </p:nvGraphicFramePr>
        <p:xfrm>
          <a:off x="123825" y="1263650"/>
          <a:ext cx="8836015" cy="445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6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Act</a:t>
                      </a:r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Com</a:t>
                      </a:r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Fact</a:t>
                      </a:r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Ent</a:t>
                      </a:r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Hhd</a:t>
                      </a:r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Gov</a:t>
                      </a:r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Tax</a:t>
                      </a:r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S-I</a:t>
                      </a:r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Stk</a:t>
                      </a:r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Wld</a:t>
                      </a:r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Tot</a:t>
                      </a:r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Activities</a:t>
                      </a: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C34E2D"/>
                          </a:solidFill>
                        </a:rPr>
                        <a:t>NA</a:t>
                      </a: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C34E2D"/>
                          </a:solidFill>
                        </a:rPr>
                        <a:t>NA</a:t>
                      </a: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Commodities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C34E2D"/>
                          </a:solidFill>
                        </a:rPr>
                        <a:t>NA</a:t>
                      </a:r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C34E2D"/>
                          </a:solidFill>
                        </a:rPr>
                        <a:t>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C34E2D"/>
                          </a:solidFill>
                        </a:rPr>
                        <a:t>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C34E2D"/>
                          </a:solidFill>
                        </a:rPr>
                        <a:t>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C34E2D"/>
                          </a:solidFill>
                        </a:rPr>
                        <a:t>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C34E2D"/>
                          </a:solidFill>
                        </a:rPr>
                        <a:t>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C34E2D"/>
                          </a:solidFill>
                        </a:rPr>
                        <a:t>NA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Factors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C34E2D"/>
                          </a:solidFill>
                        </a:rPr>
                        <a:t>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0B8EB8"/>
                          </a:solidFill>
                        </a:rPr>
                        <a:t>BOP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rgbClr val="54544B"/>
                          </a:solidFill>
                        </a:rPr>
                        <a:t>X</a:t>
                      </a:r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Enterprises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54544B"/>
                          </a:solidFill>
                        </a:rP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5C8E3A"/>
                          </a:solidFill>
                        </a:rPr>
                        <a:t>GFS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rgbClr val="0B8EB8"/>
                          </a:solidFill>
                        </a:rPr>
                        <a:t>BOP</a:t>
                      </a:r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rgbClr val="54544B"/>
                          </a:solidFill>
                        </a:rPr>
                        <a:t>X</a:t>
                      </a:r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Households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54544B"/>
                          </a:solidFill>
                        </a:rP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54544B"/>
                          </a:solidFill>
                        </a:rP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5C8E3A"/>
                          </a:solidFill>
                        </a:rPr>
                        <a:t>GFS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rgbClr val="0B8EB8"/>
                          </a:solidFill>
                        </a:rPr>
                        <a:t>BOP</a:t>
                      </a:r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54544B"/>
                          </a:solidFill>
                        </a:rPr>
                        <a:t>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Government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5C8E3A"/>
                          </a:solidFill>
                        </a:rPr>
                        <a:t>GFS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5C8E3A"/>
                          </a:solidFill>
                        </a:rPr>
                        <a:t>GFS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5C8E3A"/>
                          </a:solidFill>
                        </a:rPr>
                        <a:t>GFS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5C8E3A"/>
                          </a:solidFill>
                        </a:rPr>
                        <a:t>GFS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0B8EB8"/>
                          </a:solidFill>
                        </a:rPr>
                        <a:t>BOP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5C8E3A"/>
                          </a:solidFill>
                        </a:rPr>
                        <a:t>GFS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Taxes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C34E2D"/>
                          </a:solidFill>
                        </a:rPr>
                        <a:t>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C34E2D"/>
                          </a:solidFill>
                        </a:rPr>
                        <a:t>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5C8E3A"/>
                          </a:solidFill>
                        </a:rPr>
                        <a:t>GFS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5C8E3A"/>
                          </a:solidFill>
                        </a:rPr>
                        <a:t>GFS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5C8E3A"/>
                          </a:solidFill>
                        </a:rPr>
                        <a:t>GFS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5C8E3A"/>
                          </a:solidFill>
                        </a:rPr>
                        <a:t>GFS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Savings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54544B"/>
                          </a:solidFill>
                        </a:rPr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54544B"/>
                          </a:solidFill>
                        </a:rP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5C8E3A"/>
                          </a:solidFill>
                        </a:rPr>
                        <a:t>GFS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0B8EB8"/>
                          </a:solidFill>
                        </a:rPr>
                        <a:t>BOP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rgbClr val="54544B"/>
                          </a:solidFill>
                        </a:rPr>
                        <a:t>X</a:t>
                      </a:r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Stock change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C34E2D"/>
                          </a:solidFill>
                        </a:rPr>
                        <a:t>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54544B"/>
                          </a:solidFill>
                        </a:rPr>
                        <a:t>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Rest of world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C34E2D"/>
                          </a:solidFill>
                        </a:rPr>
                        <a:t>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rgbClr val="0B8EB8"/>
                          </a:solidFill>
                        </a:rPr>
                        <a:t>BOP</a:t>
                      </a:r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0B8EB8"/>
                          </a:solidFill>
                        </a:rPr>
                        <a:t>BOP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0B8EB8"/>
                          </a:solidFill>
                        </a:rPr>
                        <a:t>BOP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0B8EB8"/>
                          </a:solidFill>
                        </a:rPr>
                        <a:t>BOP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0B8EB8"/>
                          </a:solidFill>
                        </a:rPr>
                        <a:t>BOP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C34E2D"/>
                          </a:solidFill>
                        </a:rPr>
                        <a:t>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C34E2D"/>
                          </a:solidFill>
                        </a:rPr>
                        <a:t>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rgbClr val="54544B"/>
                          </a:solidFill>
                        </a:rPr>
                        <a:t>X</a:t>
                      </a:r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rgbClr val="54544B"/>
                          </a:solidFill>
                        </a:rPr>
                        <a:t>X</a:t>
                      </a:r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54544B"/>
                          </a:solidFill>
                        </a:rP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5C8E3A"/>
                          </a:solidFill>
                        </a:rPr>
                        <a:t>GFS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5C8E3A"/>
                          </a:solidFill>
                        </a:rPr>
                        <a:t>GFS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>
                          <a:solidFill>
                            <a:srgbClr val="C34E2D"/>
                          </a:solidFill>
                        </a:rPr>
                        <a:t>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C34E2D"/>
                          </a:solidFill>
                        </a:rPr>
                        <a:t>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0B8EB8"/>
                          </a:solidFill>
                        </a:rPr>
                        <a:t>BOP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139578" y="5905500"/>
            <a:ext cx="36737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C34E2D"/>
                </a:solidFill>
              </a:rPr>
              <a:t>NA    </a:t>
            </a:r>
            <a:r>
              <a:rPr lang="en-US" dirty="0">
                <a:solidFill>
                  <a:srgbClr val="C34E2D"/>
                </a:solidFill>
              </a:rPr>
              <a:t>National Accounts</a:t>
            </a:r>
          </a:p>
          <a:p>
            <a:r>
              <a:rPr lang="en-US" b="1" dirty="0">
                <a:solidFill>
                  <a:srgbClr val="5C8E3A"/>
                </a:solidFill>
              </a:rPr>
              <a:t>GFS   </a:t>
            </a:r>
            <a:r>
              <a:rPr lang="en-US" dirty="0">
                <a:solidFill>
                  <a:srgbClr val="5C8E3A"/>
                </a:solidFill>
              </a:rPr>
              <a:t>Government Financial Statistics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78422" y="5905500"/>
            <a:ext cx="36737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B8EB8"/>
                </a:solidFill>
              </a:rPr>
              <a:t>BOP   </a:t>
            </a:r>
            <a:r>
              <a:rPr lang="en-US" dirty="0">
                <a:solidFill>
                  <a:srgbClr val="0B8EB8"/>
                </a:solidFill>
              </a:rPr>
              <a:t>Balance of Payments</a:t>
            </a:r>
          </a:p>
          <a:p>
            <a:r>
              <a:rPr lang="en-US" b="1" dirty="0">
                <a:solidFill>
                  <a:srgbClr val="54544B"/>
                </a:solidFill>
              </a:rPr>
              <a:t>X        </a:t>
            </a:r>
            <a:r>
              <a:rPr lang="en-US" dirty="0">
                <a:solidFill>
                  <a:srgbClr val="54544B"/>
                </a:solidFill>
              </a:rPr>
              <a:t>Convention or residual</a:t>
            </a:r>
          </a:p>
        </p:txBody>
      </p:sp>
    </p:spTree>
    <p:extLst>
      <p:ext uri="{BB962C8B-B14F-4D97-AF65-F5344CB8AC3E}">
        <p14:creationId xmlns:p14="http://schemas.microsoft.com/office/powerpoint/2010/main" val="40927037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74937963"/>
              </p:ext>
            </p:extLst>
          </p:nvPr>
        </p:nvGraphicFramePr>
        <p:xfrm>
          <a:off x="123825" y="1263650"/>
          <a:ext cx="8836015" cy="445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6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Act</a:t>
                      </a:r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Com</a:t>
                      </a:r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Fact</a:t>
                      </a:r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Ent</a:t>
                      </a:r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Hhd</a:t>
                      </a:r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Gov</a:t>
                      </a:r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Tax</a:t>
                      </a:r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S-I</a:t>
                      </a:r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Stk</a:t>
                      </a:r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Wld</a:t>
                      </a:r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Tot</a:t>
                      </a:r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Activities</a:t>
                      </a: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Commodities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Factors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Enterprises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Households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Government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Taxes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Savings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Stock change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Rest of world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1848702" y="4336432"/>
            <a:ext cx="4425098" cy="646331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dirty="0">
                <a:solidFill>
                  <a:srgbClr val="54544B"/>
                </a:solidFill>
              </a:rPr>
              <a:t>Activities (producer) | Export duties | Import duties | Sales or VAT | Factor | Direct 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Details</a:t>
            </a:r>
          </a:p>
        </p:txBody>
      </p:sp>
      <p:sp>
        <p:nvSpPr>
          <p:cNvPr id="4" name="Rectangle 3"/>
          <p:cNvSpPr/>
          <p:nvPr/>
        </p:nvSpPr>
        <p:spPr>
          <a:xfrm>
            <a:off x="1848702" y="2417061"/>
            <a:ext cx="2380398" cy="461665"/>
          </a:xfrm>
          <a:prstGeom prst="rect">
            <a:avLst/>
          </a:prstGeom>
          <a:solidFill>
            <a:srgbClr val="C34E2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1848702" y="2878725"/>
            <a:ext cx="2380398" cy="369331"/>
          </a:xfrm>
          <a:prstGeom prst="rect">
            <a:avLst/>
          </a:prstGeom>
          <a:solidFill>
            <a:srgbClr val="C34E2D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848702" y="2417061"/>
            <a:ext cx="23803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Factors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48702" y="2878724"/>
            <a:ext cx="2380398" cy="369332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dirty="0">
                <a:solidFill>
                  <a:srgbClr val="54544B"/>
                </a:solidFill>
              </a:rPr>
              <a:t>Labor | Land | Capital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48702" y="3874769"/>
            <a:ext cx="4425098" cy="461665"/>
          </a:xfrm>
          <a:prstGeom prst="rect">
            <a:avLst/>
          </a:prstGeom>
          <a:solidFill>
            <a:srgbClr val="5C8E3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1848702" y="4336432"/>
            <a:ext cx="4425098" cy="626715"/>
          </a:xfrm>
          <a:prstGeom prst="rect">
            <a:avLst/>
          </a:prstGeom>
          <a:solidFill>
            <a:srgbClr val="5C8E3A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1848702" y="3874769"/>
            <a:ext cx="32693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Taxes</a:t>
            </a:r>
          </a:p>
        </p:txBody>
      </p:sp>
    </p:spTree>
    <p:extLst>
      <p:ext uri="{BB962C8B-B14F-4D97-AF65-F5344CB8AC3E}">
        <p14:creationId xmlns:p14="http://schemas.microsoft.com/office/powerpoint/2010/main" val="1990677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93BCCB-9DF4-455E-9DD3-19EA420522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Opening National SAM Excel File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64267B-4F86-4456-9694-2D003856C312}"/>
              </a:ext>
            </a:extLst>
          </p:cNvPr>
          <p:cNvSpPr txBox="1"/>
          <p:nvPr/>
        </p:nvSpPr>
        <p:spPr>
          <a:xfrm>
            <a:off x="1103197" y="1366652"/>
            <a:ext cx="35528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54544B"/>
                </a:solidFill>
              </a:rPr>
              <a:t>1national.xlsx | Notes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5E3F27E-E0EE-4829-A41E-C9A9DDEE4F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3197" y="1643651"/>
            <a:ext cx="8040803" cy="5109574"/>
          </a:xfrm>
          <a:prstGeom prst="rect">
            <a:avLst/>
          </a:prstGeom>
          <a:effectLst>
            <a:outerShdw blurRad="50800" dist="38100" dir="13500000" algn="b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5478836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109DA-1E7B-4A90-8CA1-29170AA54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Worksheet Names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FA3E3D-4644-4F58-82B3-3A74D7BED4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Black &amp; gray sheets</a:t>
            </a:r>
          </a:p>
          <a:p>
            <a:pPr lvl="1"/>
            <a:r>
              <a:rPr lang="en-US" dirty="0"/>
              <a:t>Notes and GAMS parameters</a:t>
            </a:r>
          </a:p>
          <a:p>
            <a:endParaRPr lang="en-US" sz="1000" dirty="0"/>
          </a:p>
          <a:p>
            <a:r>
              <a:rPr lang="en-US" b="1" dirty="0">
                <a:solidFill>
                  <a:srgbClr val="0B8EB8"/>
                </a:solidFill>
              </a:rPr>
              <a:t>Blue sheets</a:t>
            </a:r>
          </a:p>
          <a:p>
            <a:pPr lvl="1"/>
            <a:r>
              <a:rPr lang="en-US" dirty="0"/>
              <a:t>Final data imported directly into GAMS</a:t>
            </a:r>
          </a:p>
          <a:p>
            <a:endParaRPr lang="en-US" sz="1000" dirty="0"/>
          </a:p>
          <a:p>
            <a:r>
              <a:rPr lang="en-US" b="1" dirty="0">
                <a:solidFill>
                  <a:srgbClr val="8AA63D"/>
                </a:solidFill>
              </a:rPr>
              <a:t>Green sheets</a:t>
            </a:r>
          </a:p>
          <a:p>
            <a:pPr lvl="1"/>
            <a:r>
              <a:rPr lang="en-US" dirty="0"/>
              <a:t>Working sheets with original data, transformed into GAMS-ready formats</a:t>
            </a:r>
          </a:p>
          <a:p>
            <a:pPr lvl="1"/>
            <a:r>
              <a:rPr lang="en-US" dirty="0"/>
              <a:t>Updated frequently (every year) – national accounts, trade flows, etc.</a:t>
            </a:r>
          </a:p>
          <a:p>
            <a:endParaRPr lang="en-US" sz="1000" dirty="0"/>
          </a:p>
          <a:p>
            <a:r>
              <a:rPr lang="en-US" b="1" dirty="0">
                <a:solidFill>
                  <a:srgbClr val="C65911"/>
                </a:solidFill>
              </a:rPr>
              <a:t>Orange sheets</a:t>
            </a:r>
          </a:p>
          <a:p>
            <a:pPr lvl="1"/>
            <a:r>
              <a:rPr lang="en-US" dirty="0"/>
              <a:t>Working sheets with original data</a:t>
            </a:r>
          </a:p>
          <a:p>
            <a:pPr lvl="1"/>
            <a:r>
              <a:rPr lang="en-US" dirty="0"/>
              <a:t>Updated less frequently (every few years) – survey data, SUT coefficients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84184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47347A-0C1A-413A-86BE-13650DAC40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Macro SAM Sheets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B8DB59D-B644-4C93-8786-D54C6D22BA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>
                <a:solidFill>
                  <a:schemeClr val="accent3">
                    <a:lumMod val="75000"/>
                  </a:schemeClr>
                </a:solidFill>
              </a:rPr>
              <a:t>w-GFS</a:t>
            </a:r>
            <a:r>
              <a:rPr lang="en-US" b="1" dirty="0"/>
              <a:t>  </a:t>
            </a:r>
            <a:r>
              <a:rPr lang="en-US" dirty="0"/>
              <a:t>	Government Financial Statistics</a:t>
            </a:r>
          </a:p>
          <a:p>
            <a:r>
              <a:rPr lang="en-US" b="1" dirty="0">
                <a:solidFill>
                  <a:schemeClr val="accent3">
                    <a:lumMod val="75000"/>
                  </a:schemeClr>
                </a:solidFill>
              </a:rPr>
              <a:t>w-BOP</a:t>
            </a:r>
            <a:r>
              <a:rPr lang="en-US" b="1" dirty="0"/>
              <a:t>   </a:t>
            </a:r>
            <a:r>
              <a:rPr lang="en-US" dirty="0"/>
              <a:t>	Balance of Payments</a:t>
            </a:r>
          </a:p>
          <a:p>
            <a:r>
              <a:rPr lang="en-US" b="1" dirty="0">
                <a:solidFill>
                  <a:schemeClr val="accent3">
                    <a:lumMod val="75000"/>
                  </a:schemeClr>
                </a:solidFill>
              </a:rPr>
              <a:t>w-</a:t>
            </a:r>
            <a:r>
              <a:rPr lang="en-US" b="1" dirty="0" err="1">
                <a:solidFill>
                  <a:schemeClr val="accent3">
                    <a:lumMod val="75000"/>
                  </a:schemeClr>
                </a:solidFill>
              </a:rPr>
              <a:t>GDPe</a:t>
            </a:r>
            <a:r>
              <a:rPr lang="en-US" dirty="0"/>
              <a:t>   	National Accounts (GDP expenditure-side)</a:t>
            </a:r>
          </a:p>
          <a:p>
            <a:r>
              <a:rPr lang="en-US" b="1" dirty="0">
                <a:solidFill>
                  <a:schemeClr val="accent3">
                    <a:lumMod val="75000"/>
                  </a:schemeClr>
                </a:solidFill>
              </a:rPr>
              <a:t>w-</a:t>
            </a:r>
            <a:r>
              <a:rPr lang="en-US" b="1" dirty="0" err="1">
                <a:solidFill>
                  <a:schemeClr val="accent3">
                    <a:lumMod val="75000"/>
                  </a:schemeClr>
                </a:solidFill>
              </a:rPr>
              <a:t>GDPp</a:t>
            </a:r>
            <a:r>
              <a:rPr lang="en-US" dirty="0"/>
              <a:t>	National Accounts (GDP production-side)</a:t>
            </a:r>
          </a:p>
          <a:p>
            <a:r>
              <a:rPr lang="en-US" b="1" dirty="0">
                <a:solidFill>
                  <a:schemeClr val="accent3">
                    <a:lumMod val="75000"/>
                  </a:schemeClr>
                </a:solidFill>
              </a:rPr>
              <a:t>w-Macro</a:t>
            </a:r>
            <a:r>
              <a:rPr lang="en-US" dirty="0"/>
              <a:t>	Consolidation sheet for balancing Macro SAM</a:t>
            </a:r>
          </a:p>
          <a:p>
            <a:endParaRPr lang="en-US" sz="900" dirty="0"/>
          </a:p>
          <a:p>
            <a:r>
              <a:rPr lang="en-US" b="1" dirty="0">
                <a:solidFill>
                  <a:srgbClr val="0B8EB8"/>
                </a:solidFill>
              </a:rPr>
              <a:t>Macro</a:t>
            </a:r>
            <a:r>
              <a:rPr lang="en-US" b="1" dirty="0"/>
              <a:t> </a:t>
            </a:r>
            <a:r>
              <a:rPr lang="en-US" dirty="0"/>
              <a:t>	Final Macro SAM imported into GAMS</a:t>
            </a:r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D767808-529A-4F59-B17C-6313A15FE4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886976"/>
            <a:ext cx="9144000" cy="951198"/>
          </a:xfrm>
          <a:prstGeom prst="rect">
            <a:avLst/>
          </a:prstGeom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5377A91F-BFBE-439C-9733-56CE66282888}"/>
              </a:ext>
            </a:extLst>
          </p:cNvPr>
          <p:cNvSpPr/>
          <p:nvPr/>
        </p:nvSpPr>
        <p:spPr>
          <a:xfrm>
            <a:off x="3295650" y="5486400"/>
            <a:ext cx="3629025" cy="351774"/>
          </a:xfrm>
          <a:prstGeom prst="rect">
            <a:avLst/>
          </a:prstGeom>
          <a:noFill/>
          <a:ln w="44450">
            <a:solidFill>
              <a:srgbClr val="C34E2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4EE8A7-9073-4ED7-87BC-A42EE9527D59}"/>
              </a:ext>
            </a:extLst>
          </p:cNvPr>
          <p:cNvSpPr txBox="1"/>
          <p:nvPr/>
        </p:nvSpPr>
        <p:spPr>
          <a:xfrm>
            <a:off x="6836510" y="5790883"/>
            <a:ext cx="23074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>
                <a:solidFill>
                  <a:srgbClr val="54544B"/>
                </a:solidFill>
              </a:rPr>
              <a:t>1national.xlsx | Notes</a:t>
            </a:r>
          </a:p>
        </p:txBody>
      </p:sp>
    </p:spTree>
    <p:extLst>
      <p:ext uri="{BB962C8B-B14F-4D97-AF65-F5344CB8AC3E}">
        <p14:creationId xmlns:p14="http://schemas.microsoft.com/office/powerpoint/2010/main" val="10561897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6750D-2D31-48D2-8BAF-845FF6D418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Macro T-Accounts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21450A-513B-4069-9F72-0F050C04C8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6279" y="1301993"/>
            <a:ext cx="8835781" cy="2317507"/>
          </a:xfrm>
        </p:spPr>
        <p:txBody>
          <a:bodyPr/>
          <a:lstStyle/>
          <a:p>
            <a:r>
              <a:rPr lang="en-US" b="1" dirty="0"/>
              <a:t>Assign detailed NA, BOP and GFS data to Macro SAM accounts</a:t>
            </a:r>
          </a:p>
          <a:p>
            <a:pPr lvl="1"/>
            <a:r>
              <a:rPr lang="en-US" dirty="0"/>
              <a:t>Following classification guidelines from SNA2008</a:t>
            </a:r>
          </a:p>
          <a:p>
            <a:pPr lvl="1"/>
            <a:r>
              <a:rPr lang="en-US" dirty="0"/>
              <a:t>Double-entry bookkeeping (receipts vs. payments)</a:t>
            </a:r>
          </a:p>
          <a:p>
            <a:pPr lvl="1"/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61D241C-7ECF-48EB-AEB8-25431BF792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017073"/>
            <a:ext cx="9144000" cy="2928236"/>
          </a:xfrm>
          <a:prstGeom prst="rect">
            <a:avLst/>
          </a:prstGeom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6400155-A50A-44DF-AC48-7E0C41017A44}"/>
              </a:ext>
            </a:extLst>
          </p:cNvPr>
          <p:cNvSpPr txBox="1"/>
          <p:nvPr/>
        </p:nvSpPr>
        <p:spPr>
          <a:xfrm>
            <a:off x="6457949" y="2648865"/>
            <a:ext cx="26503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>
                <a:solidFill>
                  <a:srgbClr val="54544B"/>
                </a:solidFill>
              </a:rPr>
              <a:t>1national.xlsx | w-Macro</a:t>
            </a:r>
          </a:p>
        </p:txBody>
      </p:sp>
    </p:spTree>
    <p:extLst>
      <p:ext uri="{BB962C8B-B14F-4D97-AF65-F5344CB8AC3E}">
        <p14:creationId xmlns:p14="http://schemas.microsoft.com/office/powerpoint/2010/main" val="4047469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75C4A-376A-4903-9DE7-6191AA0E1C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Macro SAM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DFB6E3-15B4-4724-8C15-1475399ACF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6279" y="1301994"/>
            <a:ext cx="8835781" cy="1774581"/>
          </a:xfrm>
        </p:spPr>
        <p:txBody>
          <a:bodyPr>
            <a:normAutofit/>
          </a:bodyPr>
          <a:lstStyle/>
          <a:p>
            <a:r>
              <a:rPr lang="en-US" dirty="0"/>
              <a:t>Square matrix (rows = columns)</a:t>
            </a:r>
          </a:p>
          <a:p>
            <a:r>
              <a:rPr lang="en-US" dirty="0"/>
              <a:t>Aggregate accounts (1 activity, 1 commodity, 1 households)</a:t>
            </a:r>
          </a:p>
          <a:p>
            <a:r>
              <a:rPr lang="en-US" dirty="0"/>
              <a:t>Detailed factors (labor, land, capital) and taxes (activity, direct, export, import, sales)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80C930A-E10A-4852-B643-6AEA43B41A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076575"/>
            <a:ext cx="9144000" cy="3039285"/>
          </a:xfrm>
          <a:prstGeom prst="rect">
            <a:avLst/>
          </a:prstGeom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37F0A41-A32C-4491-800B-84782CB8E5DA}"/>
              </a:ext>
            </a:extLst>
          </p:cNvPr>
          <p:cNvSpPr txBox="1"/>
          <p:nvPr/>
        </p:nvSpPr>
        <p:spPr>
          <a:xfrm>
            <a:off x="6493610" y="6190599"/>
            <a:ext cx="26503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>
                <a:solidFill>
                  <a:srgbClr val="54544B"/>
                </a:solidFill>
              </a:rPr>
              <a:t>1national.xlsx | w-Macro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AC401F9-5B85-4477-A7E9-E41EF2A02C40}"/>
              </a:ext>
            </a:extLst>
          </p:cNvPr>
          <p:cNvSpPr/>
          <p:nvPr/>
        </p:nvSpPr>
        <p:spPr>
          <a:xfrm>
            <a:off x="1762125" y="5838825"/>
            <a:ext cx="2219325" cy="351774"/>
          </a:xfrm>
          <a:prstGeom prst="rect">
            <a:avLst/>
          </a:prstGeom>
          <a:noFill/>
          <a:ln w="44450">
            <a:solidFill>
              <a:srgbClr val="C34E2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D1F0BF-CFD9-4950-A1F5-3994680ADE86}"/>
              </a:ext>
            </a:extLst>
          </p:cNvPr>
          <p:cNvSpPr txBox="1"/>
          <p:nvPr/>
        </p:nvSpPr>
        <p:spPr>
          <a:xfrm>
            <a:off x="1042987" y="6219174"/>
            <a:ext cx="3657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C34E2D"/>
                </a:solidFill>
              </a:rPr>
              <a:t>Manually separate private savings between households and enterprises</a:t>
            </a:r>
          </a:p>
        </p:txBody>
      </p:sp>
    </p:spTree>
    <p:extLst>
      <p:ext uri="{BB962C8B-B14F-4D97-AF65-F5344CB8AC3E}">
        <p14:creationId xmlns:p14="http://schemas.microsoft.com/office/powerpoint/2010/main" val="24782781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/>
          <p:cNvSpPr txBox="1"/>
          <p:nvPr/>
        </p:nvSpPr>
        <p:spPr>
          <a:xfrm>
            <a:off x="177800" y="4121148"/>
            <a:ext cx="60858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54544B"/>
                </a:solidFill>
              </a:rPr>
              <a:t>Step 2: Supply-Use Table</a:t>
            </a:r>
            <a:endParaRPr lang="en-US" sz="2400" b="1" dirty="0">
              <a:solidFill>
                <a:srgbClr val="54544B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77800" y="4767478"/>
            <a:ext cx="7886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54544B"/>
                </a:solidFill>
              </a:rPr>
              <a:t>Disaggregating activities and commodities</a:t>
            </a:r>
            <a:endParaRPr lang="en-US" dirty="0">
              <a:solidFill>
                <a:srgbClr val="54544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457441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3825" y="1263650"/>
          <a:ext cx="8836015" cy="445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6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Act</a:t>
                      </a:r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Com</a:t>
                      </a:r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Fact</a:t>
                      </a:r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Ent</a:t>
                      </a:r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Hhd</a:t>
                      </a:r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Gov</a:t>
                      </a:r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Tax</a:t>
                      </a:r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S-I</a:t>
                      </a:r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Stk</a:t>
                      </a:r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Wld</a:t>
                      </a:r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Tot</a:t>
                      </a:r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Activities</a:t>
                      </a: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Commodities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Factors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Enterprises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Households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Government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Taxes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Savings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Stock change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Rest of world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82026" y="1628775"/>
            <a:ext cx="7177813" cy="742950"/>
          </a:xfrm>
          <a:prstGeom prst="rect">
            <a:avLst/>
          </a:prstGeom>
          <a:solidFill>
            <a:srgbClr val="C34E2D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FBB4BB3-5B09-4811-A4AB-B45D1132D1DF}"/>
              </a:ext>
            </a:extLst>
          </p:cNvPr>
          <p:cNvSpPr/>
          <p:nvPr/>
        </p:nvSpPr>
        <p:spPr>
          <a:xfrm>
            <a:off x="1782025" y="2371725"/>
            <a:ext cx="1304074" cy="3342005"/>
          </a:xfrm>
          <a:prstGeom prst="rect">
            <a:avLst/>
          </a:prstGeom>
          <a:solidFill>
            <a:srgbClr val="C34E2D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5B7EEF6-3E10-4305-AD55-BD74302A335F}"/>
              </a:ext>
            </a:extLst>
          </p:cNvPr>
          <p:cNvSpPr/>
          <p:nvPr/>
        </p:nvSpPr>
        <p:spPr>
          <a:xfrm>
            <a:off x="2544027" y="1758085"/>
            <a:ext cx="4817947" cy="461665"/>
          </a:xfrm>
          <a:prstGeom prst="rect">
            <a:avLst/>
          </a:prstGeom>
          <a:solidFill>
            <a:srgbClr val="C34E2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FEB400D-6EAF-44D7-81DC-B7C96D3048BF}"/>
              </a:ext>
            </a:extLst>
          </p:cNvPr>
          <p:cNvSpPr txBox="1"/>
          <p:nvPr/>
        </p:nvSpPr>
        <p:spPr>
          <a:xfrm>
            <a:off x="2731845" y="1748363"/>
            <a:ext cx="444231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117 activities + 117 commodities</a:t>
            </a:r>
          </a:p>
        </p:txBody>
      </p:sp>
    </p:spTree>
    <p:extLst>
      <p:ext uri="{BB962C8B-B14F-4D97-AF65-F5344CB8AC3E}">
        <p14:creationId xmlns:p14="http://schemas.microsoft.com/office/powerpoint/2010/main" val="37432234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4786" y="1358821"/>
            <a:ext cx="8514428" cy="1070585"/>
          </a:xfrm>
          <a:prstGeom prst="rect">
            <a:avLst/>
          </a:prstGeom>
          <a:solidFill>
            <a:srgbClr val="5C8E3A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680612" y="1502766"/>
            <a:ext cx="8018889" cy="738664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en-US" sz="1050" dirty="0">
                <a:solidFill>
                  <a:srgbClr val="54544B"/>
                </a:solidFill>
              </a:rPr>
              <a:t>Maize | Sorghum + millet | Rice | Wheat + barley | Other cereals | Pulses | Groundnuts | Other oilseeds | Cassava | Irish potatoes | Sweet potatoes | Other roots | Leafy vegetables | Other vegetables | Sugarcane | Tobacco | Cotton + fibers | Nuts | Bananas + plantains | Other fruits | Tea | Coffee | Cocoa | Cut flowers | Rubber | Other crops | Cattle | Raw milk | Poultry | Eggs | Sheep + goats | Other livestock | Forestry | Aquaculture | Capture fisheries 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Rwanda Activities &amp; Commodities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14787" y="1130925"/>
            <a:ext cx="8514426" cy="317302"/>
          </a:xfrm>
          <a:prstGeom prst="rect">
            <a:avLst/>
          </a:prstGeom>
          <a:solidFill>
            <a:srgbClr val="5C8E3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6" name="TextBox 5"/>
          <p:cNvSpPr txBox="1"/>
          <p:nvPr/>
        </p:nvSpPr>
        <p:spPr>
          <a:xfrm>
            <a:off x="314790" y="1140450"/>
            <a:ext cx="25372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Agricultural Sectors &amp; Products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6AC10DE-5C29-43D9-A0C2-15C55E87DCC9}"/>
              </a:ext>
            </a:extLst>
          </p:cNvPr>
          <p:cNvSpPr/>
          <p:nvPr/>
        </p:nvSpPr>
        <p:spPr>
          <a:xfrm>
            <a:off x="314785" y="2489953"/>
            <a:ext cx="8514428" cy="2233590"/>
          </a:xfrm>
          <a:prstGeom prst="rect">
            <a:avLst/>
          </a:prstGeom>
          <a:solidFill>
            <a:srgbClr val="5C8E3A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5ECAFFF-4EDD-471D-8A63-A80646E7E77A}"/>
              </a:ext>
            </a:extLst>
          </p:cNvPr>
          <p:cNvSpPr txBox="1"/>
          <p:nvPr/>
        </p:nvSpPr>
        <p:spPr>
          <a:xfrm>
            <a:off x="680611" y="2683299"/>
            <a:ext cx="8018889" cy="1869743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en-US" sz="1050" dirty="0">
                <a:solidFill>
                  <a:srgbClr val="54544B"/>
                </a:solidFill>
              </a:rPr>
              <a:t>Coal and lignite | Crude oil | Natural gas | Metal ores | Quarry and other mining products | Meat and meat products | Prepared and preserved fish | Dairy products | Prepared and preserved vegetables | Animal and vegetable oils and fats | Milled maize products | Milled sorghum and millet products | Milled rice products | Milled wheat and barley products | Other milled grain products | Sugar refining | Coffee processing |Tea processing | Bakery products| Other foods | Animal feed &amp; other by-products | Alcoholic drinks | Soft drinks | Tobacco products | Cotton yarn | Textiles | Clothing | Leather and footwear | Wood and related products | Paper and related products | Printing and reproduction of recorded media | Coke and refined  | petroleum products | Fertilizers and herbicides | Pharmaceutical products | Rubber and plastics products | Other chemicals  and chemical products | Other non-metallic mineral products | Manufacture of cement, lime and plaster |  Manufacture of clay building materials | Metals &amp; metal products, except machinery and equipment | Machinery (except transport) | Electrical machinery | Transport equipment (incl. vehicles) | Furniture | Other manufacturing | Repair and installation of machinery and equipment | Electricity, gas, steam and air conditioning supply | Water collection, treatment and supply: sewage | Waste collection and management | Construction (modern) | Construction (traditional)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7943D11-4DD6-4C6F-AC38-5078330655BC}"/>
              </a:ext>
            </a:extLst>
          </p:cNvPr>
          <p:cNvSpPr/>
          <p:nvPr/>
        </p:nvSpPr>
        <p:spPr>
          <a:xfrm>
            <a:off x="314786" y="2313307"/>
            <a:ext cx="8514426" cy="317302"/>
          </a:xfrm>
          <a:prstGeom prst="rect">
            <a:avLst/>
          </a:prstGeom>
          <a:solidFill>
            <a:srgbClr val="5C8E3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E4DD4FE-E86C-4E98-9943-D00FDAFCC0D7}"/>
              </a:ext>
            </a:extLst>
          </p:cNvPr>
          <p:cNvSpPr txBox="1"/>
          <p:nvPr/>
        </p:nvSpPr>
        <p:spPr>
          <a:xfrm>
            <a:off x="314790" y="2322832"/>
            <a:ext cx="26527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Industrial Sectors &amp; Products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E2B23D0-0785-48E4-956A-7EA87A9BCF72}"/>
              </a:ext>
            </a:extLst>
          </p:cNvPr>
          <p:cNvSpPr/>
          <p:nvPr/>
        </p:nvSpPr>
        <p:spPr>
          <a:xfrm>
            <a:off x="314782" y="4964220"/>
            <a:ext cx="8514428" cy="1700413"/>
          </a:xfrm>
          <a:prstGeom prst="rect">
            <a:avLst/>
          </a:prstGeom>
          <a:solidFill>
            <a:srgbClr val="5C8E3A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0FBE5D2-90AE-4D65-94C2-A3E6A02DB64B}"/>
              </a:ext>
            </a:extLst>
          </p:cNvPr>
          <p:cNvSpPr txBox="1"/>
          <p:nvPr/>
        </p:nvSpPr>
        <p:spPr>
          <a:xfrm>
            <a:off x="680611" y="5054801"/>
            <a:ext cx="8018889" cy="1546577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en-US" sz="1050" dirty="0">
                <a:solidFill>
                  <a:srgbClr val="54544B"/>
                </a:solidFill>
              </a:rPr>
              <a:t>Maintenance and repair of motor vehicles | Wholesale and retail trade of motor vehicles and motorcycles | Wholesale trade, except of motor vehicles and motorcycles | Retail trade, except of motor vehicles and motorcycles | Land transport | Air transport | Services related to transport | Postal and courier activities | Accommodation | Restaurants and food services | Publishing, video making, programming &amp; broadcasting activities | Telecommunication | Information technology services | Monetary institutions | Insurance, reinsurance and pension funding, except compulsory social security | Other financial services | Rental value of dwellings | Other real estate activities | Legal, accounting management &amp; head office activities | Architectural and engineering activities | Other professional, scientific and technical activities | Travel agents and tour operators | Other administrative and support service activities | Public administration and </a:t>
            </a:r>
            <a:r>
              <a:rPr lang="en-US" sz="1050" dirty="0" err="1">
                <a:solidFill>
                  <a:srgbClr val="54544B"/>
                </a:solidFill>
              </a:rPr>
              <a:t>defence</a:t>
            </a:r>
            <a:r>
              <a:rPr lang="en-US" sz="1050" dirty="0">
                <a:solidFill>
                  <a:srgbClr val="54544B"/>
                </a:solidFill>
              </a:rPr>
              <a:t>; compulsory social security | Education | Human health activities | Social work activities | Libraries, archives, museums and other cultural activities | Other arts, entertainment and recreation | Domestic services | Other service activities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D511AAF-45FC-4457-A132-0A93856259C3}"/>
              </a:ext>
            </a:extLst>
          </p:cNvPr>
          <p:cNvSpPr/>
          <p:nvPr/>
        </p:nvSpPr>
        <p:spPr>
          <a:xfrm>
            <a:off x="314783" y="4715339"/>
            <a:ext cx="8514426" cy="317302"/>
          </a:xfrm>
          <a:prstGeom prst="rect">
            <a:avLst/>
          </a:prstGeom>
          <a:solidFill>
            <a:srgbClr val="5C8E3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439C7D3-2D4B-414E-9DA2-51653102C806}"/>
              </a:ext>
            </a:extLst>
          </p:cNvPr>
          <p:cNvSpPr txBox="1"/>
          <p:nvPr/>
        </p:nvSpPr>
        <p:spPr>
          <a:xfrm>
            <a:off x="314787" y="4724864"/>
            <a:ext cx="22715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Service Sectors &amp; Products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453033D-AB87-44C7-AF42-FD8B046B15B1}"/>
              </a:ext>
            </a:extLst>
          </p:cNvPr>
          <p:cNvSpPr txBox="1"/>
          <p:nvPr/>
        </p:nvSpPr>
        <p:spPr>
          <a:xfrm>
            <a:off x="314783" y="1463722"/>
            <a:ext cx="3658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rgbClr val="54544B"/>
                </a:solidFill>
              </a:rPr>
              <a:t>35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DD243A7-C644-45A0-86EC-15D48F1779DB}"/>
              </a:ext>
            </a:extLst>
          </p:cNvPr>
          <p:cNvSpPr txBox="1"/>
          <p:nvPr/>
        </p:nvSpPr>
        <p:spPr>
          <a:xfrm>
            <a:off x="314783" y="2640400"/>
            <a:ext cx="3658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rgbClr val="54544B"/>
                </a:solidFill>
              </a:rPr>
              <a:t>51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B7E42F5-CDFB-4403-BA01-0A4C93309A55}"/>
              </a:ext>
            </a:extLst>
          </p:cNvPr>
          <p:cNvSpPr txBox="1"/>
          <p:nvPr/>
        </p:nvSpPr>
        <p:spPr>
          <a:xfrm>
            <a:off x="314780" y="5048136"/>
            <a:ext cx="3658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rgbClr val="54544B"/>
                </a:solidFill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38171465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Main data sources:</a:t>
            </a:r>
          </a:p>
          <a:p>
            <a:r>
              <a:rPr lang="en-US" dirty="0"/>
              <a:t>National accounts (GDP by sector, trade margins)</a:t>
            </a:r>
          </a:p>
          <a:p>
            <a:r>
              <a:rPr lang="en-US" dirty="0"/>
              <a:t>Agricultural and industrial production data and surveys</a:t>
            </a:r>
          </a:p>
          <a:p>
            <a:r>
              <a:rPr lang="en-US" dirty="0"/>
              <a:t>Input-output table</a:t>
            </a:r>
          </a:p>
          <a:p>
            <a:r>
              <a:rPr lang="en-US" dirty="0"/>
              <a:t>Trade and tax data (esp. VAT and customs duties)</a:t>
            </a:r>
          </a:p>
          <a:p>
            <a:r>
              <a:rPr lang="en-US" dirty="0"/>
              <a:t>Household expenditure survey (consumption demand vector)</a:t>
            </a:r>
          </a:p>
          <a:p>
            <a:endParaRPr lang="en-US" sz="1200" dirty="0"/>
          </a:p>
          <a:p>
            <a:pPr marL="0" indent="0">
              <a:buNone/>
            </a:pPr>
            <a:r>
              <a:rPr lang="en-US" b="1" dirty="0"/>
              <a:t>Standardized concordance between SAM and classification systems</a:t>
            </a:r>
          </a:p>
          <a:p>
            <a:r>
              <a:rPr lang="en-US" dirty="0"/>
              <a:t>ISIC3.1, ISIC4, HS2007, COICOP → Disaggregated SAM accounts</a:t>
            </a:r>
          </a:p>
          <a:p>
            <a:pPr marL="0" indent="0">
              <a:buNone/>
            </a:pPr>
            <a:endParaRPr lang="en-US" sz="1100" b="1" dirty="0"/>
          </a:p>
          <a:p>
            <a:pPr marL="0" indent="0">
              <a:buNone/>
            </a:pPr>
            <a:r>
              <a:rPr lang="en-US" b="1" dirty="0"/>
              <a:t>Inconsistent values across sources requires reconciliation:</a:t>
            </a:r>
          </a:p>
          <a:p>
            <a:r>
              <a:rPr lang="en-US" dirty="0"/>
              <a:t>Balanced using cross-entropy techniques in GAMS®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5314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Entries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72510465"/>
              </p:ext>
            </p:extLst>
          </p:nvPr>
        </p:nvGraphicFramePr>
        <p:xfrm>
          <a:off x="123825" y="1263650"/>
          <a:ext cx="8836015" cy="445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6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Act</a:t>
                      </a:r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Com</a:t>
                      </a:r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Fact</a:t>
                      </a:r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Ent</a:t>
                      </a:r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Hhd</a:t>
                      </a:r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Gov</a:t>
                      </a:r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Tax</a:t>
                      </a:r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S-I</a:t>
                      </a:r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Stk</a:t>
                      </a:r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Wld</a:t>
                      </a:r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Tot</a:t>
                      </a:r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Activities</a:t>
                      </a: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C34E2D"/>
                          </a:solidFill>
                        </a:rPr>
                        <a:t>SUT</a:t>
                      </a: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Commodities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C34E2D"/>
                          </a:solidFill>
                        </a:rPr>
                        <a:t>SUT</a:t>
                      </a:r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C34E2D"/>
                          </a:solidFill>
                        </a:rPr>
                        <a:t>SUT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0B8EB8"/>
                          </a:solidFill>
                        </a:rPr>
                        <a:t>SVY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8AA63D"/>
                          </a:solidFill>
                        </a:rPr>
                        <a:t>GFS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C34E2D"/>
                          </a:solidFill>
                        </a:rPr>
                        <a:t>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C34E2D"/>
                          </a:solidFill>
                        </a:rPr>
                        <a:t>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54544B"/>
                          </a:solidFill>
                        </a:rPr>
                        <a:t>TRD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Factors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0B8EB8"/>
                          </a:solidFill>
                        </a:rPr>
                        <a:t>SVY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Enterprises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Households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Government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Taxes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8AA63D"/>
                          </a:solidFill>
                        </a:rPr>
                        <a:t>GFS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8AA63D"/>
                          </a:solidFill>
                        </a:rPr>
                        <a:t>GFS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Savings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Stock change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Rest of world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rgbClr val="54544B"/>
                          </a:solidFill>
                        </a:rPr>
                        <a:t>TRD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139578" y="5905500"/>
            <a:ext cx="36737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C34E2D"/>
                </a:solidFill>
              </a:rPr>
              <a:t>SUT    </a:t>
            </a:r>
            <a:r>
              <a:rPr lang="en-US" dirty="0">
                <a:solidFill>
                  <a:srgbClr val="C34E2D"/>
                </a:solidFill>
              </a:rPr>
              <a:t>Supply-Use Table</a:t>
            </a:r>
          </a:p>
          <a:p>
            <a:r>
              <a:rPr lang="en-US" b="1" dirty="0">
                <a:solidFill>
                  <a:srgbClr val="5C8E3A"/>
                </a:solidFill>
              </a:rPr>
              <a:t>GFS   </a:t>
            </a:r>
            <a:r>
              <a:rPr lang="en-US" dirty="0">
                <a:solidFill>
                  <a:srgbClr val="5C8E3A"/>
                </a:solidFill>
              </a:rPr>
              <a:t>Government Financial Statistics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78422" y="5905500"/>
            <a:ext cx="36737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B8EB8"/>
                </a:solidFill>
              </a:rPr>
              <a:t>SVY   </a:t>
            </a:r>
            <a:r>
              <a:rPr lang="en-US" dirty="0">
                <a:solidFill>
                  <a:srgbClr val="0B8EB8"/>
                </a:solidFill>
              </a:rPr>
              <a:t>Household &amp; firm surveys</a:t>
            </a:r>
          </a:p>
          <a:p>
            <a:r>
              <a:rPr lang="en-US" b="1" dirty="0">
                <a:solidFill>
                  <a:srgbClr val="54544B"/>
                </a:solidFill>
              </a:rPr>
              <a:t>TRD   </a:t>
            </a:r>
            <a:r>
              <a:rPr lang="en-US" dirty="0">
                <a:solidFill>
                  <a:srgbClr val="54544B"/>
                </a:solidFill>
              </a:rPr>
              <a:t>Customs trade data</a:t>
            </a:r>
          </a:p>
        </p:txBody>
      </p:sp>
    </p:spTree>
    <p:extLst>
      <p:ext uri="{BB962C8B-B14F-4D97-AF65-F5344CB8AC3E}">
        <p14:creationId xmlns:p14="http://schemas.microsoft.com/office/powerpoint/2010/main" val="23012362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Process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Generate input-output table (see Workings Folder)</a:t>
            </a:r>
          </a:p>
          <a:p>
            <a:endParaRPr lang="en-US" sz="1200" dirty="0"/>
          </a:p>
          <a:p>
            <a:r>
              <a:rPr lang="en-US" b="1" dirty="0"/>
              <a:t>Split GDP by sector (w-</a:t>
            </a:r>
            <a:r>
              <a:rPr lang="en-US" b="1" dirty="0" err="1"/>
              <a:t>GDPp</a:t>
            </a:r>
            <a:r>
              <a:rPr lang="en-US" b="1" dirty="0"/>
              <a:t>)</a:t>
            </a:r>
          </a:p>
          <a:p>
            <a:pPr lvl="1"/>
            <a:r>
              <a:rPr lang="en-US" dirty="0"/>
              <a:t>Use sector production and price data to go beyond national accounts</a:t>
            </a:r>
          </a:p>
          <a:p>
            <a:endParaRPr lang="en-US" sz="1200" dirty="0"/>
          </a:p>
          <a:p>
            <a:r>
              <a:rPr lang="en-US" b="1" dirty="0"/>
              <a:t>Map import &amp; export data to SAM accounts (w-TRD)</a:t>
            </a:r>
          </a:p>
          <a:p>
            <a:pPr lvl="1"/>
            <a:r>
              <a:rPr lang="en-US" dirty="0"/>
              <a:t>Combine with services trade data from BOP6</a:t>
            </a:r>
          </a:p>
          <a:p>
            <a:endParaRPr lang="en-US" sz="1200" dirty="0"/>
          </a:p>
          <a:p>
            <a:r>
              <a:rPr lang="en-US" b="1" dirty="0"/>
              <a:t>Estimate consumption &amp; investment demand vectors (w-ABS)</a:t>
            </a:r>
          </a:p>
          <a:p>
            <a:pPr lvl="1"/>
            <a:r>
              <a:rPr lang="en-US" dirty="0"/>
              <a:t>Use latest household survey for private consumption demand</a:t>
            </a:r>
          </a:p>
          <a:p>
            <a:endParaRPr lang="en-US" sz="1200" dirty="0"/>
          </a:p>
          <a:p>
            <a:r>
              <a:rPr lang="en-US" b="1" dirty="0"/>
              <a:t>Estimate tax rates &amp; transaction cost margins (w-TAX, w-TRC)</a:t>
            </a:r>
          </a:p>
        </p:txBody>
      </p:sp>
    </p:spTree>
    <p:extLst>
      <p:ext uri="{BB962C8B-B14F-4D97-AF65-F5344CB8AC3E}">
        <p14:creationId xmlns:p14="http://schemas.microsoft.com/office/powerpoint/2010/main" val="183281629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47347A-0C1A-413A-86BE-13650DAC40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SUT Sheets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B8DB59D-B644-4C93-8786-D54C6D22BA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>
                <a:solidFill>
                  <a:schemeClr val="accent3">
                    <a:lumMod val="75000"/>
                  </a:schemeClr>
                </a:solidFill>
              </a:rPr>
              <a:t>w-</a:t>
            </a:r>
            <a:r>
              <a:rPr lang="en-US" b="1" dirty="0" err="1">
                <a:solidFill>
                  <a:schemeClr val="accent3">
                    <a:lumMod val="75000"/>
                  </a:schemeClr>
                </a:solidFill>
              </a:rPr>
              <a:t>GDPp</a:t>
            </a:r>
            <a:r>
              <a:rPr lang="en-US" b="1" dirty="0"/>
              <a:t>  </a:t>
            </a:r>
            <a:r>
              <a:rPr lang="en-US" dirty="0"/>
              <a:t>	GDP at factor cost by sector</a:t>
            </a:r>
          </a:p>
          <a:p>
            <a:pPr lvl="1"/>
            <a:r>
              <a:rPr lang="en-US" b="1" dirty="0">
                <a:solidFill>
                  <a:schemeClr val="accent3">
                    <a:lumMod val="75000"/>
                  </a:schemeClr>
                </a:solidFill>
              </a:rPr>
              <a:t>w-AGR</a:t>
            </a:r>
            <a:r>
              <a:rPr lang="en-US" b="1" dirty="0"/>
              <a:t>   </a:t>
            </a:r>
            <a:r>
              <a:rPr lang="en-US" dirty="0"/>
              <a:t>	Agriculture production data (FAOSTAT)</a:t>
            </a:r>
          </a:p>
          <a:p>
            <a:pPr lvl="1"/>
            <a:r>
              <a:rPr lang="en-US" b="1" dirty="0">
                <a:solidFill>
                  <a:srgbClr val="687D2E"/>
                </a:solidFill>
              </a:rPr>
              <a:t>w-FSH</a:t>
            </a:r>
            <a:r>
              <a:rPr lang="en-US" dirty="0"/>
              <a:t>	Fisheries production data (FISHSTAT)</a:t>
            </a:r>
          </a:p>
          <a:p>
            <a:pPr lvl="1"/>
            <a:r>
              <a:rPr lang="en-US" b="1" dirty="0">
                <a:solidFill>
                  <a:srgbClr val="687D2E"/>
                </a:solidFill>
              </a:rPr>
              <a:t>w-MIN</a:t>
            </a:r>
            <a:r>
              <a:rPr lang="en-US" dirty="0"/>
              <a:t>	Mining production data</a:t>
            </a:r>
          </a:p>
          <a:p>
            <a:pPr lvl="1"/>
            <a:r>
              <a:rPr lang="en-US" b="1" dirty="0">
                <a:solidFill>
                  <a:srgbClr val="687D2E"/>
                </a:solidFill>
              </a:rPr>
              <a:t>w-MAN</a:t>
            </a:r>
            <a:r>
              <a:rPr lang="en-US" dirty="0"/>
              <a:t>	Manufacturing production data</a:t>
            </a:r>
          </a:p>
          <a:p>
            <a:r>
              <a:rPr lang="en-US" b="1" dirty="0">
                <a:solidFill>
                  <a:schemeClr val="accent3">
                    <a:lumMod val="75000"/>
                  </a:schemeClr>
                </a:solidFill>
              </a:rPr>
              <a:t>w-TRD</a:t>
            </a:r>
            <a:r>
              <a:rPr lang="en-US" dirty="0"/>
              <a:t>   	Imports and Exports (X + M)</a:t>
            </a:r>
          </a:p>
          <a:p>
            <a:r>
              <a:rPr lang="en-US" b="1" dirty="0">
                <a:solidFill>
                  <a:schemeClr val="accent3">
                    <a:lumMod val="75000"/>
                  </a:schemeClr>
                </a:solidFill>
              </a:rPr>
              <a:t>w-ABS</a:t>
            </a:r>
            <a:r>
              <a:rPr lang="en-US" dirty="0"/>
              <a:t>	Absorption vectors (C + I + G)</a:t>
            </a:r>
          </a:p>
          <a:p>
            <a:r>
              <a:rPr lang="en-US" b="1" dirty="0">
                <a:solidFill>
                  <a:srgbClr val="C34E2D"/>
                </a:solidFill>
              </a:rPr>
              <a:t>w-TAX</a:t>
            </a:r>
            <a:r>
              <a:rPr lang="en-US" dirty="0"/>
              <a:t>	Indirect taxes on producers &amp; products</a:t>
            </a:r>
          </a:p>
          <a:p>
            <a:r>
              <a:rPr lang="en-US" b="1" dirty="0">
                <a:solidFill>
                  <a:srgbClr val="C34E2D"/>
                </a:solidFill>
              </a:rPr>
              <a:t>w-TRC</a:t>
            </a:r>
            <a:r>
              <a:rPr lang="en-US" dirty="0"/>
              <a:t>	Transaction cost margins</a:t>
            </a:r>
          </a:p>
          <a:p>
            <a:endParaRPr lang="en-US" sz="900" dirty="0"/>
          </a:p>
          <a:p>
            <a:r>
              <a:rPr lang="en-US" b="1" dirty="0">
                <a:solidFill>
                  <a:srgbClr val="0B8EB8"/>
                </a:solidFill>
              </a:rPr>
              <a:t>SUT</a:t>
            </a:r>
            <a:r>
              <a:rPr lang="en-US" dirty="0"/>
              <a:t>		Final supply-use table imported into GAMS</a:t>
            </a:r>
          </a:p>
          <a:p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D767808-529A-4F59-B17C-6313A15FE4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920179"/>
            <a:ext cx="9144000" cy="951198"/>
          </a:xfrm>
          <a:prstGeom prst="rect">
            <a:avLst/>
          </a:prstGeom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5377A91F-BFBE-439C-9733-56CE66282888}"/>
              </a:ext>
            </a:extLst>
          </p:cNvPr>
          <p:cNvSpPr/>
          <p:nvPr/>
        </p:nvSpPr>
        <p:spPr>
          <a:xfrm>
            <a:off x="6140082" y="6519603"/>
            <a:ext cx="3070593" cy="351774"/>
          </a:xfrm>
          <a:prstGeom prst="rect">
            <a:avLst/>
          </a:prstGeom>
          <a:noFill/>
          <a:ln w="44450">
            <a:solidFill>
              <a:srgbClr val="C34E2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2BF06F-8372-4BCE-87C0-9C8A53521B34}"/>
              </a:ext>
            </a:extLst>
          </p:cNvPr>
          <p:cNvSpPr txBox="1"/>
          <p:nvPr/>
        </p:nvSpPr>
        <p:spPr>
          <a:xfrm>
            <a:off x="6836510" y="5643180"/>
            <a:ext cx="23074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>
                <a:solidFill>
                  <a:srgbClr val="54544B"/>
                </a:solidFill>
              </a:rPr>
              <a:t>1national.xlsx | Notes</a:t>
            </a:r>
          </a:p>
        </p:txBody>
      </p:sp>
    </p:spTree>
    <p:extLst>
      <p:ext uri="{BB962C8B-B14F-4D97-AF65-F5344CB8AC3E}">
        <p14:creationId xmlns:p14="http://schemas.microsoft.com/office/powerpoint/2010/main" val="215145350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F9CFD7-8AB2-4900-B41C-759AA7B76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Supply-Use Table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8AB7052-B71D-495B-A9A2-DDA909F130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084971"/>
            <a:ext cx="9144000" cy="4439255"/>
          </a:xfrm>
          <a:prstGeom prst="rect">
            <a:avLst/>
          </a:prstGeom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DC7D5A3-F911-4ED8-B239-D39F49EC229C}"/>
              </a:ext>
            </a:extLst>
          </p:cNvPr>
          <p:cNvSpPr txBox="1"/>
          <p:nvPr/>
        </p:nvSpPr>
        <p:spPr>
          <a:xfrm>
            <a:off x="6493610" y="2807972"/>
            <a:ext cx="26503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>
                <a:solidFill>
                  <a:srgbClr val="54544B"/>
                </a:solidFill>
              </a:rPr>
              <a:t>1national.xlsx | w-SUT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EF9344D-AB74-462A-8ABC-77AAB3A04E08}"/>
              </a:ext>
            </a:extLst>
          </p:cNvPr>
          <p:cNvSpPr/>
          <p:nvPr/>
        </p:nvSpPr>
        <p:spPr>
          <a:xfrm>
            <a:off x="920382" y="3625991"/>
            <a:ext cx="6842493" cy="631683"/>
          </a:xfrm>
          <a:prstGeom prst="rect">
            <a:avLst/>
          </a:prstGeom>
          <a:noFill/>
          <a:ln w="44450">
            <a:solidFill>
              <a:srgbClr val="C34E2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9A9346-6784-433B-B4E9-2EFC69C44D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350" y="1841456"/>
            <a:ext cx="8877300" cy="763207"/>
          </a:xfrm>
          <a:prstGeom prst="rect">
            <a:avLst/>
          </a:prstGeom>
          <a:ln w="28575">
            <a:solidFill>
              <a:srgbClr val="C34E2D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CD5DC20-21E8-4B72-8045-FE773E182B25}"/>
              </a:ext>
            </a:extLst>
          </p:cNvPr>
          <p:cNvSpPr txBox="1"/>
          <p:nvPr/>
        </p:nvSpPr>
        <p:spPr>
          <a:xfrm>
            <a:off x="2143125" y="1386280"/>
            <a:ext cx="24288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solidFill>
                  <a:srgbClr val="C34E2D"/>
                </a:solidFill>
              </a:rPr>
              <a:t>Supply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16AC708-8566-4B6F-847F-4A1F230AFECE}"/>
              </a:ext>
            </a:extLst>
          </p:cNvPr>
          <p:cNvSpPr txBox="1"/>
          <p:nvPr/>
        </p:nvSpPr>
        <p:spPr>
          <a:xfrm>
            <a:off x="4705350" y="1385472"/>
            <a:ext cx="24288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C34E2D"/>
                </a:solidFill>
              </a:rPr>
              <a:t>Demand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23FB751-8862-42A1-A79E-0BFCD714C1B2}"/>
              </a:ext>
            </a:extLst>
          </p:cNvPr>
          <p:cNvCxnSpPr/>
          <p:nvPr/>
        </p:nvCxnSpPr>
        <p:spPr>
          <a:xfrm flipH="1">
            <a:off x="3124200" y="1570946"/>
            <a:ext cx="600075" cy="0"/>
          </a:xfrm>
          <a:prstGeom prst="straightConnector1">
            <a:avLst/>
          </a:prstGeom>
          <a:ln>
            <a:solidFill>
              <a:srgbClr val="C34E2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50B2A06-F527-424D-832E-570D78FC3F64}"/>
              </a:ext>
            </a:extLst>
          </p:cNvPr>
          <p:cNvCxnSpPr>
            <a:cxnSpLocks/>
          </p:cNvCxnSpPr>
          <p:nvPr/>
        </p:nvCxnSpPr>
        <p:spPr>
          <a:xfrm>
            <a:off x="5712561" y="1570138"/>
            <a:ext cx="659664" cy="0"/>
          </a:xfrm>
          <a:prstGeom prst="straightConnector1">
            <a:avLst/>
          </a:prstGeom>
          <a:ln>
            <a:solidFill>
              <a:srgbClr val="C34E2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026733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Toolkit Files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456579C9-050B-40E6-B15E-0F036BA1140A}"/>
              </a:ext>
            </a:extLst>
          </p:cNvPr>
          <p:cNvGrpSpPr/>
          <p:nvPr/>
        </p:nvGrpSpPr>
        <p:grpSpPr>
          <a:xfrm>
            <a:off x="215899" y="1708150"/>
            <a:ext cx="8712202" cy="4229675"/>
            <a:chOff x="286542" y="1727200"/>
            <a:chExt cx="8712202" cy="4229675"/>
          </a:xfrm>
        </p:grpSpPr>
        <p:sp>
          <p:nvSpPr>
            <p:cNvPr id="4" name="Text Box 2"/>
            <p:cNvSpPr txBox="1">
              <a:spLocks noChangeArrowheads="1"/>
            </p:cNvSpPr>
            <p:nvPr/>
          </p:nvSpPr>
          <p:spPr bwMode="auto">
            <a:xfrm>
              <a:off x="1902618" y="4291934"/>
              <a:ext cx="2419351" cy="814131"/>
            </a:xfrm>
            <a:prstGeom prst="rect">
              <a:avLst/>
            </a:prstGeom>
            <a:solidFill>
              <a:srgbClr val="C34E2D"/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/>
            <a:lstStyle/>
            <a:p>
              <a:pPr algn="ctr">
                <a:spcAft>
                  <a:spcPts val="1000"/>
                </a:spcAft>
              </a:pPr>
              <a:r>
                <a:rPr lang="en-US" sz="1600" b="1" dirty="0">
                  <a:solidFill>
                    <a:schemeClr val="bg1"/>
                  </a:solidFill>
                  <a:latin typeface="Calibri" pitchFamily="34" charset="0"/>
                </a:rPr>
                <a:t>Build and Balance </a:t>
              </a:r>
              <a:r>
                <a:rPr lang="en-US" sz="1600" dirty="0">
                  <a:solidFill>
                    <a:schemeClr val="bg1"/>
                  </a:solidFill>
                  <a:latin typeface="Calibri" pitchFamily="34" charset="0"/>
                </a:rPr>
                <a:t>3household.gms                 4balance.gms</a:t>
              </a:r>
              <a:endParaRPr lang="en-US" sz="2800" dirty="0">
                <a:solidFill>
                  <a:schemeClr val="bg1"/>
                </a:solidFill>
              </a:endParaRPr>
            </a:p>
          </p:txBody>
        </p:sp>
        <p:sp>
          <p:nvSpPr>
            <p:cNvPr id="5" name="Text Box 3"/>
            <p:cNvSpPr txBox="1">
              <a:spLocks noChangeArrowheads="1"/>
            </p:cNvSpPr>
            <p:nvPr/>
          </p:nvSpPr>
          <p:spPr bwMode="auto">
            <a:xfrm>
              <a:off x="4748212" y="3489325"/>
              <a:ext cx="2412204" cy="584775"/>
            </a:xfrm>
            <a:prstGeom prst="rect">
              <a:avLst/>
            </a:prstGeom>
            <a:solidFill>
              <a:srgbClr val="0B8EB8"/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square">
              <a:spAutoFit/>
            </a:bodyPr>
            <a:lstStyle/>
            <a:p>
              <a:pPr algn="ctr">
                <a:spcAft>
                  <a:spcPts val="1000"/>
                </a:spcAft>
              </a:pPr>
              <a:r>
                <a:rPr lang="en-US" sz="1600" b="1" dirty="0">
                  <a:solidFill>
                    <a:schemeClr val="bg1"/>
                  </a:solidFill>
                  <a:latin typeface="Calibri" pitchFamily="34" charset="0"/>
                </a:rPr>
                <a:t>Process survey data </a:t>
              </a:r>
              <a:r>
                <a:rPr lang="en-US" sz="1600" dirty="0">
                  <a:solidFill>
                    <a:schemeClr val="bg1"/>
                  </a:solidFill>
                  <a:latin typeface="Calibri" pitchFamily="34" charset="0"/>
                </a:rPr>
                <a:t>(surveys folder)</a:t>
              </a:r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6" name="Text Box 4"/>
            <p:cNvSpPr txBox="1">
              <a:spLocks noChangeArrowheads="1"/>
            </p:cNvSpPr>
            <p:nvPr/>
          </p:nvSpPr>
          <p:spPr bwMode="auto">
            <a:xfrm>
              <a:off x="4749800" y="4406900"/>
              <a:ext cx="2410616" cy="584775"/>
            </a:xfrm>
            <a:prstGeom prst="rect">
              <a:avLst/>
            </a:prstGeom>
            <a:solidFill>
              <a:srgbClr val="8AA63D"/>
            </a:solidFill>
            <a:ln w="9525">
              <a:noFill/>
              <a:prstDash val="dash"/>
              <a:miter lim="800000"/>
              <a:headEnd/>
              <a:tailEnd/>
            </a:ln>
            <a:effectLst/>
          </p:spPr>
          <p:txBody>
            <a:bodyPr wrap="square">
              <a:spAutoFit/>
            </a:bodyPr>
            <a:lstStyle/>
            <a:p>
              <a:pPr algn="ctr">
                <a:spcAft>
                  <a:spcPts val="1000"/>
                </a:spcAft>
              </a:pPr>
              <a:r>
                <a:rPr lang="en-US" sz="1600" b="1" dirty="0">
                  <a:solidFill>
                    <a:schemeClr val="bg1"/>
                  </a:solidFill>
                  <a:latin typeface="Calibri" pitchFamily="34" charset="0"/>
                </a:rPr>
                <a:t>Prior Household SAM </a:t>
              </a:r>
              <a:r>
                <a:rPr lang="en-US" sz="1600" dirty="0">
                  <a:solidFill>
                    <a:schemeClr val="bg1"/>
                  </a:solidFill>
                  <a:latin typeface="Calibri" pitchFamily="34" charset="0"/>
                </a:rPr>
                <a:t>3household.xlsx</a:t>
              </a:r>
              <a:endParaRPr lang="en-US" sz="2800" dirty="0">
                <a:solidFill>
                  <a:schemeClr val="bg1"/>
                </a:solidFill>
              </a:endParaRPr>
            </a:p>
          </p:txBody>
        </p:sp>
        <p:sp>
          <p:nvSpPr>
            <p:cNvPr id="7" name="Text Box 5"/>
            <p:cNvSpPr txBox="1">
              <a:spLocks noChangeArrowheads="1"/>
            </p:cNvSpPr>
            <p:nvPr/>
          </p:nvSpPr>
          <p:spPr bwMode="auto">
            <a:xfrm>
              <a:off x="4749800" y="1727200"/>
              <a:ext cx="2419351" cy="584775"/>
            </a:xfrm>
            <a:prstGeom prst="rect">
              <a:avLst/>
            </a:prstGeom>
            <a:solidFill>
              <a:srgbClr val="0B8EB8"/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square">
              <a:spAutoFit/>
            </a:bodyPr>
            <a:lstStyle/>
            <a:p>
              <a:pPr algn="ctr">
                <a:spcAft>
                  <a:spcPts val="1000"/>
                </a:spcAft>
              </a:pPr>
              <a:r>
                <a:rPr lang="en-US" sz="1600" b="1" dirty="0">
                  <a:solidFill>
                    <a:schemeClr val="bg1"/>
                  </a:solidFill>
                  <a:latin typeface="Calibri" pitchFamily="34" charset="0"/>
                </a:rPr>
                <a:t>Estimate SUT Coefficients </a:t>
              </a:r>
              <a:r>
                <a:rPr lang="en-US" sz="1600" dirty="0">
                  <a:solidFill>
                    <a:schemeClr val="bg1"/>
                  </a:solidFill>
                  <a:latin typeface="Calibri" pitchFamily="34" charset="0"/>
                </a:rPr>
                <a:t>(workings folder)</a:t>
              </a:r>
            </a:p>
          </p:txBody>
        </p:sp>
        <p:sp>
          <p:nvSpPr>
            <p:cNvPr id="8" name="Text Box 6"/>
            <p:cNvSpPr txBox="1">
              <a:spLocks noChangeArrowheads="1"/>
            </p:cNvSpPr>
            <p:nvPr/>
          </p:nvSpPr>
          <p:spPr bwMode="auto">
            <a:xfrm>
              <a:off x="4748211" y="2578100"/>
              <a:ext cx="2419351" cy="584775"/>
            </a:xfrm>
            <a:prstGeom prst="rect">
              <a:avLst/>
            </a:prstGeom>
            <a:solidFill>
              <a:srgbClr val="8AA63D"/>
            </a:solidFill>
            <a:ln w="9525">
              <a:noFill/>
              <a:prstDash val="dash"/>
              <a:miter lim="800000"/>
              <a:headEnd/>
              <a:tailEnd/>
            </a:ln>
            <a:effectLst/>
          </p:spPr>
          <p:txBody>
            <a:bodyPr wrap="square">
              <a:spAutoFit/>
            </a:bodyPr>
            <a:lstStyle/>
            <a:p>
              <a:pPr algn="ctr">
                <a:spcAft>
                  <a:spcPts val="1000"/>
                </a:spcAft>
              </a:pPr>
              <a:r>
                <a:rPr lang="en-US" sz="1600" b="1" dirty="0">
                  <a:solidFill>
                    <a:schemeClr val="bg1"/>
                  </a:solidFill>
                  <a:latin typeface="Calibri" pitchFamily="34" charset="0"/>
                </a:rPr>
                <a:t>Prior National SAM </a:t>
              </a:r>
              <a:r>
                <a:rPr lang="en-US" sz="1600" dirty="0">
                  <a:solidFill>
                    <a:schemeClr val="bg1"/>
                  </a:solidFill>
                  <a:latin typeface="Calibri" pitchFamily="34" charset="0"/>
                </a:rPr>
                <a:t>1national.xlsx</a:t>
              </a:r>
              <a:endParaRPr lang="en-US" sz="2800" dirty="0">
                <a:solidFill>
                  <a:schemeClr val="bg1"/>
                </a:solidFill>
              </a:endParaRPr>
            </a:p>
          </p:txBody>
        </p:sp>
        <p:cxnSp>
          <p:nvCxnSpPr>
            <p:cNvPr id="9" name="AutoShape 7"/>
            <p:cNvCxnSpPr>
              <a:cxnSpLocks noChangeShapeType="1"/>
              <a:stCxn id="7" idx="2"/>
              <a:endCxn id="8" idx="0"/>
            </p:cNvCxnSpPr>
            <p:nvPr/>
          </p:nvCxnSpPr>
          <p:spPr bwMode="auto">
            <a:xfrm flipH="1">
              <a:off x="5957887" y="2311975"/>
              <a:ext cx="1589" cy="266125"/>
            </a:xfrm>
            <a:prstGeom prst="straightConnector1">
              <a:avLst/>
            </a:prstGeom>
            <a:noFill/>
            <a:ln w="9525">
              <a:solidFill>
                <a:srgbClr val="0B8EB8"/>
              </a:solidFill>
              <a:round/>
              <a:headEnd/>
              <a:tailEnd type="triangle" w="lg" len="med"/>
            </a:ln>
          </p:spPr>
        </p:cxnSp>
        <p:cxnSp>
          <p:nvCxnSpPr>
            <p:cNvPr id="10" name="AutoShape 8"/>
            <p:cNvCxnSpPr>
              <a:cxnSpLocks noChangeShapeType="1"/>
              <a:stCxn id="8" idx="1"/>
              <a:endCxn id="14" idx="3"/>
            </p:cNvCxnSpPr>
            <p:nvPr/>
          </p:nvCxnSpPr>
          <p:spPr bwMode="auto">
            <a:xfrm flipH="1" flipV="1">
              <a:off x="4324351" y="2870487"/>
              <a:ext cx="423860" cy="1"/>
            </a:xfrm>
            <a:prstGeom prst="straightConnector1">
              <a:avLst/>
            </a:prstGeom>
            <a:noFill/>
            <a:ln w="9525">
              <a:solidFill>
                <a:srgbClr val="5C8E3A"/>
              </a:solidFill>
              <a:round/>
              <a:headEnd/>
              <a:tailEnd type="triangle" w="lg" len="med"/>
            </a:ln>
          </p:spPr>
        </p:cxnSp>
        <p:cxnSp>
          <p:nvCxnSpPr>
            <p:cNvPr id="11" name="AutoShape 9"/>
            <p:cNvCxnSpPr>
              <a:cxnSpLocks noChangeShapeType="1"/>
              <a:stCxn id="14" idx="2"/>
              <a:endCxn id="4" idx="0"/>
            </p:cNvCxnSpPr>
            <p:nvPr/>
          </p:nvCxnSpPr>
          <p:spPr bwMode="auto">
            <a:xfrm flipH="1">
              <a:off x="3112294" y="3285985"/>
              <a:ext cx="2382" cy="1005949"/>
            </a:xfrm>
            <a:prstGeom prst="straightConnector1">
              <a:avLst/>
            </a:prstGeom>
            <a:noFill/>
            <a:ln w="9525">
              <a:solidFill>
                <a:srgbClr val="C34E2D"/>
              </a:solidFill>
              <a:round/>
              <a:headEnd/>
              <a:tailEnd type="triangle" w="lg" len="med"/>
            </a:ln>
          </p:spPr>
        </p:cxnSp>
        <p:cxnSp>
          <p:nvCxnSpPr>
            <p:cNvPr id="12" name="AutoShape 10"/>
            <p:cNvCxnSpPr>
              <a:cxnSpLocks noChangeShapeType="1"/>
              <a:stCxn id="5" idx="2"/>
              <a:endCxn id="6" idx="0"/>
            </p:cNvCxnSpPr>
            <p:nvPr/>
          </p:nvCxnSpPr>
          <p:spPr bwMode="auto">
            <a:xfrm>
              <a:off x="5954314" y="4074100"/>
              <a:ext cx="794" cy="332800"/>
            </a:xfrm>
            <a:prstGeom prst="straightConnector1">
              <a:avLst/>
            </a:prstGeom>
            <a:noFill/>
            <a:ln w="9525">
              <a:solidFill>
                <a:srgbClr val="0B8EB8"/>
              </a:solidFill>
              <a:round/>
              <a:headEnd/>
              <a:tailEnd type="triangle" w="lg" len="med"/>
            </a:ln>
          </p:spPr>
        </p:cxnSp>
        <p:cxnSp>
          <p:nvCxnSpPr>
            <p:cNvPr id="13" name="AutoShape 11"/>
            <p:cNvCxnSpPr>
              <a:cxnSpLocks noChangeShapeType="1"/>
              <a:stCxn id="6" idx="1"/>
              <a:endCxn id="4" idx="3"/>
            </p:cNvCxnSpPr>
            <p:nvPr/>
          </p:nvCxnSpPr>
          <p:spPr bwMode="auto">
            <a:xfrm flipH="1" flipV="1">
              <a:off x="4321969" y="4699000"/>
              <a:ext cx="427831" cy="288"/>
            </a:xfrm>
            <a:prstGeom prst="straightConnector1">
              <a:avLst/>
            </a:prstGeom>
            <a:noFill/>
            <a:ln w="9525">
              <a:solidFill>
                <a:srgbClr val="5C8E3A"/>
              </a:solidFill>
              <a:round/>
              <a:headEnd/>
              <a:tailEnd type="triangle" w="lg" len="med"/>
            </a:ln>
          </p:spPr>
        </p:cxnSp>
        <p:sp>
          <p:nvSpPr>
            <p:cNvPr id="14" name="Text Box 12"/>
            <p:cNvSpPr txBox="1">
              <a:spLocks noChangeArrowheads="1"/>
            </p:cNvSpPr>
            <p:nvPr/>
          </p:nvSpPr>
          <p:spPr bwMode="auto">
            <a:xfrm>
              <a:off x="1905000" y="2454988"/>
              <a:ext cx="2419351" cy="830997"/>
            </a:xfrm>
            <a:prstGeom prst="rect">
              <a:avLst/>
            </a:prstGeom>
            <a:solidFill>
              <a:srgbClr val="C34E2D"/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square">
              <a:spAutoFit/>
            </a:bodyPr>
            <a:lstStyle/>
            <a:p>
              <a:pPr algn="ctr">
                <a:spcAft>
                  <a:spcPts val="1000"/>
                </a:spcAft>
              </a:pPr>
              <a:r>
                <a:rPr lang="en-US" sz="1600" b="1" dirty="0">
                  <a:solidFill>
                    <a:schemeClr val="bg1"/>
                  </a:solidFill>
                  <a:latin typeface="Calibri" pitchFamily="34" charset="0"/>
                </a:rPr>
                <a:t>Build and Balance </a:t>
              </a:r>
              <a:r>
                <a:rPr lang="en-US" sz="1600" dirty="0">
                  <a:solidFill>
                    <a:schemeClr val="bg1"/>
                  </a:solidFill>
                  <a:latin typeface="Calibri" pitchFamily="34" charset="0"/>
                </a:rPr>
                <a:t>1national.gms 2balance.gms</a:t>
              </a:r>
              <a:endParaRPr lang="en-US" sz="2800" dirty="0">
                <a:solidFill>
                  <a:schemeClr val="bg1"/>
                </a:solidFill>
              </a:endParaRPr>
            </a:p>
          </p:txBody>
        </p:sp>
        <p:sp>
          <p:nvSpPr>
            <p:cNvPr id="15" name="Oval 14"/>
            <p:cNvSpPr>
              <a:spLocks noChangeArrowheads="1"/>
            </p:cNvSpPr>
            <p:nvPr/>
          </p:nvSpPr>
          <p:spPr bwMode="auto">
            <a:xfrm>
              <a:off x="7332905" y="1862717"/>
              <a:ext cx="779462" cy="349250"/>
            </a:xfrm>
            <a:prstGeom prst="ellipse">
              <a:avLst/>
            </a:prstGeom>
            <a:solidFill>
              <a:srgbClr val="FFB300"/>
            </a:solidFill>
            <a:ln w="9525">
              <a:noFill/>
              <a:round/>
              <a:headEnd/>
              <a:tailEnd/>
            </a:ln>
            <a:effectLst/>
          </p:spPr>
          <p:txBody>
            <a:bodyPr/>
            <a:lstStyle/>
            <a:p>
              <a:endParaRPr lang="en-US">
                <a:solidFill>
                  <a:srgbClr val="54544B"/>
                </a:solidFill>
              </a:endParaRPr>
            </a:p>
          </p:txBody>
        </p:sp>
        <p:sp>
          <p:nvSpPr>
            <p:cNvPr id="16" name="Text Box 15"/>
            <p:cNvSpPr txBox="1">
              <a:spLocks noChangeArrowheads="1"/>
            </p:cNvSpPr>
            <p:nvPr/>
          </p:nvSpPr>
          <p:spPr bwMode="auto">
            <a:xfrm>
              <a:off x="7369417" y="1877005"/>
              <a:ext cx="838200" cy="3048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/>
            <a:lstStyle/>
            <a:p>
              <a:pPr>
                <a:spcAft>
                  <a:spcPts val="1000"/>
                </a:spcAft>
              </a:pPr>
              <a:r>
                <a:rPr lang="en-US" sz="1600" b="1" dirty="0">
                  <a:solidFill>
                    <a:srgbClr val="54544B"/>
                  </a:solidFill>
                  <a:latin typeface="Calibri" pitchFamily="34" charset="0"/>
                </a:rPr>
                <a:t>Step 1</a:t>
              </a:r>
              <a:endParaRPr lang="en-US" sz="2800" b="1" dirty="0">
                <a:solidFill>
                  <a:srgbClr val="54544B"/>
                </a:solidFill>
              </a:endParaRPr>
            </a:p>
          </p:txBody>
        </p:sp>
        <p:sp>
          <p:nvSpPr>
            <p:cNvPr id="18" name="Text Box 26"/>
            <p:cNvSpPr txBox="1">
              <a:spLocks noChangeArrowheads="1"/>
            </p:cNvSpPr>
            <p:nvPr/>
          </p:nvSpPr>
          <p:spPr bwMode="auto">
            <a:xfrm>
              <a:off x="286542" y="2717096"/>
              <a:ext cx="1820863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Aft>
                  <a:spcPts val="1000"/>
                </a:spcAft>
              </a:pPr>
              <a:r>
                <a:rPr lang="en-US" sz="1600" b="1" u="sng" dirty="0">
                  <a:solidFill>
                    <a:srgbClr val="54544B"/>
                  </a:solidFill>
                </a:rPr>
                <a:t>GAMS</a:t>
              </a:r>
              <a:r>
                <a:rPr lang="en-US" sz="1600" dirty="0">
                  <a:solidFill>
                    <a:srgbClr val="54544B"/>
                  </a:solidFill>
                </a:rPr>
                <a:t>: Press F9</a:t>
              </a:r>
              <a:endParaRPr lang="en-US" sz="3600" dirty="0">
                <a:solidFill>
                  <a:srgbClr val="54544B"/>
                </a:solidFill>
              </a:endParaRPr>
            </a:p>
          </p:txBody>
        </p:sp>
        <p:sp>
          <p:nvSpPr>
            <p:cNvPr id="19" name="Text Box 27"/>
            <p:cNvSpPr txBox="1">
              <a:spLocks noChangeArrowheads="1"/>
            </p:cNvSpPr>
            <p:nvPr/>
          </p:nvSpPr>
          <p:spPr bwMode="auto">
            <a:xfrm>
              <a:off x="1905001" y="5372100"/>
              <a:ext cx="2419350" cy="584775"/>
            </a:xfrm>
            <a:prstGeom prst="rect">
              <a:avLst/>
            </a:prstGeom>
            <a:solidFill>
              <a:srgbClr val="8AA63D"/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square">
              <a:spAutoFit/>
            </a:bodyPr>
            <a:lstStyle/>
            <a:p>
              <a:pPr algn="ctr">
                <a:spcAft>
                  <a:spcPts val="1000"/>
                </a:spcAft>
              </a:pPr>
              <a:r>
                <a:rPr lang="en-US" sz="1600" b="1" dirty="0">
                  <a:solidFill>
                    <a:schemeClr val="bg1"/>
                  </a:solidFill>
                  <a:latin typeface="Calibri" pitchFamily="34" charset="0"/>
                </a:rPr>
                <a:t>Balanced SAMs </a:t>
              </a:r>
              <a:r>
                <a:rPr lang="en-US" sz="1600" dirty="0">
                  <a:solidFill>
                    <a:schemeClr val="bg1"/>
                  </a:solidFill>
                  <a:latin typeface="Calibri" pitchFamily="34" charset="0"/>
                </a:rPr>
                <a:t>(0output.xlsx)</a:t>
              </a:r>
              <a:endParaRPr lang="en-US" sz="2800" dirty="0">
                <a:solidFill>
                  <a:schemeClr val="bg1"/>
                </a:solidFill>
              </a:endParaRPr>
            </a:p>
          </p:txBody>
        </p:sp>
        <p:cxnSp>
          <p:nvCxnSpPr>
            <p:cNvPr id="20" name="AutoShape 28"/>
            <p:cNvCxnSpPr>
              <a:cxnSpLocks noChangeShapeType="1"/>
              <a:stCxn id="4" idx="2"/>
              <a:endCxn id="19" idx="0"/>
            </p:cNvCxnSpPr>
            <p:nvPr/>
          </p:nvCxnSpPr>
          <p:spPr bwMode="auto">
            <a:xfrm>
              <a:off x="3112294" y="5106065"/>
              <a:ext cx="2382" cy="266035"/>
            </a:xfrm>
            <a:prstGeom prst="straightConnector1">
              <a:avLst/>
            </a:prstGeom>
            <a:noFill/>
            <a:ln w="9525">
              <a:solidFill>
                <a:srgbClr val="C34E2D"/>
              </a:solidFill>
              <a:round/>
              <a:headEnd/>
              <a:tailEnd type="triangle" w="lg" len="med"/>
            </a:ln>
          </p:spPr>
        </p:cxnSp>
        <p:sp>
          <p:nvSpPr>
            <p:cNvPr id="21" name="Text Box 32"/>
            <p:cNvSpPr txBox="1">
              <a:spLocks noChangeArrowheads="1"/>
            </p:cNvSpPr>
            <p:nvPr/>
          </p:nvSpPr>
          <p:spPr bwMode="auto">
            <a:xfrm>
              <a:off x="7194148" y="4421980"/>
              <a:ext cx="1598613" cy="5540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/>
            <a:lstStyle/>
            <a:p>
              <a:pPr>
                <a:spcAft>
                  <a:spcPts val="1000"/>
                </a:spcAft>
              </a:pPr>
              <a:r>
                <a:rPr lang="en-US" sz="1600" b="1" u="sng" dirty="0">
                  <a:solidFill>
                    <a:srgbClr val="54544B"/>
                  </a:solidFill>
                </a:rPr>
                <a:t>Excel</a:t>
              </a:r>
              <a:r>
                <a:rPr lang="en-US" sz="1600" dirty="0">
                  <a:solidFill>
                    <a:srgbClr val="54544B"/>
                  </a:solidFill>
                </a:rPr>
                <a:t>: Split households </a:t>
              </a:r>
              <a:endParaRPr lang="en-US" sz="3600" dirty="0">
                <a:solidFill>
                  <a:srgbClr val="54544B"/>
                </a:solidFill>
              </a:endParaRPr>
            </a:p>
          </p:txBody>
        </p:sp>
        <p:sp>
          <p:nvSpPr>
            <p:cNvPr id="22" name="Text Box 33"/>
            <p:cNvSpPr txBox="1">
              <a:spLocks noChangeArrowheads="1"/>
            </p:cNvSpPr>
            <p:nvPr/>
          </p:nvSpPr>
          <p:spPr bwMode="auto">
            <a:xfrm>
              <a:off x="325437" y="4529723"/>
              <a:ext cx="2209800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Aft>
                  <a:spcPts val="1000"/>
                </a:spcAft>
              </a:pPr>
              <a:r>
                <a:rPr lang="en-US" sz="1600" b="1" u="sng" dirty="0">
                  <a:solidFill>
                    <a:srgbClr val="54544B"/>
                  </a:solidFill>
                </a:rPr>
                <a:t>GAMS</a:t>
              </a:r>
              <a:r>
                <a:rPr lang="en-US" sz="1600" dirty="0">
                  <a:solidFill>
                    <a:srgbClr val="54544B"/>
                  </a:solidFill>
                </a:rPr>
                <a:t>: Press F9</a:t>
              </a:r>
              <a:endParaRPr lang="en-US" sz="3600" dirty="0">
                <a:solidFill>
                  <a:srgbClr val="54544B"/>
                </a:solidFill>
              </a:endParaRPr>
            </a:p>
          </p:txBody>
        </p:sp>
        <p:sp>
          <p:nvSpPr>
            <p:cNvPr id="24" name="Oval 14"/>
            <p:cNvSpPr>
              <a:spLocks noChangeArrowheads="1"/>
            </p:cNvSpPr>
            <p:nvPr/>
          </p:nvSpPr>
          <p:spPr bwMode="auto">
            <a:xfrm>
              <a:off x="407194" y="2297687"/>
              <a:ext cx="779462" cy="349250"/>
            </a:xfrm>
            <a:prstGeom prst="ellipse">
              <a:avLst/>
            </a:prstGeom>
            <a:solidFill>
              <a:srgbClr val="FFB300"/>
            </a:solidFill>
            <a:ln w="9525">
              <a:noFill/>
              <a:round/>
              <a:headEnd/>
              <a:tailEnd/>
            </a:ln>
            <a:effectLst/>
          </p:spPr>
          <p:txBody>
            <a:bodyPr/>
            <a:lstStyle/>
            <a:p>
              <a:endParaRPr lang="en-US">
                <a:solidFill>
                  <a:srgbClr val="54544B"/>
                </a:solidFill>
              </a:endParaRPr>
            </a:p>
          </p:txBody>
        </p:sp>
        <p:sp>
          <p:nvSpPr>
            <p:cNvPr id="25" name="Text Box 15"/>
            <p:cNvSpPr txBox="1">
              <a:spLocks noChangeArrowheads="1"/>
            </p:cNvSpPr>
            <p:nvPr/>
          </p:nvSpPr>
          <p:spPr bwMode="auto">
            <a:xfrm>
              <a:off x="443706" y="2311975"/>
              <a:ext cx="838200" cy="3048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/>
            <a:lstStyle/>
            <a:p>
              <a:pPr>
                <a:spcAft>
                  <a:spcPts val="1000"/>
                </a:spcAft>
              </a:pPr>
              <a:r>
                <a:rPr lang="en-US" sz="1600" b="1" dirty="0">
                  <a:solidFill>
                    <a:srgbClr val="54544B"/>
                  </a:solidFill>
                  <a:latin typeface="Calibri" pitchFamily="34" charset="0"/>
                </a:rPr>
                <a:t>Step 2</a:t>
              </a:r>
              <a:endParaRPr lang="en-US" sz="2800" b="1" dirty="0">
                <a:solidFill>
                  <a:srgbClr val="54544B"/>
                </a:solidFill>
              </a:endParaRPr>
            </a:p>
          </p:txBody>
        </p:sp>
        <p:sp>
          <p:nvSpPr>
            <p:cNvPr id="26" name="Oval 14"/>
            <p:cNvSpPr>
              <a:spLocks noChangeArrowheads="1"/>
            </p:cNvSpPr>
            <p:nvPr/>
          </p:nvSpPr>
          <p:spPr bwMode="auto">
            <a:xfrm>
              <a:off x="7282105" y="4033985"/>
              <a:ext cx="779462" cy="349250"/>
            </a:xfrm>
            <a:prstGeom prst="ellipse">
              <a:avLst/>
            </a:prstGeom>
            <a:solidFill>
              <a:srgbClr val="FFB300"/>
            </a:solidFill>
            <a:ln w="9525">
              <a:noFill/>
              <a:round/>
              <a:headEnd/>
              <a:tailEnd/>
            </a:ln>
            <a:effectLst/>
          </p:spPr>
          <p:txBody>
            <a:bodyPr/>
            <a:lstStyle/>
            <a:p>
              <a:endParaRPr lang="en-US">
                <a:solidFill>
                  <a:srgbClr val="54544B"/>
                </a:solidFill>
              </a:endParaRPr>
            </a:p>
          </p:txBody>
        </p:sp>
        <p:sp>
          <p:nvSpPr>
            <p:cNvPr id="27" name="Text Box 15"/>
            <p:cNvSpPr txBox="1">
              <a:spLocks noChangeArrowheads="1"/>
            </p:cNvSpPr>
            <p:nvPr/>
          </p:nvSpPr>
          <p:spPr bwMode="auto">
            <a:xfrm>
              <a:off x="7318617" y="4048273"/>
              <a:ext cx="838200" cy="3048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/>
            <a:lstStyle/>
            <a:p>
              <a:pPr>
                <a:spcAft>
                  <a:spcPts val="1000"/>
                </a:spcAft>
              </a:pPr>
              <a:r>
                <a:rPr lang="en-US" sz="1600" b="1">
                  <a:solidFill>
                    <a:srgbClr val="54544B"/>
                  </a:solidFill>
                  <a:latin typeface="Calibri" pitchFamily="34" charset="0"/>
                </a:rPr>
                <a:t>Step 3</a:t>
              </a:r>
              <a:endParaRPr lang="en-US" sz="2800" b="1">
                <a:solidFill>
                  <a:srgbClr val="54544B"/>
                </a:solidFill>
              </a:endParaRPr>
            </a:p>
          </p:txBody>
        </p:sp>
        <p:sp>
          <p:nvSpPr>
            <p:cNvPr id="28" name="Oval 14"/>
            <p:cNvSpPr>
              <a:spLocks noChangeArrowheads="1"/>
            </p:cNvSpPr>
            <p:nvPr/>
          </p:nvSpPr>
          <p:spPr bwMode="auto">
            <a:xfrm>
              <a:off x="443706" y="4132998"/>
              <a:ext cx="779463" cy="349250"/>
            </a:xfrm>
            <a:prstGeom prst="ellipse">
              <a:avLst/>
            </a:prstGeom>
            <a:solidFill>
              <a:srgbClr val="FFB300"/>
            </a:solidFill>
            <a:ln w="9525">
              <a:noFill/>
              <a:round/>
              <a:headEnd/>
              <a:tailEnd/>
            </a:ln>
            <a:effectLst/>
          </p:spPr>
          <p:txBody>
            <a:bodyPr/>
            <a:lstStyle/>
            <a:p>
              <a:endParaRPr lang="en-US">
                <a:solidFill>
                  <a:srgbClr val="54544B"/>
                </a:solidFill>
              </a:endParaRPr>
            </a:p>
          </p:txBody>
        </p:sp>
        <p:sp>
          <p:nvSpPr>
            <p:cNvPr id="29" name="Text Box 15"/>
            <p:cNvSpPr txBox="1">
              <a:spLocks noChangeArrowheads="1"/>
            </p:cNvSpPr>
            <p:nvPr/>
          </p:nvSpPr>
          <p:spPr bwMode="auto">
            <a:xfrm>
              <a:off x="480219" y="4147286"/>
              <a:ext cx="838200" cy="3048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/>
            <a:lstStyle/>
            <a:p>
              <a:pPr>
                <a:spcAft>
                  <a:spcPts val="1000"/>
                </a:spcAft>
              </a:pPr>
              <a:r>
                <a:rPr lang="en-US" sz="1600" b="1">
                  <a:solidFill>
                    <a:srgbClr val="54544B"/>
                  </a:solidFill>
                  <a:latin typeface="Calibri" pitchFamily="34" charset="0"/>
                </a:rPr>
                <a:t>Step 4</a:t>
              </a:r>
              <a:endParaRPr lang="en-US" sz="2800" b="1">
                <a:solidFill>
                  <a:srgbClr val="54544B"/>
                </a:solidFill>
              </a:endParaRPr>
            </a:p>
          </p:txBody>
        </p:sp>
        <p:sp>
          <p:nvSpPr>
            <p:cNvPr id="58" name="Text Box 32">
              <a:extLst>
                <a:ext uri="{FF2B5EF4-FFF2-40B4-BE49-F238E27FC236}">
                  <a16:creationId xmlns:a16="http://schemas.microsoft.com/office/drawing/2014/main" id="{3E059027-7BCB-4BAB-89F1-A8CFEC3C1BA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194148" y="2579620"/>
              <a:ext cx="1804596" cy="5540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/>
            <a:lstStyle/>
            <a:p>
              <a:pPr>
                <a:spcAft>
                  <a:spcPts val="1000"/>
                </a:spcAft>
              </a:pPr>
              <a:r>
                <a:rPr lang="en-US" sz="1600" b="1" u="sng" dirty="0">
                  <a:solidFill>
                    <a:srgbClr val="54544B"/>
                  </a:solidFill>
                </a:rPr>
                <a:t>Excel</a:t>
              </a:r>
              <a:r>
                <a:rPr lang="en-US" sz="1600" dirty="0">
                  <a:solidFill>
                    <a:srgbClr val="54544B"/>
                  </a:solidFill>
                </a:rPr>
                <a:t>: Build Macro SAM; split activities &amp; commodities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120019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0CCE74-040C-44AB-8839-B8B3E0D56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Building the SAM in GAMS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84AF7B0-766E-48D6-81C6-7C6AABC0B3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6279" y="1301993"/>
            <a:ext cx="8835781" cy="2708032"/>
          </a:xfrm>
        </p:spPr>
        <p:txBody>
          <a:bodyPr/>
          <a:lstStyle/>
          <a:p>
            <a:r>
              <a:rPr lang="en-US" dirty="0"/>
              <a:t>Create a GAMS project file (</a:t>
            </a:r>
            <a:r>
              <a:rPr lang="en-US" b="1" dirty="0">
                <a:solidFill>
                  <a:srgbClr val="FFB300"/>
                </a:solidFill>
              </a:rPr>
              <a:t>0project.gpr</a:t>
            </a:r>
            <a:r>
              <a:rPr lang="en-US" dirty="0"/>
              <a:t>)</a:t>
            </a:r>
          </a:p>
          <a:p>
            <a:r>
              <a:rPr lang="en-US" dirty="0"/>
              <a:t>Open all GAMS files (</a:t>
            </a:r>
            <a:r>
              <a:rPr lang="en-US" dirty="0">
                <a:solidFill>
                  <a:srgbClr val="54544B"/>
                </a:solidFill>
              </a:rPr>
              <a:t>from 1national.gms to 5aggregate.gms</a:t>
            </a:r>
            <a:r>
              <a:rPr lang="en-US" dirty="0"/>
              <a:t>)</a:t>
            </a:r>
          </a:p>
          <a:p>
            <a:r>
              <a:rPr lang="en-US" dirty="0"/>
              <a:t>Click on national SAM build file (</a:t>
            </a:r>
            <a:r>
              <a:rPr lang="en-US" b="1" dirty="0">
                <a:solidFill>
                  <a:srgbClr val="C34E2D"/>
                </a:solidFill>
              </a:rPr>
              <a:t>1national.gms</a:t>
            </a:r>
            <a:r>
              <a:rPr lang="en-US" dirty="0"/>
              <a:t>)</a:t>
            </a:r>
          </a:p>
          <a:p>
            <a:r>
              <a:rPr lang="en-US" dirty="0"/>
              <a:t>Check that you are using the correct data file (</a:t>
            </a:r>
            <a:r>
              <a:rPr lang="en-US" b="1" dirty="0">
                <a:solidFill>
                  <a:srgbClr val="0B8EB8"/>
                </a:solidFill>
              </a:rPr>
              <a:t>1national_2015</a:t>
            </a:r>
            <a:r>
              <a:rPr lang="en-US" dirty="0"/>
              <a:t>)</a:t>
            </a:r>
          </a:p>
          <a:p>
            <a:r>
              <a:rPr lang="en-US" dirty="0"/>
              <a:t>Press F9 (or click on </a:t>
            </a:r>
            <a:r>
              <a:rPr lang="en-US" b="1" dirty="0">
                <a:solidFill>
                  <a:srgbClr val="8AA63D"/>
                </a:solidFill>
              </a:rPr>
              <a:t>Run Button</a:t>
            </a:r>
            <a:r>
              <a:rPr lang="en-US" dirty="0"/>
              <a:t>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EA11D92-9967-4FC7-840C-D05663E94F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481863"/>
            <a:ext cx="9144000" cy="2368321"/>
          </a:xfrm>
          <a:prstGeom prst="rect">
            <a:avLst/>
          </a:prstGeom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849B7E1B-0345-46F3-8132-196B7B0AE7F9}"/>
              </a:ext>
            </a:extLst>
          </p:cNvPr>
          <p:cNvSpPr/>
          <p:nvPr/>
        </p:nvSpPr>
        <p:spPr>
          <a:xfrm>
            <a:off x="29795" y="5272069"/>
            <a:ext cx="827455" cy="376256"/>
          </a:xfrm>
          <a:prstGeom prst="rect">
            <a:avLst/>
          </a:prstGeom>
          <a:noFill/>
          <a:ln w="44450">
            <a:solidFill>
              <a:srgbClr val="C34E2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21BB45A-D087-4018-BC05-2B689FDE22B5}"/>
              </a:ext>
            </a:extLst>
          </p:cNvPr>
          <p:cNvSpPr txBox="1"/>
          <p:nvPr/>
        </p:nvSpPr>
        <p:spPr>
          <a:xfrm>
            <a:off x="6426935" y="4155456"/>
            <a:ext cx="26503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>
                <a:solidFill>
                  <a:srgbClr val="54544B"/>
                </a:solidFill>
              </a:rPr>
              <a:t>1national.gms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0077C3F-0D0B-4FB7-A612-7A6316BFF7D7}"/>
              </a:ext>
            </a:extLst>
          </p:cNvPr>
          <p:cNvSpPr/>
          <p:nvPr/>
        </p:nvSpPr>
        <p:spPr>
          <a:xfrm>
            <a:off x="4572000" y="4426260"/>
            <a:ext cx="1356944" cy="276999"/>
          </a:xfrm>
          <a:prstGeom prst="rect">
            <a:avLst/>
          </a:prstGeom>
          <a:noFill/>
          <a:ln w="44450">
            <a:solidFill>
              <a:srgbClr val="FFB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FDFFEC-B5EC-4276-BBEB-7C5A656BA107}"/>
              </a:ext>
            </a:extLst>
          </p:cNvPr>
          <p:cNvSpPr/>
          <p:nvPr/>
        </p:nvSpPr>
        <p:spPr>
          <a:xfrm>
            <a:off x="1476375" y="5905462"/>
            <a:ext cx="1228726" cy="311329"/>
          </a:xfrm>
          <a:prstGeom prst="rect">
            <a:avLst/>
          </a:prstGeom>
          <a:noFill/>
          <a:ln w="44450">
            <a:solidFill>
              <a:srgbClr val="0B8EB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D921CC0-9ECF-498B-B1E9-DEDE8260C9CE}"/>
              </a:ext>
            </a:extLst>
          </p:cNvPr>
          <p:cNvSpPr/>
          <p:nvPr/>
        </p:nvSpPr>
        <p:spPr>
          <a:xfrm>
            <a:off x="2818178" y="4828769"/>
            <a:ext cx="315547" cy="286156"/>
          </a:xfrm>
          <a:prstGeom prst="rect">
            <a:avLst/>
          </a:prstGeom>
          <a:noFill/>
          <a:ln w="44450">
            <a:solidFill>
              <a:srgbClr val="8AA63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28924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64873D-FE9A-4567-BD58-21A09F784D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Checking GAMS Process Window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FEB35-8B8B-4B62-9239-F67EAAEC63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Check the Process Window that GAMS was run successfully</a:t>
            </a:r>
          </a:p>
          <a:p>
            <a:pPr lvl="1"/>
            <a:r>
              <a:rPr lang="en-US" b="1" dirty="0">
                <a:solidFill>
                  <a:srgbClr val="C34E2D"/>
                </a:solidFill>
              </a:rPr>
              <a:t>Normal Completion</a:t>
            </a:r>
          </a:p>
          <a:p>
            <a:pPr lvl="1"/>
            <a:r>
              <a:rPr lang="en-US" dirty="0"/>
              <a:t>No “Division by Zeros” or other errors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3BF7371-6E74-4AEE-A8CF-F61099527F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576900"/>
            <a:ext cx="7229475" cy="4281100"/>
          </a:xfrm>
          <a:prstGeom prst="rect">
            <a:avLst/>
          </a:prstGeom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A48D583-6AA7-496C-8EA0-B704CEB76B3E}"/>
              </a:ext>
            </a:extLst>
          </p:cNvPr>
          <p:cNvSpPr/>
          <p:nvPr/>
        </p:nvSpPr>
        <p:spPr>
          <a:xfrm>
            <a:off x="298203" y="6043594"/>
            <a:ext cx="2387847" cy="376256"/>
          </a:xfrm>
          <a:prstGeom prst="rect">
            <a:avLst/>
          </a:prstGeom>
          <a:noFill/>
          <a:ln w="44450">
            <a:solidFill>
              <a:srgbClr val="C34E2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84079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2533A-002F-4DD7-BC27-65A705A79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Balancing the SAM in GAMS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2CAEB3-C507-4C62-81FD-6EAB2718E1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6279" y="1301994"/>
            <a:ext cx="8835781" cy="2803282"/>
          </a:xfrm>
        </p:spPr>
        <p:txBody>
          <a:bodyPr/>
          <a:lstStyle/>
          <a:p>
            <a:r>
              <a:rPr lang="en-US" dirty="0"/>
              <a:t>Click on SAM balancing file (</a:t>
            </a:r>
            <a:r>
              <a:rPr lang="en-US" b="1" dirty="0">
                <a:solidFill>
                  <a:srgbClr val="C34E2D"/>
                </a:solidFill>
              </a:rPr>
              <a:t>2balance.gms</a:t>
            </a:r>
            <a:r>
              <a:rPr lang="en-US" dirty="0"/>
              <a:t>)</a:t>
            </a:r>
          </a:p>
          <a:p>
            <a:r>
              <a:rPr lang="en-US" dirty="0"/>
              <a:t>Check you are restarting from the previous file (</a:t>
            </a:r>
            <a:r>
              <a:rPr lang="en-US" b="1" dirty="0">
                <a:solidFill>
                  <a:srgbClr val="0B8EB8"/>
                </a:solidFill>
              </a:rPr>
              <a:t>r=national</a:t>
            </a:r>
            <a:r>
              <a:rPr lang="en-US" dirty="0"/>
              <a:t>)</a:t>
            </a:r>
          </a:p>
          <a:p>
            <a:r>
              <a:rPr lang="en-US" dirty="0"/>
              <a:t>Press F9 (or click on </a:t>
            </a:r>
            <a:r>
              <a:rPr lang="en-US" b="1" dirty="0">
                <a:solidFill>
                  <a:srgbClr val="8AA63D"/>
                </a:solidFill>
              </a:rPr>
              <a:t>Run Button</a:t>
            </a:r>
            <a:r>
              <a:rPr lang="en-US" dirty="0"/>
              <a:t>)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8210D4E-FA0A-4208-B52D-7EEBBCB802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423207"/>
            <a:ext cx="9144000" cy="2434793"/>
          </a:xfrm>
          <a:prstGeom prst="rect">
            <a:avLst/>
          </a:prstGeom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F14FA8E-F2BE-4635-896F-D4775AA73666}"/>
              </a:ext>
            </a:extLst>
          </p:cNvPr>
          <p:cNvSpPr/>
          <p:nvPr/>
        </p:nvSpPr>
        <p:spPr>
          <a:xfrm>
            <a:off x="847724" y="5640603"/>
            <a:ext cx="1219201" cy="376256"/>
          </a:xfrm>
          <a:prstGeom prst="rect">
            <a:avLst/>
          </a:prstGeom>
          <a:noFill/>
          <a:ln w="44450">
            <a:solidFill>
              <a:srgbClr val="C34E2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7795C5B-5D48-46DB-8A2C-F2A9A9DDD248}"/>
              </a:ext>
            </a:extLst>
          </p:cNvPr>
          <p:cNvSpPr/>
          <p:nvPr/>
        </p:nvSpPr>
        <p:spPr>
          <a:xfrm>
            <a:off x="4457700" y="4943437"/>
            <a:ext cx="1228726" cy="311329"/>
          </a:xfrm>
          <a:prstGeom prst="rect">
            <a:avLst/>
          </a:prstGeom>
          <a:noFill/>
          <a:ln w="44450">
            <a:solidFill>
              <a:srgbClr val="0B8EB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B8C5C61-318B-4D3A-9DFC-8219ECA7FDB9}"/>
              </a:ext>
            </a:extLst>
          </p:cNvPr>
          <p:cNvSpPr/>
          <p:nvPr/>
        </p:nvSpPr>
        <p:spPr>
          <a:xfrm>
            <a:off x="4064973" y="4956023"/>
            <a:ext cx="315547" cy="286156"/>
          </a:xfrm>
          <a:prstGeom prst="rect">
            <a:avLst/>
          </a:prstGeom>
          <a:noFill/>
          <a:ln w="44450">
            <a:solidFill>
              <a:srgbClr val="8AA63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9914FA-C03B-4F82-BD18-D605AC3C82D4}"/>
              </a:ext>
            </a:extLst>
          </p:cNvPr>
          <p:cNvSpPr txBox="1"/>
          <p:nvPr/>
        </p:nvSpPr>
        <p:spPr>
          <a:xfrm>
            <a:off x="6426935" y="4155456"/>
            <a:ext cx="26503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>
                <a:solidFill>
                  <a:srgbClr val="54544B"/>
                </a:solidFill>
              </a:rPr>
              <a:t>2balance.gms</a:t>
            </a:r>
          </a:p>
        </p:txBody>
      </p:sp>
    </p:spTree>
    <p:extLst>
      <p:ext uri="{BB962C8B-B14F-4D97-AF65-F5344CB8AC3E}">
        <p14:creationId xmlns:p14="http://schemas.microsoft.com/office/powerpoint/2010/main" val="346893578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5615E-1A11-4313-9850-89E431B250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Checking GAMS Process Window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A88073-19BB-4B30-B02D-F6C05F02BA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6280" y="1301993"/>
            <a:ext cx="8817220" cy="5395791"/>
          </a:xfrm>
        </p:spPr>
        <p:txBody>
          <a:bodyPr/>
          <a:lstStyle/>
          <a:p>
            <a:r>
              <a:rPr lang="en-US" b="1" dirty="0"/>
              <a:t>Check Process Window that GAMS was run successfully</a:t>
            </a:r>
          </a:p>
          <a:p>
            <a:pPr lvl="1"/>
            <a:r>
              <a:rPr lang="en-US" b="1" dirty="0">
                <a:solidFill>
                  <a:srgbClr val="8AA63D"/>
                </a:solidFill>
              </a:rPr>
              <a:t>Optimal solution</a:t>
            </a:r>
          </a:p>
          <a:p>
            <a:pPr lvl="1"/>
            <a:r>
              <a:rPr lang="en-US" b="1" dirty="0">
                <a:solidFill>
                  <a:srgbClr val="C34E2D"/>
                </a:solidFill>
              </a:rPr>
              <a:t>Normal Completion</a:t>
            </a:r>
          </a:p>
          <a:p>
            <a:pPr lvl="1"/>
            <a:r>
              <a:rPr lang="en-US" dirty="0">
                <a:solidFill>
                  <a:srgbClr val="54544B"/>
                </a:solidFill>
              </a:rPr>
              <a:t>No errors in exporting to 						Microsoft Excel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5B1EC59-576D-4E58-B931-0CA405652F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0" y="1778336"/>
            <a:ext cx="5324475" cy="5070139"/>
          </a:xfrm>
          <a:prstGeom prst="rect">
            <a:avLst/>
          </a:prstGeom>
          <a:effectLst>
            <a:outerShdw blurRad="50800" dist="38100" dir="13500000" algn="br" rotWithShape="0">
              <a:prstClr val="black">
                <a:alpha val="40000"/>
              </a:prstClr>
            </a:outerShdw>
          </a:effec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AD16E1A-E6AA-462E-8614-661C164A2838}"/>
              </a:ext>
            </a:extLst>
          </p:cNvPr>
          <p:cNvSpPr/>
          <p:nvPr/>
        </p:nvSpPr>
        <p:spPr>
          <a:xfrm>
            <a:off x="4381499" y="5724524"/>
            <a:ext cx="1314451" cy="320909"/>
          </a:xfrm>
          <a:prstGeom prst="rect">
            <a:avLst/>
          </a:prstGeom>
          <a:noFill/>
          <a:ln w="44450">
            <a:solidFill>
              <a:srgbClr val="C34E2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B8672BE-E7B7-4725-9CEB-53F12974F0C0}"/>
              </a:ext>
            </a:extLst>
          </p:cNvPr>
          <p:cNvSpPr/>
          <p:nvPr/>
        </p:nvSpPr>
        <p:spPr>
          <a:xfrm>
            <a:off x="4066074" y="3765398"/>
            <a:ext cx="1088052" cy="320909"/>
          </a:xfrm>
          <a:prstGeom prst="rect">
            <a:avLst/>
          </a:prstGeom>
          <a:noFill/>
          <a:ln w="44450">
            <a:solidFill>
              <a:srgbClr val="8AA63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94990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29B61-37C8-455B-8F4A-F1DF90A7C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Viewing Balanced National SAM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961FC5-219A-4123-A403-AAEAE81B25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6279" y="1301994"/>
            <a:ext cx="5058972" cy="4041532"/>
          </a:xfrm>
        </p:spPr>
        <p:txBody>
          <a:bodyPr/>
          <a:lstStyle/>
          <a:p>
            <a:r>
              <a:rPr lang="en-US" dirty="0"/>
              <a:t>Balanced SAMs are exported to the </a:t>
            </a:r>
            <a:r>
              <a:rPr lang="en-US" b="1" dirty="0"/>
              <a:t>0output.xlsx </a:t>
            </a:r>
            <a:r>
              <a:rPr lang="en-US" dirty="0"/>
              <a:t>file</a:t>
            </a:r>
          </a:p>
          <a:p>
            <a:endParaRPr lang="en-US" dirty="0"/>
          </a:p>
          <a:p>
            <a:r>
              <a:rPr lang="en-US" b="1" dirty="0"/>
              <a:t>SAM data sheets</a:t>
            </a:r>
          </a:p>
          <a:p>
            <a:pPr lvl="1"/>
            <a:r>
              <a:rPr lang="en-US" dirty="0"/>
              <a:t>Balanced National SAM (</a:t>
            </a:r>
            <a:r>
              <a:rPr lang="en-US" b="1" dirty="0">
                <a:solidFill>
                  <a:srgbClr val="C34E2D"/>
                </a:solidFill>
              </a:rPr>
              <a:t>national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Balanced Household SAM (</a:t>
            </a:r>
            <a:r>
              <a:rPr lang="en-US" b="1" dirty="0">
                <a:solidFill>
                  <a:srgbClr val="C34E2D"/>
                </a:solidFill>
              </a:rPr>
              <a:t>households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Aggregated SAM (</a:t>
            </a:r>
            <a:r>
              <a:rPr lang="en-US" b="1" dirty="0">
                <a:solidFill>
                  <a:srgbClr val="002060"/>
                </a:solidFill>
              </a:rPr>
              <a:t>aggregate</a:t>
            </a:r>
            <a:r>
              <a:rPr lang="en-US" dirty="0"/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8A0BB9-78E7-45CA-8A1D-BF9C19648F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5251" y="1371853"/>
            <a:ext cx="3948749" cy="5476622"/>
          </a:xfrm>
          <a:prstGeom prst="rect">
            <a:avLst/>
          </a:prstGeom>
          <a:effectLst>
            <a:outerShdw blurRad="50800" dist="38100" dir="13500000" algn="br" rotWithShape="0">
              <a:prstClr val="black">
                <a:alpha val="40000"/>
              </a:prstClr>
            </a:outerShdw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BBD6983-E72F-4CE0-BF85-1EBCA5401471}"/>
              </a:ext>
            </a:extLst>
          </p:cNvPr>
          <p:cNvSpPr txBox="1"/>
          <p:nvPr/>
        </p:nvSpPr>
        <p:spPr>
          <a:xfrm>
            <a:off x="6493610" y="1083569"/>
            <a:ext cx="26503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>
                <a:solidFill>
                  <a:srgbClr val="54544B"/>
                </a:solidFill>
              </a:rPr>
              <a:t>0output.xlsx | National sheet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35E7854-91AD-4E5C-A943-1E467C635BD6}"/>
              </a:ext>
            </a:extLst>
          </p:cNvPr>
          <p:cNvSpPr/>
          <p:nvPr/>
        </p:nvSpPr>
        <p:spPr>
          <a:xfrm>
            <a:off x="5800725" y="6471556"/>
            <a:ext cx="3276600" cy="376256"/>
          </a:xfrm>
          <a:prstGeom prst="rect">
            <a:avLst/>
          </a:prstGeom>
          <a:noFill/>
          <a:ln w="44450">
            <a:solidFill>
              <a:srgbClr val="C34E2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5434D42-3CEE-4171-A790-CC1BA04B42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878" y="4283328"/>
            <a:ext cx="4295775" cy="495300"/>
          </a:xfrm>
          <a:prstGeom prst="rect">
            <a:avLst/>
          </a:prstGeom>
          <a:ln w="44450">
            <a:solidFill>
              <a:srgbClr val="C34E2D"/>
            </a:solidFill>
          </a:ln>
        </p:spPr>
      </p:pic>
    </p:spTree>
    <p:extLst>
      <p:ext uri="{BB962C8B-B14F-4D97-AF65-F5344CB8AC3E}">
        <p14:creationId xmlns:p14="http://schemas.microsoft.com/office/powerpoint/2010/main" val="414146792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B3E999-5322-43B7-A382-6A33A4966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Balancing SAMs (1)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70192A-0F1C-43E6-8048-2773E82D23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One approach is to use the RAS method</a:t>
            </a:r>
          </a:p>
          <a:p>
            <a:pPr lvl="1"/>
            <a:r>
              <a:rPr lang="en-US" dirty="0"/>
              <a:t>Rows and columns are uniformly scaled in iteration until totals converge</a:t>
            </a:r>
          </a:p>
          <a:p>
            <a:pPr lvl="1"/>
            <a:r>
              <a:rPr lang="en-US" b="1" dirty="0"/>
              <a:t>Advantages</a:t>
            </a:r>
            <a:r>
              <a:rPr lang="en-US" dirty="0"/>
              <a:t>: Simple to implement (even in Excel)</a:t>
            </a:r>
          </a:p>
          <a:p>
            <a:pPr lvl="1"/>
            <a:r>
              <a:rPr lang="en-US" b="1" dirty="0"/>
              <a:t>Shortcoming</a:t>
            </a:r>
            <a:r>
              <a:rPr lang="en-US" dirty="0"/>
              <a:t>: Can do significant “damage” to the original data (make adjustments to cells, even if they are not causing the imbalance)</a:t>
            </a:r>
          </a:p>
          <a:p>
            <a:pPr lvl="1"/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707F459-29E3-4C9B-8D12-077D537FE555}"/>
              </a:ext>
            </a:extLst>
          </p:cNvPr>
          <p:cNvGrpSpPr/>
          <p:nvPr/>
        </p:nvGrpSpPr>
        <p:grpSpPr>
          <a:xfrm>
            <a:off x="1415196" y="3380528"/>
            <a:ext cx="6277946" cy="3255475"/>
            <a:chOff x="1426799" y="3164375"/>
            <a:chExt cx="6277946" cy="3255475"/>
          </a:xfrm>
        </p:grpSpPr>
        <p:graphicFrame>
          <p:nvGraphicFramePr>
            <p:cNvPr id="4" name="Content Placeholder 5">
              <a:extLst>
                <a:ext uri="{FF2B5EF4-FFF2-40B4-BE49-F238E27FC236}">
                  <a16:creationId xmlns:a16="http://schemas.microsoft.com/office/drawing/2014/main" id="{70730CAD-D690-44D8-A85F-085122A37DD4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2349580530"/>
                </p:ext>
              </p:extLst>
            </p:nvPr>
          </p:nvGraphicFramePr>
          <p:xfrm>
            <a:off x="1426799" y="3164375"/>
            <a:ext cx="6026140" cy="3017520"/>
          </p:xfrm>
          <a:graphic>
            <a:graphicData uri="http://schemas.openxmlformats.org/drawingml/2006/table">
              <a:tbl>
                <a:tblPr firstRow="1" bandRow="1">
                  <a:tableStyleId>{5C22544A-7EE6-4342-B048-85BDC9FD1C3A}</a:tableStyleId>
                </a:tblPr>
                <a:tblGrid>
                  <a:gridCol w="1136805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444485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  <a:gridCol w="444485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  <a:gridCol w="444485">
                    <a:extLst>
                      <a:ext uri="{9D8B030D-6E8A-4147-A177-3AD203B41FA5}">
                        <a16:colId xmlns:a16="http://schemas.microsoft.com/office/drawing/2014/main" val="20003"/>
                      </a:ext>
                    </a:extLst>
                  </a:gridCol>
                  <a:gridCol w="444485">
                    <a:extLst>
                      <a:ext uri="{9D8B030D-6E8A-4147-A177-3AD203B41FA5}">
                        <a16:colId xmlns:a16="http://schemas.microsoft.com/office/drawing/2014/main" val="20004"/>
                      </a:ext>
                    </a:extLst>
                  </a:gridCol>
                  <a:gridCol w="444485">
                    <a:extLst>
                      <a:ext uri="{9D8B030D-6E8A-4147-A177-3AD203B41FA5}">
                        <a16:colId xmlns:a16="http://schemas.microsoft.com/office/drawing/2014/main" val="20005"/>
                      </a:ext>
                    </a:extLst>
                  </a:gridCol>
                  <a:gridCol w="444485">
                    <a:extLst>
                      <a:ext uri="{9D8B030D-6E8A-4147-A177-3AD203B41FA5}">
                        <a16:colId xmlns:a16="http://schemas.microsoft.com/office/drawing/2014/main" val="20006"/>
                      </a:ext>
                    </a:extLst>
                  </a:gridCol>
                  <a:gridCol w="444485">
                    <a:extLst>
                      <a:ext uri="{9D8B030D-6E8A-4147-A177-3AD203B41FA5}">
                        <a16:colId xmlns:a16="http://schemas.microsoft.com/office/drawing/2014/main" val="20007"/>
                      </a:ext>
                    </a:extLst>
                  </a:gridCol>
                  <a:gridCol w="444485">
                    <a:extLst>
                      <a:ext uri="{9D8B030D-6E8A-4147-A177-3AD203B41FA5}">
                        <a16:colId xmlns:a16="http://schemas.microsoft.com/office/drawing/2014/main" val="20008"/>
                      </a:ext>
                    </a:extLst>
                  </a:gridCol>
                  <a:gridCol w="444485">
                    <a:extLst>
                      <a:ext uri="{9D8B030D-6E8A-4147-A177-3AD203B41FA5}">
                        <a16:colId xmlns:a16="http://schemas.microsoft.com/office/drawing/2014/main" val="20009"/>
                      </a:ext>
                    </a:extLst>
                  </a:gridCol>
                  <a:gridCol w="444485">
                    <a:extLst>
                      <a:ext uri="{9D8B030D-6E8A-4147-A177-3AD203B41FA5}">
                        <a16:colId xmlns:a16="http://schemas.microsoft.com/office/drawing/2014/main" val="20010"/>
                      </a:ext>
                    </a:extLst>
                  </a:gridCol>
                  <a:gridCol w="444485">
                    <a:extLst>
                      <a:ext uri="{9D8B030D-6E8A-4147-A177-3AD203B41FA5}">
                        <a16:colId xmlns:a16="http://schemas.microsoft.com/office/drawing/2014/main" val="20011"/>
                      </a:ext>
                    </a:extLst>
                  </a:gridCol>
                </a:tblGrid>
                <a:tr h="218546">
                  <a:tc>
                    <a:txBody>
                      <a:bodyPr/>
                      <a:lstStyle/>
                      <a:p>
                        <a:endParaRPr lang="en-US" sz="1050" dirty="0"/>
                      </a:p>
                    </a:txBody>
                    <a:tcPr>
                      <a:lnB w="12700" cap="flat" cmpd="sng" algn="ctr">
                        <a:solidFill>
                          <a:schemeClr val="bg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ctr"/>
                        <a:r>
                          <a:rPr lang="en-US" sz="1050" dirty="0"/>
                          <a:t>Act</a:t>
                        </a:r>
                      </a:p>
                    </a:txBody>
                    <a:tcPr>
                      <a:lnB w="12700" cap="flat" cmpd="sng" algn="ctr">
                        <a:solidFill>
                          <a:schemeClr val="bg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ctr"/>
                        <a:r>
                          <a:rPr lang="en-US" sz="1050" dirty="0"/>
                          <a:t>Com</a:t>
                        </a:r>
                      </a:p>
                    </a:txBody>
                    <a:tcPr>
                      <a:lnB w="12700" cap="flat" cmpd="sng" algn="ctr">
                        <a:solidFill>
                          <a:schemeClr val="bg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ctr"/>
                        <a:r>
                          <a:rPr lang="en-US" sz="1050" dirty="0"/>
                          <a:t>Fact</a:t>
                        </a:r>
                      </a:p>
                    </a:txBody>
                    <a:tcPr>
                      <a:lnB w="12700" cap="flat" cmpd="sng" algn="ctr">
                        <a:solidFill>
                          <a:schemeClr val="bg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ctr"/>
                        <a:r>
                          <a:rPr lang="en-US" sz="1050" dirty="0"/>
                          <a:t>Ent</a:t>
                        </a:r>
                      </a:p>
                    </a:txBody>
                    <a:tcPr>
                      <a:lnB w="12700" cap="flat" cmpd="sng" algn="ctr">
                        <a:solidFill>
                          <a:schemeClr val="bg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ctr"/>
                        <a:r>
                          <a:rPr lang="en-US" sz="1050" dirty="0" err="1"/>
                          <a:t>Hhd</a:t>
                        </a:r>
                        <a:endParaRPr lang="en-US" sz="1050" dirty="0"/>
                      </a:p>
                    </a:txBody>
                    <a:tcPr>
                      <a:lnB w="12700" cap="flat" cmpd="sng" algn="ctr">
                        <a:solidFill>
                          <a:schemeClr val="bg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ctr"/>
                        <a:r>
                          <a:rPr lang="en-US" sz="1050" dirty="0" err="1"/>
                          <a:t>Gov</a:t>
                        </a:r>
                        <a:endParaRPr lang="en-US" sz="1050" dirty="0"/>
                      </a:p>
                    </a:txBody>
                    <a:tcPr>
                      <a:lnB w="12700" cap="flat" cmpd="sng" algn="ctr">
                        <a:solidFill>
                          <a:schemeClr val="bg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ctr"/>
                        <a:r>
                          <a:rPr lang="en-US" sz="1050" dirty="0"/>
                          <a:t>Tax</a:t>
                        </a:r>
                      </a:p>
                    </a:txBody>
                    <a:tcPr>
                      <a:lnB w="12700" cap="flat" cmpd="sng" algn="ctr">
                        <a:solidFill>
                          <a:schemeClr val="bg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ctr"/>
                        <a:r>
                          <a:rPr lang="en-US" sz="1050" dirty="0"/>
                          <a:t>S-I</a:t>
                        </a:r>
                      </a:p>
                    </a:txBody>
                    <a:tcPr>
                      <a:lnB w="12700" cap="flat" cmpd="sng" algn="ctr">
                        <a:solidFill>
                          <a:schemeClr val="bg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ctr"/>
                        <a:r>
                          <a:rPr lang="en-US" sz="1050" dirty="0" err="1"/>
                          <a:t>Stk</a:t>
                        </a:r>
                        <a:endParaRPr lang="en-US" sz="1050" dirty="0"/>
                      </a:p>
                    </a:txBody>
                    <a:tcPr>
                      <a:lnB w="12700" cap="flat" cmpd="sng" algn="ctr">
                        <a:solidFill>
                          <a:schemeClr val="bg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ctr"/>
                        <a:r>
                          <a:rPr lang="en-US" sz="1050" dirty="0" err="1"/>
                          <a:t>Wld</a:t>
                        </a:r>
                        <a:endParaRPr lang="en-US" sz="1050" dirty="0"/>
                      </a:p>
                    </a:txBody>
                    <a:tcPr>
                      <a:lnB w="12700" cap="flat" cmpd="sng" algn="ctr">
                        <a:solidFill>
                          <a:schemeClr val="bg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ctr"/>
                        <a:r>
                          <a:rPr lang="en-US" sz="1050" dirty="0"/>
                          <a:t>Tot</a:t>
                        </a:r>
                      </a:p>
                    </a:txBody>
                    <a:tcPr>
                      <a:lnB w="12700" cap="flat" cmpd="sng" algn="ctr">
                        <a:solidFill>
                          <a:schemeClr val="bg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B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218546">
                  <a:tc>
                    <a:txBody>
                      <a:bodyPr/>
                      <a:lstStyle/>
                      <a:p>
                        <a:pPr marL="0" algn="l" defTabSz="914400" rtl="0" eaLnBrk="1" latinLnBrk="0" hangingPunct="1"/>
                        <a:r>
                          <a:rPr lang="en-US" sz="1050" b="1" kern="1200" dirty="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rPr>
                          <a:t>Activities</a:t>
                        </a:r>
                      </a:p>
                    </a:txBody>
                    <a:tcPr>
                      <a:lnT w="12700" cap="flat" cmpd="sng" algn="ctr">
                        <a:solidFill>
                          <a:schemeClr val="bg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T>
                      <a:solidFill>
                        <a:srgbClr val="54544B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C34E2D"/>
                          </a:solidFill>
                        </a:endParaRPr>
                      </a:p>
                    </a:txBody>
                    <a:tcPr>
                      <a:lnT w="12700" cap="flat" cmpd="sng" algn="ctr">
                        <a:solidFill>
                          <a:schemeClr val="bg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C34E2D"/>
                          </a:solidFill>
                        </a:endParaRPr>
                      </a:p>
                    </a:txBody>
                    <a:tcPr>
                      <a:lnT w="12700" cap="flat" cmpd="sng" algn="ctr">
                        <a:solidFill>
                          <a:schemeClr val="bg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C34E2D"/>
                          </a:solidFill>
                        </a:endParaRPr>
                      </a:p>
                    </a:txBody>
                    <a:tcPr>
                      <a:lnT w="12700" cap="flat" cmpd="sng" algn="ctr">
                        <a:solidFill>
                          <a:schemeClr val="bg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C34E2D"/>
                          </a:solidFill>
                        </a:endParaRPr>
                      </a:p>
                    </a:txBody>
                    <a:tcPr>
                      <a:lnT w="12700" cap="flat" cmpd="sng" algn="ctr">
                        <a:solidFill>
                          <a:schemeClr val="bg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C34E2D"/>
                          </a:solidFill>
                        </a:endParaRPr>
                      </a:p>
                    </a:txBody>
                    <a:tcPr>
                      <a:lnT w="12700" cap="flat" cmpd="sng" algn="ctr">
                        <a:solidFill>
                          <a:schemeClr val="bg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C34E2D"/>
                          </a:solidFill>
                        </a:endParaRPr>
                      </a:p>
                    </a:txBody>
                    <a:tcPr>
                      <a:lnT w="12700" cap="flat" cmpd="sng" algn="ctr">
                        <a:solidFill>
                          <a:schemeClr val="bg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C34E2D"/>
                          </a:solidFill>
                        </a:endParaRPr>
                      </a:p>
                    </a:txBody>
                    <a:tcPr>
                      <a:lnT w="12700" cap="flat" cmpd="sng" algn="ctr">
                        <a:solidFill>
                          <a:schemeClr val="bg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C34E2D"/>
                          </a:solidFill>
                        </a:endParaRPr>
                      </a:p>
                    </a:txBody>
                    <a:tcPr>
                      <a:lnT w="12700" cap="flat" cmpd="sng" algn="ctr">
                        <a:solidFill>
                          <a:schemeClr val="bg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C34E2D"/>
                          </a:solidFill>
                        </a:endParaRPr>
                      </a:p>
                    </a:txBody>
                    <a:tcPr>
                      <a:lnT w="12700" cap="flat" cmpd="sng" algn="ctr">
                        <a:solidFill>
                          <a:schemeClr val="bg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C34E2D"/>
                          </a:solidFill>
                        </a:endParaRPr>
                      </a:p>
                    </a:txBody>
                    <a:tcPr>
                      <a:lnT w="12700" cap="flat" cmpd="sng" algn="ctr">
                        <a:solidFill>
                          <a:schemeClr val="bg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T>
                    </a:tcPr>
                  </a:tc>
                  <a:tc>
                    <a:txBody>
                      <a:bodyPr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r>
                          <a:rPr kumimoji="0" lang="en-US" sz="1050" b="1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54544B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rPr>
                          <a:t>X</a:t>
                        </a:r>
                        <a:endPara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a:txBody>
                    <a:tcPr>
                      <a:lnT w="12700" cap="flat" cmpd="sng" algn="ctr">
                        <a:solidFill>
                          <a:schemeClr val="bg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T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218546">
                  <a:tc>
                    <a:txBody>
                      <a:bodyPr/>
                      <a:lstStyle/>
                      <a:p>
                        <a:pPr marL="0" algn="l" defTabSz="914400" rtl="0" eaLnBrk="1" latinLnBrk="0" hangingPunct="1"/>
                        <a:r>
                          <a:rPr lang="en-US" sz="1050" b="1" kern="1200" dirty="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rPr>
                          <a:t>Commodities</a:t>
                        </a:r>
                      </a:p>
                    </a:txBody>
                    <a:tcPr>
                      <a:solidFill>
                        <a:srgbClr val="54544B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C34E2D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C34E2D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C34E2D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C34E2D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C34E2D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C34E2D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C34E2D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C34E2D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C34E2D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C34E2D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r>
                          <a:rPr kumimoji="0" lang="en-US" sz="1050" b="1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54544B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rPr>
                          <a:t>X</a:t>
                        </a:r>
                        <a:endPara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a:txBody>
                    <a:tcPr/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218546">
                  <a:tc>
                    <a:txBody>
                      <a:bodyPr/>
                      <a:lstStyle/>
                      <a:p>
                        <a:pPr marL="0" algn="l" defTabSz="914400" rtl="0" eaLnBrk="1" latinLnBrk="0" hangingPunct="1"/>
                        <a:r>
                          <a:rPr lang="en-US" sz="1050" b="1" kern="1200" dirty="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rPr>
                          <a:t>Factors</a:t>
                        </a:r>
                      </a:p>
                    </a:txBody>
                    <a:tcPr>
                      <a:solidFill>
                        <a:srgbClr val="54544B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C34E2D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C34E2D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54544B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54544B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54544B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FFB300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FFB300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54544B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54544B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0B8EB8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r>
                          <a:rPr kumimoji="0" lang="en-US" sz="1050" b="1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54544B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rPr>
                          <a:t>X</a:t>
                        </a:r>
                        <a:endPara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a:txBody>
                    <a:tcPr/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  <a:tr h="218546">
                  <a:tc>
                    <a:txBody>
                      <a:bodyPr/>
                      <a:lstStyle/>
                      <a:p>
                        <a:pPr marL="0" algn="l" defTabSz="914400" rtl="0" eaLnBrk="1" latinLnBrk="0" hangingPunct="1"/>
                        <a:r>
                          <a:rPr lang="en-US" sz="1050" b="1" kern="1200" dirty="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rPr>
                          <a:t>Enterprises</a:t>
                        </a:r>
                      </a:p>
                    </a:txBody>
                    <a:tcPr>
                      <a:solidFill>
                        <a:srgbClr val="54544B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C34E2D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C34E2D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54544B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54544B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54544B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5C8E3A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FFB300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54544B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54544B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0B8EB8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r>
                          <a:rPr kumimoji="0" lang="en-US" sz="1050" b="1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54544B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rPr>
                          <a:t>X</a:t>
                        </a:r>
                        <a:endPara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a:txBody>
                    <a:tcPr/>
                  </a:tc>
                  <a:extLst>
                    <a:ext uri="{0D108BD9-81ED-4DB2-BD59-A6C34878D82A}">
                      <a16:rowId xmlns:a16="http://schemas.microsoft.com/office/drawing/2014/main" val="10004"/>
                    </a:ext>
                  </a:extLst>
                </a:tr>
                <a:tr h="218546">
                  <a:tc>
                    <a:txBody>
                      <a:bodyPr/>
                      <a:lstStyle/>
                      <a:p>
                        <a:pPr marL="0" algn="l" defTabSz="914400" rtl="0" eaLnBrk="1" latinLnBrk="0" hangingPunct="1"/>
                        <a:r>
                          <a:rPr lang="en-US" sz="1050" b="1" kern="1200" dirty="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rPr>
                          <a:t>Households</a:t>
                        </a:r>
                      </a:p>
                    </a:txBody>
                    <a:tcPr>
                      <a:solidFill>
                        <a:srgbClr val="54544B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C34E2D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C34E2D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54544B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54544B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54544B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5C8E3A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FFB300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54544B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54544B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0B8EB8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r>
                          <a:rPr kumimoji="0" lang="en-US" sz="1050" b="1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54544B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rPr>
                          <a:t>X</a:t>
                        </a:r>
                        <a:endPara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a:txBody>
                    <a:tcPr/>
                  </a:tc>
                  <a:extLst>
                    <a:ext uri="{0D108BD9-81ED-4DB2-BD59-A6C34878D82A}">
                      <a16:rowId xmlns:a16="http://schemas.microsoft.com/office/drawing/2014/main" val="10005"/>
                    </a:ext>
                  </a:extLst>
                </a:tr>
                <a:tr h="218546">
                  <a:tc>
                    <a:txBody>
                      <a:bodyPr/>
                      <a:lstStyle/>
                      <a:p>
                        <a:pPr marL="0" algn="l" defTabSz="914400" rtl="0" eaLnBrk="1" latinLnBrk="0" hangingPunct="1"/>
                        <a:r>
                          <a:rPr lang="en-US" sz="1050" b="1" kern="1200" dirty="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rPr>
                          <a:t>Government</a:t>
                        </a:r>
                      </a:p>
                    </a:txBody>
                    <a:tcPr>
                      <a:solidFill>
                        <a:srgbClr val="54544B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C34E2D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C34E2D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5C8E3A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5C8E3A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5C8E3A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FFB300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5C8E3A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FFB300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FFB300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0B8EB8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r>
                          <a:rPr kumimoji="0" lang="en-US" sz="1050" b="1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54544B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rPr>
                          <a:t>X</a:t>
                        </a:r>
                        <a:endPara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a:txBody>
                    <a:tcPr/>
                  </a:tc>
                  <a:extLst>
                    <a:ext uri="{0D108BD9-81ED-4DB2-BD59-A6C34878D82A}">
                      <a16:rowId xmlns:a16="http://schemas.microsoft.com/office/drawing/2014/main" val="10006"/>
                    </a:ext>
                  </a:extLst>
                </a:tr>
                <a:tr h="218546">
                  <a:tc>
                    <a:txBody>
                      <a:bodyPr/>
                      <a:lstStyle/>
                      <a:p>
                        <a:pPr marL="0" algn="l" defTabSz="914400" rtl="0" eaLnBrk="1" latinLnBrk="0" hangingPunct="1"/>
                        <a:r>
                          <a:rPr lang="en-US" sz="1050" b="1" kern="1200" dirty="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rPr>
                          <a:t>Taxes</a:t>
                        </a:r>
                      </a:p>
                    </a:txBody>
                    <a:tcPr>
                      <a:solidFill>
                        <a:srgbClr val="54544B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C34E2D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C34E2D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5C8E3A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5C8E3A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5C8E3A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FFB300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FFB300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FFB300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FFB300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0B8EB8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r>
                          <a:rPr kumimoji="0" lang="en-US" sz="1050" b="1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54544B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rPr>
                          <a:t>X</a:t>
                        </a:r>
                        <a:endPara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a:txBody>
                    <a:tcPr/>
                  </a:tc>
                  <a:extLst>
                    <a:ext uri="{0D108BD9-81ED-4DB2-BD59-A6C34878D82A}">
                      <a16:rowId xmlns:a16="http://schemas.microsoft.com/office/drawing/2014/main" val="10007"/>
                    </a:ext>
                  </a:extLst>
                </a:tr>
                <a:tr h="218546">
                  <a:tc>
                    <a:txBody>
                      <a:bodyPr/>
                      <a:lstStyle/>
                      <a:p>
                        <a:pPr marL="0" algn="l" defTabSz="914400" rtl="0" eaLnBrk="1" latinLnBrk="0" hangingPunct="1"/>
                        <a:r>
                          <a:rPr lang="en-US" sz="1050" b="1" kern="1200" dirty="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rPr>
                          <a:t>Savings</a:t>
                        </a:r>
                      </a:p>
                    </a:txBody>
                    <a:tcPr>
                      <a:solidFill>
                        <a:srgbClr val="54544B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C34E2D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C34E2D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54544B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54544B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54544B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5C8E3A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FFB300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54544B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54544B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0B8EB8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r>
                          <a:rPr kumimoji="0" lang="en-US" sz="1050" b="1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54544B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rPr>
                          <a:t>X</a:t>
                        </a:r>
                        <a:endPara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a:txBody>
                    <a:tcPr/>
                  </a:tc>
                  <a:extLst>
                    <a:ext uri="{0D108BD9-81ED-4DB2-BD59-A6C34878D82A}">
                      <a16:rowId xmlns:a16="http://schemas.microsoft.com/office/drawing/2014/main" val="10008"/>
                    </a:ext>
                  </a:extLst>
                </a:tr>
                <a:tr h="218546">
                  <a:tc>
                    <a:txBody>
                      <a:bodyPr/>
                      <a:lstStyle/>
                      <a:p>
                        <a:pPr marL="0" algn="l" defTabSz="914400" rtl="0" eaLnBrk="1" latinLnBrk="0" hangingPunct="1"/>
                        <a:r>
                          <a:rPr lang="en-US" sz="1050" b="1" kern="1200" dirty="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rPr>
                          <a:t>Stock change</a:t>
                        </a:r>
                      </a:p>
                    </a:txBody>
                    <a:tcPr>
                      <a:solidFill>
                        <a:srgbClr val="54544B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C34E2D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C34E2D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54544B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54544B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54544B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FFB300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FFB300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C34E2D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54544B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0B8EB8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r>
                          <a:rPr kumimoji="0" lang="en-US" sz="1050" b="1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54544B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rPr>
                          <a:t>X</a:t>
                        </a:r>
                        <a:endPara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a:txBody>
                    <a:tcPr/>
                  </a:tc>
                  <a:extLst>
                    <a:ext uri="{0D108BD9-81ED-4DB2-BD59-A6C34878D82A}">
                      <a16:rowId xmlns:a16="http://schemas.microsoft.com/office/drawing/2014/main" val="10009"/>
                    </a:ext>
                  </a:extLst>
                </a:tr>
                <a:tr h="218546">
                  <a:tc>
                    <a:txBody>
                      <a:bodyPr/>
                      <a:lstStyle/>
                      <a:p>
                        <a:pPr marL="0" algn="l" defTabSz="914400" rtl="0" eaLnBrk="1" latinLnBrk="0" hangingPunct="1"/>
                        <a:r>
                          <a:rPr lang="en-US" sz="1050" b="1" kern="1200" dirty="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rPr>
                          <a:t>Rest of world</a:t>
                        </a:r>
                      </a:p>
                    </a:txBody>
                    <a:tcPr>
                      <a:solidFill>
                        <a:srgbClr val="54544B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C34E2D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C34E2D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0B8EB8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0B8EB8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0B8EB8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0B8EB8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0B8EB8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0B8EB8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0B8EB8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0B8EB8"/>
                          </a:solidFill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r>
                          <a:rPr kumimoji="0" lang="en-US" sz="1050" b="1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54544B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rPr>
                          <a:t>X</a:t>
                        </a:r>
                      </a:p>
                    </a:txBody>
                    <a:tcPr/>
                  </a:tc>
                  <a:extLst>
                    <a:ext uri="{0D108BD9-81ED-4DB2-BD59-A6C34878D82A}">
                      <a16:rowId xmlns:a16="http://schemas.microsoft.com/office/drawing/2014/main" val="10010"/>
                    </a:ext>
                  </a:extLst>
                </a:tr>
                <a:tr h="218546">
                  <a:tc>
                    <a:txBody>
                      <a:bodyPr/>
                      <a:lstStyle/>
                      <a:p>
                        <a:pPr marL="0" algn="l" defTabSz="914400" rtl="0" eaLnBrk="1" latinLnBrk="0" hangingPunct="1"/>
                        <a:r>
                          <a:rPr lang="en-US" sz="1050" b="1" kern="1200" dirty="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rPr>
                          <a:t>Total</a:t>
                        </a:r>
                      </a:p>
                    </a:txBody>
                    <a:tcPr>
                      <a:solidFill>
                        <a:srgbClr val="54544B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r>
                          <a:rPr kumimoji="0" lang="en-US" sz="1050" b="1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54544B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rPr>
                          <a:t>X</a:t>
                        </a:r>
                        <a:endPara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r>
                          <a:rPr kumimoji="0" lang="en-US" sz="1050" b="1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54544B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rPr>
                          <a:t>X</a:t>
                        </a:r>
                        <a:endPara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r>
                          <a:rPr kumimoji="0" lang="en-US" sz="1050" b="1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54544B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rPr>
                          <a:t>X</a:t>
                        </a:r>
                        <a:endPara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r>
                          <a:rPr kumimoji="0" lang="en-US" sz="1050" b="1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54544B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rPr>
                          <a:t>X</a:t>
                        </a:r>
                        <a:endPara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r>
                          <a:rPr kumimoji="0" lang="en-US" sz="1050" b="1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54544B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rPr>
                          <a:t>X</a:t>
                        </a:r>
                        <a:endPara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r>
                          <a:rPr kumimoji="0" lang="en-US" sz="1050" b="1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54544B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rPr>
                          <a:t>X</a:t>
                        </a:r>
                        <a:endPara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r>
                          <a:rPr kumimoji="0" lang="en-US" sz="1050" b="1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54544B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rPr>
                          <a:t>X</a:t>
                        </a:r>
                        <a:endPara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r>
                          <a:rPr kumimoji="0" lang="en-US" sz="1050" b="1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54544B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rPr>
                          <a:t>X</a:t>
                        </a:r>
                        <a:endPara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r>
                          <a:rPr kumimoji="0" lang="en-US" sz="1050" b="1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54544B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rPr>
                          <a:t>X</a:t>
                        </a:r>
                        <a:endPara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endParaRP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r>
                          <a:rPr kumimoji="0" lang="en-US" sz="1050" b="1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54544B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rPr>
                          <a:t>X</a:t>
                        </a:r>
                      </a:p>
                    </a:txBody>
                    <a:tcPr/>
                  </a:tc>
                  <a:tc>
                    <a:txBody>
                      <a:bodyPr/>
                      <a:lstStyle/>
                      <a:p>
                        <a:pPr algn="ctr"/>
                        <a:endParaRPr lang="en-US" sz="1050" b="1" dirty="0">
                          <a:solidFill>
                            <a:srgbClr val="54544B"/>
                          </a:solidFill>
                        </a:endParaRPr>
                      </a:p>
                    </a:txBody>
                    <a:tcPr/>
                  </a:tc>
                  <a:extLst>
                    <a:ext uri="{0D108BD9-81ED-4DB2-BD59-A6C34878D82A}">
                      <a16:rowId xmlns:a16="http://schemas.microsoft.com/office/drawing/2014/main" val="10011"/>
                    </a:ext>
                  </a:extLst>
                </a:tr>
              </a:tbl>
            </a:graphicData>
          </a:graphic>
        </p:graphicFrame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697FC62E-EF81-4247-B24A-11EE52FDB65B}"/>
                </a:ext>
              </a:extLst>
            </p:cNvPr>
            <p:cNvCxnSpPr/>
            <p:nvPr/>
          </p:nvCxnSpPr>
          <p:spPr>
            <a:xfrm>
              <a:off x="2800350" y="3524250"/>
              <a:ext cx="0" cy="2895600"/>
            </a:xfrm>
            <a:prstGeom prst="straightConnector1">
              <a:avLst/>
            </a:prstGeom>
            <a:ln w="31750">
              <a:solidFill>
                <a:srgbClr val="C34E2D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57E53D0C-3BC2-4260-B4AD-9D9BEAE0DF99}"/>
                </a:ext>
              </a:extLst>
            </p:cNvPr>
            <p:cNvCxnSpPr>
              <a:cxnSpLocks/>
            </p:cNvCxnSpPr>
            <p:nvPr/>
          </p:nvCxnSpPr>
          <p:spPr>
            <a:xfrm>
              <a:off x="2800350" y="3524250"/>
              <a:ext cx="4895850" cy="0"/>
            </a:xfrm>
            <a:prstGeom prst="straightConnector1">
              <a:avLst/>
            </a:prstGeom>
            <a:ln w="31750">
              <a:solidFill>
                <a:srgbClr val="C34E2D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931E2EF5-49D5-4AC2-AFFA-1A3BC15A229F}"/>
                </a:ext>
              </a:extLst>
            </p:cNvPr>
            <p:cNvCxnSpPr/>
            <p:nvPr/>
          </p:nvCxnSpPr>
          <p:spPr>
            <a:xfrm>
              <a:off x="3152775" y="3524250"/>
              <a:ext cx="0" cy="2895600"/>
            </a:xfrm>
            <a:prstGeom prst="straightConnector1">
              <a:avLst/>
            </a:prstGeom>
            <a:ln w="31750">
              <a:solidFill>
                <a:srgbClr val="0B8EB8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514A5C53-28DC-451F-B70C-9AD5BAACFDFA}"/>
                </a:ext>
              </a:extLst>
            </p:cNvPr>
            <p:cNvCxnSpPr>
              <a:cxnSpLocks/>
            </p:cNvCxnSpPr>
            <p:nvPr/>
          </p:nvCxnSpPr>
          <p:spPr>
            <a:xfrm>
              <a:off x="2800350" y="3743325"/>
              <a:ext cx="4895850" cy="0"/>
            </a:xfrm>
            <a:prstGeom prst="straightConnector1">
              <a:avLst/>
            </a:prstGeom>
            <a:ln w="31750">
              <a:solidFill>
                <a:srgbClr val="0B8EB8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2CEDD94F-C9AD-4C37-BBE9-B684E27E59C4}"/>
                </a:ext>
              </a:extLst>
            </p:cNvPr>
            <p:cNvCxnSpPr/>
            <p:nvPr/>
          </p:nvCxnSpPr>
          <p:spPr>
            <a:xfrm>
              <a:off x="3648075" y="3524250"/>
              <a:ext cx="0" cy="2895600"/>
            </a:xfrm>
            <a:prstGeom prst="straightConnector1">
              <a:avLst/>
            </a:prstGeom>
            <a:ln w="31750">
              <a:solidFill>
                <a:srgbClr val="FFB30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5EEC017-C00A-4348-9B46-CC05A53A0582}"/>
                </a:ext>
              </a:extLst>
            </p:cNvPr>
            <p:cNvCxnSpPr>
              <a:cxnSpLocks/>
            </p:cNvCxnSpPr>
            <p:nvPr/>
          </p:nvCxnSpPr>
          <p:spPr>
            <a:xfrm>
              <a:off x="2800350" y="3999276"/>
              <a:ext cx="4895850" cy="0"/>
            </a:xfrm>
            <a:prstGeom prst="straightConnector1">
              <a:avLst/>
            </a:prstGeom>
            <a:ln w="31750">
              <a:solidFill>
                <a:srgbClr val="FFB30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2B8F9126-5CDE-4683-8743-B19299B6971A}"/>
                </a:ext>
              </a:extLst>
            </p:cNvPr>
            <p:cNvCxnSpPr/>
            <p:nvPr/>
          </p:nvCxnSpPr>
          <p:spPr>
            <a:xfrm>
              <a:off x="4076210" y="3524250"/>
              <a:ext cx="0" cy="2895600"/>
            </a:xfrm>
            <a:prstGeom prst="straightConnector1">
              <a:avLst/>
            </a:prstGeom>
            <a:ln w="31750">
              <a:solidFill>
                <a:srgbClr val="C34E2D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FC59D6B-77D4-4CFC-BA6A-FF9049C14A14}"/>
                </a:ext>
              </a:extLst>
            </p:cNvPr>
            <p:cNvCxnSpPr>
              <a:cxnSpLocks/>
            </p:cNvCxnSpPr>
            <p:nvPr/>
          </p:nvCxnSpPr>
          <p:spPr>
            <a:xfrm>
              <a:off x="2800350" y="4257675"/>
              <a:ext cx="4895850" cy="0"/>
            </a:xfrm>
            <a:prstGeom prst="straightConnector1">
              <a:avLst/>
            </a:prstGeom>
            <a:ln w="31750">
              <a:solidFill>
                <a:srgbClr val="C34E2D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11B88FE-04F2-4325-A3BB-3AD7E3AD0725}"/>
                </a:ext>
              </a:extLst>
            </p:cNvPr>
            <p:cNvCxnSpPr/>
            <p:nvPr/>
          </p:nvCxnSpPr>
          <p:spPr>
            <a:xfrm>
              <a:off x="4572729" y="3524250"/>
              <a:ext cx="0" cy="2895600"/>
            </a:xfrm>
            <a:prstGeom prst="straightConnector1">
              <a:avLst/>
            </a:prstGeom>
            <a:ln w="31750">
              <a:solidFill>
                <a:srgbClr val="0B8EB8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7F808297-6879-4555-A143-B161B25C09E0}"/>
                </a:ext>
              </a:extLst>
            </p:cNvPr>
            <p:cNvCxnSpPr>
              <a:cxnSpLocks/>
            </p:cNvCxnSpPr>
            <p:nvPr/>
          </p:nvCxnSpPr>
          <p:spPr>
            <a:xfrm>
              <a:off x="2800350" y="4514850"/>
              <a:ext cx="4895850" cy="0"/>
            </a:xfrm>
            <a:prstGeom prst="straightConnector1">
              <a:avLst/>
            </a:prstGeom>
            <a:ln w="31750">
              <a:solidFill>
                <a:srgbClr val="0B8EB8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5B19DE97-924D-4C43-BEDB-48C71B40FD72}"/>
                </a:ext>
              </a:extLst>
            </p:cNvPr>
            <p:cNvCxnSpPr/>
            <p:nvPr/>
          </p:nvCxnSpPr>
          <p:spPr>
            <a:xfrm>
              <a:off x="4981085" y="3524250"/>
              <a:ext cx="0" cy="2895600"/>
            </a:xfrm>
            <a:prstGeom prst="straightConnector1">
              <a:avLst/>
            </a:prstGeom>
            <a:ln w="31750">
              <a:solidFill>
                <a:srgbClr val="FFB30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1795EA03-2FC5-45AC-8B39-A04FDC03236D}"/>
                </a:ext>
              </a:extLst>
            </p:cNvPr>
            <p:cNvCxnSpPr>
              <a:cxnSpLocks/>
            </p:cNvCxnSpPr>
            <p:nvPr/>
          </p:nvCxnSpPr>
          <p:spPr>
            <a:xfrm>
              <a:off x="2808895" y="4780326"/>
              <a:ext cx="4895850" cy="0"/>
            </a:xfrm>
            <a:prstGeom prst="straightConnector1">
              <a:avLst/>
            </a:prstGeom>
            <a:ln w="31750">
              <a:solidFill>
                <a:srgbClr val="FFB30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50E97C3D-643C-423B-B8E7-CD2528A6BAE4}"/>
                </a:ext>
              </a:extLst>
            </p:cNvPr>
            <p:cNvCxnSpPr/>
            <p:nvPr/>
          </p:nvCxnSpPr>
          <p:spPr>
            <a:xfrm>
              <a:off x="5429250" y="3524250"/>
              <a:ext cx="0" cy="2895600"/>
            </a:xfrm>
            <a:prstGeom prst="straightConnector1">
              <a:avLst/>
            </a:prstGeom>
            <a:ln w="31750">
              <a:solidFill>
                <a:srgbClr val="C34E2D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A7E938E5-0EB5-42F2-B695-5A0AF07729F2}"/>
                </a:ext>
              </a:extLst>
            </p:cNvPr>
            <p:cNvCxnSpPr>
              <a:cxnSpLocks/>
            </p:cNvCxnSpPr>
            <p:nvPr/>
          </p:nvCxnSpPr>
          <p:spPr>
            <a:xfrm>
              <a:off x="2800350" y="5019675"/>
              <a:ext cx="4895850" cy="0"/>
            </a:xfrm>
            <a:prstGeom prst="straightConnector1">
              <a:avLst/>
            </a:prstGeom>
            <a:ln w="31750">
              <a:solidFill>
                <a:srgbClr val="C34E2D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0B46D8ED-F297-43AC-A615-10B2AC1BDDBD}"/>
                </a:ext>
              </a:extLst>
            </p:cNvPr>
            <p:cNvCxnSpPr/>
            <p:nvPr/>
          </p:nvCxnSpPr>
          <p:spPr>
            <a:xfrm>
              <a:off x="5895975" y="3524250"/>
              <a:ext cx="0" cy="2895600"/>
            </a:xfrm>
            <a:prstGeom prst="straightConnector1">
              <a:avLst/>
            </a:prstGeom>
            <a:ln w="31750">
              <a:solidFill>
                <a:srgbClr val="0B8EB8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CF388630-84F3-48E2-A2DF-95DF9D92C7DD}"/>
                </a:ext>
              </a:extLst>
            </p:cNvPr>
            <p:cNvCxnSpPr>
              <a:cxnSpLocks/>
            </p:cNvCxnSpPr>
            <p:nvPr/>
          </p:nvCxnSpPr>
          <p:spPr>
            <a:xfrm>
              <a:off x="2800350" y="5295900"/>
              <a:ext cx="4895850" cy="0"/>
            </a:xfrm>
            <a:prstGeom prst="straightConnector1">
              <a:avLst/>
            </a:prstGeom>
            <a:ln w="31750">
              <a:solidFill>
                <a:srgbClr val="0B8EB8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0AB91D70-868E-4C65-B977-94DED670C661}"/>
                </a:ext>
              </a:extLst>
            </p:cNvPr>
            <p:cNvCxnSpPr/>
            <p:nvPr/>
          </p:nvCxnSpPr>
          <p:spPr>
            <a:xfrm>
              <a:off x="6353175" y="3524250"/>
              <a:ext cx="0" cy="2895600"/>
            </a:xfrm>
            <a:prstGeom prst="straightConnector1">
              <a:avLst/>
            </a:prstGeom>
            <a:ln w="31750">
              <a:solidFill>
                <a:srgbClr val="FFB30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8E80A11B-1CD2-4296-8B4F-A84CC8EBCC77}"/>
                </a:ext>
              </a:extLst>
            </p:cNvPr>
            <p:cNvCxnSpPr>
              <a:cxnSpLocks/>
            </p:cNvCxnSpPr>
            <p:nvPr/>
          </p:nvCxnSpPr>
          <p:spPr>
            <a:xfrm>
              <a:off x="2800350" y="5551851"/>
              <a:ext cx="4895850" cy="0"/>
            </a:xfrm>
            <a:prstGeom prst="straightConnector1">
              <a:avLst/>
            </a:prstGeom>
            <a:ln w="31750">
              <a:solidFill>
                <a:srgbClr val="FFB30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2F58579B-B6C2-4EE9-B9EF-42B7382625B0}"/>
                </a:ext>
              </a:extLst>
            </p:cNvPr>
            <p:cNvCxnSpPr/>
            <p:nvPr/>
          </p:nvCxnSpPr>
          <p:spPr>
            <a:xfrm>
              <a:off x="6772275" y="3524250"/>
              <a:ext cx="0" cy="2895600"/>
            </a:xfrm>
            <a:prstGeom prst="straightConnector1">
              <a:avLst/>
            </a:prstGeom>
            <a:ln w="31750">
              <a:solidFill>
                <a:srgbClr val="C34E2D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1A2359BB-0EED-40C0-8053-88DA2AF07A46}"/>
                </a:ext>
              </a:extLst>
            </p:cNvPr>
            <p:cNvCxnSpPr>
              <a:cxnSpLocks/>
            </p:cNvCxnSpPr>
            <p:nvPr/>
          </p:nvCxnSpPr>
          <p:spPr>
            <a:xfrm>
              <a:off x="2800350" y="5791200"/>
              <a:ext cx="4895850" cy="0"/>
            </a:xfrm>
            <a:prstGeom prst="straightConnector1">
              <a:avLst/>
            </a:prstGeom>
            <a:ln w="31750">
              <a:solidFill>
                <a:srgbClr val="C34E2D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3641637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B3E999-5322-43B7-A382-6A33A4966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Balancing SAMs (2)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70192A-0F1C-43E6-8048-2773E82D23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Better approach is to use the cross-entropy method</a:t>
            </a:r>
          </a:p>
          <a:p>
            <a:pPr lvl="1"/>
            <a:r>
              <a:rPr lang="en-US" dirty="0"/>
              <a:t>Each cell is adjusted individually (rather than entire rows &amp; columns)</a:t>
            </a:r>
          </a:p>
          <a:p>
            <a:pPr lvl="1"/>
            <a:r>
              <a:rPr lang="en-US" dirty="0"/>
              <a:t>Minimize deviation from original data (using error distributions)</a:t>
            </a:r>
          </a:p>
          <a:p>
            <a:pPr lvl="1"/>
            <a:r>
              <a:rPr lang="en-US" b="1" dirty="0"/>
              <a:t>Advantages</a:t>
            </a:r>
            <a:r>
              <a:rPr lang="en-US" dirty="0"/>
              <a:t>: Focus more on cells that are causing imbalances </a:t>
            </a:r>
          </a:p>
          <a:p>
            <a:pPr lvl="1"/>
            <a:r>
              <a:rPr lang="en-US" b="1" dirty="0"/>
              <a:t>Shortcoming</a:t>
            </a:r>
            <a:r>
              <a:rPr lang="en-US" dirty="0"/>
              <a:t>: More complex (need GAMS rather than just Excel)</a:t>
            </a:r>
          </a:p>
          <a:p>
            <a:pPr lvl="1"/>
            <a:endParaRPr lang="en-US" dirty="0"/>
          </a:p>
        </p:txBody>
      </p:sp>
      <p:graphicFrame>
        <p:nvGraphicFramePr>
          <p:cNvPr id="28" name="Content Placeholder 5">
            <a:extLst>
              <a:ext uri="{FF2B5EF4-FFF2-40B4-BE49-F238E27FC236}">
                <a16:creationId xmlns:a16="http://schemas.microsoft.com/office/drawing/2014/main" id="{2CB9E534-1204-4B81-8FC2-B61A31C70B1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88209025"/>
              </p:ext>
            </p:extLst>
          </p:nvPr>
        </p:nvGraphicFramePr>
        <p:xfrm>
          <a:off x="1415196" y="3380528"/>
          <a:ext cx="60261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8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44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44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448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4448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4448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4448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4448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4448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4448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4448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4448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218546">
                <a:tc>
                  <a:txBody>
                    <a:bodyPr/>
                    <a:lstStyle/>
                    <a:p>
                      <a:endParaRPr lang="en-US" sz="1050" dirty="0"/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Act</a:t>
                      </a:r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Com</a:t>
                      </a:r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Fact</a:t>
                      </a:r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Ent</a:t>
                      </a:r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 err="1"/>
                        <a:t>Hhd</a:t>
                      </a:r>
                      <a:endParaRPr lang="en-US" sz="1050" dirty="0"/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 err="1"/>
                        <a:t>Gov</a:t>
                      </a:r>
                      <a:endParaRPr lang="en-US" sz="1050" dirty="0"/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Tax</a:t>
                      </a:r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S-I</a:t>
                      </a:r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 err="1"/>
                        <a:t>Stk</a:t>
                      </a:r>
                      <a:endParaRPr lang="en-US" sz="1050" dirty="0"/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 err="1"/>
                        <a:t>Wld</a:t>
                      </a:r>
                      <a:endParaRPr lang="en-US" sz="1050" dirty="0"/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Tot</a:t>
                      </a:r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8546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5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Activities</a:t>
                      </a: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X</a:t>
                      </a:r>
                      <a:endParaRPr kumimoji="0" 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54544B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8546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5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Commodities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X</a:t>
                      </a:r>
                      <a:endParaRPr kumimoji="0" 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54544B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8546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5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Factors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X</a:t>
                      </a:r>
                      <a:endParaRPr kumimoji="0" 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54544B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8546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5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Enterprises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X</a:t>
                      </a:r>
                      <a:endParaRPr kumimoji="0" 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54544B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8546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5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Households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X</a:t>
                      </a:r>
                      <a:endParaRPr kumimoji="0" 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54544B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8546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5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Government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X</a:t>
                      </a:r>
                      <a:endParaRPr kumimoji="0" 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54544B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8546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5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Taxes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X</a:t>
                      </a:r>
                      <a:endParaRPr kumimoji="0" 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54544B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546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5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Savings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X</a:t>
                      </a:r>
                      <a:endParaRPr kumimoji="0" 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54544B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546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5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Stock change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X</a:t>
                      </a:r>
                      <a:endParaRPr kumimoji="0" 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54544B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8546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5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Rest of world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8546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5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X</a:t>
                      </a:r>
                      <a:endParaRPr kumimoji="0" 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54544B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X</a:t>
                      </a:r>
                      <a:endParaRPr kumimoji="0" 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54544B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X</a:t>
                      </a:r>
                      <a:endParaRPr kumimoji="0" 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54544B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X</a:t>
                      </a:r>
                      <a:endParaRPr kumimoji="0" 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54544B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X</a:t>
                      </a:r>
                      <a:endParaRPr kumimoji="0" 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54544B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X</a:t>
                      </a:r>
                      <a:endParaRPr kumimoji="0" 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54544B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X</a:t>
                      </a:r>
                      <a:endParaRPr kumimoji="0" 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54544B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X</a:t>
                      </a:r>
                      <a:endParaRPr kumimoji="0" 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54544B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X</a:t>
                      </a:r>
                      <a:endParaRPr kumimoji="0" 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54544B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9" name="Rectangle 28">
            <a:extLst>
              <a:ext uri="{FF2B5EF4-FFF2-40B4-BE49-F238E27FC236}">
                <a16:creationId xmlns:a16="http://schemas.microsoft.com/office/drawing/2014/main" id="{A966D2CA-394A-4E1F-AC07-BDE48593E0E3}"/>
              </a:ext>
            </a:extLst>
          </p:cNvPr>
          <p:cNvSpPr/>
          <p:nvPr/>
        </p:nvSpPr>
        <p:spPr>
          <a:xfrm>
            <a:off x="4305300" y="3880756"/>
            <a:ext cx="495300" cy="291194"/>
          </a:xfrm>
          <a:prstGeom prst="rect">
            <a:avLst/>
          </a:prstGeom>
          <a:noFill/>
          <a:ln w="44450">
            <a:solidFill>
              <a:srgbClr val="C34E2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3C20AD1-E90C-480F-AD82-1CBC74A2E086}"/>
              </a:ext>
            </a:extLst>
          </p:cNvPr>
          <p:cNvSpPr/>
          <p:nvPr/>
        </p:nvSpPr>
        <p:spPr>
          <a:xfrm>
            <a:off x="2526926" y="4128406"/>
            <a:ext cx="495300" cy="291194"/>
          </a:xfrm>
          <a:prstGeom prst="rect">
            <a:avLst/>
          </a:prstGeom>
          <a:noFill/>
          <a:ln w="44450">
            <a:solidFill>
              <a:srgbClr val="C34E2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6AA948B-67DD-4100-BDA1-ACCD5703D14E}"/>
              </a:ext>
            </a:extLst>
          </p:cNvPr>
          <p:cNvSpPr/>
          <p:nvPr/>
        </p:nvSpPr>
        <p:spPr>
          <a:xfrm>
            <a:off x="2984126" y="5848560"/>
            <a:ext cx="495300" cy="291194"/>
          </a:xfrm>
          <a:prstGeom prst="rect">
            <a:avLst/>
          </a:prstGeom>
          <a:noFill/>
          <a:ln w="44450">
            <a:solidFill>
              <a:srgbClr val="C34E2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8176B1F-8579-45C1-97A6-2E5E19575917}"/>
              </a:ext>
            </a:extLst>
          </p:cNvPr>
          <p:cNvSpPr/>
          <p:nvPr/>
        </p:nvSpPr>
        <p:spPr>
          <a:xfrm>
            <a:off x="2560689" y="3648075"/>
            <a:ext cx="918737" cy="2749973"/>
          </a:xfrm>
          <a:prstGeom prst="rect">
            <a:avLst/>
          </a:prstGeom>
          <a:solidFill>
            <a:srgbClr val="C34E2D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AE302F8-25BD-4E0F-ACA8-7940267E3448}"/>
              </a:ext>
            </a:extLst>
          </p:cNvPr>
          <p:cNvSpPr/>
          <p:nvPr/>
        </p:nvSpPr>
        <p:spPr>
          <a:xfrm>
            <a:off x="3472114" y="3648075"/>
            <a:ext cx="3969222" cy="480331"/>
          </a:xfrm>
          <a:prstGeom prst="rect">
            <a:avLst/>
          </a:prstGeom>
          <a:solidFill>
            <a:srgbClr val="C34E2D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978137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E3B50-929E-4EAA-8E59-77F794F9C4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Cross-Entropy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47D0DB-3999-4735-B3F7-F1CAD19B21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6279" y="1301993"/>
            <a:ext cx="8835781" cy="1498357"/>
          </a:xfrm>
        </p:spPr>
        <p:txBody>
          <a:bodyPr/>
          <a:lstStyle/>
          <a:p>
            <a:r>
              <a:rPr lang="en-US" dirty="0"/>
              <a:t>Each cell in the SAM is assigned a range &amp; error distribution</a:t>
            </a:r>
          </a:p>
          <a:p>
            <a:r>
              <a:rPr lang="en-US" dirty="0"/>
              <a:t>Impose a penalty whenever cell data deviates from original value</a:t>
            </a:r>
          </a:p>
          <a:p>
            <a:r>
              <a:rPr lang="en-US" dirty="0"/>
              <a:t>Penalty gets exponentially worse the further the deviation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5ECB5B4-E1F2-4FAD-BDB4-EF2AFE0BD2B4}"/>
              </a:ext>
            </a:extLst>
          </p:cNvPr>
          <p:cNvCxnSpPr/>
          <p:nvPr/>
        </p:nvCxnSpPr>
        <p:spPr>
          <a:xfrm>
            <a:off x="2057400" y="5562600"/>
            <a:ext cx="4895850" cy="0"/>
          </a:xfrm>
          <a:prstGeom prst="line">
            <a:avLst/>
          </a:prstGeom>
          <a:ln w="158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214CA9EE-9C76-4573-B4BF-22E92E09E0D7}"/>
              </a:ext>
            </a:extLst>
          </p:cNvPr>
          <p:cNvSpPr/>
          <p:nvPr/>
        </p:nvSpPr>
        <p:spPr>
          <a:xfrm>
            <a:off x="2309812" y="3600433"/>
            <a:ext cx="4391025" cy="1962167"/>
          </a:xfrm>
          <a:custGeom>
            <a:avLst/>
            <a:gdLst>
              <a:gd name="connsiteX0" fmla="*/ 0 w 6467475"/>
              <a:gd name="connsiteY0" fmla="*/ 1933592 h 1962167"/>
              <a:gd name="connsiteX1" fmla="*/ 3228975 w 6467475"/>
              <a:gd name="connsiteY1" fmla="*/ 17 h 1962167"/>
              <a:gd name="connsiteX2" fmla="*/ 6467475 w 6467475"/>
              <a:gd name="connsiteY2" fmla="*/ 1962167 h 19621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467475" h="1962167">
                <a:moveTo>
                  <a:pt x="0" y="1933592"/>
                </a:moveTo>
                <a:cubicBezTo>
                  <a:pt x="1075531" y="964423"/>
                  <a:pt x="2151063" y="-4745"/>
                  <a:pt x="3228975" y="17"/>
                </a:cubicBezTo>
                <a:cubicBezTo>
                  <a:pt x="4306887" y="4779"/>
                  <a:pt x="6016625" y="1695467"/>
                  <a:pt x="6467475" y="1962167"/>
                </a:cubicBezTo>
              </a:path>
            </a:pathLst>
          </a:custGeom>
          <a:noFill/>
          <a:ln w="25400">
            <a:solidFill>
              <a:srgbClr val="C34E2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CA7C735-0919-451D-A1D3-E50F080400D6}"/>
              </a:ext>
            </a:extLst>
          </p:cNvPr>
          <p:cNvCxnSpPr>
            <a:stCxn id="8" idx="1"/>
          </p:cNvCxnSpPr>
          <p:nvPr/>
        </p:nvCxnSpPr>
        <p:spPr>
          <a:xfrm>
            <a:off x="4502091" y="3600450"/>
            <a:ext cx="3233" cy="1962150"/>
          </a:xfrm>
          <a:prstGeom prst="line">
            <a:avLst/>
          </a:prstGeom>
          <a:ln>
            <a:solidFill>
              <a:srgbClr val="C34E2D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49311C6-2AE1-475E-964E-E6A59C101B35}"/>
              </a:ext>
            </a:extLst>
          </p:cNvPr>
          <p:cNvCxnSpPr/>
          <p:nvPr/>
        </p:nvCxnSpPr>
        <p:spPr>
          <a:xfrm>
            <a:off x="2181225" y="4581516"/>
            <a:ext cx="4600575" cy="0"/>
          </a:xfrm>
          <a:prstGeom prst="line">
            <a:avLst/>
          </a:prstGeom>
          <a:ln w="25400">
            <a:solidFill>
              <a:srgbClr val="0B8EB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1EA883E-01C5-4D2D-957B-10B81F1AE1A6}"/>
              </a:ext>
            </a:extLst>
          </p:cNvPr>
          <p:cNvSpPr txBox="1"/>
          <p:nvPr/>
        </p:nvSpPr>
        <p:spPr>
          <a:xfrm>
            <a:off x="3257549" y="5562583"/>
            <a:ext cx="2447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54544B"/>
                </a:solidFill>
              </a:rPr>
              <a:t>Initial cell value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10B4960-BA08-486A-8DD6-F184203D6E76}"/>
              </a:ext>
            </a:extLst>
          </p:cNvPr>
          <p:cNvSpPr txBox="1"/>
          <p:nvPr/>
        </p:nvSpPr>
        <p:spPr>
          <a:xfrm>
            <a:off x="5476874" y="5594832"/>
            <a:ext cx="2447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54544B"/>
                </a:solidFill>
              </a:rPr>
              <a:t>Upper bound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35119C5-4B98-4637-ADC5-2F7667149BD1}"/>
              </a:ext>
            </a:extLst>
          </p:cNvPr>
          <p:cNvSpPr txBox="1"/>
          <p:nvPr/>
        </p:nvSpPr>
        <p:spPr>
          <a:xfrm>
            <a:off x="957262" y="5578699"/>
            <a:ext cx="2447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54544B"/>
                </a:solidFill>
              </a:rPr>
              <a:t>Lower bound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326400A-05C8-486B-B089-F351DD4C8B18}"/>
              </a:ext>
            </a:extLst>
          </p:cNvPr>
          <p:cNvSpPr txBox="1"/>
          <p:nvPr/>
        </p:nvSpPr>
        <p:spPr>
          <a:xfrm>
            <a:off x="4852987" y="3506267"/>
            <a:ext cx="2447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C34E2D"/>
                </a:solidFill>
              </a:rPr>
              <a:t>Normal distribution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C5713BA-7AEC-488C-9161-725F85365E6D}"/>
              </a:ext>
            </a:extLst>
          </p:cNvPr>
          <p:cNvSpPr txBox="1"/>
          <p:nvPr/>
        </p:nvSpPr>
        <p:spPr>
          <a:xfrm>
            <a:off x="5929312" y="4212184"/>
            <a:ext cx="2447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B8EB8"/>
                </a:solidFill>
              </a:rPr>
              <a:t>Uniform distribution</a:t>
            </a:r>
          </a:p>
        </p:txBody>
      </p:sp>
    </p:spTree>
    <p:extLst>
      <p:ext uri="{BB962C8B-B14F-4D97-AF65-F5344CB8AC3E}">
        <p14:creationId xmlns:p14="http://schemas.microsoft.com/office/powerpoint/2010/main" val="211187672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B3E999-5322-43B7-A382-6A33A4966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Three Types of Controls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70192A-0F1C-43E6-8048-2773E82D23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We can impose three controls or constraints on the solution</a:t>
            </a:r>
          </a:p>
          <a:p>
            <a:pPr lvl="1"/>
            <a:r>
              <a:rPr lang="en-US" b="1" dirty="0">
                <a:solidFill>
                  <a:srgbClr val="8AA63D"/>
                </a:solidFill>
              </a:rPr>
              <a:t>Row &amp; column totals</a:t>
            </a:r>
            <a:r>
              <a:rPr lang="en-US" dirty="0"/>
              <a:t>: Equalize</a:t>
            </a:r>
          </a:p>
          <a:p>
            <a:pPr lvl="1"/>
            <a:r>
              <a:rPr lang="en-US" b="1" dirty="0">
                <a:solidFill>
                  <a:srgbClr val="C34E2D"/>
                </a:solidFill>
              </a:rPr>
              <a:t>Cell values</a:t>
            </a:r>
            <a:r>
              <a:rPr lang="en-US" dirty="0"/>
              <a:t>: Maintain original values</a:t>
            </a:r>
          </a:p>
          <a:p>
            <a:pPr lvl="1"/>
            <a:r>
              <a:rPr lang="en-US" b="1" dirty="0">
                <a:solidFill>
                  <a:srgbClr val="0B8EB8"/>
                </a:solidFill>
              </a:rPr>
              <a:t>Macro controls</a:t>
            </a:r>
            <a:r>
              <a:rPr lang="en-US" dirty="0"/>
              <a:t>: Maintain original sum of groups of cells</a:t>
            </a:r>
          </a:p>
          <a:p>
            <a:r>
              <a:rPr lang="en-US" b="1" dirty="0"/>
              <a:t>CE minimizes errors arising if constraints cannot be met</a:t>
            </a:r>
          </a:p>
          <a:p>
            <a:pPr lvl="1"/>
            <a:endParaRPr lang="en-US" dirty="0"/>
          </a:p>
        </p:txBody>
      </p:sp>
      <p:graphicFrame>
        <p:nvGraphicFramePr>
          <p:cNvPr id="28" name="Content Placeholder 5">
            <a:extLst>
              <a:ext uri="{FF2B5EF4-FFF2-40B4-BE49-F238E27FC236}">
                <a16:creationId xmlns:a16="http://schemas.microsoft.com/office/drawing/2014/main" id="{2CB9E534-1204-4B81-8FC2-B61A31C70B18}"/>
              </a:ext>
            </a:extLst>
          </p:cNvPr>
          <p:cNvGraphicFramePr>
            <a:graphicFrameLocks/>
          </p:cNvGraphicFramePr>
          <p:nvPr/>
        </p:nvGraphicFramePr>
        <p:xfrm>
          <a:off x="1415196" y="3380528"/>
          <a:ext cx="60261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8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44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44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448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4448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4448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4448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4448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4448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4448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4448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4448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218546">
                <a:tc>
                  <a:txBody>
                    <a:bodyPr/>
                    <a:lstStyle/>
                    <a:p>
                      <a:endParaRPr lang="en-US" sz="1050" dirty="0"/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Act</a:t>
                      </a:r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Com</a:t>
                      </a:r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Fact</a:t>
                      </a:r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Ent</a:t>
                      </a:r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 err="1"/>
                        <a:t>Hhd</a:t>
                      </a:r>
                      <a:endParaRPr lang="en-US" sz="1050" dirty="0"/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 err="1"/>
                        <a:t>Gov</a:t>
                      </a:r>
                      <a:endParaRPr lang="en-US" sz="1050" dirty="0"/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Tax</a:t>
                      </a:r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S-I</a:t>
                      </a:r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 err="1"/>
                        <a:t>Stk</a:t>
                      </a:r>
                      <a:endParaRPr lang="en-US" sz="1050" dirty="0"/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 err="1"/>
                        <a:t>Wld</a:t>
                      </a:r>
                      <a:endParaRPr lang="en-US" sz="1050" dirty="0"/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Tot</a:t>
                      </a:r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8546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5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Activities</a:t>
                      </a: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X</a:t>
                      </a:r>
                      <a:endParaRPr kumimoji="0" 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54544B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8546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5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Commodities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X</a:t>
                      </a:r>
                      <a:endParaRPr kumimoji="0" 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54544B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8546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5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Factors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X</a:t>
                      </a:r>
                      <a:endParaRPr kumimoji="0" 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54544B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8546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5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Enterprises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X</a:t>
                      </a:r>
                      <a:endParaRPr kumimoji="0" 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54544B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8546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5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Households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X</a:t>
                      </a:r>
                      <a:endParaRPr kumimoji="0" 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54544B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8546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5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Government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X</a:t>
                      </a:r>
                      <a:endParaRPr kumimoji="0" 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54544B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8546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5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Taxes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X</a:t>
                      </a:r>
                      <a:endParaRPr kumimoji="0" 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54544B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546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5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Savings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X</a:t>
                      </a:r>
                      <a:endParaRPr kumimoji="0" 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54544B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546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5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Stock change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X</a:t>
                      </a:r>
                      <a:endParaRPr kumimoji="0" 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54544B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8546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5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Rest of world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8546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5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X</a:t>
                      </a:r>
                      <a:endParaRPr kumimoji="0" 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54544B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X</a:t>
                      </a:r>
                      <a:endParaRPr kumimoji="0" 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54544B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X</a:t>
                      </a:r>
                      <a:endParaRPr kumimoji="0" 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54544B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X</a:t>
                      </a:r>
                      <a:endParaRPr kumimoji="0" 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54544B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X</a:t>
                      </a:r>
                      <a:endParaRPr kumimoji="0" 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54544B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X</a:t>
                      </a:r>
                      <a:endParaRPr kumimoji="0" 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54544B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X</a:t>
                      </a:r>
                      <a:endParaRPr kumimoji="0" 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54544B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X</a:t>
                      </a:r>
                      <a:endParaRPr kumimoji="0" 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54544B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X</a:t>
                      </a:r>
                      <a:endParaRPr kumimoji="0" 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54544B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9" name="Rectangle 28">
            <a:extLst>
              <a:ext uri="{FF2B5EF4-FFF2-40B4-BE49-F238E27FC236}">
                <a16:creationId xmlns:a16="http://schemas.microsoft.com/office/drawing/2014/main" id="{A966D2CA-394A-4E1F-AC07-BDE48593E0E3}"/>
              </a:ext>
            </a:extLst>
          </p:cNvPr>
          <p:cNvSpPr/>
          <p:nvPr/>
        </p:nvSpPr>
        <p:spPr>
          <a:xfrm>
            <a:off x="4306518" y="3837212"/>
            <a:ext cx="2246682" cy="291193"/>
          </a:xfrm>
          <a:prstGeom prst="rect">
            <a:avLst/>
          </a:prstGeom>
          <a:noFill/>
          <a:ln w="44450">
            <a:solidFill>
              <a:srgbClr val="0B8EB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3C20AD1-E90C-480F-AD82-1CBC74A2E086}"/>
              </a:ext>
            </a:extLst>
          </p:cNvPr>
          <p:cNvSpPr/>
          <p:nvPr/>
        </p:nvSpPr>
        <p:spPr>
          <a:xfrm>
            <a:off x="2970941" y="5128531"/>
            <a:ext cx="495300" cy="291194"/>
          </a:xfrm>
          <a:prstGeom prst="rect">
            <a:avLst/>
          </a:prstGeom>
          <a:noFill/>
          <a:ln w="44450">
            <a:solidFill>
              <a:srgbClr val="C34E2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6AA948B-67DD-4100-BDA1-ACCD5703D14E}"/>
              </a:ext>
            </a:extLst>
          </p:cNvPr>
          <p:cNvSpPr/>
          <p:nvPr/>
        </p:nvSpPr>
        <p:spPr>
          <a:xfrm>
            <a:off x="2526926" y="6107064"/>
            <a:ext cx="4483474" cy="290984"/>
          </a:xfrm>
          <a:prstGeom prst="rect">
            <a:avLst/>
          </a:prstGeom>
          <a:noFill/>
          <a:ln w="44450">
            <a:solidFill>
              <a:srgbClr val="8AA63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9B4E8CD-D813-4046-B77A-D581322FB47B}"/>
              </a:ext>
            </a:extLst>
          </p:cNvPr>
          <p:cNvSpPr/>
          <p:nvPr/>
        </p:nvSpPr>
        <p:spPr>
          <a:xfrm>
            <a:off x="7010400" y="3651380"/>
            <a:ext cx="430936" cy="2455684"/>
          </a:xfrm>
          <a:prstGeom prst="rect">
            <a:avLst/>
          </a:prstGeom>
          <a:noFill/>
          <a:ln w="44450">
            <a:solidFill>
              <a:srgbClr val="8AA63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791706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EC514-04B3-4CAE-B72F-C4A36B343E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Rwanda SAM Macro Controls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10303E-E0E8-4851-A2F6-464FCD4C06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6279" y="1301993"/>
            <a:ext cx="8835781" cy="2127007"/>
          </a:xfrm>
        </p:spPr>
        <p:txBody>
          <a:bodyPr/>
          <a:lstStyle/>
          <a:p>
            <a:r>
              <a:rPr lang="en-US" dirty="0">
                <a:solidFill>
                  <a:srgbClr val="C34E2D"/>
                </a:solidFill>
              </a:rPr>
              <a:t>Total labor, land &amp; capital</a:t>
            </a:r>
            <a:r>
              <a:rPr lang="en-US" dirty="0"/>
              <a:t> value-added</a:t>
            </a:r>
          </a:p>
          <a:p>
            <a:r>
              <a:rPr lang="en-US" dirty="0">
                <a:solidFill>
                  <a:srgbClr val="0B8EB8"/>
                </a:solidFill>
              </a:rPr>
              <a:t>Tax revenue </a:t>
            </a:r>
            <a:r>
              <a:rPr lang="en-US" dirty="0"/>
              <a:t>collections for each tax type </a:t>
            </a:r>
            <a:r>
              <a:rPr lang="en-US" sz="1600" dirty="0"/>
              <a:t>(e.g., VAT, excise, custom duties)</a:t>
            </a:r>
            <a:endParaRPr lang="en-US" dirty="0"/>
          </a:p>
          <a:p>
            <a:r>
              <a:rPr lang="en-US" dirty="0"/>
              <a:t>Inter-institutional </a:t>
            </a:r>
            <a:r>
              <a:rPr lang="en-US" dirty="0">
                <a:solidFill>
                  <a:srgbClr val="8AA63D"/>
                </a:solidFill>
              </a:rPr>
              <a:t>transfers</a:t>
            </a:r>
            <a:r>
              <a:rPr lang="en-US" dirty="0"/>
              <a:t> </a:t>
            </a:r>
            <a:r>
              <a:rPr lang="en-US" sz="1600" dirty="0"/>
              <a:t>(e.g., government, households, enterprises, rest of world)</a:t>
            </a:r>
          </a:p>
          <a:p>
            <a:r>
              <a:rPr lang="en-US" dirty="0"/>
              <a:t>Total value-added in sector groupings </a:t>
            </a:r>
            <a:r>
              <a:rPr lang="en-US" sz="1600" dirty="0"/>
              <a:t>(i.e., AGR, MIN, MAN, UTL, CON, etc.)</a:t>
            </a:r>
            <a:endParaRPr lang="en-US" dirty="0"/>
          </a:p>
        </p:txBody>
      </p:sp>
      <p:graphicFrame>
        <p:nvGraphicFramePr>
          <p:cNvPr id="5" name="Content Placeholder 5">
            <a:extLst>
              <a:ext uri="{FF2B5EF4-FFF2-40B4-BE49-F238E27FC236}">
                <a16:creationId xmlns:a16="http://schemas.microsoft.com/office/drawing/2014/main" id="{A39DF652-FAC8-470A-8545-CF2A82D1E4B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41402206"/>
              </p:ext>
            </p:extLst>
          </p:nvPr>
        </p:nvGraphicFramePr>
        <p:xfrm>
          <a:off x="2867007" y="3618483"/>
          <a:ext cx="60261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8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44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44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448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4448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4448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4448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4448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4448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4448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4448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4448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218546">
                <a:tc>
                  <a:txBody>
                    <a:bodyPr/>
                    <a:lstStyle/>
                    <a:p>
                      <a:endParaRPr lang="en-US" sz="1050" dirty="0"/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Act</a:t>
                      </a:r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Com</a:t>
                      </a:r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Fact</a:t>
                      </a:r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Ent</a:t>
                      </a:r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 err="1"/>
                        <a:t>Hhd</a:t>
                      </a:r>
                      <a:endParaRPr lang="en-US" sz="1050" dirty="0"/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 err="1"/>
                        <a:t>Gov</a:t>
                      </a:r>
                      <a:endParaRPr lang="en-US" sz="1050" dirty="0"/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Tax</a:t>
                      </a:r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S-I</a:t>
                      </a:r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 err="1"/>
                        <a:t>Stk</a:t>
                      </a:r>
                      <a:endParaRPr lang="en-US" sz="1050" dirty="0"/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 err="1"/>
                        <a:t>Wld</a:t>
                      </a:r>
                      <a:endParaRPr lang="en-US" sz="1050" dirty="0"/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dirty="0"/>
                        <a:t>Tot</a:t>
                      </a:r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8546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5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Activities</a:t>
                      </a: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X</a:t>
                      </a:r>
                      <a:endParaRPr kumimoji="0" 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54544B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8546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5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Commodities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X</a:t>
                      </a:r>
                      <a:endParaRPr kumimoji="0" 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54544B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8546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5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Factors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X</a:t>
                      </a:r>
                      <a:endParaRPr kumimoji="0" 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54544B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8546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5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Enterprises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X</a:t>
                      </a:r>
                      <a:endParaRPr kumimoji="0" 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54544B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8546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5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Households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X</a:t>
                      </a:r>
                      <a:endParaRPr kumimoji="0" 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54544B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8546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5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Government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X</a:t>
                      </a:r>
                      <a:endParaRPr kumimoji="0" 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54544B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8546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5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Taxes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X</a:t>
                      </a:r>
                      <a:endParaRPr kumimoji="0" 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54544B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546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5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Savings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X</a:t>
                      </a:r>
                      <a:endParaRPr kumimoji="0" 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54544B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546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5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Stock change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X</a:t>
                      </a:r>
                      <a:endParaRPr kumimoji="0" 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54544B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8546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5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Rest of world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8546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5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X</a:t>
                      </a:r>
                      <a:endParaRPr kumimoji="0" 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54544B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X</a:t>
                      </a:r>
                      <a:endParaRPr kumimoji="0" 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54544B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X</a:t>
                      </a:r>
                      <a:endParaRPr kumimoji="0" 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54544B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X</a:t>
                      </a:r>
                      <a:endParaRPr kumimoji="0" 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54544B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X</a:t>
                      </a:r>
                      <a:endParaRPr kumimoji="0" 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54544B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X</a:t>
                      </a:r>
                      <a:endParaRPr kumimoji="0" 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54544B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X</a:t>
                      </a:r>
                      <a:endParaRPr kumimoji="0" 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54544B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X</a:t>
                      </a:r>
                      <a:endParaRPr kumimoji="0" 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54544B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X</a:t>
                      </a:r>
                      <a:endParaRPr kumimoji="0" 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54544B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54544B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050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0A6CA1E6-DE4A-4D0B-80CF-AFFB292111F9}"/>
              </a:ext>
            </a:extLst>
          </p:cNvPr>
          <p:cNvSpPr/>
          <p:nvPr/>
        </p:nvSpPr>
        <p:spPr>
          <a:xfrm>
            <a:off x="4001717" y="5373679"/>
            <a:ext cx="883103" cy="291193"/>
          </a:xfrm>
          <a:prstGeom prst="rect">
            <a:avLst/>
          </a:prstGeom>
          <a:noFill/>
          <a:ln w="44450">
            <a:solidFill>
              <a:srgbClr val="0B8EB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EAA5CE-D535-4698-8C4B-CDB1FB0E513D}"/>
              </a:ext>
            </a:extLst>
          </p:cNvPr>
          <p:cNvSpPr/>
          <p:nvPr/>
        </p:nvSpPr>
        <p:spPr>
          <a:xfrm>
            <a:off x="4001717" y="4350484"/>
            <a:ext cx="441946" cy="291194"/>
          </a:xfrm>
          <a:prstGeom prst="rect">
            <a:avLst/>
          </a:prstGeom>
          <a:noFill/>
          <a:ln w="44450">
            <a:solidFill>
              <a:srgbClr val="C34E2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9E84E5A-3E32-403B-BB91-13307AC67169}"/>
              </a:ext>
            </a:extLst>
          </p:cNvPr>
          <p:cNvSpPr/>
          <p:nvPr/>
        </p:nvSpPr>
        <p:spPr>
          <a:xfrm>
            <a:off x="5349253" y="4641677"/>
            <a:ext cx="1335751" cy="732001"/>
          </a:xfrm>
          <a:prstGeom prst="rect">
            <a:avLst/>
          </a:prstGeom>
          <a:noFill/>
          <a:ln w="44450">
            <a:solidFill>
              <a:srgbClr val="8AA63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4B87549-135B-4327-BFD2-E53946762ABD}"/>
              </a:ext>
            </a:extLst>
          </p:cNvPr>
          <p:cNvSpPr/>
          <p:nvPr/>
        </p:nvSpPr>
        <p:spPr>
          <a:xfrm>
            <a:off x="5349254" y="5373679"/>
            <a:ext cx="883103" cy="291193"/>
          </a:xfrm>
          <a:prstGeom prst="rect">
            <a:avLst/>
          </a:prstGeom>
          <a:noFill/>
          <a:ln w="44450">
            <a:solidFill>
              <a:srgbClr val="0B8EB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17AD582-6A6C-4447-8785-F583944D6131}"/>
              </a:ext>
            </a:extLst>
          </p:cNvPr>
          <p:cNvSpPr/>
          <p:nvPr/>
        </p:nvSpPr>
        <p:spPr>
          <a:xfrm>
            <a:off x="8009649" y="4641676"/>
            <a:ext cx="441946" cy="732001"/>
          </a:xfrm>
          <a:prstGeom prst="rect">
            <a:avLst/>
          </a:prstGeom>
          <a:noFill/>
          <a:ln w="44450">
            <a:solidFill>
              <a:srgbClr val="8AA63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B0CB190-DCC5-4FA5-BDA5-BDD0FDDE8479}"/>
              </a:ext>
            </a:extLst>
          </p:cNvPr>
          <p:cNvSpPr/>
          <p:nvPr/>
        </p:nvSpPr>
        <p:spPr>
          <a:xfrm>
            <a:off x="5348859" y="6093485"/>
            <a:ext cx="1335750" cy="291193"/>
          </a:xfrm>
          <a:prstGeom prst="rect">
            <a:avLst/>
          </a:prstGeom>
          <a:noFill/>
          <a:ln w="44450">
            <a:solidFill>
              <a:srgbClr val="8AA63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72018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/>
          <p:cNvSpPr txBox="1"/>
          <p:nvPr/>
        </p:nvSpPr>
        <p:spPr>
          <a:xfrm>
            <a:off x="177800" y="4121148"/>
            <a:ext cx="60858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54544B"/>
                </a:solidFill>
              </a:rPr>
              <a:t>Step 3: Income Distribution</a:t>
            </a:r>
            <a:endParaRPr lang="en-US" sz="2400" b="1" dirty="0">
              <a:solidFill>
                <a:srgbClr val="54544B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0" y="4767478"/>
            <a:ext cx="9144000" cy="461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177800" y="4767478"/>
            <a:ext cx="78041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54544B"/>
                </a:solidFill>
              </a:rPr>
              <a:t>Disaggregate and balance labor and household accounts</a:t>
            </a:r>
            <a:endParaRPr lang="en-US" dirty="0">
              <a:solidFill>
                <a:srgbClr val="54544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8046426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3825" y="1263650"/>
          <a:ext cx="8836015" cy="445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6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65174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Act</a:t>
                      </a:r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Com</a:t>
                      </a:r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Fact</a:t>
                      </a:r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Ent</a:t>
                      </a:r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Hhd</a:t>
                      </a:r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Gov</a:t>
                      </a:r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Tax</a:t>
                      </a:r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S-I</a:t>
                      </a:r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Stk</a:t>
                      </a:r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Wld</a:t>
                      </a:r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Tot</a:t>
                      </a:r>
                    </a:p>
                  </a:txBody>
                  <a:tcP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Activities</a:t>
                      </a: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Commodities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Factors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Enterprises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Households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Government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Taxes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Savings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Stock change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FFB3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Rest of world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>
                    <a:solidFill>
                      <a:srgbClr val="5454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C8E3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C34E2D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0B8EB8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>
                        <a:solidFill>
                          <a:srgbClr val="54544B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11772" y="2357093"/>
            <a:ext cx="7177813" cy="371475"/>
          </a:xfrm>
          <a:prstGeom prst="rect">
            <a:avLst/>
          </a:prstGeom>
          <a:solidFill>
            <a:srgbClr val="C34E2D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FBB4BB3-5B09-4811-A4AB-B45D1132D1DF}"/>
              </a:ext>
            </a:extLst>
          </p:cNvPr>
          <p:cNvSpPr/>
          <p:nvPr/>
        </p:nvSpPr>
        <p:spPr>
          <a:xfrm>
            <a:off x="3086534" y="1515941"/>
            <a:ext cx="656789" cy="4078409"/>
          </a:xfrm>
          <a:prstGeom prst="rect">
            <a:avLst/>
          </a:prstGeom>
          <a:solidFill>
            <a:srgbClr val="C34E2D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5B7EEF6-3E10-4305-AD55-BD74302A335F}"/>
              </a:ext>
            </a:extLst>
          </p:cNvPr>
          <p:cNvSpPr/>
          <p:nvPr/>
        </p:nvSpPr>
        <p:spPr>
          <a:xfrm>
            <a:off x="2025538" y="2319446"/>
            <a:ext cx="1463097" cy="461665"/>
          </a:xfrm>
          <a:prstGeom prst="rect">
            <a:avLst/>
          </a:prstGeom>
          <a:solidFill>
            <a:srgbClr val="C34E2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FEB400D-6EAF-44D7-81DC-B7C96D3048BF}"/>
              </a:ext>
            </a:extLst>
          </p:cNvPr>
          <p:cNvSpPr txBox="1"/>
          <p:nvPr/>
        </p:nvSpPr>
        <p:spPr>
          <a:xfrm>
            <a:off x="2025538" y="2322029"/>
            <a:ext cx="14630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13 factors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2B384D6-82ED-4BBF-B163-A4C8237EBB4A}"/>
              </a:ext>
            </a:extLst>
          </p:cNvPr>
          <p:cNvSpPr/>
          <p:nvPr/>
        </p:nvSpPr>
        <p:spPr>
          <a:xfrm>
            <a:off x="5041188" y="3117215"/>
            <a:ext cx="3918651" cy="371475"/>
          </a:xfrm>
          <a:prstGeom prst="rect">
            <a:avLst/>
          </a:prstGeom>
          <a:solidFill>
            <a:srgbClr val="0B8EB8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A521C8E-78CB-447F-989B-25E172CFEF63}"/>
              </a:ext>
            </a:extLst>
          </p:cNvPr>
          <p:cNvSpPr/>
          <p:nvPr/>
        </p:nvSpPr>
        <p:spPr>
          <a:xfrm>
            <a:off x="4384400" y="1635321"/>
            <a:ext cx="656789" cy="4078410"/>
          </a:xfrm>
          <a:prstGeom prst="rect">
            <a:avLst/>
          </a:prstGeom>
          <a:solidFill>
            <a:srgbClr val="0B8EB8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76D3CB9-0211-4923-87FD-544DEE5D3FDD}"/>
              </a:ext>
            </a:extLst>
          </p:cNvPr>
          <p:cNvSpPr/>
          <p:nvPr/>
        </p:nvSpPr>
        <p:spPr>
          <a:xfrm>
            <a:off x="1782028" y="3117215"/>
            <a:ext cx="2212218" cy="371475"/>
          </a:xfrm>
          <a:prstGeom prst="rect">
            <a:avLst/>
          </a:prstGeom>
          <a:solidFill>
            <a:srgbClr val="0B8EB8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7C32A21-1234-4968-B328-51E94EEC40DF}"/>
              </a:ext>
            </a:extLst>
          </p:cNvPr>
          <p:cNvSpPr/>
          <p:nvPr/>
        </p:nvSpPr>
        <p:spPr>
          <a:xfrm>
            <a:off x="3743324" y="3073049"/>
            <a:ext cx="1965415" cy="461665"/>
          </a:xfrm>
          <a:prstGeom prst="rect">
            <a:avLst/>
          </a:prstGeom>
          <a:solidFill>
            <a:srgbClr val="0B8E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DF07399-B4D5-4B7D-857C-AAA002B3AD6D}"/>
              </a:ext>
            </a:extLst>
          </p:cNvPr>
          <p:cNvSpPr txBox="1"/>
          <p:nvPr/>
        </p:nvSpPr>
        <p:spPr>
          <a:xfrm>
            <a:off x="3743323" y="3061358"/>
            <a:ext cx="21217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15 households</a:t>
            </a:r>
          </a:p>
        </p:txBody>
      </p:sp>
    </p:spTree>
    <p:extLst>
      <p:ext uri="{BB962C8B-B14F-4D97-AF65-F5344CB8AC3E}">
        <p14:creationId xmlns:p14="http://schemas.microsoft.com/office/powerpoint/2010/main" val="196259979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FF33B3A5-8E0A-4278-BC82-69881846E8CC}"/>
              </a:ext>
            </a:extLst>
          </p:cNvPr>
          <p:cNvSpPr/>
          <p:nvPr/>
        </p:nvSpPr>
        <p:spPr>
          <a:xfrm>
            <a:off x="314786" y="1945516"/>
            <a:ext cx="8514428" cy="401644"/>
          </a:xfrm>
          <a:prstGeom prst="rect">
            <a:avLst/>
          </a:prstGeom>
          <a:solidFill>
            <a:srgbClr val="FFB3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Factors &amp; Households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0967EE2-163B-47D9-8CFB-B3554F98D83D}"/>
              </a:ext>
            </a:extLst>
          </p:cNvPr>
          <p:cNvSpPr txBox="1"/>
          <p:nvPr/>
        </p:nvSpPr>
        <p:spPr>
          <a:xfrm>
            <a:off x="680613" y="2009012"/>
            <a:ext cx="7807632" cy="275697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en-US" sz="1200" dirty="0">
                <a:solidFill>
                  <a:srgbClr val="54544B"/>
                </a:solidFill>
              </a:rPr>
              <a:t>Crop land | Crop, livestock, mining and nonagricultural capital | Rural and urban labor by education category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C67E14C-0D61-45A5-84E5-324BD28E8AC8}"/>
              </a:ext>
            </a:extLst>
          </p:cNvPr>
          <p:cNvSpPr/>
          <p:nvPr/>
        </p:nvSpPr>
        <p:spPr>
          <a:xfrm>
            <a:off x="314787" y="1661534"/>
            <a:ext cx="8514426" cy="317302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A78D774-B492-453C-9EBB-F8789EDCE738}"/>
              </a:ext>
            </a:extLst>
          </p:cNvPr>
          <p:cNvSpPr txBox="1"/>
          <p:nvPr/>
        </p:nvSpPr>
        <p:spPr>
          <a:xfrm>
            <a:off x="314790" y="1671059"/>
            <a:ext cx="22715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Factors of Production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4321A18-532B-4792-82D3-2F376208B8B4}"/>
              </a:ext>
            </a:extLst>
          </p:cNvPr>
          <p:cNvSpPr/>
          <p:nvPr/>
        </p:nvSpPr>
        <p:spPr>
          <a:xfrm>
            <a:off x="314786" y="2631143"/>
            <a:ext cx="8514427" cy="323898"/>
          </a:xfrm>
          <a:prstGeom prst="rect">
            <a:avLst/>
          </a:prstGeom>
          <a:solidFill>
            <a:srgbClr val="C34E2D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E04F86B-C96E-492D-921D-3FE2ED15783B}"/>
              </a:ext>
            </a:extLst>
          </p:cNvPr>
          <p:cNvSpPr txBox="1"/>
          <p:nvPr/>
        </p:nvSpPr>
        <p:spPr>
          <a:xfrm>
            <a:off x="680614" y="2656567"/>
            <a:ext cx="7807630" cy="276999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en-US" sz="1200" dirty="0">
                <a:solidFill>
                  <a:srgbClr val="54544B"/>
                </a:solidFill>
              </a:rPr>
              <a:t>Rural farm and nonfarm households and urban households by national per capita expenditure quintiles 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7D5F237-583D-4459-AA3F-BF0A762D4E5A}"/>
              </a:ext>
            </a:extLst>
          </p:cNvPr>
          <p:cNvSpPr/>
          <p:nvPr/>
        </p:nvSpPr>
        <p:spPr>
          <a:xfrm>
            <a:off x="314787" y="2316269"/>
            <a:ext cx="8514426" cy="317302"/>
          </a:xfrm>
          <a:prstGeom prst="rect">
            <a:avLst/>
          </a:prstGeom>
          <a:solidFill>
            <a:srgbClr val="C34E2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975EE44-E89D-472C-B6D0-E296E44562D9}"/>
              </a:ext>
            </a:extLst>
          </p:cNvPr>
          <p:cNvSpPr txBox="1"/>
          <p:nvPr/>
        </p:nvSpPr>
        <p:spPr>
          <a:xfrm>
            <a:off x="314790" y="2325794"/>
            <a:ext cx="22715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Household groups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BCBE490-2240-42A8-BD09-762C10215275}"/>
              </a:ext>
            </a:extLst>
          </p:cNvPr>
          <p:cNvSpPr txBox="1"/>
          <p:nvPr/>
        </p:nvSpPr>
        <p:spPr>
          <a:xfrm>
            <a:off x="314785" y="1978836"/>
            <a:ext cx="3658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rgbClr val="54544B"/>
                </a:solidFill>
              </a:rPr>
              <a:t>13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283FBEF-3D54-4D73-AAA8-FB0BD983E072}"/>
              </a:ext>
            </a:extLst>
          </p:cNvPr>
          <p:cNvSpPr txBox="1"/>
          <p:nvPr/>
        </p:nvSpPr>
        <p:spPr>
          <a:xfrm>
            <a:off x="314787" y="2622142"/>
            <a:ext cx="3658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rgbClr val="54544B"/>
                </a:solidFill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406724251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Main data sources:</a:t>
            </a:r>
          </a:p>
          <a:p>
            <a:r>
              <a:rPr lang="en-US" dirty="0"/>
              <a:t>Household &amp; labor force surveys</a:t>
            </a:r>
          </a:p>
          <a:p>
            <a:endParaRPr lang="en-US" sz="1200" dirty="0"/>
          </a:p>
          <a:p>
            <a:pPr marL="0" indent="0">
              <a:buNone/>
            </a:pPr>
            <a:r>
              <a:rPr lang="en-US" b="1" dirty="0"/>
              <a:t>Map sector of employment to Rwanda activities</a:t>
            </a:r>
          </a:p>
          <a:p>
            <a:r>
              <a:rPr lang="en-US" dirty="0"/>
              <a:t>ISIC3.1, ISIC4 → Disaggregated SAM accounts</a:t>
            </a:r>
          </a:p>
          <a:p>
            <a:pPr marL="0" indent="0">
              <a:buNone/>
            </a:pPr>
            <a:endParaRPr lang="en-US" sz="1100" b="1" dirty="0"/>
          </a:p>
          <a:p>
            <a:pPr marL="0" indent="0">
              <a:buNone/>
            </a:pPr>
            <a:r>
              <a:rPr lang="en-US" b="1" dirty="0"/>
              <a:t>Map consumption items to Rwanda commodities</a:t>
            </a:r>
          </a:p>
          <a:p>
            <a:r>
              <a:rPr lang="en-US" dirty="0"/>
              <a:t>COICOP, etc. → Disaggregated SAM accounts</a:t>
            </a:r>
          </a:p>
          <a:p>
            <a:pPr marL="0" indent="0">
              <a:buNone/>
            </a:pPr>
            <a:endParaRPr lang="en-US" sz="1100" b="1" dirty="0"/>
          </a:p>
          <a:p>
            <a:pPr marL="0" indent="0">
              <a:buNone/>
            </a:pPr>
            <a:r>
              <a:rPr lang="en-US" b="1" dirty="0"/>
              <a:t>Maintain macro SAM &amp; non-factor/household accounts</a:t>
            </a:r>
          </a:p>
          <a:p>
            <a:r>
              <a:rPr lang="en-US" dirty="0"/>
              <a:t>Only imbalances are for detailed household accounts </a:t>
            </a:r>
          </a:p>
          <a:p>
            <a:r>
              <a:rPr lang="en-US" dirty="0"/>
              <a:t>Balanced using cross-entropy in GAMS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517703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0FAC4D-3718-424C-8C20-645D45F4E4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Household Excel File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1296C56-EE58-4E18-89CC-2A6C337846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6279" y="1301993"/>
            <a:ext cx="3159371" cy="5395791"/>
          </a:xfrm>
        </p:spPr>
        <p:txBody>
          <a:bodyPr/>
          <a:lstStyle/>
          <a:p>
            <a:r>
              <a:rPr lang="en-US" dirty="0"/>
              <a:t>More detailed </a:t>
            </a:r>
            <a:r>
              <a:rPr lang="en-US" b="1" dirty="0">
                <a:solidFill>
                  <a:srgbClr val="FFB300"/>
                </a:solidFill>
              </a:rPr>
              <a:t>factors</a:t>
            </a:r>
            <a:r>
              <a:rPr lang="en-US" b="1" dirty="0">
                <a:solidFill>
                  <a:srgbClr val="0B8EB8"/>
                </a:solidFill>
              </a:rPr>
              <a:t> </a:t>
            </a:r>
            <a:r>
              <a:rPr lang="en-US" dirty="0"/>
              <a:t>and </a:t>
            </a:r>
            <a:r>
              <a:rPr lang="en-US" b="1" dirty="0">
                <a:solidFill>
                  <a:srgbClr val="FFB300"/>
                </a:solidFill>
              </a:rPr>
              <a:t>households</a:t>
            </a:r>
          </a:p>
          <a:p>
            <a:endParaRPr lang="en-US" sz="1200" dirty="0"/>
          </a:p>
          <a:p>
            <a:r>
              <a:rPr lang="en-US" b="1" dirty="0">
                <a:solidFill>
                  <a:srgbClr val="0B8EB8"/>
                </a:solidFill>
              </a:rPr>
              <a:t>Blue sheets </a:t>
            </a:r>
            <a:r>
              <a:rPr lang="en-US" dirty="0"/>
              <a:t>are imported into GAMS</a:t>
            </a:r>
          </a:p>
          <a:p>
            <a:endParaRPr lang="en-US" sz="1200" dirty="0"/>
          </a:p>
          <a:p>
            <a:r>
              <a:rPr lang="en-US" b="1" dirty="0">
                <a:solidFill>
                  <a:srgbClr val="8AA63D"/>
                </a:solidFill>
              </a:rPr>
              <a:t>Green sheet </a:t>
            </a:r>
            <a:r>
              <a:rPr lang="en-US" dirty="0"/>
              <a:t>contains information from household and labor force surveys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39401F2-66F8-41D9-A2C4-69D685D1FC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7883" y="1206285"/>
            <a:ext cx="5696117" cy="5587205"/>
          </a:xfrm>
          <a:prstGeom prst="rect">
            <a:avLst/>
          </a:prstGeom>
          <a:effectLst>
            <a:outerShdw blurRad="50800" dist="38100" dir="13500000" algn="br" rotWithShape="0">
              <a:prstClr val="black">
                <a:alpha val="40000"/>
              </a:prstClr>
            </a:outerShdw>
          </a:effec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880DF3F-9117-40B3-81D6-AB73208EF637}"/>
              </a:ext>
            </a:extLst>
          </p:cNvPr>
          <p:cNvSpPr/>
          <p:nvPr/>
        </p:nvSpPr>
        <p:spPr>
          <a:xfrm>
            <a:off x="3876675" y="6505575"/>
            <a:ext cx="4543425" cy="244727"/>
          </a:xfrm>
          <a:prstGeom prst="rect">
            <a:avLst/>
          </a:prstGeom>
          <a:noFill/>
          <a:ln w="44450">
            <a:solidFill>
              <a:srgbClr val="C34E2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F3F12AC-B550-4786-B81F-81A070A43E9A}"/>
              </a:ext>
            </a:extLst>
          </p:cNvPr>
          <p:cNvSpPr/>
          <p:nvPr/>
        </p:nvSpPr>
        <p:spPr>
          <a:xfrm>
            <a:off x="4943476" y="3488840"/>
            <a:ext cx="2914650" cy="2007085"/>
          </a:xfrm>
          <a:prstGeom prst="rect">
            <a:avLst/>
          </a:prstGeom>
          <a:noFill/>
          <a:ln w="44450">
            <a:solidFill>
              <a:srgbClr val="FFB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0A399DB-3873-42BC-A3CC-BC4581D121D3}"/>
              </a:ext>
            </a:extLst>
          </p:cNvPr>
          <p:cNvSpPr txBox="1"/>
          <p:nvPr/>
        </p:nvSpPr>
        <p:spPr>
          <a:xfrm>
            <a:off x="797493" y="6420785"/>
            <a:ext cx="26503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>
                <a:solidFill>
                  <a:srgbClr val="54544B"/>
                </a:solidFill>
              </a:rPr>
              <a:t>3households.xlsx | Notes</a:t>
            </a:r>
          </a:p>
        </p:txBody>
      </p:sp>
    </p:spTree>
    <p:extLst>
      <p:ext uri="{BB962C8B-B14F-4D97-AF65-F5344CB8AC3E}">
        <p14:creationId xmlns:p14="http://schemas.microsoft.com/office/powerpoint/2010/main" val="313110083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417674-9037-4DEB-A74D-AE039EFFB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Factor &amp; Household Worksheets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72D06C-E617-460E-8584-BDA5474B6D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 err="1">
                <a:solidFill>
                  <a:srgbClr val="366092"/>
                </a:solidFill>
              </a:rPr>
              <a:t>FacAct</a:t>
            </a:r>
            <a:r>
              <a:rPr lang="en-US" dirty="0"/>
              <a:t>	Income generation (activity payments to factors)</a:t>
            </a:r>
          </a:p>
          <a:p>
            <a:r>
              <a:rPr lang="en-US" b="1" dirty="0" err="1">
                <a:solidFill>
                  <a:srgbClr val="366092"/>
                </a:solidFill>
              </a:rPr>
              <a:t>MiscFac</a:t>
            </a:r>
            <a:r>
              <a:rPr lang="en-US" dirty="0"/>
              <a:t>	Non-activity receipts and payments for factors</a:t>
            </a:r>
          </a:p>
          <a:p>
            <a:r>
              <a:rPr lang="en-US" b="1" dirty="0" err="1">
                <a:solidFill>
                  <a:srgbClr val="366092"/>
                </a:solidFill>
              </a:rPr>
              <a:t>HhdFac</a:t>
            </a:r>
            <a:r>
              <a:rPr lang="en-US" dirty="0"/>
              <a:t>	Income distribution (factor payments to households)</a:t>
            </a:r>
          </a:p>
          <a:p>
            <a:r>
              <a:rPr lang="en-US" b="1" dirty="0" err="1">
                <a:solidFill>
                  <a:srgbClr val="366092"/>
                </a:solidFill>
              </a:rPr>
              <a:t>ActHhd</a:t>
            </a:r>
            <a:r>
              <a:rPr lang="en-US" dirty="0"/>
              <a:t>	Household own consumption shares</a:t>
            </a:r>
          </a:p>
          <a:p>
            <a:r>
              <a:rPr lang="en-US" b="1" dirty="0" err="1">
                <a:solidFill>
                  <a:srgbClr val="366092"/>
                </a:solidFill>
              </a:rPr>
              <a:t>ComHhd</a:t>
            </a:r>
            <a:r>
              <a:rPr lang="en-US" dirty="0"/>
              <a:t>	Household marketed consumption shares</a:t>
            </a:r>
          </a:p>
          <a:p>
            <a:r>
              <a:rPr lang="en-US" b="1" dirty="0" err="1">
                <a:solidFill>
                  <a:srgbClr val="366092"/>
                </a:solidFill>
              </a:rPr>
              <a:t>MiscHhd</a:t>
            </a:r>
            <a:r>
              <a:rPr lang="en-US" dirty="0"/>
              <a:t>	Non-commodity/factor transactions for households</a:t>
            </a:r>
          </a:p>
          <a:p>
            <a:endParaRPr lang="en-US" sz="1100" dirty="0"/>
          </a:p>
          <a:p>
            <a:r>
              <a:rPr lang="en-US" b="1" dirty="0">
                <a:solidFill>
                  <a:srgbClr val="8AA63D"/>
                </a:solidFill>
              </a:rPr>
              <a:t>Survey</a:t>
            </a:r>
            <a:r>
              <a:rPr lang="en-US" dirty="0"/>
              <a:t>	Raw data from surveys, transformed to Rwanda 			accounts	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B6F9F98-376E-4923-9F68-3F66BD33B814}"/>
              </a:ext>
            </a:extLst>
          </p:cNvPr>
          <p:cNvSpPr txBox="1"/>
          <p:nvPr/>
        </p:nvSpPr>
        <p:spPr>
          <a:xfrm>
            <a:off x="6836510" y="5968697"/>
            <a:ext cx="23074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>
                <a:solidFill>
                  <a:srgbClr val="54544B"/>
                </a:solidFill>
              </a:rPr>
              <a:t>3households.xlsx | Notes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B896B0-7221-4A46-BD52-EEA8E30894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225" y="6336905"/>
            <a:ext cx="8867775" cy="447675"/>
          </a:xfrm>
          <a:prstGeom prst="rect">
            <a:avLst/>
          </a:prstGeom>
          <a:effectLst>
            <a:outerShdw blurRad="50800" dist="38100" dir="13500000" algn="b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3867974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170C20-AE6F-4A6A-A30C-FD93B3554E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Income Generation Matrix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3C607BD-A826-4AB2-AF6B-5196DA2869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436262"/>
            <a:ext cx="9144000" cy="2421738"/>
          </a:xfrm>
          <a:prstGeom prst="rect">
            <a:avLst/>
          </a:prstGeom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723C9C1-7BF4-4762-9CD5-ADDC1DD638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6279" y="1301993"/>
            <a:ext cx="8835781" cy="2835553"/>
          </a:xfrm>
        </p:spPr>
        <p:txBody>
          <a:bodyPr>
            <a:normAutofit/>
          </a:bodyPr>
          <a:lstStyle/>
          <a:p>
            <a:r>
              <a:rPr lang="en-US" b="1" dirty="0"/>
              <a:t>Share of each sector’s value added allocated to different factors</a:t>
            </a:r>
          </a:p>
          <a:p>
            <a:pPr lvl="1"/>
            <a:r>
              <a:rPr lang="en-US" dirty="0"/>
              <a:t>Within labor (8 types) and within capital (4 types)</a:t>
            </a:r>
          </a:p>
          <a:p>
            <a:endParaRPr lang="en-US" sz="800" dirty="0"/>
          </a:p>
          <a:p>
            <a:r>
              <a:rPr lang="en-US" b="1" dirty="0"/>
              <a:t>Data from labor force and/or household surveys </a:t>
            </a:r>
          </a:p>
          <a:p>
            <a:pPr lvl="1"/>
            <a:r>
              <a:rPr lang="en-US" dirty="0"/>
              <a:t>Information on sectoral employment, including earnings from wages, nonfarm enterprises, an crop and livestock production</a:t>
            </a:r>
          </a:p>
          <a:p>
            <a:endParaRPr lang="en-US" sz="100" dirty="0"/>
          </a:p>
          <a:p>
            <a:r>
              <a:rPr lang="en-US" b="1" dirty="0"/>
              <a:t>Raw survey data imported and adjusted on “Survey” sheet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4E5114-A5AD-43BF-8894-01D11B1070AC}"/>
              </a:ext>
            </a:extLst>
          </p:cNvPr>
          <p:cNvSpPr txBox="1"/>
          <p:nvPr/>
        </p:nvSpPr>
        <p:spPr>
          <a:xfrm>
            <a:off x="6357331" y="4137546"/>
            <a:ext cx="26503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>
                <a:solidFill>
                  <a:srgbClr val="54544B"/>
                </a:solidFill>
              </a:rPr>
              <a:t>3households.xlsx | </a:t>
            </a:r>
            <a:r>
              <a:rPr lang="en-US" sz="1200" dirty="0" err="1">
                <a:solidFill>
                  <a:srgbClr val="54544B"/>
                </a:solidFill>
              </a:rPr>
              <a:t>FacAct</a:t>
            </a:r>
            <a:endParaRPr lang="en-US" sz="1200" dirty="0">
              <a:solidFill>
                <a:srgbClr val="54544B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E63B83C-639D-4992-980B-FFC7246E0521}"/>
              </a:ext>
            </a:extLst>
          </p:cNvPr>
          <p:cNvSpPr txBox="1"/>
          <p:nvPr/>
        </p:nvSpPr>
        <p:spPr>
          <a:xfrm>
            <a:off x="2876550" y="4888718"/>
            <a:ext cx="3390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C34E2D"/>
                </a:solidFill>
              </a:rPr>
              <a:t>Labor earnings (sums to 1)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37BBEBF-3932-4628-8693-0099367BC256}"/>
              </a:ext>
            </a:extLst>
          </p:cNvPr>
          <p:cNvSpPr/>
          <p:nvPr/>
        </p:nvSpPr>
        <p:spPr>
          <a:xfrm>
            <a:off x="714375" y="5372100"/>
            <a:ext cx="5438775" cy="809625"/>
          </a:xfrm>
          <a:prstGeom prst="rect">
            <a:avLst/>
          </a:prstGeom>
          <a:noFill/>
          <a:ln w="44450">
            <a:solidFill>
              <a:srgbClr val="C34E2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451843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805061-F050-4CA2-ADC7-253B897DB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Income Distribution Matrix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21A461-3A05-4F8B-8674-CD2C543425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Share of each factor’s earnings distributed to different households</a:t>
            </a:r>
          </a:p>
          <a:p>
            <a:pPr lvl="1"/>
            <a:r>
              <a:rPr lang="en-US" dirty="0"/>
              <a:t>13 factors across 15 households</a:t>
            </a:r>
          </a:p>
          <a:p>
            <a:endParaRPr lang="en-US" sz="800" dirty="0"/>
          </a:p>
          <a:p>
            <a:pPr>
              <a:tabLst>
                <a:tab pos="285750" algn="l"/>
              </a:tabLst>
            </a:pPr>
            <a:r>
              <a:rPr lang="en-US" b="1" dirty="0"/>
              <a:t>Household survey data</a:t>
            </a:r>
          </a:p>
          <a:p>
            <a:pPr lvl="1">
              <a:tabLst>
                <a:tab pos="285750" algn="l"/>
              </a:tabLst>
            </a:pPr>
            <a:r>
              <a:rPr lang="en-US" dirty="0"/>
              <a:t>On Survey sheet</a:t>
            </a:r>
          </a:p>
          <a:p>
            <a:endParaRPr lang="en-US" sz="1000" dirty="0"/>
          </a:p>
          <a:p>
            <a:pPr>
              <a:tabLst>
                <a:tab pos="285750" algn="l"/>
              </a:tabLst>
            </a:pPr>
            <a:r>
              <a:rPr lang="en-US" b="1" dirty="0"/>
              <a:t>Adjustments needed to 						avoid outliers </a:t>
            </a:r>
          </a:p>
          <a:p>
            <a:pPr lvl="1">
              <a:tabLst>
                <a:tab pos="285750" algn="l"/>
              </a:tabLst>
            </a:pPr>
            <a:r>
              <a:rPr lang="en-US" dirty="0"/>
              <a:t>Also on Survey sheet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A10036-B9AE-46BB-B8A7-F517B5A4D5CB}"/>
              </a:ext>
            </a:extLst>
          </p:cNvPr>
          <p:cNvSpPr txBox="1"/>
          <p:nvPr/>
        </p:nvSpPr>
        <p:spPr>
          <a:xfrm>
            <a:off x="6357331" y="1932362"/>
            <a:ext cx="26503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>
                <a:solidFill>
                  <a:srgbClr val="54544B"/>
                </a:solidFill>
              </a:rPr>
              <a:t>3households.xlsx | </a:t>
            </a:r>
            <a:r>
              <a:rPr lang="en-US" sz="1200" dirty="0" err="1">
                <a:solidFill>
                  <a:srgbClr val="54544B"/>
                </a:solidFill>
              </a:rPr>
              <a:t>HhdFac</a:t>
            </a:r>
            <a:endParaRPr lang="en-US" sz="1200" dirty="0">
              <a:solidFill>
                <a:srgbClr val="54544B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DD6ABDC-A931-42BC-82F0-28EA706433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300570"/>
            <a:ext cx="5372100" cy="4557430"/>
          </a:xfrm>
          <a:prstGeom prst="rect">
            <a:avLst/>
          </a:prstGeom>
          <a:effectLst>
            <a:outerShdw blurRad="50800" dist="38100" dir="13500000" algn="br" rotWithShape="0">
              <a:prstClr val="black">
                <a:alpha val="40000"/>
              </a:prstClr>
            </a:outerShdw>
          </a:effec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C74E88D-F6E7-45FB-A294-22B5012CF179}"/>
              </a:ext>
            </a:extLst>
          </p:cNvPr>
          <p:cNvSpPr txBox="1"/>
          <p:nvPr/>
        </p:nvSpPr>
        <p:spPr>
          <a:xfrm>
            <a:off x="1104900" y="5405897"/>
            <a:ext cx="2667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C34E2D"/>
                </a:solidFill>
              </a:rPr>
              <a:t>Factor payments (sums to 1 across households)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36CEDCA-356A-46E6-A68B-86AAE816F973}"/>
              </a:ext>
            </a:extLst>
          </p:cNvPr>
          <p:cNvSpPr/>
          <p:nvPr/>
        </p:nvSpPr>
        <p:spPr>
          <a:xfrm>
            <a:off x="4492871" y="3319199"/>
            <a:ext cx="1260229" cy="3053025"/>
          </a:xfrm>
          <a:prstGeom prst="rect">
            <a:avLst/>
          </a:prstGeom>
          <a:noFill/>
          <a:ln w="44450">
            <a:solidFill>
              <a:srgbClr val="C34E2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484391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A72043-BBFB-4532-8186-16DB9D7ED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Household Consumption Matrices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5E81A0-E952-4633-A2B1-4748B2EC2F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6279" y="1301994"/>
            <a:ext cx="8835781" cy="3278512"/>
          </a:xfrm>
        </p:spPr>
        <p:txBody>
          <a:bodyPr>
            <a:normAutofit/>
          </a:bodyPr>
          <a:lstStyle/>
          <a:p>
            <a:r>
              <a:rPr lang="en-US" b="1" dirty="0"/>
              <a:t>Data on own &amp; marketed consumption (</a:t>
            </a:r>
            <a:r>
              <a:rPr lang="en-US" b="1" dirty="0" err="1"/>
              <a:t>ActHhd</a:t>
            </a:r>
            <a:r>
              <a:rPr lang="en-US" b="1" dirty="0"/>
              <a:t> &amp; </a:t>
            </a:r>
            <a:r>
              <a:rPr lang="en-US" b="1" dirty="0" err="1"/>
              <a:t>ComHhd</a:t>
            </a:r>
            <a:r>
              <a:rPr lang="en-US" b="1" dirty="0"/>
              <a:t>)</a:t>
            </a:r>
          </a:p>
          <a:p>
            <a:endParaRPr lang="en-US" sz="300" b="1" dirty="0"/>
          </a:p>
          <a:p>
            <a:r>
              <a:rPr lang="en-US" b="1" dirty="0"/>
              <a:t>Share of each product’s total consumption demand generated by different households</a:t>
            </a:r>
          </a:p>
          <a:p>
            <a:pPr lvl="1"/>
            <a:r>
              <a:rPr lang="en-US" dirty="0"/>
              <a:t>30 commodities across 15 households</a:t>
            </a:r>
          </a:p>
          <a:p>
            <a:pPr>
              <a:tabLst>
                <a:tab pos="285750" algn="l"/>
              </a:tabLst>
            </a:pPr>
            <a:r>
              <a:rPr lang="en-US" b="1" dirty="0"/>
              <a:t>Household survey data</a:t>
            </a:r>
          </a:p>
          <a:p>
            <a:pPr lvl="1">
              <a:tabLst>
                <a:tab pos="285750" algn="l"/>
              </a:tabLst>
            </a:pPr>
            <a:r>
              <a:rPr lang="en-US" dirty="0"/>
              <a:t>On Survey sheet</a:t>
            </a:r>
          </a:p>
          <a:p>
            <a:endParaRPr lang="en-US" sz="1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FBE27CB-93F5-4207-BB1F-11CFD5B247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972358"/>
            <a:ext cx="9144000" cy="1725426"/>
          </a:xfrm>
          <a:prstGeom prst="rect">
            <a:avLst/>
          </a:prstGeom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2B87694-AAF0-4ADE-97B8-AE0B4E8E5E55}"/>
              </a:ext>
            </a:extLst>
          </p:cNvPr>
          <p:cNvSpPr txBox="1"/>
          <p:nvPr/>
        </p:nvSpPr>
        <p:spPr>
          <a:xfrm>
            <a:off x="6357331" y="4580505"/>
            <a:ext cx="26503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>
                <a:solidFill>
                  <a:srgbClr val="54544B"/>
                </a:solidFill>
              </a:rPr>
              <a:t>3households.xlsx | </a:t>
            </a:r>
            <a:r>
              <a:rPr lang="en-US" sz="1200" dirty="0" err="1">
                <a:solidFill>
                  <a:srgbClr val="54544B"/>
                </a:solidFill>
              </a:rPr>
              <a:t>ActHhd</a:t>
            </a:r>
            <a:endParaRPr lang="en-US" sz="1200" dirty="0">
              <a:solidFill>
                <a:srgbClr val="54544B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CAAD6F-475C-4270-BA32-EBC97ADF013B}"/>
              </a:ext>
            </a:extLst>
          </p:cNvPr>
          <p:cNvSpPr txBox="1"/>
          <p:nvPr/>
        </p:nvSpPr>
        <p:spPr>
          <a:xfrm>
            <a:off x="4362449" y="5145822"/>
            <a:ext cx="4124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C34E2D"/>
                </a:solidFill>
              </a:rPr>
              <a:t>Product consumption shares (sum to 1)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96D9C2E-D5FC-4283-BE37-DB1C3A909382}"/>
              </a:ext>
            </a:extLst>
          </p:cNvPr>
          <p:cNvSpPr/>
          <p:nvPr/>
        </p:nvSpPr>
        <p:spPr>
          <a:xfrm>
            <a:off x="2152650" y="5573104"/>
            <a:ext cx="6991350" cy="809625"/>
          </a:xfrm>
          <a:prstGeom prst="rect">
            <a:avLst/>
          </a:prstGeom>
          <a:noFill/>
          <a:ln w="44450">
            <a:solidFill>
              <a:srgbClr val="C34E2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66210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8033163-DEAB-4430-9C52-D4E863BFD5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7831" y="4120387"/>
            <a:ext cx="9144000" cy="273761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90CCE74-040C-44AB-8839-B8B3E0D56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Building the Household SAM in GAMS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84AF7B0-766E-48D6-81C6-7C6AABC0B3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6279" y="1301993"/>
            <a:ext cx="8835781" cy="2708032"/>
          </a:xfrm>
        </p:spPr>
        <p:txBody>
          <a:bodyPr/>
          <a:lstStyle/>
          <a:p>
            <a:r>
              <a:rPr lang="en-US" dirty="0"/>
              <a:t>Click on household SAM build file (</a:t>
            </a:r>
            <a:r>
              <a:rPr lang="en-US" b="1" dirty="0">
                <a:solidFill>
                  <a:srgbClr val="C34E2D"/>
                </a:solidFill>
              </a:rPr>
              <a:t>3households.gms</a:t>
            </a:r>
            <a:r>
              <a:rPr lang="en-US" dirty="0"/>
              <a:t>)</a:t>
            </a:r>
          </a:p>
          <a:p>
            <a:r>
              <a:rPr lang="en-US" dirty="0"/>
              <a:t>Check that you are using the correct data file (</a:t>
            </a:r>
            <a:r>
              <a:rPr lang="en-US" b="1" dirty="0">
                <a:solidFill>
                  <a:srgbClr val="0B8EB8"/>
                </a:solidFill>
              </a:rPr>
              <a:t>3households_2015</a:t>
            </a:r>
            <a:r>
              <a:rPr lang="en-US" dirty="0"/>
              <a:t>)</a:t>
            </a:r>
          </a:p>
          <a:p>
            <a:r>
              <a:rPr lang="en-US" dirty="0"/>
              <a:t>Press F9 (or click on </a:t>
            </a:r>
            <a:r>
              <a:rPr lang="en-US" b="1" dirty="0">
                <a:solidFill>
                  <a:srgbClr val="8AA63D"/>
                </a:solidFill>
              </a:rPr>
              <a:t>Run Button</a:t>
            </a:r>
            <a:r>
              <a:rPr lang="en-US" dirty="0"/>
              <a:t>)</a:t>
            </a:r>
          </a:p>
          <a:p>
            <a:endParaRPr lang="en-US" sz="500" dirty="0"/>
          </a:p>
          <a:p>
            <a:r>
              <a:rPr lang="en-US" dirty="0"/>
              <a:t>Check process window (Normal Completion)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49B7E1B-0345-46F3-8132-196B7B0AE7F9}"/>
              </a:ext>
            </a:extLst>
          </p:cNvPr>
          <p:cNvSpPr/>
          <p:nvPr/>
        </p:nvSpPr>
        <p:spPr>
          <a:xfrm>
            <a:off x="1877646" y="5418844"/>
            <a:ext cx="1256079" cy="376256"/>
          </a:xfrm>
          <a:prstGeom prst="rect">
            <a:avLst/>
          </a:prstGeom>
          <a:noFill/>
          <a:ln w="44450">
            <a:solidFill>
              <a:srgbClr val="C34E2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21BB45A-D087-4018-BC05-2B689FDE22B5}"/>
              </a:ext>
            </a:extLst>
          </p:cNvPr>
          <p:cNvSpPr txBox="1"/>
          <p:nvPr/>
        </p:nvSpPr>
        <p:spPr>
          <a:xfrm>
            <a:off x="6426935" y="4155456"/>
            <a:ext cx="26503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>
                <a:solidFill>
                  <a:srgbClr val="54544B"/>
                </a:solidFill>
              </a:rPr>
              <a:t>1national.gms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FDFFEC-B5EC-4276-BBEB-7C5A656BA107}"/>
              </a:ext>
            </a:extLst>
          </p:cNvPr>
          <p:cNvSpPr/>
          <p:nvPr/>
        </p:nvSpPr>
        <p:spPr>
          <a:xfrm>
            <a:off x="2009775" y="6324674"/>
            <a:ext cx="1847850" cy="311329"/>
          </a:xfrm>
          <a:prstGeom prst="rect">
            <a:avLst/>
          </a:prstGeom>
          <a:noFill/>
          <a:ln w="44450">
            <a:solidFill>
              <a:srgbClr val="0B8EB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D921CC0-9ECF-498B-B1E9-DEDE8260C9CE}"/>
              </a:ext>
            </a:extLst>
          </p:cNvPr>
          <p:cNvSpPr/>
          <p:nvPr/>
        </p:nvSpPr>
        <p:spPr>
          <a:xfrm>
            <a:off x="4210047" y="4676369"/>
            <a:ext cx="333378" cy="381406"/>
          </a:xfrm>
          <a:prstGeom prst="rect">
            <a:avLst/>
          </a:prstGeom>
          <a:noFill/>
          <a:ln w="44450">
            <a:solidFill>
              <a:srgbClr val="8AA63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8E36431-96B6-484C-93AB-6DD410F8E341}"/>
              </a:ext>
            </a:extLst>
          </p:cNvPr>
          <p:cNvSpPr txBox="1"/>
          <p:nvPr/>
        </p:nvSpPr>
        <p:spPr>
          <a:xfrm>
            <a:off x="6426935" y="3788207"/>
            <a:ext cx="26503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>
                <a:solidFill>
                  <a:srgbClr val="54544B"/>
                </a:solidFill>
              </a:rPr>
              <a:t>3households.gms</a:t>
            </a:r>
          </a:p>
        </p:txBody>
      </p:sp>
    </p:spTree>
    <p:extLst>
      <p:ext uri="{BB962C8B-B14F-4D97-AF65-F5344CB8AC3E}">
        <p14:creationId xmlns:p14="http://schemas.microsoft.com/office/powerpoint/2010/main" val="168657089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8C1DE9-C6D1-47EF-ADD0-B3C8D25EA3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Household Imbalances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F67E3F-1441-4FAC-B6BB-C20EFB3418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6278" y="1297800"/>
            <a:ext cx="5540621" cy="3736732"/>
          </a:xfrm>
        </p:spPr>
        <p:txBody>
          <a:bodyPr/>
          <a:lstStyle/>
          <a:p>
            <a:r>
              <a:rPr lang="en-US" dirty="0"/>
              <a:t>Check </a:t>
            </a:r>
            <a:r>
              <a:rPr lang="en-US" b="1" dirty="0"/>
              <a:t>0households_national.xlsx</a:t>
            </a:r>
          </a:p>
          <a:p>
            <a:endParaRPr lang="en-US" sz="900" dirty="0"/>
          </a:p>
          <a:p>
            <a:r>
              <a:rPr lang="en-US" b="1" dirty="0"/>
              <a:t>Household information </a:t>
            </a:r>
          </a:p>
          <a:p>
            <a:pPr lvl="1"/>
            <a:r>
              <a:rPr lang="en-US" dirty="0">
                <a:solidFill>
                  <a:srgbClr val="C34E2D"/>
                </a:solidFill>
              </a:rPr>
              <a:t>Income shares </a:t>
            </a:r>
            <a:r>
              <a:rPr lang="en-US" dirty="0"/>
              <a:t>across factors &amp; other sources</a:t>
            </a:r>
          </a:p>
          <a:p>
            <a:pPr lvl="1"/>
            <a:r>
              <a:rPr lang="en-US" dirty="0"/>
              <a:t>Comparison of </a:t>
            </a:r>
            <a:r>
              <a:rPr lang="en-US" dirty="0">
                <a:solidFill>
                  <a:srgbClr val="0B8EB8"/>
                </a:solidFill>
              </a:rPr>
              <a:t>survey vs. SAM </a:t>
            </a:r>
            <a:r>
              <a:rPr lang="en-US" dirty="0"/>
              <a:t>per capita consumption </a:t>
            </a:r>
          </a:p>
          <a:p>
            <a:pPr lvl="1"/>
            <a:r>
              <a:rPr lang="en-US" dirty="0"/>
              <a:t>Household incomes vs. expenditures</a:t>
            </a:r>
          </a:p>
          <a:p>
            <a:endParaRPr lang="en-US" dirty="0"/>
          </a:p>
          <a:p>
            <a:endParaRPr lang="en-US" dirty="0"/>
          </a:p>
          <a:p>
            <a:pPr lvl="1"/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18BCB83-30B1-4C9E-8819-F390F31E02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260048"/>
            <a:ext cx="9144000" cy="1437736"/>
          </a:xfrm>
          <a:prstGeom prst="rect">
            <a:avLst/>
          </a:prstGeom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A7A0BFE-799A-4FEE-A086-4EDB78B2D1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2725" y="1276351"/>
            <a:ext cx="2581275" cy="3724275"/>
          </a:xfrm>
          <a:prstGeom prst="rect">
            <a:avLst/>
          </a:prstGeo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58C6A8F7-A35D-4C93-AA1C-D6DDCE99D86E}"/>
              </a:ext>
            </a:extLst>
          </p:cNvPr>
          <p:cNvSpPr/>
          <p:nvPr/>
        </p:nvSpPr>
        <p:spPr>
          <a:xfrm>
            <a:off x="1258521" y="5372071"/>
            <a:ext cx="7656879" cy="619153"/>
          </a:xfrm>
          <a:prstGeom prst="rect">
            <a:avLst/>
          </a:prstGeom>
          <a:noFill/>
          <a:ln w="44450">
            <a:solidFill>
              <a:srgbClr val="C34E2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502305B-920E-4BD4-B29A-0B2124A60F16}"/>
              </a:ext>
            </a:extLst>
          </p:cNvPr>
          <p:cNvSpPr/>
          <p:nvPr/>
        </p:nvSpPr>
        <p:spPr>
          <a:xfrm>
            <a:off x="6967537" y="1937035"/>
            <a:ext cx="885825" cy="2616453"/>
          </a:xfrm>
          <a:prstGeom prst="rect">
            <a:avLst/>
          </a:prstGeom>
          <a:noFill/>
          <a:ln w="44450">
            <a:solidFill>
              <a:srgbClr val="0B8EB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F37F24-176B-415D-ABAA-5A975DDE76D1}"/>
              </a:ext>
            </a:extLst>
          </p:cNvPr>
          <p:cNvSpPr txBox="1"/>
          <p:nvPr/>
        </p:nvSpPr>
        <p:spPr>
          <a:xfrm>
            <a:off x="3761765" y="4853338"/>
            <a:ext cx="26503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>
                <a:solidFill>
                  <a:srgbClr val="54544B"/>
                </a:solidFill>
              </a:rPr>
              <a:t>0households.xlsx | Workings</a:t>
            </a:r>
          </a:p>
        </p:txBody>
      </p:sp>
    </p:spTree>
    <p:extLst>
      <p:ext uri="{BB962C8B-B14F-4D97-AF65-F5344CB8AC3E}">
        <p14:creationId xmlns:p14="http://schemas.microsoft.com/office/powerpoint/2010/main" val="340087894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705FCF8B-8FBE-49E1-985B-7FABC03AB5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432455"/>
            <a:ext cx="9144000" cy="20608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6A2533A-002F-4DD7-BC27-65A705A79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Balancing the SAM in GAMS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2CAEB3-C507-4C62-81FD-6EAB2718E1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6279" y="1301994"/>
            <a:ext cx="8835781" cy="2803282"/>
          </a:xfrm>
        </p:spPr>
        <p:txBody>
          <a:bodyPr/>
          <a:lstStyle/>
          <a:p>
            <a:r>
              <a:rPr lang="en-US" dirty="0"/>
              <a:t>Click on SAM balancing file (</a:t>
            </a:r>
            <a:r>
              <a:rPr lang="en-US" b="1" dirty="0">
                <a:solidFill>
                  <a:srgbClr val="C34E2D"/>
                </a:solidFill>
              </a:rPr>
              <a:t>4balance.gms</a:t>
            </a:r>
            <a:r>
              <a:rPr lang="en-US" dirty="0"/>
              <a:t>)</a:t>
            </a:r>
          </a:p>
          <a:p>
            <a:r>
              <a:rPr lang="en-US" dirty="0"/>
              <a:t>Check you are restarting from the previous file (</a:t>
            </a:r>
            <a:r>
              <a:rPr lang="en-US" b="1" dirty="0">
                <a:solidFill>
                  <a:srgbClr val="0B8EB8"/>
                </a:solidFill>
              </a:rPr>
              <a:t>r=households</a:t>
            </a:r>
            <a:r>
              <a:rPr lang="en-US" dirty="0"/>
              <a:t>)</a:t>
            </a:r>
          </a:p>
          <a:p>
            <a:r>
              <a:rPr lang="en-US" dirty="0"/>
              <a:t>Press F9 (or click on </a:t>
            </a:r>
            <a:r>
              <a:rPr lang="en-US" b="1" dirty="0">
                <a:solidFill>
                  <a:srgbClr val="8AA63D"/>
                </a:solidFill>
              </a:rPr>
              <a:t>Run Button</a:t>
            </a:r>
            <a:r>
              <a:rPr lang="en-US" dirty="0"/>
              <a:t>)</a:t>
            </a:r>
          </a:p>
          <a:p>
            <a:endParaRPr lang="en-US" sz="800" dirty="0"/>
          </a:p>
          <a:p>
            <a:r>
              <a:rPr lang="en-US" dirty="0"/>
              <a:t>Check process window (Optimal Solution &amp; Normal Completion)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F14FA8E-F2BE-4635-896F-D4775AA73666}"/>
              </a:ext>
            </a:extLst>
          </p:cNvPr>
          <p:cNvSpPr/>
          <p:nvPr/>
        </p:nvSpPr>
        <p:spPr>
          <a:xfrm>
            <a:off x="2666999" y="5584581"/>
            <a:ext cx="1219201" cy="376256"/>
          </a:xfrm>
          <a:prstGeom prst="rect">
            <a:avLst/>
          </a:prstGeom>
          <a:noFill/>
          <a:ln w="44450">
            <a:solidFill>
              <a:srgbClr val="C34E2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7795C5B-5D48-46DB-8A2C-F2A9A9DDD248}"/>
              </a:ext>
            </a:extLst>
          </p:cNvPr>
          <p:cNvSpPr/>
          <p:nvPr/>
        </p:nvSpPr>
        <p:spPr>
          <a:xfrm>
            <a:off x="4299317" y="4937596"/>
            <a:ext cx="1228726" cy="311329"/>
          </a:xfrm>
          <a:prstGeom prst="rect">
            <a:avLst/>
          </a:prstGeom>
          <a:noFill/>
          <a:ln w="44450">
            <a:solidFill>
              <a:srgbClr val="0B8EB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B8C5C61-318B-4D3A-9DFC-8219ECA7FDB9}"/>
              </a:ext>
            </a:extLst>
          </p:cNvPr>
          <p:cNvSpPr/>
          <p:nvPr/>
        </p:nvSpPr>
        <p:spPr>
          <a:xfrm>
            <a:off x="3914775" y="4937596"/>
            <a:ext cx="315547" cy="286156"/>
          </a:xfrm>
          <a:prstGeom prst="rect">
            <a:avLst/>
          </a:prstGeom>
          <a:noFill/>
          <a:ln w="44450">
            <a:solidFill>
              <a:srgbClr val="8AA63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9914FA-C03B-4F82-BD18-D605AC3C82D4}"/>
              </a:ext>
            </a:extLst>
          </p:cNvPr>
          <p:cNvSpPr txBox="1"/>
          <p:nvPr/>
        </p:nvSpPr>
        <p:spPr>
          <a:xfrm>
            <a:off x="6426935" y="4155456"/>
            <a:ext cx="26503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>
                <a:solidFill>
                  <a:srgbClr val="54544B"/>
                </a:solidFill>
              </a:rPr>
              <a:t>4balance.gms</a:t>
            </a:r>
          </a:p>
        </p:txBody>
      </p:sp>
    </p:spTree>
    <p:extLst>
      <p:ext uri="{BB962C8B-B14F-4D97-AF65-F5344CB8AC3E}">
        <p14:creationId xmlns:p14="http://schemas.microsoft.com/office/powerpoint/2010/main" val="167762967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2F79EBEB-04F2-4999-BF5F-6C554BBEBD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9919" y="1455998"/>
            <a:ext cx="3824081" cy="5353714"/>
          </a:xfrm>
          <a:prstGeom prst="rect">
            <a:avLst/>
          </a:prstGeom>
          <a:effectLst>
            <a:outerShdw blurRad="50800" dist="38100" dir="13500000" algn="br" rotWithShape="0">
              <a:prstClr val="black">
                <a:alpha val="40000"/>
              </a:prst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6D29B61-37C8-455B-8F4A-F1DF90A7C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Viewing Balanced Household SAM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961FC5-219A-4123-A403-AAEAE81B25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6279" y="1301994"/>
            <a:ext cx="5058972" cy="4041532"/>
          </a:xfrm>
        </p:spPr>
        <p:txBody>
          <a:bodyPr/>
          <a:lstStyle/>
          <a:p>
            <a:r>
              <a:rPr lang="en-US" dirty="0"/>
              <a:t>Balanced SAMs are exported to the </a:t>
            </a:r>
            <a:r>
              <a:rPr lang="en-US" b="1" dirty="0"/>
              <a:t>0results.xlsx </a:t>
            </a:r>
            <a:r>
              <a:rPr lang="en-US" dirty="0"/>
              <a:t>file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Check </a:t>
            </a:r>
            <a:r>
              <a:rPr lang="en-US" b="1" dirty="0"/>
              <a:t>0households_national.xlsx </a:t>
            </a:r>
            <a:r>
              <a:rPr lang="en-US" dirty="0"/>
              <a:t>again to see how income and expenditure share changed during balancing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BD6983-E72F-4CE0-BF85-1EBCA5401471}"/>
              </a:ext>
            </a:extLst>
          </p:cNvPr>
          <p:cNvSpPr txBox="1"/>
          <p:nvPr/>
        </p:nvSpPr>
        <p:spPr>
          <a:xfrm>
            <a:off x="6493610" y="1083569"/>
            <a:ext cx="26503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>
                <a:solidFill>
                  <a:srgbClr val="54544B"/>
                </a:solidFill>
              </a:rPr>
              <a:t>0output.xlsx | Household sheet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35E7854-91AD-4E5C-A943-1E467C635BD6}"/>
              </a:ext>
            </a:extLst>
          </p:cNvPr>
          <p:cNvSpPr/>
          <p:nvPr/>
        </p:nvSpPr>
        <p:spPr>
          <a:xfrm>
            <a:off x="5800725" y="6471556"/>
            <a:ext cx="3276600" cy="376256"/>
          </a:xfrm>
          <a:prstGeom prst="rect">
            <a:avLst/>
          </a:prstGeom>
          <a:noFill/>
          <a:ln w="44450">
            <a:solidFill>
              <a:srgbClr val="C34E2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663877D-B9C2-486F-A197-D2A7407145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352" y="2352675"/>
            <a:ext cx="4314825" cy="361950"/>
          </a:xfrm>
          <a:prstGeom prst="rect">
            <a:avLst/>
          </a:prstGeom>
          <a:ln w="44450">
            <a:solidFill>
              <a:srgbClr val="C34E2D"/>
            </a:solidFill>
          </a:ln>
        </p:spPr>
      </p:pic>
    </p:spTree>
    <p:extLst>
      <p:ext uri="{BB962C8B-B14F-4D97-AF65-F5344CB8AC3E}">
        <p14:creationId xmlns:p14="http://schemas.microsoft.com/office/powerpoint/2010/main" val="2376805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4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4544B"/>
      </a:accent1>
      <a:accent2>
        <a:srgbClr val="FFB301"/>
      </a:accent2>
      <a:accent3>
        <a:srgbClr val="8AA63D"/>
      </a:accent3>
      <a:accent4>
        <a:srgbClr val="C34E2D"/>
      </a:accent4>
      <a:accent5>
        <a:srgbClr val="0B8EB8"/>
      </a:accent5>
      <a:accent6>
        <a:srgbClr val="F5F4F0"/>
      </a:accent6>
      <a:hlink>
        <a:srgbClr val="0563C1"/>
      </a:hlink>
      <a:folHlink>
        <a:srgbClr val="954F72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5084</TotalTime>
  <Words>2892</Words>
  <Application>Microsoft Office PowerPoint</Application>
  <PresentationFormat>On-screen Show (4:3)</PresentationFormat>
  <Paragraphs>698</Paragraphs>
  <Slides>45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9" baseType="lpstr">
      <vt:lpstr>Arial</vt:lpstr>
      <vt:lpstr>Calibri</vt:lpstr>
      <vt:lpstr>Cambria</vt:lpstr>
      <vt:lpstr>Office Theme</vt:lpstr>
      <vt:lpstr>Rwanda SAM Toolkit Standardized Approach to Building &amp; Updating SAMs</vt:lpstr>
      <vt:lpstr>SAM-Building Toolkit</vt:lpstr>
      <vt:lpstr>Process</vt:lpstr>
      <vt:lpstr>Toolkit Files</vt:lpstr>
      <vt:lpstr>PowerPoint Presentation</vt:lpstr>
      <vt:lpstr>Data Sources</vt:lpstr>
      <vt:lpstr>Entries</vt:lpstr>
      <vt:lpstr>Details</vt:lpstr>
      <vt:lpstr>Opening National SAM Excel File</vt:lpstr>
      <vt:lpstr>Worksheet Names</vt:lpstr>
      <vt:lpstr>Macro SAM Sheets</vt:lpstr>
      <vt:lpstr>Creating Macro T-Accounts</vt:lpstr>
      <vt:lpstr>Final Macro SAM</vt:lpstr>
      <vt:lpstr>PowerPoint Presentation</vt:lpstr>
      <vt:lpstr>Details</vt:lpstr>
      <vt:lpstr>Rwanda Activities &amp; Commodities</vt:lpstr>
      <vt:lpstr>Data Sources</vt:lpstr>
      <vt:lpstr>Entries</vt:lpstr>
      <vt:lpstr>Process</vt:lpstr>
      <vt:lpstr>SUT Sheets</vt:lpstr>
      <vt:lpstr>Supply-Use Table</vt:lpstr>
      <vt:lpstr>Toolkit Files</vt:lpstr>
      <vt:lpstr>Building the SAM in GAMS</vt:lpstr>
      <vt:lpstr>Checking GAMS Process Window</vt:lpstr>
      <vt:lpstr>Balancing the SAM in GAMS</vt:lpstr>
      <vt:lpstr>Checking GAMS Process Window</vt:lpstr>
      <vt:lpstr>Viewing Balanced National SAM</vt:lpstr>
      <vt:lpstr>Balancing SAMs (1)</vt:lpstr>
      <vt:lpstr>Balancing SAMs (2)</vt:lpstr>
      <vt:lpstr>Cross-Entropy</vt:lpstr>
      <vt:lpstr>Three Types of Controls</vt:lpstr>
      <vt:lpstr>Rwanda SAM Macro Controls</vt:lpstr>
      <vt:lpstr>PowerPoint Presentation</vt:lpstr>
      <vt:lpstr>Details</vt:lpstr>
      <vt:lpstr>Factors &amp; Households</vt:lpstr>
      <vt:lpstr>Data Sources</vt:lpstr>
      <vt:lpstr>Household Excel File</vt:lpstr>
      <vt:lpstr>Factor &amp; Household Worksheets</vt:lpstr>
      <vt:lpstr>Income Generation Matrix</vt:lpstr>
      <vt:lpstr>Income Distribution Matrix</vt:lpstr>
      <vt:lpstr>Household Consumption Matrices</vt:lpstr>
      <vt:lpstr>Building the Household SAM in GAMS</vt:lpstr>
      <vt:lpstr>Household Imbalances</vt:lpstr>
      <vt:lpstr>Balancing the SAM in GAMS</vt:lpstr>
      <vt:lpstr>Viewing Balanced Household SAM</vt:lpstr>
    </vt:vector>
  </TitlesOfParts>
  <Company>IFPRI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Thurlow, James (IFPRI)</dc:creator>
  <cp:lastModifiedBy>James Thurlow</cp:lastModifiedBy>
  <cp:revision>774</cp:revision>
  <dcterms:created xsi:type="dcterms:W3CDTF">2014-12-01T13:38:06Z</dcterms:created>
  <dcterms:modified xsi:type="dcterms:W3CDTF">2020-11-05T14:13:41Z</dcterms:modified>
</cp:coreProperties>
</file>