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1"/>
  </p:notesMasterIdLst>
  <p:sldIdLst>
    <p:sldId id="302" r:id="rId2"/>
    <p:sldId id="356" r:id="rId3"/>
    <p:sldId id="305" r:id="rId4"/>
    <p:sldId id="309" r:id="rId5"/>
    <p:sldId id="310" r:id="rId6"/>
    <p:sldId id="311" r:id="rId7"/>
    <p:sldId id="312" r:id="rId8"/>
    <p:sldId id="313" r:id="rId9"/>
    <p:sldId id="306" r:id="rId10"/>
    <p:sldId id="314" r:id="rId11"/>
    <p:sldId id="315" r:id="rId12"/>
    <p:sldId id="318" r:id="rId13"/>
    <p:sldId id="316" r:id="rId14"/>
    <p:sldId id="319" r:id="rId15"/>
    <p:sldId id="322" r:id="rId16"/>
    <p:sldId id="320" r:id="rId17"/>
    <p:sldId id="321" r:id="rId18"/>
    <p:sldId id="323" r:id="rId19"/>
    <p:sldId id="324" r:id="rId20"/>
    <p:sldId id="317" r:id="rId21"/>
    <p:sldId id="325" r:id="rId22"/>
    <p:sldId id="326" r:id="rId23"/>
    <p:sldId id="328" r:id="rId24"/>
    <p:sldId id="329" r:id="rId25"/>
    <p:sldId id="330" r:id="rId26"/>
    <p:sldId id="327" r:id="rId27"/>
    <p:sldId id="331" r:id="rId28"/>
    <p:sldId id="307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08" r:id="rId41"/>
    <p:sldId id="343" r:id="rId42"/>
    <p:sldId id="344" r:id="rId43"/>
    <p:sldId id="345" r:id="rId44"/>
    <p:sldId id="346" r:id="rId45"/>
    <p:sldId id="347" r:id="rId46"/>
    <p:sldId id="348" r:id="rId47"/>
    <p:sldId id="349" r:id="rId48"/>
    <p:sldId id="350" r:id="rId49"/>
    <p:sldId id="351" r:id="rId50"/>
    <p:sldId id="352" r:id="rId51"/>
    <p:sldId id="353" r:id="rId52"/>
    <p:sldId id="354" r:id="rId53"/>
    <p:sldId id="355" r:id="rId54"/>
    <p:sldId id="256" r:id="rId55"/>
    <p:sldId id="298" r:id="rId56"/>
    <p:sldId id="300" r:id="rId57"/>
    <p:sldId id="358" r:id="rId58"/>
    <p:sldId id="357" r:id="rId59"/>
    <p:sldId id="273" r:id="rId60"/>
    <p:sldId id="274" r:id="rId61"/>
    <p:sldId id="279" r:id="rId62"/>
    <p:sldId id="281" r:id="rId63"/>
    <p:sldId id="299" r:id="rId64"/>
    <p:sldId id="283" r:id="rId65"/>
    <p:sldId id="275" r:id="rId66"/>
    <p:sldId id="282" r:id="rId67"/>
    <p:sldId id="277" r:id="rId68"/>
    <p:sldId id="363" r:id="rId69"/>
    <p:sldId id="361" r:id="rId70"/>
    <p:sldId id="367" r:id="rId71"/>
    <p:sldId id="394" r:id="rId72"/>
    <p:sldId id="364" r:id="rId73"/>
    <p:sldId id="369" r:id="rId74"/>
    <p:sldId id="397" r:id="rId75"/>
    <p:sldId id="401" r:id="rId76"/>
    <p:sldId id="398" r:id="rId77"/>
    <p:sldId id="400" r:id="rId78"/>
    <p:sldId id="365" r:id="rId79"/>
    <p:sldId id="366" r:id="rId80"/>
    <p:sldId id="402" r:id="rId81"/>
    <p:sldId id="403" r:id="rId82"/>
    <p:sldId id="376" r:id="rId83"/>
    <p:sldId id="380" r:id="rId84"/>
    <p:sldId id="285" r:id="rId85"/>
    <p:sldId id="287" r:id="rId86"/>
    <p:sldId id="288" r:id="rId87"/>
    <p:sldId id="289" r:id="rId88"/>
    <p:sldId id="378" r:id="rId89"/>
    <p:sldId id="382" r:id="rId90"/>
    <p:sldId id="383" r:id="rId91"/>
    <p:sldId id="379" r:id="rId92"/>
    <p:sldId id="301" r:id="rId93"/>
    <p:sldId id="297" r:id="rId94"/>
    <p:sldId id="384" r:id="rId95"/>
    <p:sldId id="387" r:id="rId96"/>
    <p:sldId id="388" r:id="rId97"/>
    <p:sldId id="390" r:id="rId98"/>
    <p:sldId id="391" r:id="rId99"/>
    <p:sldId id="393" r:id="rId10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8EB8"/>
    <a:srgbClr val="C34E2D"/>
    <a:srgbClr val="5C8E3A"/>
    <a:srgbClr val="7F7F7F"/>
    <a:srgbClr val="FFB300"/>
    <a:srgbClr val="FFFFFF"/>
    <a:srgbClr val="8AA63D"/>
    <a:srgbClr val="FC6714"/>
    <a:srgbClr val="A0B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97" autoAdjust="0"/>
    <p:restoredTop sz="94660"/>
  </p:normalViewPr>
  <p:slideViewPr>
    <p:cSldViewPr snapToGrid="0">
      <p:cViewPr varScale="1">
        <p:scale>
          <a:sx n="67" d="100"/>
          <a:sy n="67" d="100"/>
        </p:scale>
        <p:origin x="300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Thurlow" userId="240290629_tp_dropbox_plus" providerId="OAuth2" clId="{EE3301A4-0897-4ACC-A9B2-50D55455BC7F}"/>
    <pc:docChg chg="undo custSel modSld">
      <pc:chgData name="James Thurlow" userId="240290629_tp_dropbox_plus" providerId="OAuth2" clId="{EE3301A4-0897-4ACC-A9B2-50D55455BC7F}" dt="2026-01-13T12:39:51.401" v="12" actId="20577"/>
      <pc:docMkLst>
        <pc:docMk/>
      </pc:docMkLst>
      <pc:sldChg chg="modSp mod">
        <pc:chgData name="James Thurlow" userId="240290629_tp_dropbox_plus" providerId="OAuth2" clId="{EE3301A4-0897-4ACC-A9B2-50D55455BC7F}" dt="2026-01-13T12:39:51.401" v="12" actId="20577"/>
        <pc:sldMkLst>
          <pc:docMk/>
          <pc:sldMk cId="1966958615" sldId="302"/>
        </pc:sldMkLst>
        <pc:spChg chg="mod">
          <ac:chgData name="James Thurlow" userId="240290629_tp_dropbox_plus" providerId="OAuth2" clId="{EE3301A4-0897-4ACC-A9B2-50D55455BC7F}" dt="2026-01-13T12:39:51.401" v="12" actId="20577"/>
          <ac:spMkLst>
            <pc:docMk/>
            <pc:sldMk cId="1966958615" sldId="302"/>
            <ac:spMk id="4" creationId="{1BA3F4D0-48C3-066A-7FE9-FEDFAAF36752}"/>
          </ac:spMkLst>
        </pc:spChg>
      </pc:sldChg>
      <pc:sldChg chg="modSp mod">
        <pc:chgData name="James Thurlow" userId="240290629_tp_dropbox_plus" providerId="OAuth2" clId="{EE3301A4-0897-4ACC-A9B2-50D55455BC7F}" dt="2026-01-13T12:36:34.026" v="0" actId="313"/>
        <pc:sldMkLst>
          <pc:docMk/>
          <pc:sldMk cId="2217492817" sldId="318"/>
        </pc:sldMkLst>
        <pc:spChg chg="mod">
          <ac:chgData name="James Thurlow" userId="240290629_tp_dropbox_plus" providerId="OAuth2" clId="{EE3301A4-0897-4ACC-A9B2-50D55455BC7F}" dt="2026-01-13T12:36:34.026" v="0" actId="313"/>
          <ac:spMkLst>
            <pc:docMk/>
            <pc:sldMk cId="2217492817" sldId="318"/>
            <ac:spMk id="2" creationId="{D35DE302-9009-11A4-F1ED-FC8A61122E0A}"/>
          </ac:spMkLst>
        </pc:spChg>
      </pc:sldChg>
      <pc:sldChg chg="modSp mod">
        <pc:chgData name="James Thurlow" userId="240290629_tp_dropbox_plus" providerId="OAuth2" clId="{EE3301A4-0897-4ACC-A9B2-50D55455BC7F}" dt="2026-01-13T12:37:42.923" v="6" actId="20577"/>
        <pc:sldMkLst>
          <pc:docMk/>
          <pc:sldMk cId="488696359" sldId="323"/>
        </pc:sldMkLst>
        <pc:spChg chg="mod">
          <ac:chgData name="James Thurlow" userId="240290629_tp_dropbox_plus" providerId="OAuth2" clId="{EE3301A4-0897-4ACC-A9B2-50D55455BC7F}" dt="2026-01-13T12:37:42.923" v="6" actId="20577"/>
          <ac:spMkLst>
            <pc:docMk/>
            <pc:sldMk cId="488696359" sldId="323"/>
            <ac:spMk id="20" creationId="{E051A5DD-7DBB-90BD-3A31-CA2B62E64DC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cgiar-my.sharepoint.com/personal/j_thurlow_cgiar_org/Documents/Desktop/RIAPA%20Overview/Workings_01032023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https://cgiar-my.sharepoint.com/personal/j_thurlow_cgiar_org/Documents/Desktop/RIAPA%20Overview/Workings_01032023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cgiar-my.sharepoint.com/personal/j_thurlow_cgiar_org/Documents/Desktop/RIAPA%20Overview/Workings_01032023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ropbox%20(IFPRI)\2%20RIAPA\Slides\RIAPA\CG%20Country%20Calcs%20(w%20ZAR%20CHN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ropbox%20(IFPRI)\2%20RIAPA\Slides\RIAPA\CG%20Country%20Calcs%20(w%20ZAR%20CHN)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ropbox%20(IFPRI)\2%20RIAPA\Slides\RIAPA\CG%20Country%20Calcs%20(w%20ZAR%20CHN)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ropbox%20(IFPRI)\2%20RIAPA\Slides\RIAPA\CG%20Country%20Calcs%20(w%20ZAR%20CHN)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ropbox%20(IFPRI)\2%20RIAPA\Slides\RIAPA\CG%20Country%20Calcs%20(w%20ZAR%20CHN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689333140534424"/>
          <c:y val="0.23271026905232045"/>
          <c:w val="0.80865786625394187"/>
          <c:h val="0.609823541079684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'DEC_GDP (2)'!$AX$9</c:f>
              <c:strCache>
                <c:ptCount val="1"/>
                <c:pt idx="0">
                  <c:v>Primary agriculture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CC7-4282-8206-9DDC80B5033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(2)'!$AW$10:$AW$14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(2)'!$AX$10:$AX$14</c:f>
              <c:numCache>
                <c:formatCode>0%</c:formatCode>
                <c:ptCount val="5"/>
                <c:pt idx="0">
                  <c:v>4.2304058578289089E-2</c:v>
                </c:pt>
                <c:pt idx="1">
                  <c:v>0.2635673860876902</c:v>
                </c:pt>
                <c:pt idx="2">
                  <c:v>0.16863984453564984</c:v>
                </c:pt>
                <c:pt idx="3">
                  <c:v>7.1282428860018524E-2</c:v>
                </c:pt>
                <c:pt idx="4">
                  <c:v>1.2221989880270283E-2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C7-4282-8206-9DDC80B5033C}"/>
            </c:ext>
          </c:extLst>
        </c:ser>
        <c:ser>
          <c:idx val="1"/>
          <c:order val="1"/>
          <c:tx>
            <c:strRef>
              <c:f>'DEC_GDP (2)'!$AY$9</c:f>
              <c:strCache>
                <c:ptCount val="1"/>
                <c:pt idx="0">
                  <c:v>Off-farm agri-food system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(2)'!$AW$10:$AW$14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(2)'!$AY$10:$AY$14</c:f>
              <c:numCache>
                <c:formatCode>0%</c:formatCode>
                <c:ptCount val="5"/>
                <c:pt idx="0">
                  <c:v>8.2063191072052497E-2</c:v>
                </c:pt>
                <c:pt idx="1">
                  <c:v>0.13438158567564656</c:v>
                </c:pt>
                <c:pt idx="2">
                  <c:v>0.11928427335156194</c:v>
                </c:pt>
                <c:pt idx="3">
                  <c:v>0.10589761010339775</c:v>
                </c:pt>
                <c:pt idx="4">
                  <c:v>6.6069038213559028E-2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C7-4282-8206-9DDC80B503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175822784"/>
        <c:axId val="1175832768"/>
      </c:barChart>
      <c:lineChart>
        <c:grouping val="standard"/>
        <c:varyColors val="0"/>
        <c:ser>
          <c:idx val="2"/>
          <c:order val="2"/>
          <c:tx>
            <c:strRef>
              <c:f>'DEC_GDP (2)'!$AZ$9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(2)'!$AW$10:$AW$14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(2)'!$AZ$10:$AZ$14</c:f>
              <c:numCache>
                <c:formatCode>0%</c:formatCode>
                <c:ptCount val="5"/>
                <c:pt idx="0">
                  <c:v>0.12436724965034159</c:v>
                </c:pt>
                <c:pt idx="1">
                  <c:v>0.39794897176333677</c:v>
                </c:pt>
                <c:pt idx="2">
                  <c:v>0.28792411788721178</c:v>
                </c:pt>
                <c:pt idx="3">
                  <c:v>0.17718003896341628</c:v>
                </c:pt>
                <c:pt idx="4">
                  <c:v>7.8291028093829318E-2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CC7-4282-8206-9DDC80B503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5822784"/>
        <c:axId val="1175832768"/>
      </c:lineChart>
      <c:catAx>
        <c:axId val="117582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75832768"/>
        <c:crosses val="autoZero"/>
        <c:auto val="1"/>
        <c:lblAlgn val="ctr"/>
        <c:lblOffset val="100"/>
        <c:noMultiLvlLbl val="0"/>
      </c:catAx>
      <c:valAx>
        <c:axId val="1175832768"/>
        <c:scaling>
          <c:orientation val="minMax"/>
          <c:max val="0.5"/>
        </c:scaling>
        <c:delete val="1"/>
        <c:axPos val="l"/>
        <c:numFmt formatCode="0" sourceLinked="0"/>
        <c:majorTickMark val="none"/>
        <c:minorTickMark val="none"/>
        <c:tickLblPos val="nextTo"/>
        <c:crossAx val="1175822784"/>
        <c:crosses val="autoZero"/>
        <c:crossBetween val="between"/>
      </c:valAx>
    </c:plotArea>
    <c:legend>
      <c:legendPos val="t"/>
      <c:legendEntry>
        <c:idx val="2"/>
        <c:delete val="1"/>
      </c:legendEntry>
      <c:layout>
        <c:manualLayout>
          <c:xMode val="edge"/>
          <c:yMode val="edge"/>
          <c:x val="0.2021788463157565"/>
          <c:y val="2.6525520265706346E-2"/>
          <c:w val="0.63019801107828222"/>
          <c:h val="0.20377980662066153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+mn-lt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689333140534424"/>
          <c:y val="0.23271026905232045"/>
          <c:w val="0.80865786625394187"/>
          <c:h val="0.609823541079684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'DEC_GDP (2)'!$BC$9</c:f>
              <c:strCache>
                <c:ptCount val="1"/>
                <c:pt idx="0">
                  <c:v>Primary agriculture</c:v>
                </c:pt>
              </c:strCache>
            </c:strRef>
          </c:tx>
          <c:spPr>
            <a:solidFill>
              <a:srgbClr val="7F7F7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(2)'!$BB$10:$BB$14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(2)'!$BC$10:$BC$14</c:f>
              <c:numCache>
                <c:formatCode>0%</c:formatCode>
                <c:ptCount val="5"/>
                <c:pt idx="0">
                  <c:v>0.34015433080032653</c:v>
                </c:pt>
                <c:pt idx="1">
                  <c:v>0.66231452972426752</c:v>
                </c:pt>
                <c:pt idx="2">
                  <c:v>0.58570933818649729</c:v>
                </c:pt>
                <c:pt idx="3">
                  <c:v>0.40231636293260292</c:v>
                </c:pt>
                <c:pt idx="4">
                  <c:v>0.15610971241331273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6F-4CD3-950C-DBD03E70D80F}"/>
            </c:ext>
          </c:extLst>
        </c:ser>
        <c:ser>
          <c:idx val="1"/>
          <c:order val="1"/>
          <c:tx>
            <c:strRef>
              <c:f>'DEC_GDP (2)'!$BD$9</c:f>
              <c:strCache>
                <c:ptCount val="1"/>
                <c:pt idx="0">
                  <c:v>Off-farm agri-food system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(2)'!$BB$10:$BB$14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(2)'!$BD$10:$BD$14</c:f>
              <c:numCache>
                <c:formatCode>0%</c:formatCode>
                <c:ptCount val="5"/>
                <c:pt idx="0">
                  <c:v>0.65984566919967347</c:v>
                </c:pt>
                <c:pt idx="1">
                  <c:v>0.33768547027573248</c:v>
                </c:pt>
                <c:pt idx="2">
                  <c:v>0.41429066181350271</c:v>
                </c:pt>
                <c:pt idx="3">
                  <c:v>0.59768363706739702</c:v>
                </c:pt>
                <c:pt idx="4">
                  <c:v>0.84389028758668727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6F-4CD3-950C-DBD03E70D8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175822784"/>
        <c:axId val="1175832768"/>
      </c:barChart>
      <c:catAx>
        <c:axId val="117582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75832768"/>
        <c:crosses val="autoZero"/>
        <c:auto val="1"/>
        <c:lblAlgn val="ctr"/>
        <c:lblOffset val="100"/>
        <c:noMultiLvlLbl val="0"/>
      </c:catAx>
      <c:valAx>
        <c:axId val="1175832768"/>
        <c:scaling>
          <c:orientation val="minMax"/>
          <c:max val="1"/>
        </c:scaling>
        <c:delete val="1"/>
        <c:axPos val="l"/>
        <c:numFmt formatCode="0" sourceLinked="0"/>
        <c:majorTickMark val="out"/>
        <c:minorTickMark val="none"/>
        <c:tickLblPos val="nextTo"/>
        <c:crossAx val="11758227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2021788463157565"/>
          <c:y val="2.6525520265706346E-2"/>
          <c:w val="0.73994589032378133"/>
          <c:h val="0.1542705973762393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+mn-lt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689333140534424"/>
          <c:y val="0.23271026905232045"/>
          <c:w val="0.80865786625394187"/>
          <c:h val="0.609823541079684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'DEC_GDP (2)'!$BH$9</c:f>
              <c:strCache>
                <c:ptCount val="1"/>
                <c:pt idx="0">
                  <c:v>Processing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(2)'!$BG$10:$BG$14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(2)'!$BH$10:$BH$14</c:f>
              <c:numCache>
                <c:formatCode>0%</c:formatCode>
                <c:ptCount val="5"/>
                <c:pt idx="0">
                  <c:v>0.3374740097696779</c:v>
                </c:pt>
                <c:pt idx="1">
                  <c:v>0.37769353074768647</c:v>
                </c:pt>
                <c:pt idx="2">
                  <c:v>0.38360701014303961</c:v>
                </c:pt>
                <c:pt idx="3">
                  <c:v>0.46852415416010151</c:v>
                </c:pt>
                <c:pt idx="4">
                  <c:v>0.26066276281939704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8E-446B-803D-0A9CEADD7153}"/>
            </c:ext>
          </c:extLst>
        </c:ser>
        <c:ser>
          <c:idx val="1"/>
          <c:order val="1"/>
          <c:tx>
            <c:strRef>
              <c:f>'DEC_GDP (2)'!$BI$9</c:f>
              <c:strCache>
                <c:ptCount val="1"/>
                <c:pt idx="0">
                  <c:v>Trade and transport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(2)'!$BG$10:$BG$14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(2)'!$BI$10:$BI$14</c:f>
              <c:numCache>
                <c:formatCode>0%</c:formatCode>
                <c:ptCount val="5"/>
                <c:pt idx="0">
                  <c:v>0.31730922823566704</c:v>
                </c:pt>
                <c:pt idx="1">
                  <c:v>0.42760760632222672</c:v>
                </c:pt>
                <c:pt idx="2">
                  <c:v>0.38634821875169734</c:v>
                </c:pt>
                <c:pt idx="3">
                  <c:v>0.21390194318249406</c:v>
                </c:pt>
                <c:pt idx="4">
                  <c:v>0.3587497939466931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8E-446B-803D-0A9CEADD7153}"/>
            </c:ext>
          </c:extLst>
        </c:ser>
        <c:ser>
          <c:idx val="2"/>
          <c:order val="2"/>
          <c:tx>
            <c:strRef>
              <c:f>'DEC_GDP (2)'!$BJ$9</c:f>
              <c:strCache>
                <c:ptCount val="1"/>
                <c:pt idx="0">
                  <c:v>Input supply</c:v>
                </c:pt>
              </c:strCache>
            </c:strRef>
          </c:tx>
          <c:spPr>
            <a:solidFill>
              <a:srgbClr val="6F1717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(2)'!$BG$10:$BG$14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(2)'!$BJ$10:$BJ$14</c:f>
              <c:numCache>
                <c:formatCode>0%</c:formatCode>
                <c:ptCount val="5"/>
                <c:pt idx="0">
                  <c:v>0.11383017525411264</c:v>
                </c:pt>
                <c:pt idx="1">
                  <c:v>5.8090383596702294E-2</c:v>
                </c:pt>
                <c:pt idx="2">
                  <c:v>0.1180228716104243</c:v>
                </c:pt>
                <c:pt idx="3">
                  <c:v>0.13523169053195802</c:v>
                </c:pt>
                <c:pt idx="4">
                  <c:v>0.10282244858386905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8E-446B-803D-0A9CEADD7153}"/>
            </c:ext>
          </c:extLst>
        </c:ser>
        <c:ser>
          <c:idx val="3"/>
          <c:order val="3"/>
          <c:tx>
            <c:strRef>
              <c:f>'DEC_GDP (2)'!$BK$9</c:f>
              <c:strCache>
                <c:ptCount val="1"/>
                <c:pt idx="0">
                  <c:v>Food services</c:v>
                </c:pt>
              </c:strCache>
            </c:strRef>
          </c:tx>
          <c:spPr>
            <a:solidFill>
              <a:srgbClr val="5799D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(2)'!$BG$10:$BG$14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(2)'!$BK$10:$BK$14</c:f>
              <c:numCache>
                <c:formatCode>0%</c:formatCode>
                <c:ptCount val="5"/>
                <c:pt idx="0">
                  <c:v>0.23138658674054244</c:v>
                </c:pt>
                <c:pt idx="1">
                  <c:v>0.13660847933338446</c:v>
                </c:pt>
                <c:pt idx="2">
                  <c:v>0.1120218994948388</c:v>
                </c:pt>
                <c:pt idx="3">
                  <c:v>0.18234221212544635</c:v>
                </c:pt>
                <c:pt idx="4">
                  <c:v>0.27776499465004079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8E-446B-803D-0A9CEADD71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175822784"/>
        <c:axId val="1175832768"/>
      </c:barChart>
      <c:catAx>
        <c:axId val="117582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75832768"/>
        <c:crosses val="autoZero"/>
        <c:auto val="1"/>
        <c:lblAlgn val="ctr"/>
        <c:lblOffset val="100"/>
        <c:noMultiLvlLbl val="0"/>
      </c:catAx>
      <c:valAx>
        <c:axId val="1175832768"/>
        <c:scaling>
          <c:orientation val="minMax"/>
          <c:max val="1"/>
        </c:scaling>
        <c:delete val="1"/>
        <c:axPos val="l"/>
        <c:numFmt formatCode="0" sourceLinked="0"/>
        <c:majorTickMark val="out"/>
        <c:minorTickMark val="none"/>
        <c:tickLblPos val="nextTo"/>
        <c:crossAx val="1175822784"/>
        <c:crosses val="autoZero"/>
        <c:crossBetween val="between"/>
      </c:valAx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+mn-lt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'POP+GDP'!$AJ$21</c:f>
              <c:strCache>
                <c:ptCount val="1"/>
                <c:pt idx="0">
                  <c:v>Population</c:v>
                </c:pt>
              </c:strCache>
            </c:strRef>
          </c:tx>
          <c:dPt>
            <c:idx val="0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7FD-4C4D-8A49-994B4255EDAF}"/>
              </c:ext>
            </c:extLst>
          </c:dPt>
          <c:dPt>
            <c:idx val="1"/>
            <c:bubble3D val="0"/>
            <c:spPr>
              <a:solidFill>
                <a:srgbClr val="8A8A8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7FD-4C4D-8A49-994B4255EDAF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7FD-4C4D-8A49-994B4255EDA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'POP+GDP'!$AI$22:$AI$23</c:f>
              <c:strCache>
                <c:ptCount val="2"/>
                <c:pt idx="0">
                  <c:v>Covered</c:v>
                </c:pt>
                <c:pt idx="1">
                  <c:v>Not covered</c:v>
                </c:pt>
              </c:strCache>
            </c:strRef>
          </c:cat>
          <c:val>
            <c:numRef>
              <c:f>'POP+GDP'!$AJ$22:$AJ$23</c:f>
              <c:numCache>
                <c:formatCode>0.0%</c:formatCode>
                <c:ptCount val="2"/>
                <c:pt idx="0">
                  <c:v>0.75204891234630589</c:v>
                </c:pt>
                <c:pt idx="1">
                  <c:v>0.24795108765369411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7FD-4C4D-8A49-994B4255ED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'POP+GDP'!$AO$21</c:f>
              <c:strCache>
                <c:ptCount val="1"/>
                <c:pt idx="0">
                  <c:v>AgEMP</c:v>
                </c:pt>
              </c:strCache>
            </c:strRef>
          </c:tx>
          <c:dPt>
            <c:idx val="0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333-4EED-A2CB-90EC011829F4}"/>
              </c:ext>
            </c:extLst>
          </c:dPt>
          <c:dPt>
            <c:idx val="1"/>
            <c:bubble3D val="0"/>
            <c:spPr>
              <a:solidFill>
                <a:srgbClr val="8A8A8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333-4EED-A2CB-90EC011829F4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33-4EED-A2CB-90EC011829F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'POP+GDP'!$AI$22:$AI$23</c:f>
              <c:strCache>
                <c:ptCount val="2"/>
                <c:pt idx="0">
                  <c:v>Covered</c:v>
                </c:pt>
                <c:pt idx="1">
                  <c:v>Not covered</c:v>
                </c:pt>
              </c:strCache>
            </c:strRef>
          </c:cat>
          <c:val>
            <c:numRef>
              <c:f>'POP+GDP'!$AO$22:$AO$23</c:f>
              <c:numCache>
                <c:formatCode>0.0%</c:formatCode>
                <c:ptCount val="2"/>
                <c:pt idx="0">
                  <c:v>0.84125935168146904</c:v>
                </c:pt>
                <c:pt idx="1">
                  <c:v>0.15874064831853096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33-4EED-A2CB-90EC011829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'POP+GDP'!$AS$21</c:f>
              <c:strCache>
                <c:ptCount val="1"/>
                <c:pt idx="0">
                  <c:v>Hungry</c:v>
                </c:pt>
              </c:strCache>
            </c:strRef>
          </c:tx>
          <c:dPt>
            <c:idx val="0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3-4D9C-81A4-1BBEFCB1EB38}"/>
              </c:ext>
            </c:extLst>
          </c:dPt>
          <c:dPt>
            <c:idx val="1"/>
            <c:bubble3D val="0"/>
            <c:spPr>
              <a:solidFill>
                <a:srgbClr val="8A8A8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3-4D9C-81A4-1BBEFCB1EB38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283-4D9C-81A4-1BBEFCB1EB3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'POP+GDP'!$AI$22:$AI$23</c:f>
              <c:strCache>
                <c:ptCount val="2"/>
                <c:pt idx="0">
                  <c:v>Covered</c:v>
                </c:pt>
                <c:pt idx="1">
                  <c:v>Not covered</c:v>
                </c:pt>
              </c:strCache>
            </c:strRef>
          </c:cat>
          <c:val>
            <c:numRef>
              <c:f>'POP+GDP'!$AS$22:$AS$23</c:f>
              <c:numCache>
                <c:formatCode>0.0%</c:formatCode>
                <c:ptCount val="2"/>
                <c:pt idx="0">
                  <c:v>0.78682358860085166</c:v>
                </c:pt>
                <c:pt idx="1">
                  <c:v>0.21317641139914834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83-4D9C-81A4-1BBEFCB1EB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'POP+GDP'!$AR$21</c:f>
              <c:strCache>
                <c:ptCount val="1"/>
                <c:pt idx="0">
                  <c:v>Poor</c:v>
                </c:pt>
              </c:strCache>
            </c:strRef>
          </c:tx>
          <c:dPt>
            <c:idx val="0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7C-4D47-B8BC-740CFB309085}"/>
              </c:ext>
            </c:extLst>
          </c:dPt>
          <c:dPt>
            <c:idx val="1"/>
            <c:bubble3D val="0"/>
            <c:spPr>
              <a:solidFill>
                <a:srgbClr val="8A8A8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7C-4D47-B8BC-740CFB309085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7C-4D47-B8BC-740CFB30908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'POP+GDP'!$AI$22:$AI$23</c:f>
              <c:strCache>
                <c:ptCount val="2"/>
                <c:pt idx="0">
                  <c:v>Covered</c:v>
                </c:pt>
                <c:pt idx="1">
                  <c:v>Not covered</c:v>
                </c:pt>
              </c:strCache>
            </c:strRef>
          </c:cat>
          <c:val>
            <c:numRef>
              <c:f>'POP+GDP'!$AR$22:$AR$23</c:f>
              <c:numCache>
                <c:formatCode>0.0%</c:formatCode>
                <c:ptCount val="2"/>
                <c:pt idx="0">
                  <c:v>0.86180166735007158</c:v>
                </c:pt>
                <c:pt idx="1">
                  <c:v>0.13819833264992842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7C-4D47-B8BC-740CFB3090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'POP+GDP'!$AQ$21</c:f>
              <c:strCache>
                <c:ptCount val="1"/>
                <c:pt idx="0">
                  <c:v>GHG</c:v>
                </c:pt>
              </c:strCache>
            </c:strRef>
          </c:tx>
          <c:dPt>
            <c:idx val="0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306-4701-B37F-61B9D454AFC8}"/>
              </c:ext>
            </c:extLst>
          </c:dPt>
          <c:dPt>
            <c:idx val="1"/>
            <c:bubble3D val="0"/>
            <c:spPr>
              <a:solidFill>
                <a:srgbClr val="8A8A8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306-4701-B37F-61B9D454AFC8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06-4701-B37F-61B9D454AFC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'POP+GDP'!$AI$22:$AI$23</c:f>
              <c:strCache>
                <c:ptCount val="2"/>
                <c:pt idx="0">
                  <c:v>Covered</c:v>
                </c:pt>
                <c:pt idx="1">
                  <c:v>Not covered</c:v>
                </c:pt>
              </c:strCache>
            </c:strRef>
          </c:cat>
          <c:val>
            <c:numRef>
              <c:f>'POP+GDP'!$AQ$22:$AQ$23</c:f>
              <c:numCache>
                <c:formatCode>0.0%</c:formatCode>
                <c:ptCount val="2"/>
                <c:pt idx="0">
                  <c:v>0.71609534950282405</c:v>
                </c:pt>
                <c:pt idx="1">
                  <c:v>0.28390465049717595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306-4701-B37F-61B9D454AF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386065-EE3B-47A5-8C77-3DD65D2152D9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C39E2C75-D7E9-43B3-8084-6A6C72D8A873}">
      <dgm:prSet phldrT="[Text]"/>
      <dgm:spPr>
        <a:solidFill>
          <a:schemeClr val="accent5">
            <a:lumMod val="50000"/>
            <a:alpha val="75000"/>
          </a:schemeClr>
        </a:solidFill>
        <a:ln>
          <a:noFill/>
        </a:ln>
      </dgm:spPr>
      <dgm:t>
        <a:bodyPr/>
        <a:lstStyle/>
        <a:p>
          <a:endParaRPr lang="en-US" dirty="0"/>
        </a:p>
      </dgm:t>
    </dgm:pt>
    <dgm:pt modelId="{57558909-1D55-4F63-95A0-053070E64095}" type="parTrans" cxnId="{8E7F5AA6-5E6A-476E-B6D9-3E0FE100D368}">
      <dgm:prSet/>
      <dgm:spPr/>
      <dgm:t>
        <a:bodyPr/>
        <a:lstStyle/>
        <a:p>
          <a:endParaRPr lang="en-US"/>
        </a:p>
      </dgm:t>
    </dgm:pt>
    <dgm:pt modelId="{5228B852-750A-44C1-9142-B5ABDBC4713C}" type="sibTrans" cxnId="{8E7F5AA6-5E6A-476E-B6D9-3E0FE100D368}">
      <dgm:prSet/>
      <dgm:spPr/>
      <dgm:t>
        <a:bodyPr/>
        <a:lstStyle/>
        <a:p>
          <a:endParaRPr lang="en-US"/>
        </a:p>
      </dgm:t>
    </dgm:pt>
    <dgm:pt modelId="{8BE17B8F-5E8A-4BFB-BB3A-179A75843ABD}">
      <dgm:prSet phldrT="[Text]"/>
      <dgm:spPr>
        <a:solidFill>
          <a:srgbClr val="C00000">
            <a:alpha val="75000"/>
          </a:srgbClr>
        </a:solidFill>
        <a:ln>
          <a:noFill/>
        </a:ln>
      </dgm:spPr>
      <dgm:t>
        <a:bodyPr/>
        <a:lstStyle/>
        <a:p>
          <a:endParaRPr lang="en-US" dirty="0"/>
        </a:p>
      </dgm:t>
    </dgm:pt>
    <dgm:pt modelId="{5D38B76A-A276-4CF4-9CF5-70C7B63CDEB5}" type="parTrans" cxnId="{064F9D3B-E1DB-4C63-91E4-29728861811E}">
      <dgm:prSet/>
      <dgm:spPr/>
      <dgm:t>
        <a:bodyPr/>
        <a:lstStyle/>
        <a:p>
          <a:endParaRPr lang="en-US"/>
        </a:p>
      </dgm:t>
    </dgm:pt>
    <dgm:pt modelId="{478F8995-9ADF-42E4-8EBE-B63BE4DD0ADF}" type="sibTrans" cxnId="{064F9D3B-E1DB-4C63-91E4-29728861811E}">
      <dgm:prSet/>
      <dgm:spPr/>
      <dgm:t>
        <a:bodyPr/>
        <a:lstStyle/>
        <a:p>
          <a:endParaRPr lang="en-US"/>
        </a:p>
      </dgm:t>
    </dgm:pt>
    <dgm:pt modelId="{6031FF9C-CC3D-49FC-B307-07703114F5EB}">
      <dgm:prSet phldrT="[Text]"/>
      <dgm:spPr>
        <a:solidFill>
          <a:schemeClr val="bg1">
            <a:lumMod val="50000"/>
            <a:alpha val="75000"/>
          </a:schemeClr>
        </a:solidFill>
        <a:ln>
          <a:noFill/>
        </a:ln>
      </dgm:spPr>
      <dgm:t>
        <a:bodyPr/>
        <a:lstStyle/>
        <a:p>
          <a:endParaRPr lang="en-US" dirty="0"/>
        </a:p>
      </dgm:t>
    </dgm:pt>
    <dgm:pt modelId="{40E0A625-6A27-4350-898B-5C3F8A89C344}" type="parTrans" cxnId="{9307E2E2-BB5C-44CE-8A32-FB3B0E385AD8}">
      <dgm:prSet/>
      <dgm:spPr/>
      <dgm:t>
        <a:bodyPr/>
        <a:lstStyle/>
        <a:p>
          <a:endParaRPr lang="en-US"/>
        </a:p>
      </dgm:t>
    </dgm:pt>
    <dgm:pt modelId="{A7EB4DF8-ABE7-484A-8EEA-B7940348A75D}" type="sibTrans" cxnId="{9307E2E2-BB5C-44CE-8A32-FB3B0E385AD8}">
      <dgm:prSet/>
      <dgm:spPr/>
      <dgm:t>
        <a:bodyPr/>
        <a:lstStyle/>
        <a:p>
          <a:endParaRPr lang="en-US"/>
        </a:p>
      </dgm:t>
    </dgm:pt>
    <dgm:pt modelId="{87C9F38C-3F0D-4A7F-879E-E27791264026}" type="pres">
      <dgm:prSet presAssocID="{A4386065-EE3B-47A5-8C77-3DD65D2152D9}" presName="compositeShape" presStyleCnt="0">
        <dgm:presLayoutVars>
          <dgm:chMax val="7"/>
          <dgm:dir/>
          <dgm:resizeHandles val="exact"/>
        </dgm:presLayoutVars>
      </dgm:prSet>
      <dgm:spPr/>
    </dgm:pt>
    <dgm:pt modelId="{3AE31C9C-7318-4C43-B5E5-DBBEAF16CE72}" type="pres">
      <dgm:prSet presAssocID="{A4386065-EE3B-47A5-8C77-3DD65D2152D9}" presName="wedge1" presStyleLbl="node1" presStyleIdx="0" presStyleCnt="3"/>
      <dgm:spPr/>
    </dgm:pt>
    <dgm:pt modelId="{37B0D385-9FD6-4BC1-A340-73ABFBBE1A28}" type="pres">
      <dgm:prSet presAssocID="{A4386065-EE3B-47A5-8C77-3DD65D2152D9}" presName="dummy1a" presStyleCnt="0"/>
      <dgm:spPr/>
    </dgm:pt>
    <dgm:pt modelId="{461C21F7-B5E2-492E-863A-CFE935BC12E2}" type="pres">
      <dgm:prSet presAssocID="{A4386065-EE3B-47A5-8C77-3DD65D2152D9}" presName="dummy1b" presStyleCnt="0"/>
      <dgm:spPr/>
    </dgm:pt>
    <dgm:pt modelId="{855D2989-1D3C-49C6-8094-60E2DDB7758F}" type="pres">
      <dgm:prSet presAssocID="{A4386065-EE3B-47A5-8C77-3DD65D2152D9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98F8D459-67F0-477F-A050-FA1EB4FC5510}" type="pres">
      <dgm:prSet presAssocID="{A4386065-EE3B-47A5-8C77-3DD65D2152D9}" presName="wedge2" presStyleLbl="node1" presStyleIdx="1" presStyleCnt="3"/>
      <dgm:spPr/>
    </dgm:pt>
    <dgm:pt modelId="{CA4A9D6E-2987-41C1-91BC-0F526F1B388C}" type="pres">
      <dgm:prSet presAssocID="{A4386065-EE3B-47A5-8C77-3DD65D2152D9}" presName="dummy2a" presStyleCnt="0"/>
      <dgm:spPr/>
    </dgm:pt>
    <dgm:pt modelId="{EA32DD4D-A69F-4346-9216-06300EE2D81F}" type="pres">
      <dgm:prSet presAssocID="{A4386065-EE3B-47A5-8C77-3DD65D2152D9}" presName="dummy2b" presStyleCnt="0"/>
      <dgm:spPr/>
    </dgm:pt>
    <dgm:pt modelId="{F3DAE3BB-D6C3-4A9B-92AD-2F37E74F9B0F}" type="pres">
      <dgm:prSet presAssocID="{A4386065-EE3B-47A5-8C77-3DD65D2152D9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AF5AA-2619-424A-A551-AE2AA995B95F}" type="pres">
      <dgm:prSet presAssocID="{A4386065-EE3B-47A5-8C77-3DD65D2152D9}" presName="wedge3" presStyleLbl="node1" presStyleIdx="2" presStyleCnt="3"/>
      <dgm:spPr/>
    </dgm:pt>
    <dgm:pt modelId="{A4F53670-1C0A-4E02-BBCC-1C3CB0A352BE}" type="pres">
      <dgm:prSet presAssocID="{A4386065-EE3B-47A5-8C77-3DD65D2152D9}" presName="dummy3a" presStyleCnt="0"/>
      <dgm:spPr/>
    </dgm:pt>
    <dgm:pt modelId="{2F8CBEA3-D5B8-4F47-B354-6F634891FE46}" type="pres">
      <dgm:prSet presAssocID="{A4386065-EE3B-47A5-8C77-3DD65D2152D9}" presName="dummy3b" presStyleCnt="0"/>
      <dgm:spPr/>
    </dgm:pt>
    <dgm:pt modelId="{C1AABD8E-9AD2-4BC8-A888-8D75DEDD2D1A}" type="pres">
      <dgm:prSet presAssocID="{A4386065-EE3B-47A5-8C77-3DD65D2152D9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D2D646F8-09F2-40C7-992E-B4F8F99D4ADF}" type="pres">
      <dgm:prSet presAssocID="{5228B852-750A-44C1-9142-B5ABDBC4713C}" presName="arrowWedge1" presStyleLbl="fgSibTrans2D1" presStyleIdx="0" presStyleCnt="3"/>
      <dgm:spPr>
        <a:solidFill>
          <a:schemeClr val="accent5">
            <a:lumMod val="50000"/>
          </a:schemeClr>
        </a:solidFill>
      </dgm:spPr>
    </dgm:pt>
    <dgm:pt modelId="{1B01C100-2907-4CE3-9F21-5326B7C3D32C}" type="pres">
      <dgm:prSet presAssocID="{478F8995-9ADF-42E4-8EBE-B63BE4DD0ADF}" presName="arrowWedge2" presStyleLbl="fgSibTrans2D1" presStyleIdx="1" presStyleCnt="3"/>
      <dgm:spPr>
        <a:solidFill>
          <a:srgbClr val="C00000"/>
        </a:solidFill>
      </dgm:spPr>
    </dgm:pt>
    <dgm:pt modelId="{0A39D1AB-62C2-4F2A-B52D-ABABB707BF07}" type="pres">
      <dgm:prSet presAssocID="{A7EB4DF8-ABE7-484A-8EEA-B7940348A75D}" presName="arrowWedge3" presStyleLbl="fgSibTrans2D1" presStyleIdx="2" presStyleCnt="3"/>
      <dgm:spPr>
        <a:solidFill>
          <a:schemeClr val="bg1">
            <a:lumMod val="50000"/>
          </a:schemeClr>
        </a:solidFill>
      </dgm:spPr>
    </dgm:pt>
  </dgm:ptLst>
  <dgm:cxnLst>
    <dgm:cxn modelId="{08E71B0C-8ECA-4A5C-956D-95A6C82CC7E4}" type="presOf" srcId="{8BE17B8F-5E8A-4BFB-BB3A-179A75843ABD}" destId="{98F8D459-67F0-477F-A050-FA1EB4FC5510}" srcOrd="0" destOrd="0" presId="urn:microsoft.com/office/officeart/2005/8/layout/cycle8"/>
    <dgm:cxn modelId="{8124393A-AFA9-405E-88DB-CB1C84687FD8}" type="presOf" srcId="{6031FF9C-CC3D-49FC-B307-07703114F5EB}" destId="{C1AABD8E-9AD2-4BC8-A888-8D75DEDD2D1A}" srcOrd="1" destOrd="0" presId="urn:microsoft.com/office/officeart/2005/8/layout/cycle8"/>
    <dgm:cxn modelId="{064F9D3B-E1DB-4C63-91E4-29728861811E}" srcId="{A4386065-EE3B-47A5-8C77-3DD65D2152D9}" destId="{8BE17B8F-5E8A-4BFB-BB3A-179A75843ABD}" srcOrd="1" destOrd="0" parTransId="{5D38B76A-A276-4CF4-9CF5-70C7B63CDEB5}" sibTransId="{478F8995-9ADF-42E4-8EBE-B63BE4DD0ADF}"/>
    <dgm:cxn modelId="{842D2347-7EE8-486B-8C06-A3051D1359A2}" type="presOf" srcId="{C39E2C75-D7E9-43B3-8084-6A6C72D8A873}" destId="{855D2989-1D3C-49C6-8094-60E2DDB7758F}" srcOrd="1" destOrd="0" presId="urn:microsoft.com/office/officeart/2005/8/layout/cycle8"/>
    <dgm:cxn modelId="{ACBD948B-EFF3-4680-B272-89B29F989D19}" type="presOf" srcId="{8BE17B8F-5E8A-4BFB-BB3A-179A75843ABD}" destId="{F3DAE3BB-D6C3-4A9B-92AD-2F37E74F9B0F}" srcOrd="1" destOrd="0" presId="urn:microsoft.com/office/officeart/2005/8/layout/cycle8"/>
    <dgm:cxn modelId="{AD6C6E97-89D0-44DC-94D6-D8BF8CE1491A}" type="presOf" srcId="{6031FF9C-CC3D-49FC-B307-07703114F5EB}" destId="{140AF5AA-2619-424A-A551-AE2AA995B95F}" srcOrd="0" destOrd="0" presId="urn:microsoft.com/office/officeart/2005/8/layout/cycle8"/>
    <dgm:cxn modelId="{8E7F5AA6-5E6A-476E-B6D9-3E0FE100D368}" srcId="{A4386065-EE3B-47A5-8C77-3DD65D2152D9}" destId="{C39E2C75-D7E9-43B3-8084-6A6C72D8A873}" srcOrd="0" destOrd="0" parTransId="{57558909-1D55-4F63-95A0-053070E64095}" sibTransId="{5228B852-750A-44C1-9142-B5ABDBC4713C}"/>
    <dgm:cxn modelId="{DB44E1AF-3C10-4352-BE33-FA2233287F67}" type="presOf" srcId="{C39E2C75-D7E9-43B3-8084-6A6C72D8A873}" destId="{3AE31C9C-7318-4C43-B5E5-DBBEAF16CE72}" srcOrd="0" destOrd="0" presId="urn:microsoft.com/office/officeart/2005/8/layout/cycle8"/>
    <dgm:cxn modelId="{478E2CD5-5EC2-4150-B2C8-854C4D1256FE}" type="presOf" srcId="{A4386065-EE3B-47A5-8C77-3DD65D2152D9}" destId="{87C9F38C-3F0D-4A7F-879E-E27791264026}" srcOrd="0" destOrd="0" presId="urn:microsoft.com/office/officeart/2005/8/layout/cycle8"/>
    <dgm:cxn modelId="{9307E2E2-BB5C-44CE-8A32-FB3B0E385AD8}" srcId="{A4386065-EE3B-47A5-8C77-3DD65D2152D9}" destId="{6031FF9C-CC3D-49FC-B307-07703114F5EB}" srcOrd="2" destOrd="0" parTransId="{40E0A625-6A27-4350-898B-5C3F8A89C344}" sibTransId="{A7EB4DF8-ABE7-484A-8EEA-B7940348A75D}"/>
    <dgm:cxn modelId="{0AA6AD9E-6A2D-4DF6-8DA2-E1A1C5ACA763}" type="presParOf" srcId="{87C9F38C-3F0D-4A7F-879E-E27791264026}" destId="{3AE31C9C-7318-4C43-B5E5-DBBEAF16CE72}" srcOrd="0" destOrd="0" presId="urn:microsoft.com/office/officeart/2005/8/layout/cycle8"/>
    <dgm:cxn modelId="{86F0BEC0-45D8-43E8-9228-093DA87571B2}" type="presParOf" srcId="{87C9F38C-3F0D-4A7F-879E-E27791264026}" destId="{37B0D385-9FD6-4BC1-A340-73ABFBBE1A28}" srcOrd="1" destOrd="0" presId="urn:microsoft.com/office/officeart/2005/8/layout/cycle8"/>
    <dgm:cxn modelId="{47D7B7AF-6987-4822-B9BD-0AA77BDCCC41}" type="presParOf" srcId="{87C9F38C-3F0D-4A7F-879E-E27791264026}" destId="{461C21F7-B5E2-492E-863A-CFE935BC12E2}" srcOrd="2" destOrd="0" presId="urn:microsoft.com/office/officeart/2005/8/layout/cycle8"/>
    <dgm:cxn modelId="{0777BD66-BF85-4AAE-9739-E12E07E3161A}" type="presParOf" srcId="{87C9F38C-3F0D-4A7F-879E-E27791264026}" destId="{855D2989-1D3C-49C6-8094-60E2DDB7758F}" srcOrd="3" destOrd="0" presId="urn:microsoft.com/office/officeart/2005/8/layout/cycle8"/>
    <dgm:cxn modelId="{AB71E1BB-7FF3-457A-B5B8-7AFC5C4CF65B}" type="presParOf" srcId="{87C9F38C-3F0D-4A7F-879E-E27791264026}" destId="{98F8D459-67F0-477F-A050-FA1EB4FC5510}" srcOrd="4" destOrd="0" presId="urn:microsoft.com/office/officeart/2005/8/layout/cycle8"/>
    <dgm:cxn modelId="{56790F9A-B170-4322-AB36-BB3D0EB63FDE}" type="presParOf" srcId="{87C9F38C-3F0D-4A7F-879E-E27791264026}" destId="{CA4A9D6E-2987-41C1-91BC-0F526F1B388C}" srcOrd="5" destOrd="0" presId="urn:microsoft.com/office/officeart/2005/8/layout/cycle8"/>
    <dgm:cxn modelId="{074BBEE1-CE14-4315-9A68-0DE25636C169}" type="presParOf" srcId="{87C9F38C-3F0D-4A7F-879E-E27791264026}" destId="{EA32DD4D-A69F-4346-9216-06300EE2D81F}" srcOrd="6" destOrd="0" presId="urn:microsoft.com/office/officeart/2005/8/layout/cycle8"/>
    <dgm:cxn modelId="{8B6742FD-0005-450B-AB45-D58A80C25434}" type="presParOf" srcId="{87C9F38C-3F0D-4A7F-879E-E27791264026}" destId="{F3DAE3BB-D6C3-4A9B-92AD-2F37E74F9B0F}" srcOrd="7" destOrd="0" presId="urn:microsoft.com/office/officeart/2005/8/layout/cycle8"/>
    <dgm:cxn modelId="{19FFFE77-9D9A-48F9-B378-BE886BA57717}" type="presParOf" srcId="{87C9F38C-3F0D-4A7F-879E-E27791264026}" destId="{140AF5AA-2619-424A-A551-AE2AA995B95F}" srcOrd="8" destOrd="0" presId="urn:microsoft.com/office/officeart/2005/8/layout/cycle8"/>
    <dgm:cxn modelId="{B5255401-008E-4E83-9A73-EBE837298329}" type="presParOf" srcId="{87C9F38C-3F0D-4A7F-879E-E27791264026}" destId="{A4F53670-1C0A-4E02-BBCC-1C3CB0A352BE}" srcOrd="9" destOrd="0" presId="urn:microsoft.com/office/officeart/2005/8/layout/cycle8"/>
    <dgm:cxn modelId="{A25603BA-4E62-4278-85FB-1C5F7EF0BDB4}" type="presParOf" srcId="{87C9F38C-3F0D-4A7F-879E-E27791264026}" destId="{2F8CBEA3-D5B8-4F47-B354-6F634891FE46}" srcOrd="10" destOrd="0" presId="urn:microsoft.com/office/officeart/2005/8/layout/cycle8"/>
    <dgm:cxn modelId="{D641D53D-048B-4C00-A800-0768866A1710}" type="presParOf" srcId="{87C9F38C-3F0D-4A7F-879E-E27791264026}" destId="{C1AABD8E-9AD2-4BC8-A888-8D75DEDD2D1A}" srcOrd="11" destOrd="0" presId="urn:microsoft.com/office/officeart/2005/8/layout/cycle8"/>
    <dgm:cxn modelId="{AFC3BCD4-06D6-4D65-8E5F-505655715289}" type="presParOf" srcId="{87C9F38C-3F0D-4A7F-879E-E27791264026}" destId="{D2D646F8-09F2-40C7-992E-B4F8F99D4ADF}" srcOrd="12" destOrd="0" presId="urn:microsoft.com/office/officeart/2005/8/layout/cycle8"/>
    <dgm:cxn modelId="{A00B85F4-7E92-4D97-9CF5-A84A37924828}" type="presParOf" srcId="{87C9F38C-3F0D-4A7F-879E-E27791264026}" destId="{1B01C100-2907-4CE3-9F21-5326B7C3D32C}" srcOrd="13" destOrd="0" presId="urn:microsoft.com/office/officeart/2005/8/layout/cycle8"/>
    <dgm:cxn modelId="{588C7396-0620-4012-A6B7-11AAB3FA1D07}" type="presParOf" srcId="{87C9F38C-3F0D-4A7F-879E-E27791264026}" destId="{0A39D1AB-62C2-4F2A-B52D-ABABB707BF07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E31C9C-7318-4C43-B5E5-DBBEAF16CE72}">
      <dsp:nvSpPr>
        <dsp:cNvPr id="0" name=""/>
        <dsp:cNvSpPr/>
      </dsp:nvSpPr>
      <dsp:spPr>
        <a:xfrm>
          <a:off x="1714415" y="294022"/>
          <a:ext cx="3799675" cy="3799675"/>
        </a:xfrm>
        <a:prstGeom prst="pie">
          <a:avLst>
            <a:gd name="adj1" fmla="val 16200000"/>
            <a:gd name="adj2" fmla="val 1800000"/>
          </a:avLst>
        </a:prstGeom>
        <a:solidFill>
          <a:schemeClr val="accent5">
            <a:lumMod val="50000"/>
            <a:alpha val="7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3716934" y="1099191"/>
        <a:ext cx="1357026" cy="1130855"/>
      </dsp:txXfrm>
    </dsp:sp>
    <dsp:sp modelId="{98F8D459-67F0-477F-A050-FA1EB4FC5510}">
      <dsp:nvSpPr>
        <dsp:cNvPr id="0" name=""/>
        <dsp:cNvSpPr/>
      </dsp:nvSpPr>
      <dsp:spPr>
        <a:xfrm>
          <a:off x="1636159" y="429725"/>
          <a:ext cx="3799675" cy="3799675"/>
        </a:xfrm>
        <a:prstGeom prst="pie">
          <a:avLst>
            <a:gd name="adj1" fmla="val 1800000"/>
            <a:gd name="adj2" fmla="val 9000000"/>
          </a:avLst>
        </a:prstGeom>
        <a:solidFill>
          <a:srgbClr val="C00000">
            <a:alpha val="75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0" kern="1200" dirty="0"/>
        </a:p>
      </dsp:txBody>
      <dsp:txXfrm>
        <a:off x="2540844" y="2894990"/>
        <a:ext cx="2035540" cy="995153"/>
      </dsp:txXfrm>
    </dsp:sp>
    <dsp:sp modelId="{140AF5AA-2619-424A-A551-AE2AA995B95F}">
      <dsp:nvSpPr>
        <dsp:cNvPr id="0" name=""/>
        <dsp:cNvSpPr/>
      </dsp:nvSpPr>
      <dsp:spPr>
        <a:xfrm>
          <a:off x="1557904" y="294022"/>
          <a:ext cx="3799675" cy="3799675"/>
        </a:xfrm>
        <a:prstGeom prst="pie">
          <a:avLst>
            <a:gd name="adj1" fmla="val 9000000"/>
            <a:gd name="adj2" fmla="val 16200000"/>
          </a:avLst>
        </a:prstGeom>
        <a:solidFill>
          <a:schemeClr val="bg1">
            <a:lumMod val="50000"/>
            <a:alpha val="7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1998033" y="1099191"/>
        <a:ext cx="1357026" cy="1130855"/>
      </dsp:txXfrm>
    </dsp:sp>
    <dsp:sp modelId="{D2D646F8-09F2-40C7-992E-B4F8F99D4ADF}">
      <dsp:nvSpPr>
        <dsp:cNvPr id="0" name=""/>
        <dsp:cNvSpPr/>
      </dsp:nvSpPr>
      <dsp:spPr>
        <a:xfrm>
          <a:off x="1479510" y="58804"/>
          <a:ext cx="4270111" cy="4270111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5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1C100-2907-4CE3-9F21-5326B7C3D32C}">
      <dsp:nvSpPr>
        <dsp:cNvPr id="0" name=""/>
        <dsp:cNvSpPr/>
      </dsp:nvSpPr>
      <dsp:spPr>
        <a:xfrm>
          <a:off x="1400941" y="194266"/>
          <a:ext cx="4270111" cy="4270111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9D1AB-62C2-4F2A-B52D-ABABB707BF07}">
      <dsp:nvSpPr>
        <dsp:cNvPr id="0" name=""/>
        <dsp:cNvSpPr/>
      </dsp:nvSpPr>
      <dsp:spPr>
        <a:xfrm>
          <a:off x="1322373" y="58804"/>
          <a:ext cx="4270111" cy="4270111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bg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AF3B-F4A9-40C2-92B2-76091F1822F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32C93-7A5B-4C04-BE14-6DF19377F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95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06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57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23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7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48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14AD9-CE7D-447E-B87D-BEA1E17677D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06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14AD9-CE7D-447E-B87D-BEA1E17677D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95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19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11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17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22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46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A54A-DB2A-4472-95C4-1E5CB2FB1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F2054-BC67-47C8-90F5-F38022FB0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61D8C-B0B0-4DD1-B142-826CCDC8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38A4D-7590-4BBE-90C1-30F946FE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5B206-E1EE-4C09-8443-B05AFEC7A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1CBF-1806-4F80-9A32-E10C08E6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0" y="128826"/>
            <a:ext cx="11939853" cy="82874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96D96-8CC5-403A-BD96-CBB5E9947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11939852" cy="574074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1925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B682A-C7AA-4611-A904-ACE3570F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75092-4478-486F-BE6D-C1A44D528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FC539-9B56-41E1-AC39-B0591311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EB1B2-BD66-445F-A74A-EA0E23E4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CE497-4B5F-4EDA-96ED-E165490E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8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D5E6-0FEF-423D-8006-266F0EA3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C2DD8-7FBB-46DF-98DE-9496A6D6B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FEEE6-616C-49EC-93C0-8EFC6855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98775-5C72-4969-806A-51BC8BFE9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DDFFE-F8F5-4FC5-9BE4-695AE291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896DA-22CF-4C2C-983B-BB7160C2F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61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543B-2249-4BAA-8D24-FC7FA83C6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4CE6E-5EAF-45D0-9631-79FCE57D3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821B8-95C2-4AD6-9EB0-073AA3853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0A6AB-6156-4EF9-A2F3-262A162AF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84F23C-749D-4A02-8F3B-B937D5899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575301-28FE-4199-95F9-5C794CE8E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0A9482-AB79-4B6E-A338-405B0B70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8F25B3-6B8E-449A-8D67-3EA4B81AE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7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2623B-8906-4672-B745-6D21897B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316E6-E906-4450-A516-2997630AA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E2DE1-4688-4F06-B817-D2747A325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E0F2B-4881-4012-98CE-F919C61C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6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3714B-794C-49D1-B8E6-CA92AA6A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72922-CE61-4273-BB30-84EE3CCAA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8ABCA-925A-45D7-A2B3-3AD29776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1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A5D96-2F31-4067-87B6-03B653BC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6046B-B991-4B3B-B516-1F434DCCC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47F5A-5CE9-4824-A789-D1769DB35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D3CAD-B834-430A-991D-5DE948EEA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EB9AB-0BFC-4482-A6E4-F9642DF6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8961F-EA29-4F09-85E2-9FF98E0D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6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5E6F-8F84-4F47-B98A-B44DA3553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085BB9-2504-4632-AAB8-7741F9D9A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4F911-074B-4039-8711-C4E675632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28BD2-4934-4F22-8A16-1AD311452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D1888-3F4C-4E38-B961-52A1B517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EAF65-1175-4CE4-9B9C-A7D7115F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80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14FA-6E17-4169-A0EE-5A0A0953E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964DA-A5A7-44D4-A5C4-C9F87A0C1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C7FFC-D25B-4DE9-BCF9-2318ACA1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65EF7-FFF1-47FE-AE69-EB856A57D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05395-9222-4C48-9F29-4473AA397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32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790293-7F4E-4F94-A3D6-BB868B16A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C6A70-96E9-4A01-8A27-8660E5A08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B96C6-E466-4CF7-839B-617B6381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4B5CE-51B9-4366-A372-C459EEC84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893AC-F1D1-45DD-B57C-3BD7EC60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55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D28451-D376-4E35-B5EC-AD6275BEC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56349-F37D-4C45-BF6B-B348F7B2A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63279-9A21-4514-A45F-C65883555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A49EE-8E91-4651-8851-A5E7291830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3A0B4-14A2-4153-BFB3-A327A73C8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907B0-77DD-442D-9560-6AA07D178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4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0.png"/><Relationship Id="rId4" Type="http://schemas.openxmlformats.org/officeDocument/2006/relationships/image" Target="../media/image1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2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43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svg"/><Relationship Id="rId13" Type="http://schemas.openxmlformats.org/officeDocument/2006/relationships/image" Target="../media/image88.png"/><Relationship Id="rId18" Type="http://schemas.openxmlformats.org/officeDocument/2006/relationships/image" Target="../media/image93.svg"/><Relationship Id="rId26" Type="http://schemas.openxmlformats.org/officeDocument/2006/relationships/image" Target="../media/image101.svg"/><Relationship Id="rId3" Type="http://schemas.openxmlformats.org/officeDocument/2006/relationships/image" Target="../media/image78.png"/><Relationship Id="rId21" Type="http://schemas.openxmlformats.org/officeDocument/2006/relationships/image" Target="../media/image96.png"/><Relationship Id="rId7" Type="http://schemas.openxmlformats.org/officeDocument/2006/relationships/image" Target="../media/image82.png"/><Relationship Id="rId12" Type="http://schemas.openxmlformats.org/officeDocument/2006/relationships/image" Target="../media/image87.svg"/><Relationship Id="rId17" Type="http://schemas.openxmlformats.org/officeDocument/2006/relationships/image" Target="../media/image92.png"/><Relationship Id="rId25" Type="http://schemas.openxmlformats.org/officeDocument/2006/relationships/image" Target="../media/image100.png"/><Relationship Id="rId2" Type="http://schemas.openxmlformats.org/officeDocument/2006/relationships/image" Target="../media/image77.png"/><Relationship Id="rId16" Type="http://schemas.openxmlformats.org/officeDocument/2006/relationships/image" Target="../media/image91.svg"/><Relationship Id="rId20" Type="http://schemas.openxmlformats.org/officeDocument/2006/relationships/image" Target="../media/image95.svg"/><Relationship Id="rId29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svg"/><Relationship Id="rId11" Type="http://schemas.openxmlformats.org/officeDocument/2006/relationships/image" Target="../media/image86.png"/><Relationship Id="rId24" Type="http://schemas.openxmlformats.org/officeDocument/2006/relationships/image" Target="../media/image99.sv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28" Type="http://schemas.openxmlformats.org/officeDocument/2006/relationships/chart" Target="../charts/chart5.xml"/><Relationship Id="rId10" Type="http://schemas.openxmlformats.org/officeDocument/2006/relationships/image" Target="../media/image85.svg"/><Relationship Id="rId19" Type="http://schemas.openxmlformats.org/officeDocument/2006/relationships/image" Target="../media/image94.png"/><Relationship Id="rId31" Type="http://schemas.openxmlformats.org/officeDocument/2006/relationships/chart" Target="../charts/chart8.xml"/><Relationship Id="rId4" Type="http://schemas.openxmlformats.org/officeDocument/2006/relationships/image" Target="../media/image79.svg"/><Relationship Id="rId9" Type="http://schemas.openxmlformats.org/officeDocument/2006/relationships/image" Target="../media/image84.png"/><Relationship Id="rId14" Type="http://schemas.openxmlformats.org/officeDocument/2006/relationships/image" Target="../media/image89.svg"/><Relationship Id="rId22" Type="http://schemas.openxmlformats.org/officeDocument/2006/relationships/image" Target="../media/image97.svg"/><Relationship Id="rId27" Type="http://schemas.openxmlformats.org/officeDocument/2006/relationships/chart" Target="../charts/chart4.xml"/><Relationship Id="rId30" Type="http://schemas.openxmlformats.org/officeDocument/2006/relationships/chart" Target="../charts/char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A3F4D0-48C3-066A-7FE9-FEDFAAF36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028" y="2009769"/>
            <a:ext cx="10101943" cy="2111259"/>
          </a:xfrm>
        </p:spPr>
        <p:txBody>
          <a:bodyPr>
            <a:normAutofit/>
          </a:bodyPr>
          <a:lstStyle/>
          <a:p>
            <a:r>
              <a:rPr lang="en-US" sz="4800" b="1" dirty="0"/>
              <a:t>Foundation Course in CGE Modeling</a:t>
            </a:r>
            <a:br>
              <a:rPr lang="en-US" sz="4800" b="1" dirty="0"/>
            </a:br>
            <a:r>
              <a:rPr lang="en-US" sz="2800" dirty="0"/>
              <a:t>Using </a:t>
            </a:r>
            <a:r>
              <a:rPr lang="en-US" sz="2800"/>
              <a:t>IFPRI’s Static </a:t>
            </a:r>
            <a:r>
              <a:rPr lang="en-US" sz="2800" dirty="0"/>
              <a:t>CGE and Microsimulation Models</a:t>
            </a:r>
            <a:endParaRPr lang="en-US" b="1" dirty="0"/>
          </a:p>
        </p:txBody>
      </p:sp>
      <p:pic>
        <p:nvPicPr>
          <p:cNvPr id="2" name="Picture 1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3E2BAC25-7E01-215A-D760-012627AD1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58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5E17-716E-4A73-F8C2-088613AC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  <a:r>
              <a:rPr lang="en-US" baseline="-25000" dirty="0"/>
              <a:t>(Parts 1-7)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F72CA-CA9C-B56F-C333-63FDA3EBB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111" y="1261339"/>
            <a:ext cx="7150813" cy="530344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Why Do Economywide Analysis?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Social Accounting Matrices (SAMs)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SAM Multiplier Analysis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Simple CGE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IFPRI Standard CGE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Microsoft-Excel® Interface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Extending the Standard Model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016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3DC7-DA25-3A40-6AC6-827ED311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1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Why Do Economywide Analysis?</a:t>
            </a:r>
            <a:endParaRPr lang="en-US" dirty="0"/>
          </a:p>
        </p:txBody>
      </p:sp>
      <p:pic>
        <p:nvPicPr>
          <p:cNvPr id="3" name="Picture 2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2AC32E12-FFB4-5C05-3B6D-2010C5494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79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F1F38-C840-AC9F-9176-D39EAF51D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Agrifood Systems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FE547D-D804-542E-F4F9-69AF33E01809}"/>
              </a:ext>
            </a:extLst>
          </p:cNvPr>
          <p:cNvGrpSpPr/>
          <p:nvPr/>
        </p:nvGrpSpPr>
        <p:grpSpPr>
          <a:xfrm>
            <a:off x="8688189" y="517024"/>
            <a:ext cx="3064723" cy="2757637"/>
            <a:chOff x="9077647" y="1613196"/>
            <a:chExt cx="2314253" cy="18022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6DE2C5-D166-3C31-317B-3DAD24F0344F}"/>
                </a:ext>
              </a:extLst>
            </p:cNvPr>
            <p:cNvSpPr/>
            <p:nvPr/>
          </p:nvSpPr>
          <p:spPr>
            <a:xfrm>
              <a:off x="9084815" y="2031641"/>
              <a:ext cx="913631" cy="202749"/>
            </a:xfrm>
            <a:prstGeom prst="rect">
              <a:avLst/>
            </a:prstGeom>
            <a:solidFill>
              <a:srgbClr val="6F171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1B3C5DF-A488-C95F-40A5-5F6C51DF93D5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>
              <a:off x="10935076" y="1826957"/>
              <a:ext cx="0" cy="18034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81975A-CB2F-EB82-6BDA-D274BA1017B8}"/>
                </a:ext>
              </a:extLst>
            </p:cNvPr>
            <p:cNvSpPr/>
            <p:nvPr/>
          </p:nvSpPr>
          <p:spPr>
            <a:xfrm>
              <a:off x="10478252" y="1613196"/>
              <a:ext cx="913647" cy="21376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175F34-64A2-4611-46C5-40F437A530EE}"/>
                </a:ext>
              </a:extLst>
            </p:cNvPr>
            <p:cNvSpPr txBox="1"/>
            <p:nvPr/>
          </p:nvSpPr>
          <p:spPr>
            <a:xfrm>
              <a:off x="10508515" y="1636617"/>
              <a:ext cx="853121" cy="181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Agriculture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A79DB8-0519-0F2E-0D86-5283E487839B}"/>
                </a:ext>
              </a:extLst>
            </p:cNvPr>
            <p:cNvSpPr/>
            <p:nvPr/>
          </p:nvSpPr>
          <p:spPr>
            <a:xfrm>
              <a:off x="10478252" y="2403670"/>
              <a:ext cx="913644" cy="213761"/>
            </a:xfrm>
            <a:prstGeom prst="rect">
              <a:avLst/>
            </a:prstGeom>
            <a:solidFill>
              <a:srgbClr val="C0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9DA16E-A402-AE84-AEED-2A88F0236CDD}"/>
                </a:ext>
              </a:extLst>
            </p:cNvPr>
            <p:cNvSpPr/>
            <p:nvPr/>
          </p:nvSpPr>
          <p:spPr>
            <a:xfrm>
              <a:off x="10478252" y="2007297"/>
              <a:ext cx="913648" cy="21376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28745C-D279-7602-0C53-7500562F3181}"/>
                </a:ext>
              </a:extLst>
            </p:cNvPr>
            <p:cNvSpPr/>
            <p:nvPr/>
          </p:nvSpPr>
          <p:spPr>
            <a:xfrm>
              <a:off x="10478258" y="2799123"/>
              <a:ext cx="913638" cy="21376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4573FB-0981-45D6-F2C2-060ADB3C2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206623" y="1722904"/>
              <a:ext cx="0" cy="787647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949B17E-698C-5A43-8631-60D45F29A9AD}"/>
                </a:ext>
              </a:extLst>
            </p:cNvPr>
            <p:cNvCxnSpPr>
              <a:cxnSpLocks/>
              <a:stCxn id="10" idx="2"/>
              <a:endCxn id="9" idx="0"/>
            </p:cNvCxnSpPr>
            <p:nvPr/>
          </p:nvCxnSpPr>
          <p:spPr>
            <a:xfrm flipH="1">
              <a:off x="10935074" y="2221058"/>
              <a:ext cx="2" cy="182612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7B5FB90-5203-07F5-5CC7-B1F20D78E6DC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10935074" y="2617431"/>
              <a:ext cx="3" cy="181692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EAF60C-06AE-6E35-57D9-F21B510FD1B7}"/>
                </a:ext>
              </a:extLst>
            </p:cNvPr>
            <p:cNvGrpSpPr/>
            <p:nvPr/>
          </p:nvGrpSpPr>
          <p:grpSpPr>
            <a:xfrm>
              <a:off x="10206621" y="1720077"/>
              <a:ext cx="271632" cy="790474"/>
              <a:chOff x="10034245" y="1720077"/>
              <a:chExt cx="444012" cy="79047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4D70575D-1DC5-DA8E-CC8D-A8A2CB4ECF86}"/>
                  </a:ext>
                </a:extLst>
              </p:cNvPr>
              <p:cNvCxnSpPr>
                <a:cxnSpLocks/>
                <a:endCxn id="7" idx="1"/>
              </p:cNvCxnSpPr>
              <p:nvPr/>
            </p:nvCxnSpPr>
            <p:spPr>
              <a:xfrm>
                <a:off x="10034245" y="1720077"/>
                <a:ext cx="444007" cy="0"/>
              </a:xfrm>
              <a:prstGeom prst="line">
                <a:avLst/>
              </a:prstGeom>
              <a:solidFill>
                <a:srgbClr val="54544B"/>
              </a:solidFill>
              <a:ln w="3175">
                <a:solidFill>
                  <a:schemeClr val="tx1"/>
                </a:solidFill>
                <a:prstDash val="sysDash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6D8AD2A-E73F-AA12-55CA-0055BDB13205}"/>
                  </a:ext>
                </a:extLst>
              </p:cNvPr>
              <p:cNvCxnSpPr>
                <a:cxnSpLocks/>
                <a:endCxn id="9" idx="1"/>
              </p:cNvCxnSpPr>
              <p:nvPr/>
            </p:nvCxnSpPr>
            <p:spPr>
              <a:xfrm>
                <a:off x="10034250" y="2510551"/>
                <a:ext cx="444007" cy="0"/>
              </a:xfrm>
              <a:prstGeom prst="line">
                <a:avLst/>
              </a:prstGeom>
              <a:solidFill>
                <a:srgbClr val="54544B"/>
              </a:solidFill>
              <a:ln w="3175">
                <a:solidFill>
                  <a:schemeClr val="tx1"/>
                </a:solidFill>
                <a:prstDash val="sysDash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5CF6F78-D979-0935-7D33-2AAECAF25F80}"/>
                </a:ext>
              </a:extLst>
            </p:cNvPr>
            <p:cNvCxnSpPr>
              <a:cxnSpLocks/>
            </p:cNvCxnSpPr>
            <p:nvPr/>
          </p:nvCxnSpPr>
          <p:spPr>
            <a:xfrm>
              <a:off x="9998447" y="2125638"/>
              <a:ext cx="208176" cy="0"/>
            </a:xfrm>
            <a:prstGeom prst="line">
              <a:avLst/>
            </a:prstGeom>
            <a:solidFill>
              <a:srgbClr val="54544B"/>
            </a:solidFill>
            <a:ln w="317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4C0E3C0-3CEE-BFF8-5534-671F2C7355FD}"/>
                </a:ext>
              </a:extLst>
            </p:cNvPr>
            <p:cNvSpPr/>
            <p:nvPr/>
          </p:nvSpPr>
          <p:spPr>
            <a:xfrm>
              <a:off x="10478258" y="3201640"/>
              <a:ext cx="913638" cy="213761"/>
            </a:xfrm>
            <a:prstGeom prst="rect">
              <a:avLst/>
            </a:prstGeom>
            <a:solidFill>
              <a:srgbClr val="5799D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0C5000A-4CF3-F2E2-AE00-A331FA4B9745}"/>
                </a:ext>
              </a:extLst>
            </p:cNvPr>
            <p:cNvCxnSpPr>
              <a:cxnSpLocks/>
              <a:stCxn id="11" idx="2"/>
              <a:endCxn id="17" idx="0"/>
            </p:cNvCxnSpPr>
            <p:nvPr/>
          </p:nvCxnSpPr>
          <p:spPr>
            <a:xfrm>
              <a:off x="10935077" y="3012884"/>
              <a:ext cx="0" cy="188756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71ACC75-306B-0771-D089-362629626851}"/>
                </a:ext>
              </a:extLst>
            </p:cNvPr>
            <p:cNvSpPr txBox="1"/>
            <p:nvPr/>
          </p:nvSpPr>
          <p:spPr>
            <a:xfrm>
              <a:off x="10538569" y="2423700"/>
              <a:ext cx="792809" cy="181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Processors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BECD628-3070-4888-8459-167E8B110E3A}"/>
                </a:ext>
              </a:extLst>
            </p:cNvPr>
            <p:cNvSpPr txBox="1"/>
            <p:nvPr/>
          </p:nvSpPr>
          <p:spPr>
            <a:xfrm>
              <a:off x="10538569" y="2029886"/>
              <a:ext cx="792809" cy="181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Traders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3E294E-E84D-34C3-28C1-00EF23E76648}"/>
                </a:ext>
              </a:extLst>
            </p:cNvPr>
            <p:cNvSpPr txBox="1"/>
            <p:nvPr/>
          </p:nvSpPr>
          <p:spPr>
            <a:xfrm>
              <a:off x="10538568" y="2817514"/>
              <a:ext cx="792809" cy="181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Traders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F455BB-C92F-BA24-87FA-A81E14F52578}"/>
                </a:ext>
              </a:extLst>
            </p:cNvPr>
            <p:cNvSpPr txBox="1"/>
            <p:nvPr/>
          </p:nvSpPr>
          <p:spPr>
            <a:xfrm>
              <a:off x="10508308" y="3218004"/>
              <a:ext cx="853328" cy="181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Food services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E46566-0C9C-B1F2-603F-2FF46A68A91B}"/>
                </a:ext>
              </a:extLst>
            </p:cNvPr>
            <p:cNvSpPr txBox="1"/>
            <p:nvPr/>
          </p:nvSpPr>
          <p:spPr>
            <a:xfrm>
              <a:off x="9077647" y="2035122"/>
              <a:ext cx="913631" cy="181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Input suppliers</a:t>
              </a:r>
            </a:p>
          </p:txBody>
        </p:sp>
      </p:grpSp>
      <p:sp>
        <p:nvSpPr>
          <p:cNvPr id="26" name="Content Placeholder 88">
            <a:extLst>
              <a:ext uri="{FF2B5EF4-FFF2-40B4-BE49-F238E27FC236}">
                <a16:creationId xmlns:a16="http://schemas.microsoft.com/office/drawing/2014/main" id="{19F4D238-952D-1EB4-B9AF-A50C21B11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551" y="1336887"/>
            <a:ext cx="6856244" cy="1083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Off-farm components of the agrifood system are more important than on-farm components at higher-income levels.</a:t>
            </a: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FE1098D1-B370-5BEE-6035-1D9F224F7934}"/>
              </a:ext>
            </a:extLst>
          </p:cNvPr>
          <p:cNvGraphicFramePr>
            <a:graphicFrameLocks/>
          </p:cNvGraphicFramePr>
          <p:nvPr/>
        </p:nvGraphicFramePr>
        <p:xfrm>
          <a:off x="205153" y="3009900"/>
          <a:ext cx="3433397" cy="3650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6A02E556-A1FE-A1C0-07BC-71EF21B793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1600865"/>
              </p:ext>
            </p:extLst>
          </p:nvPr>
        </p:nvGraphicFramePr>
        <p:xfrm>
          <a:off x="3637629" y="3009900"/>
          <a:ext cx="3433397" cy="3650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6D2AA76E-0549-509A-EAB6-7A520EDED938}"/>
              </a:ext>
            </a:extLst>
          </p:cNvPr>
          <p:cNvGraphicFramePr>
            <a:graphicFrameLocks/>
          </p:cNvGraphicFramePr>
          <p:nvPr/>
        </p:nvGraphicFramePr>
        <p:xfrm>
          <a:off x="7070105" y="3009900"/>
          <a:ext cx="3433397" cy="3650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1502D9D6-2F71-E488-13EA-698026EDB8DA}"/>
              </a:ext>
            </a:extLst>
          </p:cNvPr>
          <p:cNvSpPr/>
          <p:nvPr/>
        </p:nvSpPr>
        <p:spPr>
          <a:xfrm>
            <a:off x="340474" y="2640568"/>
            <a:ext cx="3489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Share of national GDP (%)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97E608-9EF2-1219-05E3-9A60C8BF3876}"/>
              </a:ext>
            </a:extLst>
          </p:cNvPr>
          <p:cNvSpPr/>
          <p:nvPr/>
        </p:nvSpPr>
        <p:spPr>
          <a:xfrm>
            <a:off x="3705290" y="2633574"/>
            <a:ext cx="3489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Share of agrifood GDP (%)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EDC175-3BBA-A9DE-77BF-C48C81FC5ABE}"/>
              </a:ext>
            </a:extLst>
          </p:cNvPr>
          <p:cNvSpPr/>
          <p:nvPr/>
        </p:nvSpPr>
        <p:spPr>
          <a:xfrm>
            <a:off x="7604631" y="2904667"/>
            <a:ext cx="25375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Share of off-farm agrifood GDP (%)</a:t>
            </a:r>
          </a:p>
        </p:txBody>
      </p:sp>
    </p:spTree>
    <p:extLst>
      <p:ext uri="{BB962C8B-B14F-4D97-AF65-F5344CB8AC3E}">
        <p14:creationId xmlns:p14="http://schemas.microsoft.com/office/powerpoint/2010/main" val="125686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3BFE-5E85-CF20-1F31-96B71487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Sector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7DC734-5A3C-6B80-400D-8961F0F8F4F7}"/>
              </a:ext>
            </a:extLst>
          </p:cNvPr>
          <p:cNvGrpSpPr/>
          <p:nvPr/>
        </p:nvGrpSpPr>
        <p:grpSpPr>
          <a:xfrm>
            <a:off x="1839722" y="1000738"/>
            <a:ext cx="8461207" cy="5342782"/>
            <a:chOff x="624677" y="1325498"/>
            <a:chExt cx="7814202" cy="481908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A09B67B-F890-0C5D-E069-3F3D2A3F375E}"/>
                </a:ext>
              </a:extLst>
            </p:cNvPr>
            <p:cNvGrpSpPr/>
            <p:nvPr/>
          </p:nvGrpSpPr>
          <p:grpSpPr>
            <a:xfrm>
              <a:off x="624677" y="1971830"/>
              <a:ext cx="7814202" cy="3589780"/>
              <a:chOff x="434554" y="1980884"/>
              <a:chExt cx="7814202" cy="358978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F6F624D-CD64-4C7C-5180-F5669956A1BE}"/>
                  </a:ext>
                </a:extLst>
              </p:cNvPr>
              <p:cNvGrpSpPr/>
              <p:nvPr/>
            </p:nvGrpSpPr>
            <p:grpSpPr>
              <a:xfrm>
                <a:off x="434554" y="4629100"/>
                <a:ext cx="5187642" cy="941560"/>
                <a:chOff x="1656778" y="2288792"/>
                <a:chExt cx="5187642" cy="941560"/>
              </a:xfrm>
            </p:grpSpPr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A6E053-D335-7C19-DA75-952AE354B401}"/>
                    </a:ext>
                  </a:extLst>
                </p:cNvPr>
                <p:cNvSpPr/>
                <p:nvPr/>
              </p:nvSpPr>
              <p:spPr>
                <a:xfrm>
                  <a:off x="1656783" y="2637842"/>
                  <a:ext cx="5187637" cy="592510"/>
                </a:xfrm>
                <a:prstGeom prst="rect">
                  <a:avLst/>
                </a:prstGeom>
                <a:solidFill>
                  <a:srgbClr val="C00000">
                    <a:alpha val="2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CDFA17C-4808-88A5-4AFB-7B0276D838E8}"/>
                    </a:ext>
                  </a:extLst>
                </p:cNvPr>
                <p:cNvSpPr txBox="1"/>
                <p:nvPr/>
              </p:nvSpPr>
              <p:spPr>
                <a:xfrm>
                  <a:off x="1656778" y="2658124"/>
                  <a:ext cx="5177494" cy="5274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rgbClr val="C00000"/>
                      </a:solidFill>
                    </a:rPr>
                    <a:t>Actions private sector will undertake on its own (e.g., supplying profitable input &amp; output markets where demand is strong)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E93B6892-A838-F0E0-7FD9-11C5CC2105AF}"/>
                    </a:ext>
                  </a:extLst>
                </p:cNvPr>
                <p:cNvSpPr/>
                <p:nvPr/>
              </p:nvSpPr>
              <p:spPr>
                <a:xfrm>
                  <a:off x="1656783" y="2288792"/>
                  <a:ext cx="5187637" cy="349050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DC30737-B62C-8787-D717-F2D4258C9A79}"/>
                    </a:ext>
                  </a:extLst>
                </p:cNvPr>
                <p:cNvSpPr txBox="1"/>
                <p:nvPr/>
              </p:nvSpPr>
              <p:spPr>
                <a:xfrm>
                  <a:off x="1656781" y="2288792"/>
                  <a:ext cx="4988453" cy="3331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</a:rPr>
                    <a:t>Private-Sector-Driven Transformation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08BA156-C1D9-69EF-4C61-55A82668F10D}"/>
                  </a:ext>
                </a:extLst>
              </p:cNvPr>
              <p:cNvGrpSpPr/>
              <p:nvPr/>
            </p:nvGrpSpPr>
            <p:grpSpPr>
              <a:xfrm>
                <a:off x="434560" y="3297929"/>
                <a:ext cx="5187636" cy="941560"/>
                <a:chOff x="1186001" y="4872123"/>
                <a:chExt cx="4055953" cy="892552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3701042-1D86-8904-25D3-87269B6BF9E2}"/>
                    </a:ext>
                  </a:extLst>
                </p:cNvPr>
                <p:cNvSpPr/>
                <p:nvPr/>
              </p:nvSpPr>
              <p:spPr>
                <a:xfrm>
                  <a:off x="1186002" y="4872123"/>
                  <a:ext cx="4055952" cy="307570"/>
                </a:xfrm>
                <a:prstGeom prst="rect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46A9F7B-828B-CFDD-0657-98E597272010}"/>
                    </a:ext>
                  </a:extLst>
                </p:cNvPr>
                <p:cNvSpPr txBox="1"/>
                <p:nvPr/>
              </p:nvSpPr>
              <p:spPr>
                <a:xfrm>
                  <a:off x="1186001" y="4872123"/>
                  <a:ext cx="3702106" cy="3157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</a:rPr>
                    <a:t>Public-Private Sector Coordination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45B99A5-B6A5-BBC6-01C6-40A60DFEABE7}"/>
                    </a:ext>
                  </a:extLst>
                </p:cNvPr>
                <p:cNvSpPr/>
                <p:nvPr/>
              </p:nvSpPr>
              <p:spPr>
                <a:xfrm>
                  <a:off x="1186002" y="5179693"/>
                  <a:ext cx="4055952" cy="584982"/>
                </a:xfrm>
                <a:prstGeom prst="rect">
                  <a:avLst/>
                </a:prstGeom>
                <a:solidFill>
                  <a:schemeClr val="accent5">
                    <a:lumMod val="50000"/>
                    <a:alpha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26E2E92-EEB0-5F27-0E5F-55F1D2044C4D}"/>
                    </a:ext>
                  </a:extLst>
                </p:cNvPr>
                <p:cNvSpPr txBox="1"/>
                <p:nvPr/>
              </p:nvSpPr>
              <p:spPr>
                <a:xfrm>
                  <a:off x="1186002" y="5223886"/>
                  <a:ext cx="4048023" cy="5000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accent5">
                          <a:lumMod val="50000"/>
                        </a:schemeClr>
                      </a:solidFill>
                    </a:rPr>
                    <a:t>Actions private sector will undertake if governments create an enabling environment (i.e., conducive policies &amp; investments)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1BF4377-D76D-0A6B-B902-D6297BB2377E}"/>
                  </a:ext>
                </a:extLst>
              </p:cNvPr>
              <p:cNvGrpSpPr/>
              <p:nvPr/>
            </p:nvGrpSpPr>
            <p:grpSpPr>
              <a:xfrm>
                <a:off x="434561" y="1980885"/>
                <a:ext cx="5187636" cy="941561"/>
                <a:chOff x="1186001" y="4872123"/>
                <a:chExt cx="4055953" cy="892553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0353DC9-96E1-573B-28DB-5B7071870598}"/>
                    </a:ext>
                  </a:extLst>
                </p:cNvPr>
                <p:cNvSpPr/>
                <p:nvPr/>
              </p:nvSpPr>
              <p:spPr>
                <a:xfrm>
                  <a:off x="1186002" y="4872124"/>
                  <a:ext cx="4055952" cy="335016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742E3B3-5C34-95AC-2A91-C42EB7FF2B63}"/>
                    </a:ext>
                  </a:extLst>
                </p:cNvPr>
                <p:cNvSpPr txBox="1"/>
                <p:nvPr/>
              </p:nvSpPr>
              <p:spPr>
                <a:xfrm>
                  <a:off x="1186001" y="4872123"/>
                  <a:ext cx="3702867" cy="3157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</a:rPr>
                    <a:t>Public-Sector-Driven Transformation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3B98FBA8-F1D3-51E4-F7F2-DD7BB3BBE845}"/>
                    </a:ext>
                  </a:extLst>
                </p:cNvPr>
                <p:cNvSpPr/>
                <p:nvPr/>
              </p:nvSpPr>
              <p:spPr>
                <a:xfrm>
                  <a:off x="1186002" y="5207140"/>
                  <a:ext cx="4055952" cy="557536"/>
                </a:xfrm>
                <a:prstGeom prst="rect">
                  <a:avLst/>
                </a:prstGeom>
                <a:solidFill>
                  <a:schemeClr val="bg1">
                    <a:lumMod val="65000"/>
                    <a:alpha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B49FBEE-61D3-9A64-7DFF-642A14DAB83A}"/>
                    </a:ext>
                  </a:extLst>
                </p:cNvPr>
                <p:cNvSpPr txBox="1"/>
                <p:nvPr/>
              </p:nvSpPr>
              <p:spPr>
                <a:xfrm>
                  <a:off x="1193419" y="5223887"/>
                  <a:ext cx="3985582" cy="5000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1">
                          <a:lumMod val="50000"/>
                        </a:schemeClr>
                      </a:solidFill>
                    </a:rPr>
                    <a:t>Actions government must undertake in most circumstances (e.g., infrastructure, education, R&amp;D, extension services, etc.)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7334495-0703-53EB-EB30-E3E1D317E28F}"/>
                  </a:ext>
                </a:extLst>
              </p:cNvPr>
              <p:cNvGrpSpPr/>
              <p:nvPr/>
            </p:nvGrpSpPr>
            <p:grpSpPr>
              <a:xfrm>
                <a:off x="5821367" y="1980885"/>
                <a:ext cx="1883133" cy="3589779"/>
                <a:chOff x="6527537" y="1989937"/>
                <a:chExt cx="1883133" cy="3589779"/>
              </a:xfrm>
            </p:grpSpPr>
            <p:sp>
              <p:nvSpPr>
                <p:cNvPr id="14" name="Trapezoid 13">
                  <a:extLst>
                    <a:ext uri="{FF2B5EF4-FFF2-40B4-BE49-F238E27FC236}">
                      <a16:creationId xmlns:a16="http://schemas.microsoft.com/office/drawing/2014/main" id="{BA69C8CF-7991-4864-43AC-5CDD02981E7D}"/>
                    </a:ext>
                  </a:extLst>
                </p:cNvPr>
                <p:cNvSpPr/>
                <p:nvPr/>
              </p:nvSpPr>
              <p:spPr>
                <a:xfrm>
                  <a:off x="6726724" y="1989941"/>
                  <a:ext cx="1574238" cy="3589775"/>
                </a:xfrm>
                <a:prstGeom prst="trapezoid">
                  <a:avLst>
                    <a:gd name="adj" fmla="val 0"/>
                  </a:avLst>
                </a:pr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ight Triangle 14">
                  <a:extLst>
                    <a:ext uri="{FF2B5EF4-FFF2-40B4-BE49-F238E27FC236}">
                      <a16:creationId xmlns:a16="http://schemas.microsoft.com/office/drawing/2014/main" id="{5F2C1AC9-3C0B-B4B6-4451-CF794C92EFB0}"/>
                    </a:ext>
                  </a:extLst>
                </p:cNvPr>
                <p:cNvSpPr/>
                <p:nvPr/>
              </p:nvSpPr>
              <p:spPr>
                <a:xfrm rot="10800000" flipH="1">
                  <a:off x="6726724" y="1989937"/>
                  <a:ext cx="1474633" cy="3589775"/>
                </a:xfrm>
                <a:prstGeom prst="rtTriangl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Right Triangle 15">
                  <a:extLst>
                    <a:ext uri="{FF2B5EF4-FFF2-40B4-BE49-F238E27FC236}">
                      <a16:creationId xmlns:a16="http://schemas.microsoft.com/office/drawing/2014/main" id="{2CFE2353-857E-2247-BB6A-1C06A6D4115E}"/>
                    </a:ext>
                  </a:extLst>
                </p:cNvPr>
                <p:cNvSpPr/>
                <p:nvPr/>
              </p:nvSpPr>
              <p:spPr>
                <a:xfrm flipH="1">
                  <a:off x="7487215" y="1989939"/>
                  <a:ext cx="823323" cy="3589775"/>
                </a:xfrm>
                <a:prstGeom prst="rtTriangl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A64A5AB6-4398-82F3-0466-605625059510}"/>
                    </a:ext>
                  </a:extLst>
                </p:cNvPr>
                <p:cNvSpPr/>
                <p:nvPr/>
              </p:nvSpPr>
              <p:spPr>
                <a:xfrm>
                  <a:off x="6527537" y="1989938"/>
                  <a:ext cx="199185" cy="3589775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F5E61F60-81B5-0AAF-FAB4-95CFB5E5CC43}"/>
                    </a:ext>
                  </a:extLst>
                </p:cNvPr>
                <p:cNvSpPr/>
                <p:nvPr/>
              </p:nvSpPr>
              <p:spPr>
                <a:xfrm>
                  <a:off x="8301487" y="1989938"/>
                  <a:ext cx="109183" cy="358977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40D2D686-A2F7-B13E-3C99-C6375B2CA468}"/>
                  </a:ext>
                </a:extLst>
              </p:cNvPr>
              <p:cNvCxnSpPr/>
              <p:nvPr/>
            </p:nvCxnSpPr>
            <p:spPr>
              <a:xfrm>
                <a:off x="7893543" y="1980885"/>
                <a:ext cx="0" cy="358977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A69E4B-578A-6855-73D0-DBA7D7CC86D8}"/>
                  </a:ext>
                </a:extLst>
              </p:cNvPr>
              <p:cNvSpPr txBox="1"/>
              <p:nvPr/>
            </p:nvSpPr>
            <p:spPr>
              <a:xfrm rot="16200000">
                <a:off x="6283323" y="3605227"/>
                <a:ext cx="3589775" cy="341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Agricultural Transformation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E90B35D-1171-C090-96C7-2940E800A7C2}"/>
                </a:ext>
              </a:extLst>
            </p:cNvPr>
            <p:cNvSpPr txBox="1"/>
            <p:nvPr/>
          </p:nvSpPr>
          <p:spPr>
            <a:xfrm>
              <a:off x="6011490" y="1325498"/>
              <a:ext cx="1883133" cy="582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Low-Income Countries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636B533-6CAF-25B1-C29B-90E114D7C830}"/>
                </a:ext>
              </a:extLst>
            </p:cNvPr>
            <p:cNvSpPr txBox="1"/>
            <p:nvPr/>
          </p:nvSpPr>
          <p:spPr>
            <a:xfrm>
              <a:off x="6021632" y="5561606"/>
              <a:ext cx="1872991" cy="582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High-Income Countries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8580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130A4-3D73-DBDA-ECBB-5C679FE5D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Economywide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1F910-DCC0-5470-BB6F-8C364CA70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912" y="1191847"/>
            <a:ext cx="5735467" cy="5563653"/>
          </a:xfrm>
        </p:spPr>
        <p:txBody>
          <a:bodyPr>
            <a:normAutofit/>
          </a:bodyPr>
          <a:lstStyle/>
          <a:p>
            <a:r>
              <a:rPr lang="en-US" sz="2400" b="1" dirty="0"/>
              <a:t>Computable General Equilibrium</a:t>
            </a:r>
          </a:p>
          <a:p>
            <a:endParaRPr lang="en-US" sz="200" dirty="0"/>
          </a:p>
          <a:p>
            <a:r>
              <a:rPr lang="en-US" sz="2400" b="1" dirty="0"/>
              <a:t>Economic linkages</a:t>
            </a:r>
          </a:p>
          <a:p>
            <a:pPr lvl="1"/>
            <a:r>
              <a:rPr lang="en-US" sz="2000" dirty="0"/>
              <a:t>Between sectors, households, government &amp; rest of world</a:t>
            </a:r>
          </a:p>
          <a:p>
            <a:endParaRPr lang="en-US" sz="200" dirty="0"/>
          </a:p>
          <a:p>
            <a:r>
              <a:rPr lang="en-US" sz="2400" b="1" dirty="0"/>
              <a:t>Resource competition</a:t>
            </a:r>
          </a:p>
          <a:p>
            <a:pPr lvl="1"/>
            <a:r>
              <a:rPr lang="en-US" sz="2000" dirty="0"/>
              <a:t>Factor markets (land, labor, capital)</a:t>
            </a:r>
          </a:p>
          <a:p>
            <a:pPr lvl="1"/>
            <a:r>
              <a:rPr lang="en-US" sz="2000" dirty="0"/>
              <a:t>Product markets (supply, demand)</a:t>
            </a:r>
          </a:p>
          <a:p>
            <a:endParaRPr lang="en-US" sz="200" dirty="0"/>
          </a:p>
          <a:p>
            <a:r>
              <a:rPr lang="en-US" sz="2400" b="1" dirty="0"/>
              <a:t>Macro consistency</a:t>
            </a:r>
          </a:p>
          <a:p>
            <a:pPr lvl="1"/>
            <a:r>
              <a:rPr lang="en-US" sz="2000" dirty="0"/>
              <a:t>Government (revenues, spending)</a:t>
            </a:r>
          </a:p>
          <a:p>
            <a:pPr lvl="1"/>
            <a:r>
              <a:rPr lang="en-US" sz="2000" dirty="0"/>
              <a:t>Savings-investment</a:t>
            </a:r>
          </a:p>
          <a:p>
            <a:pPr lvl="1"/>
            <a:r>
              <a:rPr lang="en-US" sz="2000" dirty="0"/>
              <a:t>Current account (foreign exchange)</a:t>
            </a:r>
          </a:p>
          <a:p>
            <a:endParaRPr lang="en-US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6ECEE7-D8B8-823F-5892-CE5BBE72B4C8}"/>
              </a:ext>
            </a:extLst>
          </p:cNvPr>
          <p:cNvGrpSpPr/>
          <p:nvPr/>
        </p:nvGrpSpPr>
        <p:grpSpPr>
          <a:xfrm>
            <a:off x="6740832" y="871519"/>
            <a:ext cx="4004900" cy="5751960"/>
            <a:chOff x="4997864" y="1162008"/>
            <a:chExt cx="4004900" cy="57519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10C1346-CEDD-4E48-D975-B1E86F36E7DF}"/>
                </a:ext>
              </a:extLst>
            </p:cNvPr>
            <p:cNvGrpSpPr/>
            <p:nvPr/>
          </p:nvGrpSpPr>
          <p:grpSpPr>
            <a:xfrm>
              <a:off x="4997864" y="1162008"/>
              <a:ext cx="4004900" cy="5751960"/>
              <a:chOff x="4969289" y="1200150"/>
              <a:chExt cx="4004900" cy="575196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260203-3985-4175-CA86-130CB9E55ECB}"/>
                  </a:ext>
                </a:extLst>
              </p:cNvPr>
              <p:cNvSpPr txBox="1"/>
              <p:nvPr/>
            </p:nvSpPr>
            <p:spPr>
              <a:xfrm rot="3206396">
                <a:off x="4698547" y="2586252"/>
                <a:ext cx="8751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rgbClr val="C00000"/>
                    </a:solidFill>
                  </a:rPr>
                  <a:t>Regional</a:t>
                </a: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A5B3DD31-2A0B-620D-B996-B1363F5D2D47}"/>
                  </a:ext>
                </a:extLst>
              </p:cNvPr>
              <p:cNvGrpSpPr/>
              <p:nvPr/>
            </p:nvGrpSpPr>
            <p:grpSpPr>
              <a:xfrm>
                <a:off x="5107686" y="1200150"/>
                <a:ext cx="2168401" cy="1620524"/>
                <a:chOff x="5107686" y="1200150"/>
                <a:chExt cx="2168401" cy="1620524"/>
              </a:xfrm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26F12C19-DE25-96D8-9A4B-73B9F4F779F5}"/>
                    </a:ext>
                  </a:extLst>
                </p:cNvPr>
                <p:cNvGrpSpPr/>
                <p:nvPr/>
              </p:nvGrpSpPr>
              <p:grpSpPr>
                <a:xfrm>
                  <a:off x="5380057" y="1807869"/>
                  <a:ext cx="1896030" cy="1012805"/>
                  <a:chOff x="611946" y="738554"/>
                  <a:chExt cx="1436180" cy="830996"/>
                </a:xfrm>
              </p:grpSpPr>
              <p:sp>
                <p:nvSpPr>
                  <p:cNvPr id="95" name="Rectangle 94">
                    <a:extLst>
                      <a:ext uri="{FF2B5EF4-FFF2-40B4-BE49-F238E27FC236}">
                        <a16:creationId xmlns:a16="http://schemas.microsoft.com/office/drawing/2014/main" id="{B3CAAA79-DAE4-8B7E-D318-9C10264B3816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rgbClr val="C34E2D">
                      <a:alpha val="3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96" name="Rectangle 95">
                    <a:extLst>
                      <a:ext uri="{FF2B5EF4-FFF2-40B4-BE49-F238E27FC236}">
                        <a16:creationId xmlns:a16="http://schemas.microsoft.com/office/drawing/2014/main" id="{CD2A619D-9211-FD83-48DA-234BA76BC30F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3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97" name="Rectangle 96">
                    <a:extLst>
                      <a:ext uri="{FF2B5EF4-FFF2-40B4-BE49-F238E27FC236}">
                        <a16:creationId xmlns:a16="http://schemas.microsoft.com/office/drawing/2014/main" id="{C57F0C0B-7C7D-4F64-17F5-4D29F20A8F98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3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98" name="Rectangle 97">
                    <a:extLst>
                      <a:ext uri="{FF2B5EF4-FFF2-40B4-BE49-F238E27FC236}">
                        <a16:creationId xmlns:a16="http://schemas.microsoft.com/office/drawing/2014/main" id="{8F133C36-C091-691A-0797-2994C043F683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3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C0112E69-E678-BF2F-1807-431063F56794}"/>
                    </a:ext>
                  </a:extLst>
                </p:cNvPr>
                <p:cNvGrpSpPr/>
                <p:nvPr/>
              </p:nvGrpSpPr>
              <p:grpSpPr>
                <a:xfrm>
                  <a:off x="5305361" y="1734647"/>
                  <a:ext cx="1896030" cy="1012805"/>
                  <a:chOff x="611946" y="738554"/>
                  <a:chExt cx="1436180" cy="830996"/>
                </a:xfrm>
              </p:grpSpPr>
              <p:sp>
                <p:nvSpPr>
                  <p:cNvPr id="91" name="Rectangle 90">
                    <a:extLst>
                      <a:ext uri="{FF2B5EF4-FFF2-40B4-BE49-F238E27FC236}">
                        <a16:creationId xmlns:a16="http://schemas.microsoft.com/office/drawing/2014/main" id="{B3CE2023-2CD4-B8B6-9749-95D51204CDFC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rgbClr val="C34E2D">
                      <a:alpha val="6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92" name="Rectangle 91">
                    <a:extLst>
                      <a:ext uri="{FF2B5EF4-FFF2-40B4-BE49-F238E27FC236}">
                        <a16:creationId xmlns:a16="http://schemas.microsoft.com/office/drawing/2014/main" id="{7D830024-89D7-4E87-5FF2-B02D1F4053FE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6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93" name="Rectangle 92">
                    <a:extLst>
                      <a:ext uri="{FF2B5EF4-FFF2-40B4-BE49-F238E27FC236}">
                        <a16:creationId xmlns:a16="http://schemas.microsoft.com/office/drawing/2014/main" id="{142A623D-704F-72D1-816C-174EE5A52F4E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6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3EC76D5B-98F9-87D1-995B-5EC58A7AEF09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6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 dirty="0">
                      <a:solidFill>
                        <a:srgbClr val="54544B"/>
                      </a:solidFill>
                    </a:endParaRPr>
                  </a:p>
                </p:txBody>
              </p: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95017CC8-FBCD-59A0-51C9-C08F97C0198B}"/>
                    </a:ext>
                  </a:extLst>
                </p:cNvPr>
                <p:cNvGrpSpPr/>
                <p:nvPr/>
              </p:nvGrpSpPr>
              <p:grpSpPr>
                <a:xfrm>
                  <a:off x="5220760" y="1631907"/>
                  <a:ext cx="1896030" cy="1012805"/>
                  <a:chOff x="611946" y="738554"/>
                  <a:chExt cx="1436180" cy="830996"/>
                </a:xfrm>
              </p:grpSpPr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7FFE5345-D33A-D321-3C0D-751EA4D2E2D4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rgbClr val="C34E2D">
                      <a:alpha val="8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88" name="Rectangle 87">
                    <a:extLst>
                      <a:ext uri="{FF2B5EF4-FFF2-40B4-BE49-F238E27FC236}">
                        <a16:creationId xmlns:a16="http://schemas.microsoft.com/office/drawing/2014/main" id="{F56F1848-55DF-C671-0C15-989B9DDC20BE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8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 dirty="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89" name="Rectangle 88">
                    <a:extLst>
                      <a:ext uri="{FF2B5EF4-FFF2-40B4-BE49-F238E27FC236}">
                        <a16:creationId xmlns:a16="http://schemas.microsoft.com/office/drawing/2014/main" id="{29C74CBF-0D23-647F-C3BF-7F13CB358CBF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8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90" name="Rectangle 89">
                    <a:extLst>
                      <a:ext uri="{FF2B5EF4-FFF2-40B4-BE49-F238E27FC236}">
                        <a16:creationId xmlns:a16="http://schemas.microsoft.com/office/drawing/2014/main" id="{411614AE-C434-42D6-AD78-42E0B7BBB2E5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8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</p:grp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F24E0A75-49CB-6810-98AF-BF4023D668A9}"/>
                    </a:ext>
                  </a:extLst>
                </p:cNvPr>
                <p:cNvGrpSpPr/>
                <p:nvPr/>
              </p:nvGrpSpPr>
              <p:grpSpPr>
                <a:xfrm>
                  <a:off x="5115276" y="1530753"/>
                  <a:ext cx="1898364" cy="1012805"/>
                  <a:chOff x="610178" y="738554"/>
                  <a:chExt cx="1437948" cy="830996"/>
                </a:xfrm>
              </p:grpSpPr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271EA42B-CED3-F704-75FC-FE63BE8F901D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rgbClr val="C0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A6541000-F00F-AA98-7095-30FB7A2BBDAC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rgbClr val="C0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8319C90B-1AD7-3A87-60B2-31DD84AF37C4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rgbClr val="C0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3DD6F506-0EF7-5561-B7D0-835AB95F48C6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rgbClr val="C0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7F9BB173-6908-A685-53FD-745E063AD2F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8972" y="856097"/>
                    <a:ext cx="718089" cy="2272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</a:rPr>
                      <a:t>Trading</a:t>
                    </a:r>
                  </a:p>
                </p:txBody>
              </p:sp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DE5F023D-8A1F-904B-7CE8-E71FA47B0233}"/>
                      </a:ext>
                    </a:extLst>
                  </p:cNvPr>
                  <p:cNvSpPr txBox="1"/>
                  <p:nvPr/>
                </p:nvSpPr>
                <p:spPr>
                  <a:xfrm>
                    <a:off x="610178" y="839903"/>
                    <a:ext cx="718091" cy="2272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</a:rPr>
                      <a:t>Farming</a:t>
                    </a:r>
                  </a:p>
                </p:txBody>
              </p:sp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C4ACC7A0-51A7-5D10-06F3-E8321C00415F}"/>
                      </a:ext>
                    </a:extLst>
                  </p:cNvPr>
                  <p:cNvSpPr txBox="1"/>
                  <p:nvPr/>
                </p:nvSpPr>
                <p:spPr>
                  <a:xfrm>
                    <a:off x="611945" y="1241266"/>
                    <a:ext cx="718091" cy="21464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dirty="0">
                        <a:solidFill>
                          <a:schemeClr val="bg1"/>
                        </a:solidFill>
                      </a:rPr>
                      <a:t>Processing</a:t>
                    </a:r>
                  </a:p>
                </p:txBody>
              </p:sp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CC88002C-48F0-2AA9-C84B-ED2089884A08}"/>
                      </a:ext>
                    </a:extLst>
                  </p:cNvPr>
                  <p:cNvSpPr txBox="1"/>
                  <p:nvPr/>
                </p:nvSpPr>
                <p:spPr>
                  <a:xfrm>
                    <a:off x="1318218" y="1256916"/>
                    <a:ext cx="718091" cy="21464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dirty="0">
                        <a:solidFill>
                          <a:schemeClr val="bg1"/>
                        </a:solidFill>
                      </a:rPr>
                      <a:t>Non-AFS</a:t>
                    </a:r>
                  </a:p>
                </p:txBody>
              </p:sp>
            </p:grp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AAC39ECD-0904-151D-50F4-8F1D90E8E1C0}"/>
                    </a:ext>
                  </a:extLst>
                </p:cNvPr>
                <p:cNvSpPr txBox="1"/>
                <p:nvPr/>
              </p:nvSpPr>
              <p:spPr>
                <a:xfrm>
                  <a:off x="5107686" y="1200150"/>
                  <a:ext cx="192275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C00000"/>
                      </a:solidFill>
                    </a:rPr>
                    <a:t>Activities</a:t>
                  </a:r>
                  <a:r>
                    <a:rPr lang="en-US" sz="1400" dirty="0">
                      <a:solidFill>
                        <a:srgbClr val="C00000"/>
                      </a:solidFill>
                    </a:rPr>
                    <a:t> (producers)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2D7BEAE1-299F-EE9B-0C0A-611401E3595F}"/>
                  </a:ext>
                </a:extLst>
              </p:cNvPr>
              <p:cNvGrpSpPr/>
              <p:nvPr/>
            </p:nvGrpSpPr>
            <p:grpSpPr>
              <a:xfrm>
                <a:off x="5042494" y="3390076"/>
                <a:ext cx="934379" cy="1450661"/>
                <a:chOff x="6557720" y="1120209"/>
                <a:chExt cx="707761" cy="1190253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1F613B10-5E93-4A3C-3E7B-1B53FDEB6EDE}"/>
                    </a:ext>
                  </a:extLst>
                </p:cNvPr>
                <p:cNvSpPr/>
                <p:nvPr/>
              </p:nvSpPr>
              <p:spPr>
                <a:xfrm rot="16200000">
                  <a:off x="6698687" y="1467188"/>
                  <a:ext cx="718090" cy="415498"/>
                </a:xfrm>
                <a:prstGeom prst="rect">
                  <a:avLst/>
                </a:prstGeom>
                <a:solidFill>
                  <a:srgbClr val="0B8EB8">
                    <a:alpha val="30000"/>
                  </a:srgb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rgbClr val="54544B"/>
                    </a:solidFill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3C3B83E9-EC97-F469-C9AA-4E4D72A6900B}"/>
                    </a:ext>
                  </a:extLst>
                </p:cNvPr>
                <p:cNvSpPr/>
                <p:nvPr/>
              </p:nvSpPr>
              <p:spPr>
                <a:xfrm rot="16200000">
                  <a:off x="6641664" y="1404585"/>
                  <a:ext cx="718090" cy="415498"/>
                </a:xfrm>
                <a:prstGeom prst="rect">
                  <a:avLst/>
                </a:prstGeom>
                <a:solidFill>
                  <a:srgbClr val="0B8EB8">
                    <a:alpha val="60000"/>
                  </a:srgb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rgbClr val="54544B"/>
                    </a:solidFill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CC3211A9-4ECB-DFBE-B4B8-1775B0328574}"/>
                    </a:ext>
                  </a:extLst>
                </p:cNvPr>
                <p:cNvSpPr/>
                <p:nvPr/>
              </p:nvSpPr>
              <p:spPr>
                <a:xfrm rot="16200000">
                  <a:off x="6587680" y="1340045"/>
                  <a:ext cx="718090" cy="415498"/>
                </a:xfrm>
                <a:prstGeom prst="rect">
                  <a:avLst/>
                </a:prstGeom>
                <a:solidFill>
                  <a:srgbClr val="0B8EB8">
                    <a:alpha val="80000"/>
                  </a:srgb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rgbClr val="54544B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51E6A879-A181-05FA-E942-76CA165F8BAB}"/>
                    </a:ext>
                  </a:extLst>
                </p:cNvPr>
                <p:cNvSpPr/>
                <p:nvPr/>
              </p:nvSpPr>
              <p:spPr>
                <a:xfrm rot="16200000">
                  <a:off x="6530087" y="1271507"/>
                  <a:ext cx="718090" cy="415498"/>
                </a:xfrm>
                <a:prstGeom prst="rect">
                  <a:avLst/>
                </a:prstGeom>
                <a:solidFill>
                  <a:srgbClr val="0B8EB8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rgbClr val="54544B"/>
                    </a:solidFill>
                  </a:endParaRP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F1F65C16-1617-AC71-005E-70668B724FBA}"/>
                    </a:ext>
                  </a:extLst>
                </p:cNvPr>
                <p:cNvSpPr txBox="1"/>
                <p:nvPr/>
              </p:nvSpPr>
              <p:spPr>
                <a:xfrm rot="16200000">
                  <a:off x="6532853" y="1304407"/>
                  <a:ext cx="718091" cy="3496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bg1"/>
                      </a:solidFill>
                    </a:rPr>
                    <a:t>Factor markets</a:t>
                  </a: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5751F051-E8E4-D64E-F426-A0E3650F0803}"/>
                    </a:ext>
                  </a:extLst>
                </p:cNvPr>
                <p:cNvSpPr txBox="1"/>
                <p:nvPr/>
              </p:nvSpPr>
              <p:spPr>
                <a:xfrm rot="3206396">
                  <a:off x="6297756" y="1852337"/>
                  <a:ext cx="718089" cy="19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solidFill>
                        <a:srgbClr val="0B8EB8"/>
                      </a:solidFill>
                    </a:rPr>
                    <a:t>Regional</a:t>
                  </a:r>
                </a:p>
              </p:txBody>
            </p:sp>
          </p:grp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95009BF0-D8C6-F1CC-E3D6-0185055EF34D}"/>
                  </a:ext>
                </a:extLst>
              </p:cNvPr>
              <p:cNvCxnSpPr/>
              <p:nvPr/>
            </p:nvCxnSpPr>
            <p:spPr>
              <a:xfrm flipH="1" flipV="1">
                <a:off x="5519708" y="4557111"/>
                <a:ext cx="5116" cy="4886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0E79F53-D90A-5A3E-6763-4F8A62D83ECE}"/>
                  </a:ext>
                </a:extLst>
              </p:cNvPr>
              <p:cNvCxnSpPr/>
              <p:nvPr/>
            </p:nvCxnSpPr>
            <p:spPr>
              <a:xfrm flipH="1" flipV="1">
                <a:off x="5519708" y="2881405"/>
                <a:ext cx="5116" cy="4886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486877D-20A1-9C02-072A-5F3CD849F95D}"/>
                  </a:ext>
                </a:extLst>
              </p:cNvPr>
              <p:cNvGrpSpPr/>
              <p:nvPr/>
            </p:nvGrpSpPr>
            <p:grpSpPr>
              <a:xfrm>
                <a:off x="6188880" y="3400843"/>
                <a:ext cx="548536" cy="875197"/>
                <a:chOff x="6681383" y="1120211"/>
                <a:chExt cx="415498" cy="718090"/>
              </a:xfrm>
            </p:grpSpPr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35AB757E-2E35-F427-05C0-93E43659CF49}"/>
                    </a:ext>
                  </a:extLst>
                </p:cNvPr>
                <p:cNvSpPr/>
                <p:nvPr/>
              </p:nvSpPr>
              <p:spPr>
                <a:xfrm rot="16200000">
                  <a:off x="6530087" y="1271507"/>
                  <a:ext cx="718090" cy="415498"/>
                </a:xfrm>
                <a:prstGeom prst="rect">
                  <a:avLst/>
                </a:prstGeom>
                <a:solidFill>
                  <a:srgbClr val="0B8EB8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rgbClr val="54544B"/>
                    </a:solidFill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DB89776-9145-1AA8-57C2-D13FF3088333}"/>
                    </a:ext>
                  </a:extLst>
                </p:cNvPr>
                <p:cNvSpPr txBox="1"/>
                <p:nvPr/>
              </p:nvSpPr>
              <p:spPr>
                <a:xfrm rot="16200000">
                  <a:off x="6532967" y="1301646"/>
                  <a:ext cx="708408" cy="3496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bg1"/>
                      </a:solidFill>
                    </a:rPr>
                    <a:t>Product markets</a:t>
                  </a:r>
                </a:p>
              </p:txBody>
            </p:sp>
          </p:grp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0ADAA58-E241-272C-99CE-92BEEF7FEBDE}"/>
                  </a:ext>
                </a:extLst>
              </p:cNvPr>
              <p:cNvCxnSpPr/>
              <p:nvPr/>
            </p:nvCxnSpPr>
            <p:spPr>
              <a:xfrm flipH="1" flipV="1">
                <a:off x="6439765" y="2875654"/>
                <a:ext cx="5116" cy="4886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15661DA-0706-31A4-9A46-001E77D510D7}"/>
                  </a:ext>
                </a:extLst>
              </p:cNvPr>
              <p:cNvCxnSpPr/>
              <p:nvPr/>
            </p:nvCxnSpPr>
            <p:spPr>
              <a:xfrm flipH="1" flipV="1">
                <a:off x="6439765" y="4314188"/>
                <a:ext cx="1" cy="72418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6956531-6EE9-2D46-0F80-B1A6E00B42D8}"/>
                  </a:ext>
                </a:extLst>
              </p:cNvPr>
              <p:cNvGrpSpPr/>
              <p:nvPr/>
            </p:nvGrpSpPr>
            <p:grpSpPr>
              <a:xfrm>
                <a:off x="7641019" y="4361537"/>
                <a:ext cx="1177989" cy="506402"/>
                <a:chOff x="4064840" y="2400543"/>
                <a:chExt cx="997668" cy="415498"/>
              </a:xfrm>
            </p:grpSpPr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D5C7E487-D051-965C-6E49-DF64FC5AF6AF}"/>
                    </a:ext>
                  </a:extLst>
                </p:cNvPr>
                <p:cNvSpPr/>
                <p:nvPr/>
              </p:nvSpPr>
              <p:spPr>
                <a:xfrm>
                  <a:off x="4064840" y="2400543"/>
                  <a:ext cx="997667" cy="415498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rgbClr val="54544B"/>
                    </a:solidFill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209B42B-1BA6-1AC6-5930-D25D734E4FCD}"/>
                    </a:ext>
                  </a:extLst>
                </p:cNvPr>
                <p:cNvSpPr txBox="1"/>
                <p:nvPr/>
              </p:nvSpPr>
              <p:spPr>
                <a:xfrm>
                  <a:off x="4064840" y="2510763"/>
                  <a:ext cx="997668" cy="214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b="1" dirty="0">
                      <a:solidFill>
                        <a:schemeClr val="bg1"/>
                      </a:solidFill>
                    </a:rPr>
                    <a:t>Government</a:t>
                  </a: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A0D1424-AE27-245A-DEB9-6F25A515FBDA}"/>
                  </a:ext>
                </a:extLst>
              </p:cNvPr>
              <p:cNvGrpSpPr/>
              <p:nvPr/>
            </p:nvGrpSpPr>
            <p:grpSpPr>
              <a:xfrm>
                <a:off x="6706833" y="3368985"/>
                <a:ext cx="2121484" cy="559346"/>
                <a:chOff x="1954694" y="2797251"/>
                <a:chExt cx="1606954" cy="458938"/>
              </a:xfrm>
            </p:grpSpPr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344FDC9-0EF7-0AEF-295E-2AC177481FF3}"/>
                    </a:ext>
                  </a:extLst>
                </p:cNvPr>
                <p:cNvSpPr txBox="1"/>
                <p:nvPr/>
              </p:nvSpPr>
              <p:spPr>
                <a:xfrm>
                  <a:off x="1954694" y="2797251"/>
                  <a:ext cx="718091" cy="2146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solidFill>
                        <a:srgbClr val="54544B"/>
                      </a:solidFill>
                    </a:rPr>
                    <a:t>Trade</a:t>
                  </a:r>
                </a:p>
              </p:txBody>
            </p: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49225617-1C7A-93E8-2FDD-22789AF390E9}"/>
                    </a:ext>
                  </a:extLst>
                </p:cNvPr>
                <p:cNvGrpSpPr/>
                <p:nvPr/>
              </p:nvGrpSpPr>
              <p:grpSpPr>
                <a:xfrm>
                  <a:off x="2662310" y="2840691"/>
                  <a:ext cx="899338" cy="415498"/>
                  <a:chOff x="4064839" y="2417516"/>
                  <a:chExt cx="1005549" cy="41549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E9645801-A657-D070-EBC9-AC44382854A6}"/>
                      </a:ext>
                    </a:extLst>
                  </p:cNvPr>
                  <p:cNvSpPr/>
                  <p:nvPr/>
                </p:nvSpPr>
                <p:spPr>
                  <a:xfrm>
                    <a:off x="4064839" y="2417516"/>
                    <a:ext cx="997667" cy="415498"/>
                  </a:xfrm>
                  <a:prstGeom prst="rect">
                    <a:avLst/>
                  </a:prstGeom>
                  <a:solidFill>
                    <a:srgbClr val="54544B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 b="1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14126675-B6FE-777B-E0D3-B1AB2C64F317}"/>
                      </a:ext>
                    </a:extLst>
                  </p:cNvPr>
                  <p:cNvSpPr txBox="1"/>
                  <p:nvPr/>
                </p:nvSpPr>
                <p:spPr>
                  <a:xfrm>
                    <a:off x="4072720" y="2515395"/>
                    <a:ext cx="997668" cy="21464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b="1" dirty="0">
                        <a:solidFill>
                          <a:schemeClr val="bg1"/>
                        </a:solidFill>
                      </a:rPr>
                      <a:t>Rest of world</a:t>
                    </a:r>
                  </a:p>
                </p:txBody>
              </p:sp>
            </p:grp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A1577F03-ADE4-56C5-4B02-D3B86ABF86FC}"/>
                    </a:ext>
                  </a:extLst>
                </p:cNvPr>
                <p:cNvCxnSpPr/>
                <p:nvPr/>
              </p:nvCxnSpPr>
              <p:spPr>
                <a:xfrm>
                  <a:off x="2009775" y="3031877"/>
                  <a:ext cx="608409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5E993F-E6E2-BFE7-6A29-41CAEB87C7A5}"/>
                  </a:ext>
                </a:extLst>
              </p:cNvPr>
              <p:cNvSpPr txBox="1"/>
              <p:nvPr/>
            </p:nvSpPr>
            <p:spPr>
              <a:xfrm>
                <a:off x="7427927" y="5022723"/>
                <a:ext cx="132014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rgbClr val="54544B"/>
                    </a:solidFill>
                  </a:rPr>
                  <a:t>Regional migration &amp; remittances</a:t>
                </a: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0CF59AA-779E-E21B-868F-53D18A08D847}"/>
                  </a:ext>
                </a:extLst>
              </p:cNvPr>
              <p:cNvCxnSpPr/>
              <p:nvPr/>
            </p:nvCxnSpPr>
            <p:spPr>
              <a:xfrm>
                <a:off x="6906222" y="4126994"/>
                <a:ext cx="1" cy="90603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773480F9-66E7-3A8A-9292-0D2ECCE4321E}"/>
                  </a:ext>
                </a:extLst>
              </p:cNvPr>
              <p:cNvCxnSpPr/>
              <p:nvPr/>
            </p:nvCxnSpPr>
            <p:spPr>
              <a:xfrm>
                <a:off x="6779550" y="4128928"/>
                <a:ext cx="126672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67F5DAF-FF75-0279-20A0-5E71E2A2C893}"/>
                  </a:ext>
                </a:extLst>
              </p:cNvPr>
              <p:cNvCxnSpPr/>
              <p:nvPr/>
            </p:nvCxnSpPr>
            <p:spPr>
              <a:xfrm>
                <a:off x="6906222" y="4604635"/>
                <a:ext cx="64342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81BF6B96-2912-DD4A-A180-994C3A03C374}"/>
                  </a:ext>
                </a:extLst>
              </p:cNvPr>
              <p:cNvCxnSpPr/>
              <p:nvPr/>
            </p:nvCxnSpPr>
            <p:spPr>
              <a:xfrm flipH="1">
                <a:off x="8230012" y="3956094"/>
                <a:ext cx="1" cy="3565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779F133-7741-A49C-E479-C8A6E0132E7E}"/>
                  </a:ext>
                </a:extLst>
              </p:cNvPr>
              <p:cNvSpPr txBox="1"/>
              <p:nvPr/>
            </p:nvSpPr>
            <p:spPr>
              <a:xfrm>
                <a:off x="7847277" y="3996189"/>
                <a:ext cx="5889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rgbClr val="54544B"/>
                    </a:solidFill>
                  </a:rPr>
                  <a:t>Aid</a:t>
                </a:r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615264B-FFD1-E67F-7151-CC407C84B1E7}"/>
                  </a:ext>
                </a:extLst>
              </p:cNvPr>
              <p:cNvCxnSpPr/>
              <p:nvPr/>
            </p:nvCxnSpPr>
            <p:spPr>
              <a:xfrm>
                <a:off x="8968358" y="2682716"/>
                <a:ext cx="4192" cy="292137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A99CEF6C-729B-F778-3197-D680497E43E6}"/>
                  </a:ext>
                </a:extLst>
              </p:cNvPr>
              <p:cNvCxnSpPr>
                <a:stCxn id="65" idx="3"/>
              </p:cNvCxnSpPr>
              <p:nvPr/>
            </p:nvCxnSpPr>
            <p:spPr>
              <a:xfrm flipV="1">
                <a:off x="8819008" y="4622481"/>
                <a:ext cx="149350" cy="41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6E778C67-DB3C-834D-3D6B-710D46CC09DA}"/>
                  </a:ext>
                </a:extLst>
              </p:cNvPr>
              <p:cNvCxnSpPr/>
              <p:nvPr/>
            </p:nvCxnSpPr>
            <p:spPr>
              <a:xfrm>
                <a:off x="8819007" y="3654448"/>
                <a:ext cx="149352" cy="49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30ACDDC-403C-B23F-C476-F192043DD654}"/>
                  </a:ext>
                </a:extLst>
              </p:cNvPr>
              <p:cNvCxnSpPr/>
              <p:nvPr/>
            </p:nvCxnSpPr>
            <p:spPr>
              <a:xfrm>
                <a:off x="7355661" y="2682716"/>
                <a:ext cx="161269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F1CD07ED-DF3E-7252-990B-3BF79376AA83}"/>
                  </a:ext>
                </a:extLst>
              </p:cNvPr>
              <p:cNvCxnSpPr/>
              <p:nvPr/>
            </p:nvCxnSpPr>
            <p:spPr>
              <a:xfrm flipV="1">
                <a:off x="7355661" y="5609256"/>
                <a:ext cx="1612697" cy="596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F05946E-750C-7B9E-060E-EC58443DF642}"/>
                  </a:ext>
                </a:extLst>
              </p:cNvPr>
              <p:cNvSpPr txBox="1"/>
              <p:nvPr/>
            </p:nvSpPr>
            <p:spPr>
              <a:xfrm>
                <a:off x="7316415" y="2361460"/>
                <a:ext cx="16577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rgbClr val="54544B"/>
                    </a:solidFill>
                  </a:rPr>
                  <a:t>Investments &amp; subsidies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00D9A8A-12B7-8352-9698-2CFEEE42F0CA}"/>
                  </a:ext>
                </a:extLst>
              </p:cNvPr>
              <p:cNvSpPr txBox="1"/>
              <p:nvPr/>
            </p:nvSpPr>
            <p:spPr>
              <a:xfrm>
                <a:off x="7315192" y="5619604"/>
                <a:ext cx="165316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rgbClr val="54544B"/>
                    </a:solidFill>
                  </a:rPr>
                  <a:t>Social transfers</a:t>
                </a:r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F704952E-55FB-3A80-D0D5-5B9F3DD654C4}"/>
                  </a:ext>
                </a:extLst>
              </p:cNvPr>
              <p:cNvSpPr/>
              <p:nvPr/>
            </p:nvSpPr>
            <p:spPr>
              <a:xfrm rot="16200000">
                <a:off x="7024794" y="5036263"/>
                <a:ext cx="406277" cy="446250"/>
              </a:xfrm>
              <a:prstGeom prst="arc">
                <a:avLst>
                  <a:gd name="adj1" fmla="val 17587025"/>
                  <a:gd name="adj2" fmla="val 10650003"/>
                </a:avLst>
              </a:prstGeom>
              <a:ln>
                <a:solidFill>
                  <a:srgbClr val="54544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54544B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BA78C4C-26CC-496A-23C9-4F2AEE3D6220}"/>
                  </a:ext>
                </a:extLst>
              </p:cNvPr>
              <p:cNvSpPr txBox="1"/>
              <p:nvPr/>
            </p:nvSpPr>
            <p:spPr>
              <a:xfrm>
                <a:off x="6747734" y="4307162"/>
                <a:ext cx="94801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rgbClr val="54544B"/>
                    </a:solidFill>
                  </a:rPr>
                  <a:t>Taxes</a:t>
                </a:r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F9D11B10-F8AE-AEEA-F057-C6A705352F60}"/>
                  </a:ext>
                </a:extLst>
              </p:cNvPr>
              <p:cNvGrpSpPr/>
              <p:nvPr/>
            </p:nvGrpSpPr>
            <p:grpSpPr>
              <a:xfrm>
                <a:off x="5080171" y="5065785"/>
                <a:ext cx="2189905" cy="1583452"/>
                <a:chOff x="1947200" y="4902360"/>
                <a:chExt cx="2189905" cy="1583452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F0B87B52-AA7D-4BE6-B68F-47385339B3AD}"/>
                    </a:ext>
                  </a:extLst>
                </p:cNvPr>
                <p:cNvGrpSpPr/>
                <p:nvPr/>
              </p:nvGrpSpPr>
              <p:grpSpPr>
                <a:xfrm>
                  <a:off x="2241075" y="5473007"/>
                  <a:ext cx="1896030" cy="1012805"/>
                  <a:chOff x="611946" y="738554"/>
                  <a:chExt cx="1436180" cy="830996"/>
                </a:xfrm>
              </p:grpSpPr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7EBCC4D0-4DE4-7BAD-67E7-974D6D29C04A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rgbClr val="FFB300">
                      <a:alpha val="3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D2DC0CBB-1F5A-074B-5513-2600FF33FB97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3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705D1605-F7E8-2B45-7ACF-80F05179FD30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3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5FD6881A-38B0-656B-E6D8-A8E0C5000E11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3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</p:grp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E92E29E8-D800-048C-278F-FA895A4BE9B0}"/>
                    </a:ext>
                  </a:extLst>
                </p:cNvPr>
                <p:cNvGrpSpPr/>
                <p:nvPr/>
              </p:nvGrpSpPr>
              <p:grpSpPr>
                <a:xfrm>
                  <a:off x="2166379" y="5402286"/>
                  <a:ext cx="1896030" cy="1012805"/>
                  <a:chOff x="611946" y="738554"/>
                  <a:chExt cx="1436180" cy="830996"/>
                </a:xfrm>
              </p:grpSpPr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1A7F299C-2A02-16F8-1AF6-CCB00D57B3FA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rgbClr val="FFB300">
                      <a:alpha val="6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DD8F978D-CCB8-5061-E998-0076C2D3E8A2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7A6C5995-94A2-A9DD-42A0-BDDCE330DF1E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C8A9F20D-983B-1024-7444-1CFEF2D98C92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 dirty="0">
                      <a:solidFill>
                        <a:srgbClr val="54544B"/>
                      </a:solidFill>
                    </a:endParaRPr>
                  </a:p>
                </p:txBody>
              </p:sp>
            </p:grp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2BDB4A66-A219-AA78-588B-1944448AA267}"/>
                    </a:ext>
                  </a:extLst>
                </p:cNvPr>
                <p:cNvGrpSpPr/>
                <p:nvPr/>
              </p:nvGrpSpPr>
              <p:grpSpPr>
                <a:xfrm>
                  <a:off x="2079192" y="5307456"/>
                  <a:ext cx="1896030" cy="1012805"/>
                  <a:chOff x="611946" y="738554"/>
                  <a:chExt cx="1436180" cy="830996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7750827D-04CE-452C-5C03-1FF5A5976AC3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rgbClr val="FFB300">
                      <a:alpha val="8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7C1D33EE-552E-7E98-14B6-DA45F1A245C4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8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 dirty="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DB57751F-B799-88B9-8781-7874CF1799F5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8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D2020DBB-0F0D-AEAF-DC05-F5F89C30C7E2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8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</p:grp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7171E37B-4D99-D62C-5CBC-B25457226681}"/>
                    </a:ext>
                  </a:extLst>
                </p:cNvPr>
                <p:cNvGrpSpPr/>
                <p:nvPr/>
              </p:nvGrpSpPr>
              <p:grpSpPr>
                <a:xfrm>
                  <a:off x="1974713" y="5198619"/>
                  <a:ext cx="1901166" cy="1012805"/>
                  <a:chOff x="611946" y="738554"/>
                  <a:chExt cx="1440070" cy="830996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154C0530-1B96-0BBA-CB5E-88A220EF1B9A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6AEE45F7-B54A-FCC1-2E53-7249D6FEF2EA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9647B5BE-1F39-3409-D3ED-D13E1C9833AE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8B43A159-67FA-EAE1-D15A-0AF653E93E08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FC1DC975-BE13-10F2-B8F5-55C0138A3143}"/>
                      </a:ext>
                    </a:extLst>
                  </p:cNvPr>
                  <p:cNvSpPr txBox="1"/>
                  <p:nvPr/>
                </p:nvSpPr>
                <p:spPr>
                  <a:xfrm>
                    <a:off x="1333571" y="760908"/>
                    <a:ext cx="718089" cy="3787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</a:rPr>
                      <a:t>Rural</a:t>
                    </a:r>
                  </a:p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</a:rPr>
                      <a:t>nonpoor</a:t>
                    </a:r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5F0DB7F2-7D8D-D436-1358-D2D132689264}"/>
                      </a:ext>
                    </a:extLst>
                  </p:cNvPr>
                  <p:cNvSpPr txBox="1"/>
                  <p:nvPr/>
                </p:nvSpPr>
                <p:spPr>
                  <a:xfrm>
                    <a:off x="627129" y="760734"/>
                    <a:ext cx="718091" cy="3787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</a:rPr>
                      <a:t>Rural </a:t>
                    </a:r>
                  </a:p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</a:rPr>
                      <a:t>poor</a:t>
                    </a:r>
                  </a:p>
                </p:txBody>
              </p: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1F05523C-138E-771E-D2CC-5FA48C09C25D}"/>
                      </a:ext>
                    </a:extLst>
                  </p:cNvPr>
                  <p:cNvSpPr txBox="1"/>
                  <p:nvPr/>
                </p:nvSpPr>
                <p:spPr>
                  <a:xfrm>
                    <a:off x="633151" y="1184125"/>
                    <a:ext cx="718091" cy="3535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dirty="0">
                        <a:solidFill>
                          <a:schemeClr val="bg1"/>
                        </a:solidFill>
                      </a:rPr>
                      <a:t>Urban </a:t>
                    </a:r>
                  </a:p>
                  <a:p>
                    <a:pPr algn="ctr"/>
                    <a:r>
                      <a:rPr lang="en-US" sz="1100" dirty="0">
                        <a:solidFill>
                          <a:schemeClr val="bg1"/>
                        </a:solidFill>
                      </a:rPr>
                      <a:t>poor</a:t>
                    </a: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D84A0271-FF75-2CD8-1A11-FDCE79052331}"/>
                      </a:ext>
                    </a:extLst>
                  </p:cNvPr>
                  <p:cNvSpPr txBox="1"/>
                  <p:nvPr/>
                </p:nvSpPr>
                <p:spPr>
                  <a:xfrm>
                    <a:off x="1333925" y="1208703"/>
                    <a:ext cx="718091" cy="3535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dirty="0">
                        <a:solidFill>
                          <a:schemeClr val="bg1"/>
                        </a:solidFill>
                      </a:rPr>
                      <a:t>Urban </a:t>
                    </a:r>
                  </a:p>
                  <a:p>
                    <a:pPr algn="ctr"/>
                    <a:r>
                      <a:rPr lang="en-US" sz="1100" dirty="0">
                        <a:solidFill>
                          <a:schemeClr val="bg1"/>
                        </a:solidFill>
                      </a:rPr>
                      <a:t>nonpoor</a:t>
                    </a:r>
                  </a:p>
                </p:txBody>
              </p:sp>
            </p:grp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1DDABAF-EB0F-22F7-4050-ABD44761C32E}"/>
                    </a:ext>
                  </a:extLst>
                </p:cNvPr>
                <p:cNvSpPr txBox="1"/>
                <p:nvPr/>
              </p:nvSpPr>
              <p:spPr>
                <a:xfrm>
                  <a:off x="1947200" y="4902360"/>
                  <a:ext cx="20552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1F4E79"/>
                      </a:solidFill>
                    </a:rPr>
                    <a:t>Households</a:t>
                  </a:r>
                  <a:r>
                    <a:rPr lang="en-US" sz="1400" dirty="0">
                      <a:solidFill>
                        <a:srgbClr val="1F4E79"/>
                      </a:solidFill>
                    </a:rPr>
                    <a:t> (consumers)</a:t>
                  </a:r>
                </a:p>
              </p:txBody>
            </p: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EA8278-F37E-F959-7648-36943B149DDD}"/>
                  </a:ext>
                </a:extLst>
              </p:cNvPr>
              <p:cNvSpPr txBox="1"/>
              <p:nvPr/>
            </p:nvSpPr>
            <p:spPr>
              <a:xfrm rot="3206396">
                <a:off x="4662496" y="6383707"/>
                <a:ext cx="8751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accent5">
                        <a:lumMod val="50000"/>
                      </a:schemeClr>
                    </a:solidFill>
                  </a:rPr>
                  <a:t>Regional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7D4652-0233-9500-218C-7CF1ADA46E10}"/>
                </a:ext>
              </a:extLst>
            </p:cNvPr>
            <p:cNvSpPr txBox="1"/>
            <p:nvPr/>
          </p:nvSpPr>
          <p:spPr>
            <a:xfrm rot="3206396">
              <a:off x="5793773" y="4247328"/>
              <a:ext cx="875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B8EB8"/>
                  </a:solidFill>
                </a:rPr>
                <a:t>National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7617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FD27-7487-8AB7-6F78-BA631420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Economywide Studies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D99467-7755-7824-A3E8-26C6C4B00AE1}"/>
              </a:ext>
            </a:extLst>
          </p:cNvPr>
          <p:cNvGrpSpPr/>
          <p:nvPr/>
        </p:nvGrpSpPr>
        <p:grpSpPr>
          <a:xfrm>
            <a:off x="750486" y="1227273"/>
            <a:ext cx="10530539" cy="5231309"/>
            <a:chOff x="-710534" y="1276253"/>
            <a:chExt cx="10530539" cy="523130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EE9E0E0-DDCE-B390-157C-F6ADA8AA5B47}"/>
                </a:ext>
              </a:extLst>
            </p:cNvPr>
            <p:cNvGrpSpPr/>
            <p:nvPr/>
          </p:nvGrpSpPr>
          <p:grpSpPr>
            <a:xfrm>
              <a:off x="958964" y="1276253"/>
              <a:ext cx="7071995" cy="4523423"/>
              <a:chOff x="1018170" y="1506498"/>
              <a:chExt cx="7071995" cy="4523423"/>
            </a:xfrm>
          </p:grpSpPr>
          <p:graphicFrame>
            <p:nvGraphicFramePr>
              <p:cNvPr id="9" name="Content Placeholder 3">
                <a:extLst>
                  <a:ext uri="{FF2B5EF4-FFF2-40B4-BE49-F238E27FC236}">
                    <a16:creationId xmlns:a16="http://schemas.microsoft.com/office/drawing/2014/main" id="{A2183385-ED23-5969-0AD1-7EB1C81D1E5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57425284"/>
                  </p:ext>
                </p:extLst>
              </p:nvPr>
            </p:nvGraphicFramePr>
            <p:xfrm>
              <a:off x="1018170" y="1506498"/>
              <a:ext cx="7071995" cy="452342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623E284-3E2D-7E7C-27B0-6DFE1009303C}"/>
                  </a:ext>
                </a:extLst>
              </p:cNvPr>
              <p:cNvGrpSpPr/>
              <p:nvPr/>
            </p:nvGrpSpPr>
            <p:grpSpPr>
              <a:xfrm>
                <a:off x="3857880" y="3174067"/>
                <a:ext cx="1347623" cy="1312496"/>
                <a:chOff x="3898188" y="3343639"/>
                <a:chExt cx="1347623" cy="1312496"/>
              </a:xfrm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ADD02530-CE20-35C3-B587-4DCC31C377D0}"/>
                    </a:ext>
                  </a:extLst>
                </p:cNvPr>
                <p:cNvSpPr/>
                <p:nvPr/>
              </p:nvSpPr>
              <p:spPr>
                <a:xfrm>
                  <a:off x="3898188" y="3343639"/>
                  <a:ext cx="1347623" cy="1312496"/>
                </a:xfrm>
                <a:prstGeom prst="ellipse">
                  <a:avLst/>
                </a:prstGeom>
                <a:solidFill>
                  <a:srgbClr val="54544B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C801E8-1013-9D88-0B3A-C0E535919D98}"/>
                    </a:ext>
                  </a:extLst>
                </p:cNvPr>
                <p:cNvSpPr txBox="1"/>
                <p:nvPr/>
              </p:nvSpPr>
              <p:spPr>
                <a:xfrm>
                  <a:off x="3982682" y="3621271"/>
                  <a:ext cx="1223586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chemeClr val="bg1"/>
                      </a:solidFill>
                    </a:rPr>
                    <a:t>CGE Model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AC4063-A475-89D0-C01D-A1058D40A3BA}"/>
                  </a:ext>
                </a:extLst>
              </p:cNvPr>
              <p:cNvSpPr txBox="1"/>
              <p:nvPr/>
            </p:nvSpPr>
            <p:spPr>
              <a:xfrm>
                <a:off x="2842427" y="2859052"/>
                <a:ext cx="12235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Strategic Planning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0CB942-43C7-F7F2-CC43-43BC8A4EA9B2}"/>
                  </a:ext>
                </a:extLst>
              </p:cNvPr>
              <p:cNvSpPr txBox="1"/>
              <p:nvPr/>
            </p:nvSpPr>
            <p:spPr>
              <a:xfrm>
                <a:off x="4969708" y="2860568"/>
                <a:ext cx="12235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Evaluating Programs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4D5CA8-1C7E-AEBD-2B94-4A8739D1BD69}"/>
                  </a:ext>
                </a:extLst>
              </p:cNvPr>
              <p:cNvSpPr txBox="1"/>
              <p:nvPr/>
            </p:nvSpPr>
            <p:spPr>
              <a:xfrm>
                <a:off x="3707888" y="4644926"/>
                <a:ext cx="17282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Prioritizing Portfolios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7A7CA81-A4DE-A095-F6AF-F37E1EA0A1AB}"/>
                </a:ext>
              </a:extLst>
            </p:cNvPr>
            <p:cNvSpPr txBox="1"/>
            <p:nvPr/>
          </p:nvSpPr>
          <p:spPr>
            <a:xfrm>
              <a:off x="6571240" y="1551494"/>
              <a:ext cx="324876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50000"/>
                    </a:schemeClr>
                  </a:solidFill>
                </a:rPr>
                <a:t>Impact Evaluation </a:t>
              </a:r>
              <a:endParaRPr lang="en-US" sz="20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2000" dirty="0">
                  <a:solidFill>
                    <a:schemeClr val="accent5">
                      <a:lumMod val="50000"/>
                    </a:schemeClr>
                  </a:solidFill>
                </a:rPr>
                <a:t>Capturing spillovers</a:t>
              </a:r>
            </a:p>
            <a:p>
              <a:r>
                <a:rPr lang="en-US" sz="2000" dirty="0">
                  <a:solidFill>
                    <a:schemeClr val="accent5">
                      <a:lumMod val="50000"/>
                    </a:schemeClr>
                  </a:solidFill>
                </a:rPr>
                <a:t>Estimating benefits &amp; costs</a:t>
              </a:r>
              <a:endParaRPr lang="en-US" sz="16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B6BB0D-2255-2226-7FAA-8E8CC837156C}"/>
                </a:ext>
              </a:extLst>
            </p:cNvPr>
            <p:cNvSpPr txBox="1"/>
            <p:nvPr/>
          </p:nvSpPr>
          <p:spPr>
            <a:xfrm>
              <a:off x="2154665" y="5799676"/>
              <a:ext cx="47162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</a:rPr>
                <a:t>Policy &amp; Investment Choices</a:t>
              </a:r>
            </a:p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Identifying priorities, Optimizing budgets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3001EB-E3BF-46F5-6282-07B44981E429}"/>
                </a:ext>
              </a:extLst>
            </p:cNvPr>
            <p:cNvSpPr txBox="1"/>
            <p:nvPr/>
          </p:nvSpPr>
          <p:spPr>
            <a:xfrm>
              <a:off x="-710534" y="1551495"/>
              <a:ext cx="299537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</a:rPr>
                <a:t>Foresight Analysis</a:t>
              </a:r>
            </a:p>
            <a:p>
              <a:pPr algn="r"/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</a:rPr>
                <a:t>Tracking progress</a:t>
              </a:r>
            </a:p>
            <a:p>
              <a:pPr algn="r"/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</a:rPr>
                <a:t>Setting targets &amp; goals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1862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9C93-97C2-BA27-5722-BEAF4FF0C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Reconciliation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C85E46-F797-BBEE-7A8D-9512DEA3CA5B}"/>
              </a:ext>
            </a:extLst>
          </p:cNvPr>
          <p:cNvSpPr/>
          <p:nvPr/>
        </p:nvSpPr>
        <p:spPr>
          <a:xfrm>
            <a:off x="4850282" y="2823035"/>
            <a:ext cx="2215277" cy="2046808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00943104-216C-70ED-557A-159D199856B7}"/>
              </a:ext>
            </a:extLst>
          </p:cNvPr>
          <p:cNvSpPr/>
          <p:nvPr/>
        </p:nvSpPr>
        <p:spPr>
          <a:xfrm rot="11205693">
            <a:off x="6133141" y="2489571"/>
            <a:ext cx="1822806" cy="1778057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93E8A9A9-BB81-89CC-3AFF-D8BBFEEB8B56}"/>
              </a:ext>
            </a:extLst>
          </p:cNvPr>
          <p:cNvSpPr/>
          <p:nvPr/>
        </p:nvSpPr>
        <p:spPr>
          <a:xfrm rot="20758891">
            <a:off x="4746933" y="3908308"/>
            <a:ext cx="1791641" cy="1804564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4009735D-E6BB-3A9C-FEAA-E86D3E4CBF8E}"/>
              </a:ext>
            </a:extLst>
          </p:cNvPr>
          <p:cNvSpPr/>
          <p:nvPr/>
        </p:nvSpPr>
        <p:spPr>
          <a:xfrm rot="5400000">
            <a:off x="4109247" y="2020665"/>
            <a:ext cx="2142605" cy="2175411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993E8ED-0067-7D05-877A-9F75599E170C}"/>
              </a:ext>
            </a:extLst>
          </p:cNvPr>
          <p:cNvSpPr/>
          <p:nvPr/>
        </p:nvSpPr>
        <p:spPr>
          <a:xfrm>
            <a:off x="3885465" y="2911554"/>
            <a:ext cx="381000" cy="24288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B18A0-520E-B64E-EC79-97CED37D24A1}"/>
              </a:ext>
            </a:extLst>
          </p:cNvPr>
          <p:cNvSpPr txBox="1"/>
          <p:nvPr/>
        </p:nvSpPr>
        <p:spPr>
          <a:xfrm>
            <a:off x="1960245" y="2432833"/>
            <a:ext cx="2142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Balance of payments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Product trade flows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Remittances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Foreign investments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Development assistance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F4ABEC9-2A0A-C24B-3B21-6706F6289B09}"/>
              </a:ext>
            </a:extLst>
          </p:cNvPr>
          <p:cNvSpPr/>
          <p:nvPr/>
        </p:nvSpPr>
        <p:spPr>
          <a:xfrm rot="2935544">
            <a:off x="4182930" y="2207426"/>
            <a:ext cx="381000" cy="24288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43AB052-06B5-9E40-B1D2-57726ECC7544}"/>
              </a:ext>
            </a:extLst>
          </p:cNvPr>
          <p:cNvSpPr/>
          <p:nvPr/>
        </p:nvSpPr>
        <p:spPr>
          <a:xfrm rot="8442218">
            <a:off x="5778748" y="2250585"/>
            <a:ext cx="381000" cy="24288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32F7D9-EA39-863E-F003-BB02CCF78745}"/>
              </a:ext>
            </a:extLst>
          </p:cNvPr>
          <p:cNvSpPr txBox="1"/>
          <p:nvPr/>
        </p:nvSpPr>
        <p:spPr>
          <a:xfrm>
            <a:off x="6096000" y="1232504"/>
            <a:ext cx="2987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Household surveys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Product consumption &amp; diets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Labor, land &amp; enterprise earnings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Taxes &amp; transfers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F174C2-0177-F59E-8E6D-C70E915BB666}"/>
              </a:ext>
            </a:extLst>
          </p:cNvPr>
          <p:cNvSpPr txBox="1"/>
          <p:nvPr/>
        </p:nvSpPr>
        <p:spPr>
          <a:xfrm>
            <a:off x="2677038" y="3856001"/>
            <a:ext cx="2142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Government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Consumption spending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Social transfers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Tax collections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Debt &amp; interest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0CABF8-95FF-5F62-53A4-132F1FDB789D}"/>
              </a:ext>
            </a:extLst>
          </p:cNvPr>
          <p:cNvSpPr txBox="1"/>
          <p:nvPr/>
        </p:nvSpPr>
        <p:spPr>
          <a:xfrm>
            <a:off x="2324222" y="1291143"/>
            <a:ext cx="230344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National accounts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GDP by sector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Product supply &amp; use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Transaction costs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32B4A1C-DC79-867A-2CAB-DFC4B636128F}"/>
              </a:ext>
            </a:extLst>
          </p:cNvPr>
          <p:cNvSpPr/>
          <p:nvPr/>
        </p:nvSpPr>
        <p:spPr>
          <a:xfrm rot="19211703">
            <a:off x="4170268" y="3647779"/>
            <a:ext cx="381000" cy="24288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6A36750-78DB-59A8-4358-6AAC54031B72}"/>
              </a:ext>
            </a:extLst>
          </p:cNvPr>
          <p:cNvSpPr/>
          <p:nvPr/>
        </p:nvSpPr>
        <p:spPr>
          <a:xfrm rot="5400000">
            <a:off x="6877945" y="2287390"/>
            <a:ext cx="381000" cy="242888"/>
          </a:xfrm>
          <a:prstGeom prst="rightArrow">
            <a:avLst/>
          </a:prstGeom>
          <a:gradFill flip="none" rotWithShape="1">
            <a:gsLst>
              <a:gs pos="0">
                <a:srgbClr val="C00000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962D92-E64F-B38D-8125-2403E021B801}"/>
              </a:ext>
            </a:extLst>
          </p:cNvPr>
          <p:cNvSpPr txBox="1"/>
          <p:nvPr/>
        </p:nvSpPr>
        <p:spPr>
          <a:xfrm>
            <a:off x="8012765" y="2143436"/>
            <a:ext cx="2527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Labor force surveys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Jobs &amp; earnings by sector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Determinants of employment</a:t>
            </a:r>
            <a:endParaRPr lang="en-US" sz="1400" baseline="30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DCDDADE-83DC-4F94-57C3-C19103C8BCFE}"/>
              </a:ext>
            </a:extLst>
          </p:cNvPr>
          <p:cNvSpPr/>
          <p:nvPr/>
        </p:nvSpPr>
        <p:spPr>
          <a:xfrm rot="8442218">
            <a:off x="7597926" y="2575477"/>
            <a:ext cx="381000" cy="242888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EB8BB43-7DB0-1CE4-8BD3-9AD8C943A8AA}"/>
              </a:ext>
            </a:extLst>
          </p:cNvPr>
          <p:cNvSpPr/>
          <p:nvPr/>
        </p:nvSpPr>
        <p:spPr>
          <a:xfrm rot="19211703">
            <a:off x="4752464" y="5372976"/>
            <a:ext cx="381000" cy="242888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18E5F2-6446-2186-0260-A38689641098}"/>
              </a:ext>
            </a:extLst>
          </p:cNvPr>
          <p:cNvSpPr txBox="1"/>
          <p:nvPr/>
        </p:nvSpPr>
        <p:spPr>
          <a:xfrm>
            <a:off x="2747227" y="5542620"/>
            <a:ext cx="2657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Public finance studies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Tax &amp; expenditure policy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Borrowing &amp; debt repayment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B21352-6416-CF28-E586-F43D7727E6F8}"/>
              </a:ext>
            </a:extLst>
          </p:cNvPr>
          <p:cNvSpPr txBox="1"/>
          <p:nvPr/>
        </p:nvSpPr>
        <p:spPr>
          <a:xfrm>
            <a:off x="6588909" y="5537944"/>
            <a:ext cx="33878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Firm &amp; industry studies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Changes in value chains &amp; technologies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F372401-DEF2-C316-DBFD-BB64C7BC5D18}"/>
              </a:ext>
            </a:extLst>
          </p:cNvPr>
          <p:cNvSpPr/>
          <p:nvPr/>
        </p:nvSpPr>
        <p:spPr>
          <a:xfrm rot="14032879">
            <a:off x="6213482" y="5370742"/>
            <a:ext cx="381000" cy="242888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12D2B02-8706-CCFB-43AB-B4D826A4A580}"/>
              </a:ext>
            </a:extLst>
          </p:cNvPr>
          <p:cNvSpPr/>
          <p:nvPr/>
        </p:nvSpPr>
        <p:spPr>
          <a:xfrm rot="10800000">
            <a:off x="6491910" y="4710365"/>
            <a:ext cx="381000" cy="242888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AD02AF-D834-0863-6CA7-7325077D06C0}"/>
              </a:ext>
            </a:extLst>
          </p:cNvPr>
          <p:cNvSpPr txBox="1"/>
          <p:nvPr/>
        </p:nvSpPr>
        <p:spPr>
          <a:xfrm>
            <a:off x="6947001" y="4451782"/>
            <a:ext cx="2945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Program evaluation studies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Estimates of direct policy impacts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Behavioral change</a:t>
            </a:r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5A920535-4E17-640A-378A-8B7727B690EF}"/>
              </a:ext>
            </a:extLst>
          </p:cNvPr>
          <p:cNvSpPr/>
          <p:nvPr/>
        </p:nvSpPr>
        <p:spPr>
          <a:xfrm>
            <a:off x="5263411" y="3091005"/>
            <a:ext cx="1505539" cy="1485539"/>
          </a:xfrm>
          <a:prstGeom prst="donut">
            <a:avLst>
              <a:gd name="adj" fmla="val 510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517189-96B2-5869-8910-D067A6B330A2}"/>
              </a:ext>
            </a:extLst>
          </p:cNvPr>
          <p:cNvGrpSpPr/>
          <p:nvPr/>
        </p:nvGrpSpPr>
        <p:grpSpPr>
          <a:xfrm>
            <a:off x="6403474" y="2706706"/>
            <a:ext cx="1329942" cy="1326877"/>
            <a:chOff x="6718683" y="2768873"/>
            <a:chExt cx="1329942" cy="1326877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0786775-FB80-4D5A-03A3-FDCBE8F9CDC8}"/>
                </a:ext>
              </a:extLst>
            </p:cNvPr>
            <p:cNvSpPr/>
            <p:nvPr/>
          </p:nvSpPr>
          <p:spPr>
            <a:xfrm>
              <a:off x="6718683" y="2768873"/>
              <a:ext cx="1329942" cy="1326877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574AA8F-5FC4-59A9-4E9D-6384A07447CE}"/>
                </a:ext>
              </a:extLst>
            </p:cNvPr>
            <p:cNvSpPr txBox="1"/>
            <p:nvPr/>
          </p:nvSpPr>
          <p:spPr>
            <a:xfrm>
              <a:off x="6718683" y="3116606"/>
              <a:ext cx="13299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Micro- simulation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8927514-B303-01B4-6D64-BA25BB36E820}"/>
              </a:ext>
            </a:extLst>
          </p:cNvPr>
          <p:cNvGrpSpPr/>
          <p:nvPr/>
        </p:nvGrpSpPr>
        <p:grpSpPr>
          <a:xfrm>
            <a:off x="4266465" y="2332909"/>
            <a:ext cx="1809749" cy="1557339"/>
            <a:chOff x="1754791" y="2528886"/>
            <a:chExt cx="1809749" cy="1557339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5771EC-8C8A-8790-43EE-0B2BFF47D052}"/>
                </a:ext>
              </a:extLst>
            </p:cNvPr>
            <p:cNvSpPr/>
            <p:nvPr/>
          </p:nvSpPr>
          <p:spPr>
            <a:xfrm>
              <a:off x="1861757" y="2528886"/>
              <a:ext cx="1595818" cy="155733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0BE43E2-3890-2A64-BD7D-D761C3BD19F0}"/>
                </a:ext>
              </a:extLst>
            </p:cNvPr>
            <p:cNvSpPr txBox="1"/>
            <p:nvPr/>
          </p:nvSpPr>
          <p:spPr>
            <a:xfrm>
              <a:off x="1754791" y="2845890"/>
              <a:ext cx="180974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Social Accounting Matrix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44A5148-B284-F0B8-DEE8-B7602767DA40}"/>
              </a:ext>
            </a:extLst>
          </p:cNvPr>
          <p:cNvGrpSpPr/>
          <p:nvPr/>
        </p:nvGrpSpPr>
        <p:grpSpPr>
          <a:xfrm>
            <a:off x="4990995" y="4168370"/>
            <a:ext cx="1337020" cy="1326877"/>
            <a:chOff x="6718683" y="2768873"/>
            <a:chExt cx="1337020" cy="1326877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E0156C3-C9DD-2501-49D4-23BACDFFC9C0}"/>
                </a:ext>
              </a:extLst>
            </p:cNvPr>
            <p:cNvSpPr/>
            <p:nvPr/>
          </p:nvSpPr>
          <p:spPr>
            <a:xfrm>
              <a:off x="6718683" y="2768873"/>
              <a:ext cx="1329942" cy="1326877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46A9F80-21E9-D7C7-F8E0-85855EADD8CD}"/>
                </a:ext>
              </a:extLst>
            </p:cNvPr>
            <p:cNvSpPr txBox="1"/>
            <p:nvPr/>
          </p:nvSpPr>
          <p:spPr>
            <a:xfrm>
              <a:off x="6725761" y="3145025"/>
              <a:ext cx="1329942" cy="646331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Simulation design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C5E3538-B20F-B35A-942F-D857B1DEAF62}"/>
              </a:ext>
            </a:extLst>
          </p:cNvPr>
          <p:cNvSpPr txBox="1"/>
          <p:nvPr/>
        </p:nvSpPr>
        <p:spPr>
          <a:xfrm>
            <a:off x="5414184" y="3570819"/>
            <a:ext cx="128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CGE </a:t>
            </a:r>
          </a:p>
          <a:p>
            <a:pPr algn="ctr"/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235E0B-66DB-05FC-04C2-999FF68C5206}"/>
              </a:ext>
            </a:extLst>
          </p:cNvPr>
          <p:cNvSpPr txBox="1"/>
          <p:nvPr/>
        </p:nvSpPr>
        <p:spPr>
          <a:xfrm>
            <a:off x="4638675" y="1098705"/>
            <a:ext cx="1285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Firm surveys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Input costs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Profits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B7DBF3A0-9FEC-57C1-07C8-BF5BB02A3AAA}"/>
              </a:ext>
            </a:extLst>
          </p:cNvPr>
          <p:cNvSpPr/>
          <p:nvPr/>
        </p:nvSpPr>
        <p:spPr>
          <a:xfrm rot="5400000">
            <a:off x="5020813" y="1932798"/>
            <a:ext cx="381000" cy="24288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21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3DC7-DA25-3A40-6AC6-827ED311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2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Social Accounting Matrices (SAMs)</a:t>
            </a:r>
            <a:endParaRPr lang="en-US" dirty="0"/>
          </a:p>
        </p:txBody>
      </p:sp>
      <p:pic>
        <p:nvPicPr>
          <p:cNvPr id="4" name="Picture 3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7699FAD9-7EF0-417A-0B5C-01AF78FD2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617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FA8A-73FB-8B65-8998-9E0C322F9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C3DE4-11F8-F366-F15A-11FA4A3B0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7718234" cy="5740740"/>
          </a:xfrm>
        </p:spPr>
        <p:txBody>
          <a:bodyPr>
            <a:normAutofit/>
          </a:bodyPr>
          <a:lstStyle/>
          <a:p>
            <a:r>
              <a:rPr lang="en-US" sz="2400" dirty="0"/>
              <a:t>SAMs are national accounting frameworks or databases</a:t>
            </a:r>
          </a:p>
          <a:p>
            <a:endParaRPr lang="en-US" sz="1200" dirty="0"/>
          </a:p>
          <a:p>
            <a:r>
              <a:rPr lang="en-US" sz="2400" dirty="0"/>
              <a:t>SAMs capture the circular flow of receipts and payments between economic agents and markets during a given year</a:t>
            </a:r>
          </a:p>
          <a:p>
            <a:endParaRPr lang="en-US" sz="1200" dirty="0"/>
          </a:p>
          <a:p>
            <a:r>
              <a:rPr lang="en-US" sz="2400" dirty="0"/>
              <a:t>SAMs include all sectors, factors, households, government and the rest of the world (i.e., economywide)</a:t>
            </a:r>
          </a:p>
          <a:p>
            <a:endParaRPr lang="en-US" sz="1200" dirty="0"/>
          </a:p>
          <a:p>
            <a:r>
              <a:rPr lang="en-US" sz="2400" dirty="0"/>
              <a:t>Every payment becomes someone else’s income (i.e., consistent double-entry accounting)</a:t>
            </a:r>
          </a:p>
          <a:p>
            <a:endParaRPr lang="en-US" sz="2400" dirty="0"/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A516EEB4-EC87-FE7A-67A5-0B4AEF0A2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992" y="1025035"/>
            <a:ext cx="3472154" cy="45185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6750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DE302-9009-11A4-F1ED-FC8A61122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Flow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7FF9C0-6B63-6E97-BC82-362C8E079222}"/>
              </a:ext>
            </a:extLst>
          </p:cNvPr>
          <p:cNvCxnSpPr/>
          <p:nvPr/>
        </p:nvCxnSpPr>
        <p:spPr>
          <a:xfrm flipH="1">
            <a:off x="4702869" y="4030482"/>
            <a:ext cx="2358218" cy="4923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6D4B5B7-6253-EB24-F197-B86D140BBEAE}"/>
              </a:ext>
            </a:extLst>
          </p:cNvPr>
          <p:cNvSpPr/>
          <p:nvPr/>
        </p:nvSpPr>
        <p:spPr>
          <a:xfrm>
            <a:off x="5178431" y="3979611"/>
            <a:ext cx="79999" cy="92869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CD12FFF-241B-3FA8-6ABF-836A8C6B1645}"/>
              </a:ext>
            </a:extLst>
          </p:cNvPr>
          <p:cNvGrpSpPr/>
          <p:nvPr/>
        </p:nvGrpSpPr>
        <p:grpSpPr>
          <a:xfrm>
            <a:off x="1857512" y="1001403"/>
            <a:ext cx="8066983" cy="4770748"/>
            <a:chOff x="274823" y="1213657"/>
            <a:chExt cx="8066983" cy="477074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DF36878-4F2D-3C20-BDFA-C7B8D58FA64C}"/>
                </a:ext>
              </a:extLst>
            </p:cNvPr>
            <p:cNvCxnSpPr/>
            <p:nvPr/>
          </p:nvCxnSpPr>
          <p:spPr>
            <a:xfrm flipV="1">
              <a:off x="4024714" y="2529868"/>
              <a:ext cx="0" cy="379608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A37227-15C8-34C9-1AD0-0B165376327B}"/>
                </a:ext>
              </a:extLst>
            </p:cNvPr>
            <p:cNvSpPr txBox="1"/>
            <p:nvPr/>
          </p:nvSpPr>
          <p:spPr>
            <a:xfrm>
              <a:off x="4019001" y="3621859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Social transfers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3FDDBC-8C0B-2479-1F8F-D4B554EDE425}"/>
                </a:ext>
              </a:extLst>
            </p:cNvPr>
            <p:cNvSpPr txBox="1"/>
            <p:nvPr/>
          </p:nvSpPr>
          <p:spPr>
            <a:xfrm>
              <a:off x="804863" y="5348521"/>
              <a:ext cx="761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Exports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D0B2AAF-58F2-A00D-8F60-87C8598984A6}"/>
                </a:ext>
              </a:extLst>
            </p:cNvPr>
            <p:cNvGrpSpPr/>
            <p:nvPr/>
          </p:nvGrpSpPr>
          <p:grpSpPr>
            <a:xfrm>
              <a:off x="1566572" y="1422279"/>
              <a:ext cx="1558637" cy="646331"/>
              <a:chOff x="332509" y="3092335"/>
              <a:chExt cx="1989513" cy="646331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48967D5-38C4-EB7B-0DF2-6FAB7B1E45C6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A24A9DD-4C7C-9850-92A3-95D3C3A75285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30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Factor Markets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27BF29B-1B8E-B933-DC34-A471B29A9A2A}"/>
                </a:ext>
              </a:extLst>
            </p:cNvPr>
            <p:cNvGrpSpPr/>
            <p:nvPr/>
          </p:nvGrpSpPr>
          <p:grpSpPr>
            <a:xfrm>
              <a:off x="2852650" y="2895367"/>
              <a:ext cx="1558637" cy="369333"/>
              <a:chOff x="332509" y="3092335"/>
              <a:chExt cx="1989513" cy="369333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435F7E7-F72F-44A0-A37D-DC1ACCE179E7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51C7CE8-B5E1-D954-3DC3-1BD7419AE901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95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Households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187A847-1FD4-6D55-333A-8D65AE2A21F0}"/>
                </a:ext>
              </a:extLst>
            </p:cNvPr>
            <p:cNvGrpSpPr/>
            <p:nvPr/>
          </p:nvGrpSpPr>
          <p:grpSpPr>
            <a:xfrm>
              <a:off x="274823" y="2891327"/>
              <a:ext cx="1562884" cy="369333"/>
              <a:chOff x="332509" y="3092335"/>
              <a:chExt cx="1994934" cy="369333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00B8411-02B8-6496-BBE5-A3B202B7FD94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7F24A51-EB63-5EE5-81ED-1C9C681DCF03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949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Firms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C79A6-98FF-60DB-AD05-CDC6E8205BD1}"/>
                </a:ext>
              </a:extLst>
            </p:cNvPr>
            <p:cNvGrpSpPr/>
            <p:nvPr/>
          </p:nvGrpSpPr>
          <p:grpSpPr>
            <a:xfrm>
              <a:off x="6783169" y="2904495"/>
              <a:ext cx="1558637" cy="651480"/>
              <a:chOff x="332509" y="3087186"/>
              <a:chExt cx="1989513" cy="651480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E88753C-28D3-037C-05C7-708F219C7889}"/>
                  </a:ext>
                </a:extLst>
              </p:cNvPr>
              <p:cNvSpPr/>
              <p:nvPr/>
            </p:nvSpPr>
            <p:spPr>
              <a:xfrm>
                <a:off x="332509" y="3087186"/>
                <a:ext cx="1989513" cy="651480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CA56FD4-F850-646A-C698-BEB565FA09EA}"/>
                  </a:ext>
                </a:extLst>
              </p:cNvPr>
              <p:cNvSpPr txBox="1"/>
              <p:nvPr/>
            </p:nvSpPr>
            <p:spPr>
              <a:xfrm>
                <a:off x="332510" y="3092335"/>
                <a:ext cx="19773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Savings &amp; Investment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07F4C8B-9A3A-A3D5-0F50-EDB3C10576B2}"/>
                </a:ext>
              </a:extLst>
            </p:cNvPr>
            <p:cNvGrpSpPr/>
            <p:nvPr/>
          </p:nvGrpSpPr>
          <p:grpSpPr>
            <a:xfrm>
              <a:off x="4835039" y="2891327"/>
              <a:ext cx="1558637" cy="369333"/>
              <a:chOff x="332509" y="3092335"/>
              <a:chExt cx="1989513" cy="369333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6C6C826-B076-126D-7F28-11E8406052BC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23AE1C3-0E48-8986-EAEC-A2DB20B88C01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9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Government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5660713-EC93-3485-32F2-A27BFED43835}"/>
                </a:ext>
              </a:extLst>
            </p:cNvPr>
            <p:cNvGrpSpPr/>
            <p:nvPr/>
          </p:nvGrpSpPr>
          <p:grpSpPr>
            <a:xfrm>
              <a:off x="1571066" y="4083373"/>
              <a:ext cx="1558637" cy="646331"/>
              <a:chOff x="332509" y="3092335"/>
              <a:chExt cx="1989513" cy="646331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6A7F6B6-F3C5-B0AB-AD97-FA041340B1F6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2C23C38-0D96-2038-337F-60230C137701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085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Product Markets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E52F4F4-40E6-EB5E-E77F-5CCC597AF251}"/>
                </a:ext>
              </a:extLst>
            </p:cNvPr>
            <p:cNvGrpSpPr/>
            <p:nvPr/>
          </p:nvGrpSpPr>
          <p:grpSpPr>
            <a:xfrm>
              <a:off x="1571523" y="5338074"/>
              <a:ext cx="1561272" cy="646331"/>
              <a:chOff x="332509" y="3092335"/>
              <a:chExt cx="1992877" cy="646331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EB50C9C-05F7-2C86-D032-409FFC2F3D61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EE455FC-D1EF-D180-9B2E-CB90425DE4DB}"/>
                  </a:ext>
                </a:extLst>
              </p:cNvPr>
              <p:cNvSpPr txBox="1"/>
              <p:nvPr/>
            </p:nvSpPr>
            <p:spPr>
              <a:xfrm>
                <a:off x="332510" y="3092335"/>
                <a:ext cx="19928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Foreign Markets</a:t>
                </a:r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D1404B4-AB3B-F285-6E4F-E1F6C219B207}"/>
                </a:ext>
              </a:extLst>
            </p:cNvPr>
            <p:cNvCxnSpPr>
              <a:cxnSpLocks/>
              <a:stCxn id="73" idx="1"/>
            </p:cNvCxnSpPr>
            <p:nvPr/>
          </p:nvCxnSpPr>
          <p:spPr>
            <a:xfrm flipH="1" flipV="1">
              <a:off x="1054141" y="1745443"/>
              <a:ext cx="512431" cy="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8885F35-6D26-8478-F3CB-EAC62C3E928F}"/>
                </a:ext>
              </a:extLst>
            </p:cNvPr>
            <p:cNvCxnSpPr>
              <a:cxnSpLocks/>
              <a:stCxn id="69" idx="0"/>
            </p:cNvCxnSpPr>
            <p:nvPr/>
          </p:nvCxnSpPr>
          <p:spPr>
            <a:xfrm flipH="1" flipV="1">
              <a:off x="1054141" y="1745444"/>
              <a:ext cx="2124" cy="1145883"/>
            </a:xfrm>
            <a:prstGeom prst="line">
              <a:avLst/>
            </a:prstGeom>
            <a:ln w="12700">
              <a:solidFill>
                <a:srgbClr val="5454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3A9A57A-7D2A-3446-841C-0AF8E5874CE8}"/>
                </a:ext>
              </a:extLst>
            </p:cNvPr>
            <p:cNvCxnSpPr>
              <a:cxnSpLocks/>
              <a:endCxn id="73" idx="3"/>
            </p:cNvCxnSpPr>
            <p:nvPr/>
          </p:nvCxnSpPr>
          <p:spPr>
            <a:xfrm flipH="1">
              <a:off x="3120179" y="1745442"/>
              <a:ext cx="511789" cy="3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E690605-8369-C792-3B7E-4AC8DD7F4945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H="1" flipV="1">
              <a:off x="3631968" y="1745443"/>
              <a:ext cx="1" cy="1149924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B42A227-B5F1-E942-6B05-BD9800E68AFF}"/>
                </a:ext>
              </a:extLst>
            </p:cNvPr>
            <p:cNvCxnSpPr>
              <a:cxnSpLocks/>
              <a:endCxn id="71" idx="2"/>
            </p:cNvCxnSpPr>
            <p:nvPr/>
          </p:nvCxnSpPr>
          <p:spPr>
            <a:xfrm flipH="1" flipV="1">
              <a:off x="3631969" y="3264699"/>
              <a:ext cx="1" cy="1141846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BED4376-7BBB-1B80-7268-9D22BC9DAAE3}"/>
                </a:ext>
              </a:extLst>
            </p:cNvPr>
            <p:cNvCxnSpPr>
              <a:cxnSpLocks/>
              <a:endCxn id="69" idx="2"/>
            </p:cNvCxnSpPr>
            <p:nvPr/>
          </p:nvCxnSpPr>
          <p:spPr>
            <a:xfrm flipV="1">
              <a:off x="1054143" y="3260659"/>
              <a:ext cx="2122" cy="114588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B147CF1-E95E-B078-2193-E95AC5F23D35}"/>
                </a:ext>
              </a:extLst>
            </p:cNvPr>
            <p:cNvCxnSpPr>
              <a:cxnSpLocks/>
              <a:endCxn id="63" idx="3"/>
            </p:cNvCxnSpPr>
            <p:nvPr/>
          </p:nvCxnSpPr>
          <p:spPr>
            <a:xfrm flipH="1">
              <a:off x="3122922" y="4406534"/>
              <a:ext cx="4439566" cy="5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04D12DB-A15B-C38E-F097-422802A9421E}"/>
                </a:ext>
              </a:extLst>
            </p:cNvPr>
            <p:cNvCxnSpPr>
              <a:cxnSpLocks/>
              <a:stCxn id="63" idx="1"/>
            </p:cNvCxnSpPr>
            <p:nvPr/>
          </p:nvCxnSpPr>
          <p:spPr>
            <a:xfrm flipH="1" flipV="1">
              <a:off x="1056390" y="4406538"/>
              <a:ext cx="514676" cy="1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2F30AB6-CDD4-6637-DDE5-6E3CA17B65AE}"/>
                </a:ext>
              </a:extLst>
            </p:cNvPr>
            <p:cNvCxnSpPr>
              <a:cxnSpLocks/>
              <a:stCxn id="63" idx="0"/>
            </p:cNvCxnSpPr>
            <p:nvPr/>
          </p:nvCxnSpPr>
          <p:spPr>
            <a:xfrm flipV="1">
              <a:off x="2346994" y="3075990"/>
              <a:ext cx="3389" cy="1007383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AA484EA-EE3F-EB63-E8D4-466D4169A8FC}"/>
                </a:ext>
              </a:extLst>
            </p:cNvPr>
            <p:cNvCxnSpPr/>
            <p:nvPr/>
          </p:nvCxnSpPr>
          <p:spPr>
            <a:xfrm flipH="1">
              <a:off x="1833461" y="3075989"/>
              <a:ext cx="511841" cy="1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2C7CF73-9946-5E47-0E9D-91990242F90C}"/>
                </a:ext>
              </a:extLst>
            </p:cNvPr>
            <p:cNvSpPr txBox="1"/>
            <p:nvPr/>
          </p:nvSpPr>
          <p:spPr>
            <a:xfrm>
              <a:off x="3047166" y="4411546"/>
              <a:ext cx="11696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Private consumption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68BF207-2F5B-AB96-BD6A-A4E425BF96CC}"/>
                </a:ext>
              </a:extLst>
            </p:cNvPr>
            <p:cNvSpPr txBox="1"/>
            <p:nvPr/>
          </p:nvSpPr>
          <p:spPr>
            <a:xfrm>
              <a:off x="3125208" y="1222031"/>
              <a:ext cx="742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54544B"/>
                  </a:solidFill>
                </a:rPr>
                <a:t>Wages &amp; rents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7EE970D-D01C-ABC9-8312-FC07677E38EA}"/>
                </a:ext>
              </a:extLst>
            </p:cNvPr>
            <p:cNvSpPr txBox="1"/>
            <p:nvPr/>
          </p:nvSpPr>
          <p:spPr>
            <a:xfrm>
              <a:off x="1095585" y="3395682"/>
              <a:ext cx="126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Intermediate demand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A1D8DA8-1AC6-089E-B699-A73DBB8DB08F}"/>
                </a:ext>
              </a:extLst>
            </p:cNvPr>
            <p:cNvCxnSpPr>
              <a:cxnSpLocks/>
              <a:stCxn id="61" idx="0"/>
              <a:endCxn id="63" idx="2"/>
            </p:cNvCxnSpPr>
            <p:nvPr/>
          </p:nvCxnSpPr>
          <p:spPr>
            <a:xfrm flipH="1" flipV="1">
              <a:off x="2346994" y="4729704"/>
              <a:ext cx="5166" cy="608370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5110FC8-97C3-F3E4-E07B-EF5987AF8008}"/>
                </a:ext>
              </a:extLst>
            </p:cNvPr>
            <p:cNvCxnSpPr/>
            <p:nvPr/>
          </p:nvCxnSpPr>
          <p:spPr>
            <a:xfrm flipV="1">
              <a:off x="822326" y="3265230"/>
              <a:ext cx="734" cy="2404305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03323E4-B5C1-AC07-2F4E-C270D258B14B}"/>
                </a:ext>
              </a:extLst>
            </p:cNvPr>
            <p:cNvCxnSpPr>
              <a:cxnSpLocks/>
              <a:stCxn id="61" idx="1"/>
            </p:cNvCxnSpPr>
            <p:nvPr/>
          </p:nvCxnSpPr>
          <p:spPr>
            <a:xfrm flipH="1">
              <a:off x="822326" y="5661240"/>
              <a:ext cx="749198" cy="550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CDF5B83-A282-04F6-26D9-FC53A370A01A}"/>
                </a:ext>
              </a:extLst>
            </p:cNvPr>
            <p:cNvSpPr txBox="1"/>
            <p:nvPr/>
          </p:nvSpPr>
          <p:spPr>
            <a:xfrm>
              <a:off x="925483" y="4406534"/>
              <a:ext cx="6410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Sales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8820A31-7522-0270-3A87-86FFB9AC02E7}"/>
                </a:ext>
              </a:extLst>
            </p:cNvPr>
            <p:cNvSpPr txBox="1"/>
            <p:nvPr/>
          </p:nvSpPr>
          <p:spPr>
            <a:xfrm>
              <a:off x="1572738" y="5030860"/>
              <a:ext cx="761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Imports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10AD4FB-A5A5-0528-B580-CF99A7A9A83A}"/>
                </a:ext>
              </a:extLst>
            </p:cNvPr>
            <p:cNvCxnSpPr>
              <a:cxnSpLocks/>
              <a:endCxn id="65" idx="2"/>
            </p:cNvCxnSpPr>
            <p:nvPr/>
          </p:nvCxnSpPr>
          <p:spPr>
            <a:xfrm flipH="1" flipV="1">
              <a:off x="5614357" y="3260659"/>
              <a:ext cx="1" cy="1146827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08696FE-C2CB-AEED-CFC3-F1696F23AE7D}"/>
                </a:ext>
              </a:extLst>
            </p:cNvPr>
            <p:cNvCxnSpPr>
              <a:cxnSpLocks/>
              <a:endCxn id="67" idx="2"/>
            </p:cNvCxnSpPr>
            <p:nvPr/>
          </p:nvCxnSpPr>
          <p:spPr>
            <a:xfrm flipH="1" flipV="1">
              <a:off x="7557730" y="3555975"/>
              <a:ext cx="4757" cy="8455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BCD8FFB-8CC9-5A4A-7D46-29A3C7B734EA}"/>
                </a:ext>
              </a:extLst>
            </p:cNvPr>
            <p:cNvSpPr txBox="1"/>
            <p:nvPr/>
          </p:nvSpPr>
          <p:spPr>
            <a:xfrm>
              <a:off x="925483" y="1213657"/>
              <a:ext cx="6410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Factor costs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0757008-9289-46F4-C414-A7A2AD77339A}"/>
                </a:ext>
              </a:extLst>
            </p:cNvPr>
            <p:cNvSpPr txBox="1"/>
            <p:nvPr/>
          </p:nvSpPr>
          <p:spPr>
            <a:xfrm>
              <a:off x="5025984" y="4417896"/>
              <a:ext cx="11696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Public consumption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BDD2AD8-4690-51F3-8ECA-7E0717906F7F}"/>
                </a:ext>
              </a:extLst>
            </p:cNvPr>
            <p:cNvSpPr txBox="1"/>
            <p:nvPr/>
          </p:nvSpPr>
          <p:spPr>
            <a:xfrm>
              <a:off x="6634163" y="4413135"/>
              <a:ext cx="10013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Investment demand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F7FE946-E0D2-8EFD-B2DE-DF46CD5211C2}"/>
                </a:ext>
              </a:extLst>
            </p:cNvPr>
            <p:cNvCxnSpPr/>
            <p:nvPr/>
          </p:nvCxnSpPr>
          <p:spPr>
            <a:xfrm flipH="1">
              <a:off x="3831116" y="1748548"/>
              <a:ext cx="3731370" cy="4986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1EBF057-49AD-6A58-B2F9-C000148BCEB3}"/>
                </a:ext>
              </a:extLst>
            </p:cNvPr>
            <p:cNvCxnSpPr/>
            <p:nvPr/>
          </p:nvCxnSpPr>
          <p:spPr>
            <a:xfrm flipH="1" flipV="1">
              <a:off x="3828341" y="1746786"/>
              <a:ext cx="1" cy="114992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E0B295E-075B-0AC2-6A60-423BEC10F2EE}"/>
                </a:ext>
              </a:extLst>
            </p:cNvPr>
            <p:cNvCxnSpPr>
              <a:cxnSpLocks/>
              <a:stCxn id="67" idx="0"/>
            </p:cNvCxnSpPr>
            <p:nvPr/>
          </p:nvCxnSpPr>
          <p:spPr>
            <a:xfrm flipV="1">
              <a:off x="7557730" y="1740897"/>
              <a:ext cx="4756" cy="1168747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8A49F04-5A3D-F9DE-8E65-5A93CB138D15}"/>
                </a:ext>
              </a:extLst>
            </p:cNvPr>
            <p:cNvSpPr txBox="1"/>
            <p:nvPr/>
          </p:nvSpPr>
          <p:spPr>
            <a:xfrm>
              <a:off x="5494193" y="1438300"/>
              <a:ext cx="20682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Domestic private savings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6D3FE7C-308C-46CB-91A5-0104A02364DB}"/>
                </a:ext>
              </a:extLst>
            </p:cNvPr>
            <p:cNvCxnSpPr/>
            <p:nvPr/>
          </p:nvCxnSpPr>
          <p:spPr>
            <a:xfrm flipH="1">
              <a:off x="4025901" y="2524891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DCABD3F-1F1C-1F1A-B15A-7522D47947C1}"/>
                </a:ext>
              </a:extLst>
            </p:cNvPr>
            <p:cNvCxnSpPr/>
            <p:nvPr/>
          </p:nvCxnSpPr>
          <p:spPr>
            <a:xfrm flipH="1" flipV="1">
              <a:off x="5351673" y="2525672"/>
              <a:ext cx="2772" cy="36255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C094DD6-A42B-E429-3290-699B18AC6D22}"/>
                </a:ext>
              </a:extLst>
            </p:cNvPr>
            <p:cNvCxnSpPr/>
            <p:nvPr/>
          </p:nvCxnSpPr>
          <p:spPr>
            <a:xfrm flipH="1" flipV="1">
              <a:off x="5750407" y="2520618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1D20AD2-6809-D6B9-927D-AE0F027F451D}"/>
                </a:ext>
              </a:extLst>
            </p:cNvPr>
            <p:cNvCxnSpPr/>
            <p:nvPr/>
          </p:nvCxnSpPr>
          <p:spPr>
            <a:xfrm flipH="1">
              <a:off x="5751446" y="2523329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29F767A-1E19-6FE7-1E0E-704FBBBF4AB4}"/>
                </a:ext>
              </a:extLst>
            </p:cNvPr>
            <p:cNvCxnSpPr/>
            <p:nvPr/>
          </p:nvCxnSpPr>
          <p:spPr>
            <a:xfrm flipH="1" flipV="1">
              <a:off x="7072484" y="2530461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C043D1A-30DD-EBE5-04F2-4BA2FF2DB648}"/>
                </a:ext>
              </a:extLst>
            </p:cNvPr>
            <p:cNvCxnSpPr/>
            <p:nvPr/>
          </p:nvCxnSpPr>
          <p:spPr>
            <a:xfrm flipH="1" flipV="1">
              <a:off x="5346081" y="3260426"/>
              <a:ext cx="2772" cy="3625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14A1FA7-63AD-79B0-12F4-41ADAEAB6F1B}"/>
                </a:ext>
              </a:extLst>
            </p:cNvPr>
            <p:cNvCxnSpPr/>
            <p:nvPr/>
          </p:nvCxnSpPr>
          <p:spPr>
            <a:xfrm flipH="1" flipV="1">
              <a:off x="4023248" y="3259688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69FFCC4-197B-9894-1F22-E2383E7F6F2A}"/>
                </a:ext>
              </a:extLst>
            </p:cNvPr>
            <p:cNvCxnSpPr/>
            <p:nvPr/>
          </p:nvCxnSpPr>
          <p:spPr>
            <a:xfrm flipH="1">
              <a:off x="4025901" y="3623159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25F626D-247D-9E8C-B18C-E79E9166C749}"/>
                </a:ext>
              </a:extLst>
            </p:cNvPr>
            <p:cNvSpPr txBox="1"/>
            <p:nvPr/>
          </p:nvSpPr>
          <p:spPr>
            <a:xfrm>
              <a:off x="5739385" y="2213230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Public savings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5C398FB-806E-4F52-3FBB-B9A975A6BED6}"/>
                </a:ext>
              </a:extLst>
            </p:cNvPr>
            <p:cNvSpPr txBox="1"/>
            <p:nvPr/>
          </p:nvSpPr>
          <p:spPr>
            <a:xfrm>
              <a:off x="4009508" y="2217090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Direct taxes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C0FF1BB-215E-6ABA-2076-36B554113A27}"/>
                </a:ext>
              </a:extLst>
            </p:cNvPr>
            <p:cNvCxnSpPr/>
            <p:nvPr/>
          </p:nvCxnSpPr>
          <p:spPr>
            <a:xfrm flipH="1">
              <a:off x="3122922" y="5656298"/>
              <a:ext cx="4674416" cy="0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51FA49F-5C9A-F5D0-D11C-045441B34F83}"/>
                </a:ext>
              </a:extLst>
            </p:cNvPr>
            <p:cNvCxnSpPr/>
            <p:nvPr/>
          </p:nvCxnSpPr>
          <p:spPr>
            <a:xfrm flipV="1">
              <a:off x="7795022" y="3555975"/>
              <a:ext cx="2316" cy="210032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0F9A91D-3844-A4C1-13C8-206E8716AAE6}"/>
                </a:ext>
              </a:extLst>
            </p:cNvPr>
            <p:cNvSpPr txBox="1"/>
            <p:nvPr/>
          </p:nvSpPr>
          <p:spPr>
            <a:xfrm>
              <a:off x="5144823" y="5338074"/>
              <a:ext cx="26652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Foreign savings or capital inflows</a:t>
              </a:r>
              <a:endParaRPr lang="en-US" dirty="0">
                <a:solidFill>
                  <a:srgbClr val="54544B"/>
                </a:solidFill>
              </a:endParaRPr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51C1B73-0CE6-A10D-FBAD-A33E87E51650}"/>
              </a:ext>
            </a:extLst>
          </p:cNvPr>
          <p:cNvCxnSpPr/>
          <p:nvPr/>
        </p:nvCxnSpPr>
        <p:spPr>
          <a:xfrm flipH="1" flipV="1">
            <a:off x="7062144" y="3044162"/>
            <a:ext cx="452" cy="982105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142B2D3-05CB-0D4B-7174-D0E0519DBED1}"/>
              </a:ext>
            </a:extLst>
          </p:cNvPr>
          <p:cNvSpPr txBox="1"/>
          <p:nvPr/>
        </p:nvSpPr>
        <p:spPr>
          <a:xfrm>
            <a:off x="5717957" y="3722699"/>
            <a:ext cx="1350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54544B"/>
                </a:solidFill>
              </a:rPr>
              <a:t>Indirect taxes</a:t>
            </a:r>
            <a:endParaRPr lang="en-US" dirty="0">
              <a:solidFill>
                <a:srgbClr val="5454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451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DE302-9009-11A4-F1ED-FC8A61122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Accounting Identities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C95EE-A611-C138-B49C-27BB53FA1545}"/>
              </a:ext>
            </a:extLst>
          </p:cNvPr>
          <p:cNvSpPr txBox="1"/>
          <p:nvPr/>
        </p:nvSpPr>
        <p:spPr>
          <a:xfrm>
            <a:off x="3416149" y="6264471"/>
            <a:ext cx="6766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C00000"/>
                </a:solidFill>
              </a:rPr>
              <a:t>GDP at market prices = GDP at factor cost F + Indirect Taxes 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F9460-DBC4-7B54-8285-8CAA52757AA7}"/>
              </a:ext>
            </a:extLst>
          </p:cNvPr>
          <p:cNvSpPr txBox="1"/>
          <p:nvPr/>
        </p:nvSpPr>
        <p:spPr>
          <a:xfrm>
            <a:off x="5092394" y="5919068"/>
            <a:ext cx="509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C00000"/>
                </a:solidFill>
              </a:rPr>
              <a:t>Total Investment I = Total Savings 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36B42F-F76F-E2D2-AB0E-A602F70FC542}"/>
              </a:ext>
            </a:extLst>
          </p:cNvPr>
          <p:cNvSpPr txBox="1"/>
          <p:nvPr/>
        </p:nvSpPr>
        <p:spPr>
          <a:xfrm>
            <a:off x="5036920" y="5573665"/>
            <a:ext cx="5145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C00000"/>
                </a:solidFill>
              </a:rPr>
              <a:t>GDP at market prices = C + I + G + X – M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7FF9C0-6B63-6E97-BC82-362C8E079222}"/>
              </a:ext>
            </a:extLst>
          </p:cNvPr>
          <p:cNvCxnSpPr/>
          <p:nvPr/>
        </p:nvCxnSpPr>
        <p:spPr>
          <a:xfrm flipH="1">
            <a:off x="4702869" y="4030482"/>
            <a:ext cx="2358218" cy="4923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6D4B5B7-6253-EB24-F197-B86D140BBEAE}"/>
              </a:ext>
            </a:extLst>
          </p:cNvPr>
          <p:cNvSpPr/>
          <p:nvPr/>
        </p:nvSpPr>
        <p:spPr>
          <a:xfrm>
            <a:off x="5178431" y="3979611"/>
            <a:ext cx="79999" cy="92869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CD12FFF-241B-3FA8-6ABF-836A8C6B1645}"/>
              </a:ext>
            </a:extLst>
          </p:cNvPr>
          <p:cNvGrpSpPr/>
          <p:nvPr/>
        </p:nvGrpSpPr>
        <p:grpSpPr>
          <a:xfrm>
            <a:off x="1857512" y="1001403"/>
            <a:ext cx="8066983" cy="4770748"/>
            <a:chOff x="274823" y="1213657"/>
            <a:chExt cx="8066983" cy="477074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DF36878-4F2D-3C20-BDFA-C7B8D58FA64C}"/>
                </a:ext>
              </a:extLst>
            </p:cNvPr>
            <p:cNvCxnSpPr/>
            <p:nvPr/>
          </p:nvCxnSpPr>
          <p:spPr>
            <a:xfrm flipV="1">
              <a:off x="4024714" y="2529868"/>
              <a:ext cx="0" cy="379608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A37227-15C8-34C9-1AD0-0B165376327B}"/>
                </a:ext>
              </a:extLst>
            </p:cNvPr>
            <p:cNvSpPr txBox="1"/>
            <p:nvPr/>
          </p:nvSpPr>
          <p:spPr>
            <a:xfrm>
              <a:off x="4019001" y="3621859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Social transfers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3FDDBC-8C0B-2479-1F8F-D4B554EDE425}"/>
                </a:ext>
              </a:extLst>
            </p:cNvPr>
            <p:cNvSpPr txBox="1"/>
            <p:nvPr/>
          </p:nvSpPr>
          <p:spPr>
            <a:xfrm>
              <a:off x="804863" y="5348521"/>
              <a:ext cx="761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Exports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D0B2AAF-58F2-A00D-8F60-87C8598984A6}"/>
                </a:ext>
              </a:extLst>
            </p:cNvPr>
            <p:cNvGrpSpPr/>
            <p:nvPr/>
          </p:nvGrpSpPr>
          <p:grpSpPr>
            <a:xfrm>
              <a:off x="1566572" y="1422279"/>
              <a:ext cx="1558637" cy="646331"/>
              <a:chOff x="332509" y="3092335"/>
              <a:chExt cx="1989513" cy="646331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48967D5-38C4-EB7B-0DF2-6FAB7B1E45C6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A24A9DD-4C7C-9850-92A3-95D3C3A75285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30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Factor Markets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27BF29B-1B8E-B933-DC34-A471B29A9A2A}"/>
                </a:ext>
              </a:extLst>
            </p:cNvPr>
            <p:cNvGrpSpPr/>
            <p:nvPr/>
          </p:nvGrpSpPr>
          <p:grpSpPr>
            <a:xfrm>
              <a:off x="2852650" y="2895367"/>
              <a:ext cx="1558637" cy="369333"/>
              <a:chOff x="332509" y="3092335"/>
              <a:chExt cx="1989513" cy="369333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435F7E7-F72F-44A0-A37D-DC1ACCE179E7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51C7CE8-B5E1-D954-3DC3-1BD7419AE901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95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Households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187A847-1FD4-6D55-333A-8D65AE2A21F0}"/>
                </a:ext>
              </a:extLst>
            </p:cNvPr>
            <p:cNvGrpSpPr/>
            <p:nvPr/>
          </p:nvGrpSpPr>
          <p:grpSpPr>
            <a:xfrm>
              <a:off x="274823" y="2891327"/>
              <a:ext cx="1562884" cy="369333"/>
              <a:chOff x="332509" y="3092335"/>
              <a:chExt cx="1994934" cy="369333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00B8411-02B8-6496-BBE5-A3B202B7FD94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7F24A51-EB63-5EE5-81ED-1C9C681DCF03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949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Firms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C79A6-98FF-60DB-AD05-CDC6E8205BD1}"/>
                </a:ext>
              </a:extLst>
            </p:cNvPr>
            <p:cNvGrpSpPr/>
            <p:nvPr/>
          </p:nvGrpSpPr>
          <p:grpSpPr>
            <a:xfrm>
              <a:off x="6783169" y="2904495"/>
              <a:ext cx="1558637" cy="651480"/>
              <a:chOff x="332509" y="3087186"/>
              <a:chExt cx="1989513" cy="651480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E88753C-28D3-037C-05C7-708F219C7889}"/>
                  </a:ext>
                </a:extLst>
              </p:cNvPr>
              <p:cNvSpPr/>
              <p:nvPr/>
            </p:nvSpPr>
            <p:spPr>
              <a:xfrm>
                <a:off x="332509" y="3087186"/>
                <a:ext cx="1989513" cy="651480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CA56FD4-F850-646A-C698-BEB565FA09EA}"/>
                  </a:ext>
                </a:extLst>
              </p:cNvPr>
              <p:cNvSpPr txBox="1"/>
              <p:nvPr/>
            </p:nvSpPr>
            <p:spPr>
              <a:xfrm>
                <a:off x="332510" y="3092335"/>
                <a:ext cx="19773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Savings &amp; Investment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07F4C8B-9A3A-A3D5-0F50-EDB3C10576B2}"/>
                </a:ext>
              </a:extLst>
            </p:cNvPr>
            <p:cNvGrpSpPr/>
            <p:nvPr/>
          </p:nvGrpSpPr>
          <p:grpSpPr>
            <a:xfrm>
              <a:off x="4835039" y="2891327"/>
              <a:ext cx="1558637" cy="369333"/>
              <a:chOff x="332509" y="3092335"/>
              <a:chExt cx="1989513" cy="369333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6C6C826-B076-126D-7F28-11E8406052BC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23AE1C3-0E48-8986-EAEC-A2DB20B88C01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9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Government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5660713-EC93-3485-32F2-A27BFED43835}"/>
                </a:ext>
              </a:extLst>
            </p:cNvPr>
            <p:cNvGrpSpPr/>
            <p:nvPr/>
          </p:nvGrpSpPr>
          <p:grpSpPr>
            <a:xfrm>
              <a:off x="1571066" y="4083373"/>
              <a:ext cx="1558637" cy="646331"/>
              <a:chOff x="332509" y="3092335"/>
              <a:chExt cx="1989513" cy="646331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6A7F6B6-F3C5-B0AB-AD97-FA041340B1F6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2C23C38-0D96-2038-337F-60230C137701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085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Product Markets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E52F4F4-40E6-EB5E-E77F-5CCC597AF251}"/>
                </a:ext>
              </a:extLst>
            </p:cNvPr>
            <p:cNvGrpSpPr/>
            <p:nvPr/>
          </p:nvGrpSpPr>
          <p:grpSpPr>
            <a:xfrm>
              <a:off x="1571523" y="5338074"/>
              <a:ext cx="1561272" cy="646331"/>
              <a:chOff x="332509" y="3092335"/>
              <a:chExt cx="1992877" cy="646331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EB50C9C-05F7-2C86-D032-409FFC2F3D61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EE455FC-D1EF-D180-9B2E-CB90425DE4DB}"/>
                  </a:ext>
                </a:extLst>
              </p:cNvPr>
              <p:cNvSpPr txBox="1"/>
              <p:nvPr/>
            </p:nvSpPr>
            <p:spPr>
              <a:xfrm>
                <a:off x="332510" y="3092335"/>
                <a:ext cx="19928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Foreign Markets</a:t>
                </a:r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D1404B4-AB3B-F285-6E4F-E1F6C219B207}"/>
                </a:ext>
              </a:extLst>
            </p:cNvPr>
            <p:cNvCxnSpPr>
              <a:cxnSpLocks/>
              <a:stCxn id="73" idx="1"/>
            </p:cNvCxnSpPr>
            <p:nvPr/>
          </p:nvCxnSpPr>
          <p:spPr>
            <a:xfrm flipH="1" flipV="1">
              <a:off x="1054141" y="1745443"/>
              <a:ext cx="512431" cy="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8885F35-6D26-8478-F3CB-EAC62C3E928F}"/>
                </a:ext>
              </a:extLst>
            </p:cNvPr>
            <p:cNvCxnSpPr>
              <a:cxnSpLocks/>
              <a:stCxn id="69" idx="0"/>
            </p:cNvCxnSpPr>
            <p:nvPr/>
          </p:nvCxnSpPr>
          <p:spPr>
            <a:xfrm flipH="1" flipV="1">
              <a:off x="1054141" y="1745444"/>
              <a:ext cx="2124" cy="1145883"/>
            </a:xfrm>
            <a:prstGeom prst="line">
              <a:avLst/>
            </a:prstGeom>
            <a:ln w="12700">
              <a:solidFill>
                <a:srgbClr val="5454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3A9A57A-7D2A-3446-841C-0AF8E5874CE8}"/>
                </a:ext>
              </a:extLst>
            </p:cNvPr>
            <p:cNvCxnSpPr>
              <a:cxnSpLocks/>
              <a:endCxn id="73" idx="3"/>
            </p:cNvCxnSpPr>
            <p:nvPr/>
          </p:nvCxnSpPr>
          <p:spPr>
            <a:xfrm flipH="1">
              <a:off x="3120179" y="1745442"/>
              <a:ext cx="511789" cy="3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E690605-8369-C792-3B7E-4AC8DD7F4945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H="1" flipV="1">
              <a:off x="3631968" y="1745443"/>
              <a:ext cx="1" cy="1149924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B42A227-B5F1-E942-6B05-BD9800E68AFF}"/>
                </a:ext>
              </a:extLst>
            </p:cNvPr>
            <p:cNvCxnSpPr>
              <a:cxnSpLocks/>
              <a:endCxn id="71" idx="2"/>
            </p:cNvCxnSpPr>
            <p:nvPr/>
          </p:nvCxnSpPr>
          <p:spPr>
            <a:xfrm flipH="1" flipV="1">
              <a:off x="3631969" y="3264699"/>
              <a:ext cx="1" cy="1141846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BED4376-7BBB-1B80-7268-9D22BC9DAAE3}"/>
                </a:ext>
              </a:extLst>
            </p:cNvPr>
            <p:cNvCxnSpPr>
              <a:cxnSpLocks/>
              <a:endCxn id="69" idx="2"/>
            </p:cNvCxnSpPr>
            <p:nvPr/>
          </p:nvCxnSpPr>
          <p:spPr>
            <a:xfrm flipV="1">
              <a:off x="1054143" y="3260659"/>
              <a:ext cx="2122" cy="114588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B147CF1-E95E-B078-2193-E95AC5F23D35}"/>
                </a:ext>
              </a:extLst>
            </p:cNvPr>
            <p:cNvCxnSpPr>
              <a:cxnSpLocks/>
              <a:endCxn id="63" idx="3"/>
            </p:cNvCxnSpPr>
            <p:nvPr/>
          </p:nvCxnSpPr>
          <p:spPr>
            <a:xfrm flipH="1">
              <a:off x="3122922" y="4406534"/>
              <a:ext cx="4439566" cy="5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04D12DB-A15B-C38E-F097-422802A9421E}"/>
                </a:ext>
              </a:extLst>
            </p:cNvPr>
            <p:cNvCxnSpPr>
              <a:cxnSpLocks/>
              <a:stCxn id="63" idx="1"/>
            </p:cNvCxnSpPr>
            <p:nvPr/>
          </p:nvCxnSpPr>
          <p:spPr>
            <a:xfrm flipH="1" flipV="1">
              <a:off x="1056390" y="4406538"/>
              <a:ext cx="514676" cy="1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2F30AB6-CDD4-6637-DDE5-6E3CA17B65AE}"/>
                </a:ext>
              </a:extLst>
            </p:cNvPr>
            <p:cNvCxnSpPr>
              <a:cxnSpLocks/>
              <a:stCxn id="63" idx="0"/>
            </p:cNvCxnSpPr>
            <p:nvPr/>
          </p:nvCxnSpPr>
          <p:spPr>
            <a:xfrm flipV="1">
              <a:off x="2346994" y="3075990"/>
              <a:ext cx="3389" cy="1007383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AA484EA-EE3F-EB63-E8D4-466D4169A8FC}"/>
                </a:ext>
              </a:extLst>
            </p:cNvPr>
            <p:cNvCxnSpPr/>
            <p:nvPr/>
          </p:nvCxnSpPr>
          <p:spPr>
            <a:xfrm flipH="1">
              <a:off x="1833461" y="3075989"/>
              <a:ext cx="511841" cy="1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2C7CF73-9946-5E47-0E9D-91990242F90C}"/>
                </a:ext>
              </a:extLst>
            </p:cNvPr>
            <p:cNvSpPr txBox="1"/>
            <p:nvPr/>
          </p:nvSpPr>
          <p:spPr>
            <a:xfrm>
              <a:off x="3047166" y="4411546"/>
              <a:ext cx="11696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Private consumption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68BF207-2F5B-AB96-BD6A-A4E425BF96CC}"/>
                </a:ext>
              </a:extLst>
            </p:cNvPr>
            <p:cNvSpPr txBox="1"/>
            <p:nvPr/>
          </p:nvSpPr>
          <p:spPr>
            <a:xfrm>
              <a:off x="3125208" y="1222031"/>
              <a:ext cx="742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54544B"/>
                  </a:solidFill>
                </a:rPr>
                <a:t>Wages &amp; rents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7EE970D-D01C-ABC9-8312-FC07677E38EA}"/>
                </a:ext>
              </a:extLst>
            </p:cNvPr>
            <p:cNvSpPr txBox="1"/>
            <p:nvPr/>
          </p:nvSpPr>
          <p:spPr>
            <a:xfrm>
              <a:off x="1095585" y="3395682"/>
              <a:ext cx="126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Intermediate demand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A1D8DA8-1AC6-089E-B699-A73DBB8DB08F}"/>
                </a:ext>
              </a:extLst>
            </p:cNvPr>
            <p:cNvCxnSpPr>
              <a:cxnSpLocks/>
              <a:stCxn id="61" idx="0"/>
              <a:endCxn id="63" idx="2"/>
            </p:cNvCxnSpPr>
            <p:nvPr/>
          </p:nvCxnSpPr>
          <p:spPr>
            <a:xfrm flipH="1" flipV="1">
              <a:off x="2346994" y="4729704"/>
              <a:ext cx="5166" cy="608370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5110FC8-97C3-F3E4-E07B-EF5987AF8008}"/>
                </a:ext>
              </a:extLst>
            </p:cNvPr>
            <p:cNvCxnSpPr/>
            <p:nvPr/>
          </p:nvCxnSpPr>
          <p:spPr>
            <a:xfrm flipV="1">
              <a:off x="822326" y="3265230"/>
              <a:ext cx="734" cy="2404305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03323E4-B5C1-AC07-2F4E-C270D258B14B}"/>
                </a:ext>
              </a:extLst>
            </p:cNvPr>
            <p:cNvCxnSpPr>
              <a:cxnSpLocks/>
              <a:stCxn id="61" idx="1"/>
            </p:cNvCxnSpPr>
            <p:nvPr/>
          </p:nvCxnSpPr>
          <p:spPr>
            <a:xfrm flipH="1">
              <a:off x="822326" y="5661240"/>
              <a:ext cx="749198" cy="550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CDF5B83-A282-04F6-26D9-FC53A370A01A}"/>
                </a:ext>
              </a:extLst>
            </p:cNvPr>
            <p:cNvSpPr txBox="1"/>
            <p:nvPr/>
          </p:nvSpPr>
          <p:spPr>
            <a:xfrm>
              <a:off x="925483" y="4406534"/>
              <a:ext cx="6410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Sales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8820A31-7522-0270-3A87-86FFB9AC02E7}"/>
                </a:ext>
              </a:extLst>
            </p:cNvPr>
            <p:cNvSpPr txBox="1"/>
            <p:nvPr/>
          </p:nvSpPr>
          <p:spPr>
            <a:xfrm>
              <a:off x="1572738" y="5030860"/>
              <a:ext cx="761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Imports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10AD4FB-A5A5-0528-B580-CF99A7A9A83A}"/>
                </a:ext>
              </a:extLst>
            </p:cNvPr>
            <p:cNvCxnSpPr>
              <a:cxnSpLocks/>
              <a:endCxn id="65" idx="2"/>
            </p:cNvCxnSpPr>
            <p:nvPr/>
          </p:nvCxnSpPr>
          <p:spPr>
            <a:xfrm flipH="1" flipV="1">
              <a:off x="5614357" y="3260659"/>
              <a:ext cx="1" cy="1146827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08696FE-C2CB-AEED-CFC3-F1696F23AE7D}"/>
                </a:ext>
              </a:extLst>
            </p:cNvPr>
            <p:cNvCxnSpPr>
              <a:cxnSpLocks/>
              <a:endCxn id="67" idx="2"/>
            </p:cNvCxnSpPr>
            <p:nvPr/>
          </p:nvCxnSpPr>
          <p:spPr>
            <a:xfrm flipH="1" flipV="1">
              <a:off x="7557730" y="3555975"/>
              <a:ext cx="4757" cy="8455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BCD8FFB-8CC9-5A4A-7D46-29A3C7B734EA}"/>
                </a:ext>
              </a:extLst>
            </p:cNvPr>
            <p:cNvSpPr txBox="1"/>
            <p:nvPr/>
          </p:nvSpPr>
          <p:spPr>
            <a:xfrm>
              <a:off x="925483" y="1213657"/>
              <a:ext cx="6410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Factor costs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0757008-9289-46F4-C414-A7A2AD77339A}"/>
                </a:ext>
              </a:extLst>
            </p:cNvPr>
            <p:cNvSpPr txBox="1"/>
            <p:nvPr/>
          </p:nvSpPr>
          <p:spPr>
            <a:xfrm>
              <a:off x="5025984" y="4417896"/>
              <a:ext cx="11696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Public consumption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BDD2AD8-4690-51F3-8ECA-7E0717906F7F}"/>
                </a:ext>
              </a:extLst>
            </p:cNvPr>
            <p:cNvSpPr txBox="1"/>
            <p:nvPr/>
          </p:nvSpPr>
          <p:spPr>
            <a:xfrm>
              <a:off x="6634163" y="4413135"/>
              <a:ext cx="10013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Investment demand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F7FE946-E0D2-8EFD-B2DE-DF46CD5211C2}"/>
                </a:ext>
              </a:extLst>
            </p:cNvPr>
            <p:cNvCxnSpPr/>
            <p:nvPr/>
          </p:nvCxnSpPr>
          <p:spPr>
            <a:xfrm flipH="1">
              <a:off x="3831116" y="1748548"/>
              <a:ext cx="3731370" cy="4986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1EBF057-49AD-6A58-B2F9-C000148BCEB3}"/>
                </a:ext>
              </a:extLst>
            </p:cNvPr>
            <p:cNvCxnSpPr/>
            <p:nvPr/>
          </p:nvCxnSpPr>
          <p:spPr>
            <a:xfrm flipH="1" flipV="1">
              <a:off x="3828341" y="1746786"/>
              <a:ext cx="1" cy="114992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E0B295E-075B-0AC2-6A60-423BEC10F2EE}"/>
                </a:ext>
              </a:extLst>
            </p:cNvPr>
            <p:cNvCxnSpPr>
              <a:cxnSpLocks/>
              <a:stCxn id="67" idx="0"/>
            </p:cNvCxnSpPr>
            <p:nvPr/>
          </p:nvCxnSpPr>
          <p:spPr>
            <a:xfrm flipV="1">
              <a:off x="7557730" y="1740897"/>
              <a:ext cx="4756" cy="1168747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8A49F04-5A3D-F9DE-8E65-5A93CB138D15}"/>
                </a:ext>
              </a:extLst>
            </p:cNvPr>
            <p:cNvSpPr txBox="1"/>
            <p:nvPr/>
          </p:nvSpPr>
          <p:spPr>
            <a:xfrm>
              <a:off x="5494193" y="1438300"/>
              <a:ext cx="20682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Domestic private savings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6D3FE7C-308C-46CB-91A5-0104A02364DB}"/>
                </a:ext>
              </a:extLst>
            </p:cNvPr>
            <p:cNvCxnSpPr/>
            <p:nvPr/>
          </p:nvCxnSpPr>
          <p:spPr>
            <a:xfrm flipH="1">
              <a:off x="4025901" y="2524891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DCABD3F-1F1C-1F1A-B15A-7522D47947C1}"/>
                </a:ext>
              </a:extLst>
            </p:cNvPr>
            <p:cNvCxnSpPr/>
            <p:nvPr/>
          </p:nvCxnSpPr>
          <p:spPr>
            <a:xfrm flipH="1" flipV="1">
              <a:off x="5351673" y="2525672"/>
              <a:ext cx="2772" cy="36255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C094DD6-A42B-E429-3290-699B18AC6D22}"/>
                </a:ext>
              </a:extLst>
            </p:cNvPr>
            <p:cNvCxnSpPr/>
            <p:nvPr/>
          </p:nvCxnSpPr>
          <p:spPr>
            <a:xfrm flipH="1" flipV="1">
              <a:off x="5750407" y="2520618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1D20AD2-6809-D6B9-927D-AE0F027F451D}"/>
                </a:ext>
              </a:extLst>
            </p:cNvPr>
            <p:cNvCxnSpPr/>
            <p:nvPr/>
          </p:nvCxnSpPr>
          <p:spPr>
            <a:xfrm flipH="1">
              <a:off x="5751446" y="2523329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29F767A-1E19-6FE7-1E0E-704FBBBF4AB4}"/>
                </a:ext>
              </a:extLst>
            </p:cNvPr>
            <p:cNvCxnSpPr/>
            <p:nvPr/>
          </p:nvCxnSpPr>
          <p:spPr>
            <a:xfrm flipH="1" flipV="1">
              <a:off x="7072484" y="2530461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C043D1A-30DD-EBE5-04F2-4BA2FF2DB648}"/>
                </a:ext>
              </a:extLst>
            </p:cNvPr>
            <p:cNvCxnSpPr/>
            <p:nvPr/>
          </p:nvCxnSpPr>
          <p:spPr>
            <a:xfrm flipH="1" flipV="1">
              <a:off x="5346081" y="3260426"/>
              <a:ext cx="2772" cy="3625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14A1FA7-63AD-79B0-12F4-41ADAEAB6F1B}"/>
                </a:ext>
              </a:extLst>
            </p:cNvPr>
            <p:cNvCxnSpPr/>
            <p:nvPr/>
          </p:nvCxnSpPr>
          <p:spPr>
            <a:xfrm flipH="1" flipV="1">
              <a:off x="4023248" y="3259688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69FFCC4-197B-9894-1F22-E2383E7F6F2A}"/>
                </a:ext>
              </a:extLst>
            </p:cNvPr>
            <p:cNvCxnSpPr/>
            <p:nvPr/>
          </p:nvCxnSpPr>
          <p:spPr>
            <a:xfrm flipH="1">
              <a:off x="4025901" y="3623159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25F626D-247D-9E8C-B18C-E79E9166C749}"/>
                </a:ext>
              </a:extLst>
            </p:cNvPr>
            <p:cNvSpPr txBox="1"/>
            <p:nvPr/>
          </p:nvSpPr>
          <p:spPr>
            <a:xfrm>
              <a:off x="5739385" y="2213230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Public savings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5C398FB-806E-4F52-3FBB-B9A975A6BED6}"/>
                </a:ext>
              </a:extLst>
            </p:cNvPr>
            <p:cNvSpPr txBox="1"/>
            <p:nvPr/>
          </p:nvSpPr>
          <p:spPr>
            <a:xfrm>
              <a:off x="4009508" y="2217090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Direct taxes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C0FF1BB-215E-6ABA-2076-36B554113A27}"/>
                </a:ext>
              </a:extLst>
            </p:cNvPr>
            <p:cNvCxnSpPr/>
            <p:nvPr/>
          </p:nvCxnSpPr>
          <p:spPr>
            <a:xfrm flipH="1">
              <a:off x="3122922" y="5656298"/>
              <a:ext cx="4674416" cy="0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51FA49F-5C9A-F5D0-D11C-045441B34F83}"/>
                </a:ext>
              </a:extLst>
            </p:cNvPr>
            <p:cNvCxnSpPr/>
            <p:nvPr/>
          </p:nvCxnSpPr>
          <p:spPr>
            <a:xfrm flipV="1">
              <a:off x="7795022" y="3555975"/>
              <a:ext cx="2316" cy="210032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0F9A91D-3844-A4C1-13C8-206E8716AAE6}"/>
                </a:ext>
              </a:extLst>
            </p:cNvPr>
            <p:cNvSpPr txBox="1"/>
            <p:nvPr/>
          </p:nvSpPr>
          <p:spPr>
            <a:xfrm>
              <a:off x="5144823" y="5338074"/>
              <a:ext cx="26652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Foreign savings or capital inflows</a:t>
              </a:r>
              <a:endParaRPr lang="en-US" dirty="0">
                <a:solidFill>
                  <a:srgbClr val="54544B"/>
                </a:solidFill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08BCEE56-B271-CE94-724F-F39AC37D7B81}"/>
              </a:ext>
            </a:extLst>
          </p:cNvPr>
          <p:cNvSpPr txBox="1"/>
          <p:nvPr/>
        </p:nvSpPr>
        <p:spPr>
          <a:xfrm>
            <a:off x="4874922" y="4615685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C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BD4F53-718C-F625-7C39-8DF92EFACEAF}"/>
              </a:ext>
            </a:extLst>
          </p:cNvPr>
          <p:cNvSpPr txBox="1"/>
          <p:nvPr/>
        </p:nvSpPr>
        <p:spPr>
          <a:xfrm>
            <a:off x="6891333" y="4615048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G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27D6870-A16A-2FDB-A678-D977E553C060}"/>
              </a:ext>
            </a:extLst>
          </p:cNvPr>
          <p:cNvSpPr txBox="1"/>
          <p:nvPr/>
        </p:nvSpPr>
        <p:spPr>
          <a:xfrm>
            <a:off x="8436131" y="4617301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I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DCFAD1-B8FE-3205-DE38-F35367040554}"/>
              </a:ext>
            </a:extLst>
          </p:cNvPr>
          <p:cNvSpPr txBox="1"/>
          <p:nvPr/>
        </p:nvSpPr>
        <p:spPr>
          <a:xfrm>
            <a:off x="2473994" y="4830319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X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978BE33-A5F8-1148-50A6-C6D0D75433E2}"/>
              </a:ext>
            </a:extLst>
          </p:cNvPr>
          <p:cNvSpPr txBox="1"/>
          <p:nvPr/>
        </p:nvSpPr>
        <p:spPr>
          <a:xfrm>
            <a:off x="3232061" y="4522457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M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51C1B73-0CE6-A10D-FBAD-A33E87E51650}"/>
              </a:ext>
            </a:extLst>
          </p:cNvPr>
          <p:cNvCxnSpPr/>
          <p:nvPr/>
        </p:nvCxnSpPr>
        <p:spPr>
          <a:xfrm flipH="1" flipV="1">
            <a:off x="7062144" y="3044162"/>
            <a:ext cx="452" cy="982105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142B2D3-05CB-0D4B-7174-D0E0519DBED1}"/>
              </a:ext>
            </a:extLst>
          </p:cNvPr>
          <p:cNvSpPr txBox="1"/>
          <p:nvPr/>
        </p:nvSpPr>
        <p:spPr>
          <a:xfrm>
            <a:off x="5717957" y="3722699"/>
            <a:ext cx="1350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54544B"/>
                </a:solidFill>
              </a:rPr>
              <a:t>Indirect taxes</a:t>
            </a:r>
            <a:endParaRPr lang="en-US" dirty="0">
              <a:solidFill>
                <a:srgbClr val="54544B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B0CD5AC-DE49-501D-1DAF-D493756D2180}"/>
              </a:ext>
            </a:extLst>
          </p:cNvPr>
          <p:cNvSpPr txBox="1"/>
          <p:nvPr/>
        </p:nvSpPr>
        <p:spPr>
          <a:xfrm>
            <a:off x="7693510" y="1712798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268F3C8-3B91-4D41-0D3F-317558DFDD26}"/>
              </a:ext>
            </a:extLst>
          </p:cNvPr>
          <p:cNvSpPr txBox="1"/>
          <p:nvPr/>
        </p:nvSpPr>
        <p:spPr>
          <a:xfrm>
            <a:off x="7884860" y="957569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35ACAA2-BF89-0CDA-86D1-D634013416A3}"/>
              </a:ext>
            </a:extLst>
          </p:cNvPr>
          <p:cNvSpPr txBox="1"/>
          <p:nvPr/>
        </p:nvSpPr>
        <p:spPr>
          <a:xfrm>
            <a:off x="7843234" y="4838656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1B5EAE6-0DCB-C1C2-0233-0BC9CBDC9F19}"/>
              </a:ext>
            </a:extLst>
          </p:cNvPr>
          <p:cNvSpPr txBox="1"/>
          <p:nvPr/>
        </p:nvSpPr>
        <p:spPr>
          <a:xfrm>
            <a:off x="5553041" y="3635058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E53C41F-43D4-2A76-A60F-B0F96F538684}"/>
              </a:ext>
            </a:extLst>
          </p:cNvPr>
          <p:cNvSpPr txBox="1"/>
          <p:nvPr/>
        </p:nvSpPr>
        <p:spPr>
          <a:xfrm>
            <a:off x="2103525" y="1071332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F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49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1" grpId="0"/>
      <p:bldP spid="82" grpId="0"/>
      <p:bldP spid="83" grpId="0"/>
      <p:bldP spid="84" grpId="0"/>
      <p:bldP spid="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8E146-CC62-CDB7-D2BF-ED36B9239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07BA64-6368-8EF5-0A49-2FE793F682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8542345"/>
              </p:ext>
            </p:extLst>
          </p:nvPr>
        </p:nvGraphicFramePr>
        <p:xfrm>
          <a:off x="2776736" y="1103188"/>
          <a:ext cx="8906124" cy="54416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68188">
                  <a:extLst>
                    <a:ext uri="{9D8B030D-6E8A-4147-A177-3AD203B41FA5}">
                      <a16:colId xmlns:a16="http://schemas.microsoft.com/office/drawing/2014/main" val="784398647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1710135059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2925329742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2328899654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2053567970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998496972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3533975391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225077059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1926018928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ACT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COM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FAC</a:t>
                      </a:r>
                      <a:endParaRPr lang="en-US" sz="1800" b="0" i="0" u="none" strike="noStrike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HHD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GOV</a:t>
                      </a:r>
                      <a:endParaRPr lang="en-US" sz="1800" b="0" i="0" u="none" strike="noStrike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INV</a:t>
                      </a:r>
                      <a:endParaRPr lang="en-US" sz="1800" b="0" i="0" u="none" strike="noStrike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ROW</a:t>
                      </a:r>
                      <a:endParaRPr lang="en-US" sz="1800" b="0" i="0" u="none" strike="noStrike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TOT</a:t>
                      </a:r>
                      <a:endParaRPr lang="en-US" sz="1800" b="0" i="0" u="none" strike="noStrike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65303927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ACT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Marketed</a:t>
                      </a:r>
                      <a:r>
                        <a:rPr lang="en-US" sz="1200" b="1" u="none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output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Activity incomes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348204151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COM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Intermediate demand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Private consumption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Public consumption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Investment demand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Exports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demand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911564214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FAC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Value added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Factors incomes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297370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HHD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Income distribution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Social transfers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Remittances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Household incomes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49126184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GOV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Producer taxes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Tariffs,</a:t>
                      </a:r>
                      <a:r>
                        <a:rPr lang="en-US" sz="1200" b="1" u="none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VAT &amp; excise taxes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Direct taxes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Foreign aid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Government revenues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34787588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SAV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Private savings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Public savings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Foreign savings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savings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368760632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ROW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Imports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Repatriated profits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Debt repayments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Foreign payments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35697800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TOT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Gross output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supply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Factor payments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Household expenditures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Government expenditures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investment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Foreign receipts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215146975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F9FAE2-ABBF-9CD8-3E53-232EECADA585}"/>
              </a:ext>
            </a:extLst>
          </p:cNvPr>
          <p:cNvCxnSpPr>
            <a:cxnSpLocks/>
          </p:cNvCxnSpPr>
          <p:nvPr/>
        </p:nvCxnSpPr>
        <p:spPr>
          <a:xfrm>
            <a:off x="410966" y="1304818"/>
            <a:ext cx="2208944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6C54667-98EF-43A9-CC76-00174F2F7C25}"/>
              </a:ext>
            </a:extLst>
          </p:cNvPr>
          <p:cNvSpPr txBox="1"/>
          <p:nvPr/>
        </p:nvSpPr>
        <p:spPr>
          <a:xfrm>
            <a:off x="410966" y="1335640"/>
            <a:ext cx="220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Incomes across rows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FDAD98-EF72-DE9C-3AB4-4447FF7809FC}"/>
              </a:ext>
            </a:extLst>
          </p:cNvPr>
          <p:cNvCxnSpPr>
            <a:cxnSpLocks/>
          </p:cNvCxnSpPr>
          <p:nvPr/>
        </p:nvCxnSpPr>
        <p:spPr>
          <a:xfrm>
            <a:off x="2546279" y="1921267"/>
            <a:ext cx="0" cy="1507733"/>
          </a:xfrm>
          <a:prstGeom prst="straightConnector1">
            <a:avLst/>
          </a:prstGeom>
          <a:ln w="22225">
            <a:solidFill>
              <a:schemeClr val="accent5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D9A0333-B0AC-3300-A560-9CBDB0BB64CB}"/>
              </a:ext>
            </a:extLst>
          </p:cNvPr>
          <p:cNvSpPr txBox="1"/>
          <p:nvPr/>
        </p:nvSpPr>
        <p:spPr>
          <a:xfrm>
            <a:off x="664397" y="2300597"/>
            <a:ext cx="185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Expenditures down columns</a:t>
            </a:r>
          </a:p>
        </p:txBody>
      </p:sp>
    </p:spTree>
    <p:extLst>
      <p:ext uri="{BB962C8B-B14F-4D97-AF65-F5344CB8AC3E}">
        <p14:creationId xmlns:p14="http://schemas.microsoft.com/office/powerpoint/2010/main" val="3475473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3CFF9-69A0-080E-49FE-FEDD3F4B4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 SAM  </a:t>
            </a:r>
            <a:r>
              <a:rPr lang="en-US" b="0" dirty="0"/>
              <a:t>| 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627AC-886D-3989-89DA-402993846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30" y="1232899"/>
            <a:ext cx="8568648" cy="5532876"/>
          </a:xfrm>
        </p:spPr>
        <p:txBody>
          <a:bodyPr>
            <a:normAutofit/>
          </a:bodyPr>
          <a:lstStyle/>
          <a:p>
            <a:r>
              <a:rPr lang="en-US" sz="2400" b="1" dirty="0"/>
              <a:t>Three main data sources:</a:t>
            </a:r>
          </a:p>
          <a:p>
            <a:pPr lvl="1"/>
            <a:r>
              <a:rPr lang="en-US" sz="2200" dirty="0"/>
              <a:t>National Accounts (activity and commodity accounts)</a:t>
            </a:r>
          </a:p>
          <a:p>
            <a:pPr lvl="1"/>
            <a:r>
              <a:rPr lang="en-US" sz="2200" dirty="0"/>
              <a:t>Government Financial Statistics (spending and tax accounts)</a:t>
            </a:r>
          </a:p>
          <a:p>
            <a:pPr lvl="1"/>
            <a:r>
              <a:rPr lang="en-US" sz="2200" dirty="0"/>
              <a:t>Balance of Payments (external account)</a:t>
            </a:r>
          </a:p>
          <a:p>
            <a:endParaRPr lang="en-US" sz="2400" dirty="0"/>
          </a:p>
          <a:p>
            <a:r>
              <a:rPr lang="en-US" sz="2400" b="1" dirty="0"/>
              <a:t>Standardized concordance between SAM and classification systems</a:t>
            </a:r>
          </a:p>
          <a:p>
            <a:pPr lvl="1"/>
            <a:r>
              <a:rPr lang="en-US" sz="2200" dirty="0"/>
              <a:t>GFS2014 &amp; BOP6 → SNA 2008 → Macro SAM accounts</a:t>
            </a:r>
          </a:p>
          <a:p>
            <a:endParaRPr lang="en-US" sz="2400" dirty="0"/>
          </a:p>
          <a:p>
            <a:r>
              <a:rPr lang="en-US" sz="2400" b="1" dirty="0"/>
              <a:t>Inconsistent values across sources requires reconciliation:</a:t>
            </a:r>
          </a:p>
          <a:p>
            <a:pPr lvl="1"/>
            <a:r>
              <a:rPr lang="en-US" sz="2200" dirty="0"/>
              <a:t>Consistency with national accounts usually afforded highest priority, followed by BOPs  and then GFS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6628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5C865-8CDC-9480-AC21-A269200BD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 SAM  </a:t>
            </a:r>
            <a:r>
              <a:rPr lang="en-US" b="0" dirty="0"/>
              <a:t>|  Entries 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383A83F6-19A1-980F-EF15-C1ABDFFCC5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45016"/>
              </p:ext>
            </p:extLst>
          </p:nvPr>
        </p:nvGraphicFramePr>
        <p:xfrm>
          <a:off x="2805380" y="1203960"/>
          <a:ext cx="8836015" cy="445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Hhd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Gov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Activities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Commodities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NA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Factors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Enterprises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B8EB8"/>
                          </a:solidFill>
                        </a:rPr>
                        <a:t>BOP</a:t>
                      </a:r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Households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B8EB8"/>
                          </a:solidFill>
                        </a:rPr>
                        <a:t>BOP</a:t>
                      </a:r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Government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Taxes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Savings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Stock change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Rest of world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B8EB8"/>
                          </a:solidFill>
                        </a:rPr>
                        <a:t>BOP</a:t>
                      </a:r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Total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251699F-B239-0C8D-363A-6B16529487DA}"/>
              </a:ext>
            </a:extLst>
          </p:cNvPr>
          <p:cNvSpPr txBox="1"/>
          <p:nvPr/>
        </p:nvSpPr>
        <p:spPr>
          <a:xfrm>
            <a:off x="3821133" y="5845810"/>
            <a:ext cx="3673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NA    </a:t>
            </a:r>
            <a:r>
              <a:rPr lang="en-US" dirty="0">
                <a:solidFill>
                  <a:srgbClr val="C00000"/>
                </a:solidFill>
              </a:rPr>
              <a:t>National Accounts</a:t>
            </a:r>
          </a:p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GFS  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Government Financial Statistics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20F9A-A53D-8287-4126-5529337CDD54}"/>
              </a:ext>
            </a:extLst>
          </p:cNvPr>
          <p:cNvSpPr txBox="1"/>
          <p:nvPr/>
        </p:nvSpPr>
        <p:spPr>
          <a:xfrm>
            <a:off x="7859977" y="5845810"/>
            <a:ext cx="3673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B8EB8"/>
                </a:solidFill>
              </a:rPr>
              <a:t>BOP   </a:t>
            </a:r>
            <a:r>
              <a:rPr lang="en-US" dirty="0">
                <a:solidFill>
                  <a:srgbClr val="0B8EB8"/>
                </a:solidFill>
              </a:rPr>
              <a:t>Balance of Payments</a:t>
            </a:r>
          </a:p>
          <a:p>
            <a:r>
              <a:rPr lang="en-US" b="1" dirty="0">
                <a:solidFill>
                  <a:srgbClr val="54544B"/>
                </a:solidFill>
              </a:rPr>
              <a:t>X        </a:t>
            </a:r>
            <a:r>
              <a:rPr lang="en-US" dirty="0">
                <a:solidFill>
                  <a:srgbClr val="54544B"/>
                </a:solidFill>
              </a:rPr>
              <a:t>Convention or residual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7FF5C2-EDD4-A4C2-546C-548F63480D8B}"/>
              </a:ext>
            </a:extLst>
          </p:cNvPr>
          <p:cNvCxnSpPr>
            <a:cxnSpLocks/>
          </p:cNvCxnSpPr>
          <p:nvPr/>
        </p:nvCxnSpPr>
        <p:spPr>
          <a:xfrm>
            <a:off x="410966" y="1304818"/>
            <a:ext cx="2208944" cy="0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508A10-1A56-DA0C-9E6A-AD3CE2D3EDFB}"/>
              </a:ext>
            </a:extLst>
          </p:cNvPr>
          <p:cNvSpPr txBox="1"/>
          <p:nvPr/>
        </p:nvSpPr>
        <p:spPr>
          <a:xfrm>
            <a:off x="410966" y="1335640"/>
            <a:ext cx="220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Incomes across rows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D5975B-A0E5-DE51-7E13-500545BAF86A}"/>
              </a:ext>
            </a:extLst>
          </p:cNvPr>
          <p:cNvCxnSpPr>
            <a:cxnSpLocks/>
          </p:cNvCxnSpPr>
          <p:nvPr/>
        </p:nvCxnSpPr>
        <p:spPr>
          <a:xfrm>
            <a:off x="2546279" y="1921267"/>
            <a:ext cx="0" cy="1507733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8621D07-9029-6515-D03F-43451DB86C8E}"/>
              </a:ext>
            </a:extLst>
          </p:cNvPr>
          <p:cNvSpPr txBox="1"/>
          <p:nvPr/>
        </p:nvSpPr>
        <p:spPr>
          <a:xfrm>
            <a:off x="664397" y="2300597"/>
            <a:ext cx="185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Expenditures down columns</a:t>
            </a:r>
          </a:p>
        </p:txBody>
      </p:sp>
    </p:spTree>
    <p:extLst>
      <p:ext uri="{BB962C8B-B14F-4D97-AF65-F5344CB8AC3E}">
        <p14:creationId xmlns:p14="http://schemas.microsoft.com/office/powerpoint/2010/main" val="2680677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769D-A6D6-6E87-30A7-E616C6107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 SAM </a:t>
            </a:r>
            <a:r>
              <a:rPr lang="en-US" b="0" dirty="0"/>
              <a:t> |  Details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3F09981-3797-C194-1737-42F716CD79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2058590"/>
              </p:ext>
            </p:extLst>
          </p:nvPr>
        </p:nvGraphicFramePr>
        <p:xfrm>
          <a:off x="2805380" y="1203960"/>
          <a:ext cx="8836015" cy="445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Hhd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Gov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Activities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Commodities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Factors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Enterprises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Households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Government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Taxes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Savings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Stock change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Rest of world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Total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325D0D3-2C7C-9641-3403-925DB5F400A4}"/>
              </a:ext>
            </a:extLst>
          </p:cNvPr>
          <p:cNvCxnSpPr>
            <a:cxnSpLocks/>
          </p:cNvCxnSpPr>
          <p:nvPr/>
        </p:nvCxnSpPr>
        <p:spPr>
          <a:xfrm>
            <a:off x="410966" y="1304818"/>
            <a:ext cx="2208944" cy="0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5F01A24-3272-38D7-2C50-2B0D3AD24A71}"/>
              </a:ext>
            </a:extLst>
          </p:cNvPr>
          <p:cNvSpPr txBox="1"/>
          <p:nvPr/>
        </p:nvSpPr>
        <p:spPr>
          <a:xfrm>
            <a:off x="410966" y="1335640"/>
            <a:ext cx="220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Incomes across rows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8EB140-1779-D7E4-1249-C2B0F9AFDFF7}"/>
              </a:ext>
            </a:extLst>
          </p:cNvPr>
          <p:cNvCxnSpPr>
            <a:cxnSpLocks/>
          </p:cNvCxnSpPr>
          <p:nvPr/>
        </p:nvCxnSpPr>
        <p:spPr>
          <a:xfrm>
            <a:off x="2546279" y="1921267"/>
            <a:ext cx="0" cy="1507733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2E593D-9F76-A013-D302-687AAC6E9A87}"/>
              </a:ext>
            </a:extLst>
          </p:cNvPr>
          <p:cNvSpPr txBox="1"/>
          <p:nvPr/>
        </p:nvSpPr>
        <p:spPr>
          <a:xfrm>
            <a:off x="664397" y="2300597"/>
            <a:ext cx="185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Expenditures down columns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5B9ED6-2203-6B7E-C0A0-4A2FAABAC39C}"/>
              </a:ext>
            </a:extLst>
          </p:cNvPr>
          <p:cNvSpPr/>
          <p:nvPr/>
        </p:nvSpPr>
        <p:spPr>
          <a:xfrm>
            <a:off x="4581628" y="2406787"/>
            <a:ext cx="2380398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B0FBF3-5331-F0B5-06D6-4D4A78D538B2}"/>
              </a:ext>
            </a:extLst>
          </p:cNvPr>
          <p:cNvSpPr/>
          <p:nvPr/>
        </p:nvSpPr>
        <p:spPr>
          <a:xfrm>
            <a:off x="4581628" y="2868451"/>
            <a:ext cx="2380398" cy="369331"/>
          </a:xfrm>
          <a:prstGeom prst="rect">
            <a:avLst/>
          </a:prstGeom>
          <a:solidFill>
            <a:srgbClr val="C0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868526-80D1-0B6C-0E37-DA164C81DA1F}"/>
              </a:ext>
            </a:extLst>
          </p:cNvPr>
          <p:cNvSpPr txBox="1"/>
          <p:nvPr/>
        </p:nvSpPr>
        <p:spPr>
          <a:xfrm>
            <a:off x="4581628" y="2406787"/>
            <a:ext cx="2178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Factors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CC2BB7-D0FE-51F4-3440-A06B79A1F32C}"/>
              </a:ext>
            </a:extLst>
          </p:cNvPr>
          <p:cNvSpPr txBox="1"/>
          <p:nvPr/>
        </p:nvSpPr>
        <p:spPr>
          <a:xfrm>
            <a:off x="4581628" y="2868450"/>
            <a:ext cx="2250687" cy="36933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Labor | Land | Capital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AFDC14-942C-8FAC-7263-F84598A2CD51}"/>
              </a:ext>
            </a:extLst>
          </p:cNvPr>
          <p:cNvSpPr/>
          <p:nvPr/>
        </p:nvSpPr>
        <p:spPr>
          <a:xfrm>
            <a:off x="4581628" y="3864495"/>
            <a:ext cx="4425098" cy="461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5A8D54-F4F4-ED2F-584C-5172D1CABB10}"/>
              </a:ext>
            </a:extLst>
          </p:cNvPr>
          <p:cNvSpPr/>
          <p:nvPr/>
        </p:nvSpPr>
        <p:spPr>
          <a:xfrm>
            <a:off x="4578457" y="4320617"/>
            <a:ext cx="4425098" cy="646331"/>
          </a:xfrm>
          <a:prstGeom prst="rect">
            <a:avLst/>
          </a:prstGeom>
          <a:solidFill>
            <a:schemeClr val="accent5">
              <a:lumMod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82A284-F629-34FD-0E63-0D38C48D69AD}"/>
              </a:ext>
            </a:extLst>
          </p:cNvPr>
          <p:cNvSpPr txBox="1"/>
          <p:nvPr/>
        </p:nvSpPr>
        <p:spPr>
          <a:xfrm>
            <a:off x="4581628" y="3864495"/>
            <a:ext cx="3269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Taxes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03AB70-8D73-2187-84BF-466142B31C71}"/>
              </a:ext>
            </a:extLst>
          </p:cNvPr>
          <p:cNvSpPr txBox="1"/>
          <p:nvPr/>
        </p:nvSpPr>
        <p:spPr>
          <a:xfrm>
            <a:off x="4581628" y="4315884"/>
            <a:ext cx="4425098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Activities (producer) | Export duties | Import duties | Sales or VAT | Factor | Direct </a:t>
            </a:r>
          </a:p>
        </p:txBody>
      </p:sp>
    </p:spTree>
    <p:extLst>
      <p:ext uri="{BB962C8B-B14F-4D97-AF65-F5344CB8AC3E}">
        <p14:creationId xmlns:p14="http://schemas.microsoft.com/office/powerpoint/2010/main" val="1707484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AEFE-F397-1E98-060E-62A8BE16C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 </a:t>
            </a:r>
            <a:r>
              <a:rPr lang="en-US" b="0" dirty="0"/>
              <a:t>|  Building a Macro SAM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0CCD4-8AFB-87C7-95D8-684FB495B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337" y="1140431"/>
            <a:ext cx="9257016" cy="5625344"/>
          </a:xfrm>
        </p:spPr>
        <p:txBody>
          <a:bodyPr>
            <a:normAutofit/>
          </a:bodyPr>
          <a:lstStyle/>
          <a:p>
            <a:r>
              <a:rPr lang="en-US" sz="2400" b="1" dirty="0"/>
              <a:t>Complete the Macro SAM using the data provided below</a:t>
            </a:r>
          </a:p>
          <a:p>
            <a:pPr lvl="1"/>
            <a:r>
              <a:rPr lang="en-US" sz="2200" b="1" dirty="0">
                <a:solidFill>
                  <a:schemeClr val="accent4">
                    <a:lumMod val="75000"/>
                  </a:schemeClr>
                </a:solidFill>
              </a:rPr>
              <a:t>Yellow cells</a:t>
            </a:r>
            <a:r>
              <a:rPr lang="en-US" sz="2200" dirty="0"/>
              <a:t> need data from the tables</a:t>
            </a:r>
          </a:p>
          <a:p>
            <a:pPr lvl="1"/>
            <a:r>
              <a:rPr lang="en-US" sz="2200" b="1" dirty="0">
                <a:solidFill>
                  <a:srgbClr val="C00000"/>
                </a:solidFill>
              </a:rPr>
              <a:t>Red numbers</a:t>
            </a:r>
            <a:r>
              <a:rPr lang="en-US" sz="2200" dirty="0"/>
              <a:t> contain formulas that will update automatically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1F5FF7-D57F-4B27-4A19-7E8AEA072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742" y="2468771"/>
            <a:ext cx="7517258" cy="4389229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C7AD6B-942F-927C-E345-2EBF7075BE32}"/>
              </a:ext>
            </a:extLst>
          </p:cNvPr>
          <p:cNvSpPr txBox="1"/>
          <p:nvPr/>
        </p:nvSpPr>
        <p:spPr>
          <a:xfrm>
            <a:off x="1602769" y="5384022"/>
            <a:ext cx="30719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Exercises folder</a:t>
            </a:r>
          </a:p>
          <a:p>
            <a:endParaRPr lang="pt-BR" sz="300" dirty="0"/>
          </a:p>
          <a:p>
            <a:r>
              <a:rPr lang="pt-BR" dirty="0"/>
              <a:t>Exercise 1 - Macro SAM.xlsx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947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4127-CC1E-8114-071A-4AAE9EB1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Supply-Use Table  </a:t>
            </a:r>
            <a:r>
              <a:rPr lang="en-US" b="0" dirty="0"/>
              <a:t>|  Details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FF765F47-E782-56BC-4DDA-2314F5F1BC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0704013"/>
              </p:ext>
            </p:extLst>
          </p:nvPr>
        </p:nvGraphicFramePr>
        <p:xfrm>
          <a:off x="2805380" y="1203960"/>
          <a:ext cx="8836015" cy="445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Hhd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Gov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Activities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Commodities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Factors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Enterprises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Households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Government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Taxes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Savings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Stock change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Rest of world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Total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F5EAB9C-C58A-5FC9-031C-1F8D040660D2}"/>
              </a:ext>
            </a:extLst>
          </p:cNvPr>
          <p:cNvCxnSpPr>
            <a:cxnSpLocks/>
          </p:cNvCxnSpPr>
          <p:nvPr/>
        </p:nvCxnSpPr>
        <p:spPr>
          <a:xfrm>
            <a:off x="410966" y="1304818"/>
            <a:ext cx="2208944" cy="0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4BA8E5B-9326-CD60-AD1C-BD35AB5B6691}"/>
              </a:ext>
            </a:extLst>
          </p:cNvPr>
          <p:cNvSpPr txBox="1"/>
          <p:nvPr/>
        </p:nvSpPr>
        <p:spPr>
          <a:xfrm>
            <a:off x="410966" y="1335640"/>
            <a:ext cx="220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Incomes across rows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E3C88D-AAAD-44BA-8071-1DEB0F2BF590}"/>
              </a:ext>
            </a:extLst>
          </p:cNvPr>
          <p:cNvCxnSpPr>
            <a:cxnSpLocks/>
          </p:cNvCxnSpPr>
          <p:nvPr/>
        </p:nvCxnSpPr>
        <p:spPr>
          <a:xfrm>
            <a:off x="2546279" y="1921267"/>
            <a:ext cx="0" cy="1507733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AB628F7-3034-D53F-85C7-681EEDB4CA52}"/>
              </a:ext>
            </a:extLst>
          </p:cNvPr>
          <p:cNvSpPr txBox="1"/>
          <p:nvPr/>
        </p:nvSpPr>
        <p:spPr>
          <a:xfrm>
            <a:off x="664397" y="2300597"/>
            <a:ext cx="185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Expenditures down columns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A5AAFA-5A5E-93B4-5BB1-B6067F688CB2}"/>
              </a:ext>
            </a:extLst>
          </p:cNvPr>
          <p:cNvSpPr/>
          <p:nvPr/>
        </p:nvSpPr>
        <p:spPr>
          <a:xfrm>
            <a:off x="4463582" y="1560066"/>
            <a:ext cx="7177813" cy="742950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4D6FC7-6D44-97D0-C405-52111BB04535}"/>
              </a:ext>
            </a:extLst>
          </p:cNvPr>
          <p:cNvSpPr/>
          <p:nvPr/>
        </p:nvSpPr>
        <p:spPr>
          <a:xfrm>
            <a:off x="4463581" y="2303016"/>
            <a:ext cx="1304074" cy="3342005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3F51AB-5F3A-9A4C-945B-AE3D6AB30D45}"/>
              </a:ext>
            </a:extLst>
          </p:cNvPr>
          <p:cNvSpPr/>
          <p:nvPr/>
        </p:nvSpPr>
        <p:spPr>
          <a:xfrm>
            <a:off x="5225583" y="1689376"/>
            <a:ext cx="4047273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51A5DD-7DBB-90BD-3A31-CA2B62E64DCA}"/>
              </a:ext>
            </a:extLst>
          </p:cNvPr>
          <p:cNvSpPr txBox="1"/>
          <p:nvPr/>
        </p:nvSpPr>
        <p:spPr>
          <a:xfrm>
            <a:off x="5225583" y="1691959"/>
            <a:ext cx="4047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86 activities + 86 commodities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2A26D3-BA45-D658-E838-253DDFBA5088}"/>
              </a:ext>
            </a:extLst>
          </p:cNvPr>
          <p:cNvSpPr txBox="1"/>
          <p:nvPr/>
        </p:nvSpPr>
        <p:spPr>
          <a:xfrm>
            <a:off x="4463581" y="5715765"/>
            <a:ext cx="6004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IFPRI Standard NEXUS SAM structure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Individual countries may vary</a:t>
            </a:r>
          </a:p>
        </p:txBody>
      </p:sp>
    </p:spTree>
    <p:extLst>
      <p:ext uri="{BB962C8B-B14F-4D97-AF65-F5344CB8AC3E}">
        <p14:creationId xmlns:p14="http://schemas.microsoft.com/office/powerpoint/2010/main" val="488696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72C4-49DA-9271-58E5-E37D9AAF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Supply-Use Table  </a:t>
            </a:r>
            <a:r>
              <a:rPr lang="en-US" b="0" dirty="0"/>
              <a:t>|  Accounts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AF4171-D8A2-49D8-7B3C-4E74214ED4DA}"/>
              </a:ext>
            </a:extLst>
          </p:cNvPr>
          <p:cNvSpPr/>
          <p:nvPr/>
        </p:nvSpPr>
        <p:spPr>
          <a:xfrm>
            <a:off x="256592" y="1504853"/>
            <a:ext cx="11678811" cy="1310124"/>
          </a:xfrm>
          <a:prstGeom prst="rect">
            <a:avLst/>
          </a:prstGeom>
          <a:solidFill>
            <a:schemeClr val="accent5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2A014-7683-0735-9561-42546AA27560}"/>
              </a:ext>
            </a:extLst>
          </p:cNvPr>
          <p:cNvSpPr txBox="1"/>
          <p:nvPr/>
        </p:nvSpPr>
        <p:spPr>
          <a:xfrm>
            <a:off x="1397284" y="1756832"/>
            <a:ext cx="10243335" cy="95410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Maize | Sorghum + millet | Rice | Wheat + barley | Other cereals | Pulses | Groundnuts | Other oilseeds | Cassava | Irish potatoes |</a:t>
            </a:r>
          </a:p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Sweet potatoes | Other roots | Leafy vegetables | Other vegetables | Sugarcane | Tobacco | Cotton + fibers | Nuts | Bananas + plantains | </a:t>
            </a:r>
          </a:p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Other fruits | Tea | Coffee | Cocoa | Cut flowers | Rubber | Other crops | Cattle | Raw milk | Poultry | Eggs | Sheep + goats | </a:t>
            </a:r>
          </a:p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Other livestock | Forestry | Aquaculture | Capture fisheries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E48E33-AAB4-6356-68CF-588A6FFAE435}"/>
              </a:ext>
            </a:extLst>
          </p:cNvPr>
          <p:cNvSpPr/>
          <p:nvPr/>
        </p:nvSpPr>
        <p:spPr>
          <a:xfrm>
            <a:off x="256593" y="1276957"/>
            <a:ext cx="11678809" cy="37885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5C3BE-295B-9CB1-3B3B-FEC41D25E98A}"/>
              </a:ext>
            </a:extLst>
          </p:cNvPr>
          <p:cNvSpPr txBox="1"/>
          <p:nvPr/>
        </p:nvSpPr>
        <p:spPr>
          <a:xfrm>
            <a:off x="256596" y="1286482"/>
            <a:ext cx="355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Agricultural activities/commodities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473D37-6E86-7DEF-AC60-59697FE77338}"/>
              </a:ext>
            </a:extLst>
          </p:cNvPr>
          <p:cNvSpPr/>
          <p:nvPr/>
        </p:nvSpPr>
        <p:spPr>
          <a:xfrm>
            <a:off x="256592" y="3016131"/>
            <a:ext cx="11678810" cy="1573737"/>
          </a:xfrm>
          <a:prstGeom prst="rect">
            <a:avLst/>
          </a:prstGeom>
          <a:solidFill>
            <a:schemeClr val="accent5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AFBE9E-A5C6-90DA-178D-A48D36568A54}"/>
              </a:ext>
            </a:extLst>
          </p:cNvPr>
          <p:cNvSpPr txBox="1"/>
          <p:nvPr/>
        </p:nvSpPr>
        <p:spPr>
          <a:xfrm>
            <a:off x="1397284" y="3305725"/>
            <a:ext cx="10243335" cy="116955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Coal | Crude oil | Natural gas | Other mining | Meat | Fish + seafood | Dairy | Fruits + vegetables | Fats + oils | Maize milling | 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Sorghum + millet milling | Rice milling | Wheat + barley milling | Other grain milling | Sugar refining | Coffee processing | Tea processing | 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Other foods | Animal feed | Beverages | Tobacco | Cotton yarn | Textiles | Clothing | Leather + footwear | Wood | Paper | Petroleum | 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Chemicals | Non-metal minerals | Metals + metal products | Machinery | Equipment | Vehicles | Other manufacturing | Electricity + gas | 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Water supply + sewage | Construction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31F758-98D5-ABC1-0190-371E07BEFE0D}"/>
              </a:ext>
            </a:extLst>
          </p:cNvPr>
          <p:cNvSpPr/>
          <p:nvPr/>
        </p:nvSpPr>
        <p:spPr>
          <a:xfrm>
            <a:off x="256592" y="2815121"/>
            <a:ext cx="11678809" cy="39259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462F34-4B50-1588-F2A7-711B51AC0D47}"/>
              </a:ext>
            </a:extLst>
          </p:cNvPr>
          <p:cNvSpPr txBox="1"/>
          <p:nvPr/>
        </p:nvSpPr>
        <p:spPr>
          <a:xfrm>
            <a:off x="256596" y="2828462"/>
            <a:ext cx="338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Industrial activities/commodities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D01F0D-6E80-6F0B-FE9C-307227F45092}"/>
              </a:ext>
            </a:extLst>
          </p:cNvPr>
          <p:cNvSpPr/>
          <p:nvPr/>
        </p:nvSpPr>
        <p:spPr>
          <a:xfrm>
            <a:off x="256588" y="4835520"/>
            <a:ext cx="11678809" cy="1000037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C2E584-D84C-B22A-414F-E69301C2104C}"/>
              </a:ext>
            </a:extLst>
          </p:cNvPr>
          <p:cNvSpPr txBox="1"/>
          <p:nvPr/>
        </p:nvSpPr>
        <p:spPr>
          <a:xfrm>
            <a:off x="1394827" y="5118542"/>
            <a:ext cx="10389631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Wholesale + retail trade | Transportation + storage | Accommodation | Food services | Information + communication | Finance + insurance | </a:t>
            </a:r>
          </a:p>
          <a:p>
            <a:r>
              <a:rPr lang="en-US" sz="1400" dirty="0">
                <a:solidFill>
                  <a:srgbClr val="C00000"/>
                </a:solidFill>
              </a:rPr>
              <a:t>Real estate activities | Business services | Public administration  | Education | Health + social work | Other services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D20CEF-0B1A-7724-24EB-9E54155E18EA}"/>
              </a:ext>
            </a:extLst>
          </p:cNvPr>
          <p:cNvSpPr/>
          <p:nvPr/>
        </p:nvSpPr>
        <p:spPr>
          <a:xfrm>
            <a:off x="256589" y="4586638"/>
            <a:ext cx="11678807" cy="392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2A6841-95E1-6546-EC46-ADE5DA2436FE}"/>
              </a:ext>
            </a:extLst>
          </p:cNvPr>
          <p:cNvSpPr txBox="1"/>
          <p:nvPr/>
        </p:nvSpPr>
        <p:spPr>
          <a:xfrm>
            <a:off x="256594" y="4596163"/>
            <a:ext cx="407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Service activities/commodities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E22E5-B557-EF83-D96B-BBAFF2F6BCDE}"/>
              </a:ext>
            </a:extLst>
          </p:cNvPr>
          <p:cNvSpPr txBox="1"/>
          <p:nvPr/>
        </p:nvSpPr>
        <p:spPr>
          <a:xfrm>
            <a:off x="551381" y="2014908"/>
            <a:ext cx="66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E0F389-5662-BED8-EAF7-AFA82E17A7F3}"/>
              </a:ext>
            </a:extLst>
          </p:cNvPr>
          <p:cNvSpPr txBox="1"/>
          <p:nvPr/>
        </p:nvSpPr>
        <p:spPr>
          <a:xfrm>
            <a:off x="625076" y="3704840"/>
            <a:ext cx="513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51CFAB-ACD7-4E70-8ABC-A17159305CC7}"/>
              </a:ext>
            </a:extLst>
          </p:cNvPr>
          <p:cNvSpPr txBox="1"/>
          <p:nvPr/>
        </p:nvSpPr>
        <p:spPr>
          <a:xfrm>
            <a:off x="548926" y="5199215"/>
            <a:ext cx="637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1C7A3C-35D1-0F7C-1FD0-6288928EF907}"/>
              </a:ext>
            </a:extLst>
          </p:cNvPr>
          <p:cNvSpPr txBox="1"/>
          <p:nvPr/>
        </p:nvSpPr>
        <p:spPr>
          <a:xfrm>
            <a:off x="8187732" y="5942559"/>
            <a:ext cx="3747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IFPRI Standard NEXUS SAM structure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Individual countries may vary</a:t>
            </a:r>
          </a:p>
        </p:txBody>
      </p:sp>
    </p:spTree>
    <p:extLst>
      <p:ext uri="{BB962C8B-B14F-4D97-AF65-F5344CB8AC3E}">
        <p14:creationId xmlns:p14="http://schemas.microsoft.com/office/powerpoint/2010/main" val="3374406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BE78C-1A78-2842-139F-6ABCBF8D2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Supply-Use Table  </a:t>
            </a:r>
            <a:r>
              <a:rPr lang="en-US" b="0" dirty="0"/>
              <a:t>| 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C49C0-D6D2-C7E2-43EC-8A900CADA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724" y="1253447"/>
            <a:ext cx="11413528" cy="5512328"/>
          </a:xfrm>
        </p:spPr>
        <p:txBody>
          <a:bodyPr>
            <a:normAutofit/>
          </a:bodyPr>
          <a:lstStyle/>
          <a:p>
            <a:r>
              <a:rPr lang="en-US" sz="2400" b="1" dirty="0"/>
              <a:t>Main data sources:</a:t>
            </a:r>
          </a:p>
          <a:p>
            <a:pPr lvl="1"/>
            <a:r>
              <a:rPr lang="en-US" sz="2200" dirty="0"/>
              <a:t>National accounts (GDP by sector, trade margins)</a:t>
            </a:r>
          </a:p>
          <a:p>
            <a:pPr lvl="1"/>
            <a:r>
              <a:rPr lang="en-US" sz="2200" dirty="0"/>
              <a:t>Agricultural and industrial production data and surveys</a:t>
            </a:r>
          </a:p>
          <a:p>
            <a:pPr lvl="1"/>
            <a:r>
              <a:rPr lang="en-US" sz="2200" dirty="0"/>
              <a:t>Input-output table</a:t>
            </a:r>
          </a:p>
          <a:p>
            <a:pPr lvl="1"/>
            <a:r>
              <a:rPr lang="en-US" sz="2200" dirty="0"/>
              <a:t>Trade and tax data (esp. VAT and customs duties)</a:t>
            </a:r>
          </a:p>
          <a:p>
            <a:pPr lvl="1"/>
            <a:r>
              <a:rPr lang="en-US" sz="2200" dirty="0"/>
              <a:t>Household expenditure survey (consumption demand vector)</a:t>
            </a:r>
          </a:p>
          <a:p>
            <a:endParaRPr lang="en-US" sz="2400" dirty="0"/>
          </a:p>
          <a:p>
            <a:r>
              <a:rPr lang="en-US" sz="2400" b="1" dirty="0"/>
              <a:t>Standardized concordance between SAM and classification systems</a:t>
            </a:r>
          </a:p>
          <a:p>
            <a:pPr lvl="1"/>
            <a:r>
              <a:rPr lang="en-US" sz="2200" dirty="0"/>
              <a:t>ISIC3.1, ISIC4, HS2012, COICOP → Disaggregated SAM accounts</a:t>
            </a:r>
          </a:p>
          <a:p>
            <a:endParaRPr lang="en-US" sz="2400" dirty="0"/>
          </a:p>
          <a:p>
            <a:r>
              <a:rPr lang="en-US" sz="2400" b="1" dirty="0"/>
              <a:t>Inconsistent values across sources requires reconciliation:</a:t>
            </a:r>
          </a:p>
          <a:p>
            <a:pPr lvl="1"/>
            <a:r>
              <a:rPr lang="en-US" sz="2200" dirty="0"/>
              <a:t>Balanced using cross-entropy techniques in GAMS®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135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4D765-BC1E-6EED-F355-38911B622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Transfers  </a:t>
            </a:r>
            <a:r>
              <a:rPr lang="en-US" b="0" dirty="0"/>
              <a:t>|  Details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7D27340-E6A1-B2B1-464B-D0E248357A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102017"/>
              </p:ext>
            </p:extLst>
          </p:nvPr>
        </p:nvGraphicFramePr>
        <p:xfrm>
          <a:off x="2805380" y="1203960"/>
          <a:ext cx="8836015" cy="445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Hhd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Gov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Activities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Commodities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Factors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Enterprises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Households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Government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Taxes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Savings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Stock change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Rest of world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Total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2C12A0B-E1AE-1741-863C-75DD0D76A010}"/>
              </a:ext>
            </a:extLst>
          </p:cNvPr>
          <p:cNvCxnSpPr>
            <a:cxnSpLocks/>
          </p:cNvCxnSpPr>
          <p:nvPr/>
        </p:nvCxnSpPr>
        <p:spPr>
          <a:xfrm>
            <a:off x="410966" y="1304818"/>
            <a:ext cx="2208944" cy="0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597AD0E-4B60-5009-C33E-08026FBF6EB3}"/>
              </a:ext>
            </a:extLst>
          </p:cNvPr>
          <p:cNvSpPr txBox="1"/>
          <p:nvPr/>
        </p:nvSpPr>
        <p:spPr>
          <a:xfrm>
            <a:off x="410966" y="1335640"/>
            <a:ext cx="220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Incomes across rows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E688AD2-1E25-FF1D-E0DD-AD6849AFD694}"/>
              </a:ext>
            </a:extLst>
          </p:cNvPr>
          <p:cNvCxnSpPr>
            <a:cxnSpLocks/>
          </p:cNvCxnSpPr>
          <p:nvPr/>
        </p:nvCxnSpPr>
        <p:spPr>
          <a:xfrm>
            <a:off x="2546279" y="1921267"/>
            <a:ext cx="0" cy="1507733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687CEE-01A1-5216-56FE-188018F46F08}"/>
              </a:ext>
            </a:extLst>
          </p:cNvPr>
          <p:cNvSpPr txBox="1"/>
          <p:nvPr/>
        </p:nvSpPr>
        <p:spPr>
          <a:xfrm>
            <a:off x="664397" y="2300597"/>
            <a:ext cx="185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Expenditures down columns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5EEDEA-6152-D925-5CD3-67AF69F96E11}"/>
              </a:ext>
            </a:extLst>
          </p:cNvPr>
          <p:cNvSpPr txBox="1"/>
          <p:nvPr/>
        </p:nvSpPr>
        <p:spPr>
          <a:xfrm>
            <a:off x="4463581" y="5715765"/>
            <a:ext cx="6004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IFPRI Standard NEXUS SAM structure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Individual countries may vary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8C3E45-9FBF-0F3A-F435-1692AF3FDBC7}"/>
              </a:ext>
            </a:extLst>
          </p:cNvPr>
          <p:cNvSpPr/>
          <p:nvPr/>
        </p:nvSpPr>
        <p:spPr>
          <a:xfrm>
            <a:off x="4463581" y="1941815"/>
            <a:ext cx="7177813" cy="371475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FFE7A0-C27B-3698-85E6-14CBF8BC3AFD}"/>
              </a:ext>
            </a:extLst>
          </p:cNvPr>
          <p:cNvSpPr/>
          <p:nvPr/>
        </p:nvSpPr>
        <p:spPr>
          <a:xfrm>
            <a:off x="5769165" y="1575631"/>
            <a:ext cx="656789" cy="4078409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419899-C600-1AC4-BED0-20ECA57F9F2E}"/>
              </a:ext>
            </a:extLst>
          </p:cNvPr>
          <p:cNvSpPr/>
          <p:nvPr/>
        </p:nvSpPr>
        <p:spPr>
          <a:xfrm>
            <a:off x="4677347" y="1883620"/>
            <a:ext cx="1463097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807B11-0DA6-2582-4693-5432F449D89B}"/>
              </a:ext>
            </a:extLst>
          </p:cNvPr>
          <p:cNvSpPr txBox="1"/>
          <p:nvPr/>
        </p:nvSpPr>
        <p:spPr>
          <a:xfrm>
            <a:off x="4677348" y="1886203"/>
            <a:ext cx="1463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13 factors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576309-D3FA-6819-176C-F2D3BDD78E98}"/>
              </a:ext>
            </a:extLst>
          </p:cNvPr>
          <p:cNvSpPr/>
          <p:nvPr/>
        </p:nvSpPr>
        <p:spPr>
          <a:xfrm>
            <a:off x="7692997" y="2681389"/>
            <a:ext cx="3918651" cy="371475"/>
          </a:xfrm>
          <a:prstGeom prst="rect">
            <a:avLst/>
          </a:prstGeom>
          <a:solidFill>
            <a:schemeClr val="accent5">
              <a:lumMod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C423F8-D8D8-AABC-63E2-9D564EF6AF37}"/>
              </a:ext>
            </a:extLst>
          </p:cNvPr>
          <p:cNvSpPr/>
          <p:nvPr/>
        </p:nvSpPr>
        <p:spPr>
          <a:xfrm>
            <a:off x="7077380" y="1575630"/>
            <a:ext cx="656789" cy="4078410"/>
          </a:xfrm>
          <a:prstGeom prst="rect">
            <a:avLst/>
          </a:prstGeom>
          <a:solidFill>
            <a:schemeClr val="accent5">
              <a:lumMod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1B9144-5E1B-9A8D-6277-AB30E05BF24B}"/>
              </a:ext>
            </a:extLst>
          </p:cNvPr>
          <p:cNvSpPr/>
          <p:nvPr/>
        </p:nvSpPr>
        <p:spPr>
          <a:xfrm>
            <a:off x="4463581" y="2681389"/>
            <a:ext cx="2182474" cy="371475"/>
          </a:xfrm>
          <a:prstGeom prst="rect">
            <a:avLst/>
          </a:prstGeom>
          <a:solidFill>
            <a:schemeClr val="accent5">
              <a:lumMod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0D4202-7728-1354-21B7-01551D4D2BA5}"/>
              </a:ext>
            </a:extLst>
          </p:cNvPr>
          <p:cNvSpPr/>
          <p:nvPr/>
        </p:nvSpPr>
        <p:spPr>
          <a:xfrm>
            <a:off x="6395133" y="2637223"/>
            <a:ext cx="2152966" cy="461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9ADD85-76B3-530C-78E3-2FD4A912C751}"/>
              </a:ext>
            </a:extLst>
          </p:cNvPr>
          <p:cNvSpPr txBox="1"/>
          <p:nvPr/>
        </p:nvSpPr>
        <p:spPr>
          <a:xfrm>
            <a:off x="6425955" y="2635806"/>
            <a:ext cx="2152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15 households</a:t>
            </a:r>
          </a:p>
        </p:txBody>
      </p:sp>
    </p:spTree>
    <p:extLst>
      <p:ext uri="{BB962C8B-B14F-4D97-AF65-F5344CB8AC3E}">
        <p14:creationId xmlns:p14="http://schemas.microsoft.com/office/powerpoint/2010/main" val="3251980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2AC4-DD09-0114-0DF1-0B7B9482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Transfers  </a:t>
            </a:r>
            <a:r>
              <a:rPr lang="en-US" b="0" dirty="0"/>
              <a:t>|  Accounts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0B26D-6D3C-DB73-7C32-AAC3E8447ABC}"/>
              </a:ext>
            </a:extLst>
          </p:cNvPr>
          <p:cNvSpPr/>
          <p:nvPr/>
        </p:nvSpPr>
        <p:spPr>
          <a:xfrm>
            <a:off x="256592" y="3293530"/>
            <a:ext cx="11678810" cy="708329"/>
          </a:xfrm>
          <a:prstGeom prst="rect">
            <a:avLst/>
          </a:prstGeom>
          <a:solidFill>
            <a:schemeClr val="accent5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40939-6BC2-E74D-38FE-F2E04B3C0FD2}"/>
              </a:ext>
            </a:extLst>
          </p:cNvPr>
          <p:cNvSpPr txBox="1"/>
          <p:nvPr/>
        </p:nvSpPr>
        <p:spPr>
          <a:xfrm>
            <a:off x="1397284" y="3577386"/>
            <a:ext cx="10243335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Rural farm and nonfarm households and urban households by national per capita expenditure quintiles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3622A8-0832-1D60-2843-F8F0D3B4BC5F}"/>
              </a:ext>
            </a:extLst>
          </p:cNvPr>
          <p:cNvSpPr/>
          <p:nvPr/>
        </p:nvSpPr>
        <p:spPr>
          <a:xfrm>
            <a:off x="256592" y="3092519"/>
            <a:ext cx="11678809" cy="39259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C1858-8F9D-96CB-7927-C7067CFBD9C9}"/>
              </a:ext>
            </a:extLst>
          </p:cNvPr>
          <p:cNvSpPr txBox="1"/>
          <p:nvPr/>
        </p:nvSpPr>
        <p:spPr>
          <a:xfrm>
            <a:off x="256596" y="3105860"/>
            <a:ext cx="338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Household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A4BA17-BE95-85C3-CEB3-EB6F95A6DBB1}"/>
              </a:ext>
            </a:extLst>
          </p:cNvPr>
          <p:cNvSpPr/>
          <p:nvPr/>
        </p:nvSpPr>
        <p:spPr>
          <a:xfrm>
            <a:off x="256591" y="1865575"/>
            <a:ext cx="11678809" cy="710196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3BAA0-90FE-9BC4-E5A6-E679289C6A26}"/>
              </a:ext>
            </a:extLst>
          </p:cNvPr>
          <p:cNvSpPr txBox="1"/>
          <p:nvPr/>
        </p:nvSpPr>
        <p:spPr>
          <a:xfrm>
            <a:off x="1394830" y="2117641"/>
            <a:ext cx="10389631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Crop land | Crop, livestock, mining and nonagricultural capital | Rural and urban labor by education category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8F8A28-F992-843B-9A15-F1D447C241D3}"/>
              </a:ext>
            </a:extLst>
          </p:cNvPr>
          <p:cNvSpPr/>
          <p:nvPr/>
        </p:nvSpPr>
        <p:spPr>
          <a:xfrm>
            <a:off x="256592" y="1616692"/>
            <a:ext cx="11678807" cy="392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9E5E1D-0185-CBC5-EB17-EC80C74AD2A2}"/>
              </a:ext>
            </a:extLst>
          </p:cNvPr>
          <p:cNvSpPr txBox="1"/>
          <p:nvPr/>
        </p:nvSpPr>
        <p:spPr>
          <a:xfrm>
            <a:off x="256597" y="1626217"/>
            <a:ext cx="407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Factors of production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152D0A-42C4-08F5-4B57-8BEAE122B924}"/>
              </a:ext>
            </a:extLst>
          </p:cNvPr>
          <p:cNvSpPr txBox="1"/>
          <p:nvPr/>
        </p:nvSpPr>
        <p:spPr>
          <a:xfrm>
            <a:off x="625076" y="3561002"/>
            <a:ext cx="513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197EF-D72B-EE6A-1B80-4A11A171E361}"/>
              </a:ext>
            </a:extLst>
          </p:cNvPr>
          <p:cNvSpPr txBox="1"/>
          <p:nvPr/>
        </p:nvSpPr>
        <p:spPr>
          <a:xfrm>
            <a:off x="548929" y="2105981"/>
            <a:ext cx="637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F5A608-CC8F-8EA7-CF49-94C23A3249E7}"/>
              </a:ext>
            </a:extLst>
          </p:cNvPr>
          <p:cNvSpPr txBox="1"/>
          <p:nvPr/>
        </p:nvSpPr>
        <p:spPr>
          <a:xfrm>
            <a:off x="8187732" y="5942559"/>
            <a:ext cx="3747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IFPRI Standard NEXUS SAM structure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Individual countries may vary</a:t>
            </a:r>
          </a:p>
        </p:txBody>
      </p:sp>
    </p:spTree>
    <p:extLst>
      <p:ext uri="{BB962C8B-B14F-4D97-AF65-F5344CB8AC3E}">
        <p14:creationId xmlns:p14="http://schemas.microsoft.com/office/powerpoint/2010/main" val="3418010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3EBF7-DDF5-C5E3-BA02-8F416F92C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Transfers  </a:t>
            </a:r>
            <a:r>
              <a:rPr lang="en-US" b="0" dirty="0"/>
              <a:t>| 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2D12A-5795-E63B-58C7-7F2597427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6" y="1325365"/>
            <a:ext cx="11454625" cy="5440409"/>
          </a:xfrm>
        </p:spPr>
        <p:txBody>
          <a:bodyPr>
            <a:normAutofit/>
          </a:bodyPr>
          <a:lstStyle/>
          <a:p>
            <a:r>
              <a:rPr lang="en-US" sz="2400" b="1" dirty="0"/>
              <a:t>Main data sources:</a:t>
            </a:r>
          </a:p>
          <a:p>
            <a:pPr lvl="1"/>
            <a:r>
              <a:rPr lang="en-US" sz="2200" dirty="0"/>
              <a:t>Household &amp; labor force surveys</a:t>
            </a:r>
          </a:p>
          <a:p>
            <a:endParaRPr lang="en-US" sz="2400" dirty="0"/>
          </a:p>
          <a:p>
            <a:r>
              <a:rPr lang="en-US" sz="2400" b="1" dirty="0"/>
              <a:t>Map sector of employment to Nexus activities</a:t>
            </a:r>
          </a:p>
          <a:p>
            <a:pPr lvl="1"/>
            <a:r>
              <a:rPr lang="en-US" sz="2200" dirty="0"/>
              <a:t>ISIC3.1, ISIC4 → Disaggregated SAM accounts</a:t>
            </a:r>
          </a:p>
          <a:p>
            <a:endParaRPr lang="en-US" sz="2400" dirty="0"/>
          </a:p>
          <a:p>
            <a:r>
              <a:rPr lang="en-US" sz="2400" b="1" dirty="0"/>
              <a:t>Map consumption items to Nexus commodities</a:t>
            </a:r>
          </a:p>
          <a:p>
            <a:pPr lvl="1"/>
            <a:r>
              <a:rPr lang="en-US" sz="2200" dirty="0"/>
              <a:t>COICOP, etc. → Disaggregated SAM accounts</a:t>
            </a:r>
          </a:p>
          <a:p>
            <a:endParaRPr lang="en-US" sz="2400" dirty="0"/>
          </a:p>
          <a:p>
            <a:r>
              <a:rPr lang="en-US" sz="2400" b="1" dirty="0"/>
              <a:t>Maintain macro SAM and non-factor/household accounts</a:t>
            </a:r>
          </a:p>
          <a:p>
            <a:pPr lvl="1"/>
            <a:r>
              <a:rPr lang="en-US" sz="2200" dirty="0"/>
              <a:t>Only imbalances are for detailed household accounts </a:t>
            </a:r>
          </a:p>
          <a:p>
            <a:pPr lvl="1"/>
            <a:r>
              <a:rPr lang="en-US" sz="2200" dirty="0"/>
              <a:t>Balanced using cross-entropy in GAMS</a:t>
            </a:r>
          </a:p>
        </p:txBody>
      </p:sp>
    </p:spTree>
    <p:extLst>
      <p:ext uri="{BB962C8B-B14F-4D97-AF65-F5344CB8AC3E}">
        <p14:creationId xmlns:p14="http://schemas.microsoft.com/office/powerpoint/2010/main" val="72840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9E7C7-2E0D-44B7-656C-B029771C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SAMs  </a:t>
            </a:r>
            <a:r>
              <a:rPr lang="en-US" b="0" dirty="0"/>
              <a:t>|  RAS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621DA-996B-33C5-FA66-462217C96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9207987" cy="1964745"/>
          </a:xfrm>
        </p:spPr>
        <p:txBody>
          <a:bodyPr>
            <a:normAutofit/>
          </a:bodyPr>
          <a:lstStyle/>
          <a:p>
            <a:r>
              <a:rPr lang="en-US" sz="2400" b="1" dirty="0"/>
              <a:t>One approach is to use the RAS method</a:t>
            </a:r>
          </a:p>
          <a:p>
            <a:pPr lvl="1"/>
            <a:r>
              <a:rPr lang="en-US" sz="2200" dirty="0"/>
              <a:t>Rows and columns are uniformly scaled in iteration until totals converge</a:t>
            </a:r>
          </a:p>
          <a:p>
            <a:pPr lvl="1"/>
            <a:r>
              <a:rPr lang="en-US" sz="2200" b="1" dirty="0"/>
              <a:t>Advantages</a:t>
            </a:r>
            <a:r>
              <a:rPr lang="en-US" sz="2200" dirty="0"/>
              <a:t>: Simple to implement (even in Excel)</a:t>
            </a:r>
          </a:p>
          <a:p>
            <a:pPr lvl="1"/>
            <a:r>
              <a:rPr lang="en-US" sz="2200" b="1" dirty="0"/>
              <a:t>Shortcoming</a:t>
            </a:r>
            <a:r>
              <a:rPr lang="en-US" sz="2200" dirty="0"/>
              <a:t>: Can do significant “damage” to the original data (will adjust cells, even if they are not causing the imbalance)</a:t>
            </a:r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53A434B-D1C9-593C-C5B0-4B7868F3AFE5}"/>
              </a:ext>
            </a:extLst>
          </p:cNvPr>
          <p:cNvGrpSpPr/>
          <p:nvPr/>
        </p:nvGrpSpPr>
        <p:grpSpPr>
          <a:xfrm>
            <a:off x="2931353" y="3277786"/>
            <a:ext cx="6277946" cy="3255475"/>
            <a:chOff x="2689192" y="3267512"/>
            <a:chExt cx="6277946" cy="3255475"/>
          </a:xfrm>
        </p:grpSpPr>
        <p:graphicFrame>
          <p:nvGraphicFramePr>
            <p:cNvPr id="5" name="Content Placeholder 5">
              <a:extLst>
                <a:ext uri="{FF2B5EF4-FFF2-40B4-BE49-F238E27FC236}">
                  <a16:creationId xmlns:a16="http://schemas.microsoft.com/office/drawing/2014/main" id="{2FC5E4B2-9F96-B037-43DF-1480EA5416A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16005468"/>
                </p:ext>
              </p:extLst>
            </p:nvPr>
          </p:nvGraphicFramePr>
          <p:xfrm>
            <a:off x="2689192" y="3267512"/>
            <a:ext cx="6026140" cy="3017520"/>
          </p:xfrm>
          <a:graphic>
            <a:graphicData uri="http://schemas.openxmlformats.org/drawingml/2006/table">
              <a:tbl>
                <a:tblPr firstRow="1" bandRow="1">
                  <a:tableStyleId>{073A0DAA-6AF3-43AB-8588-CEC1D06C72B9}</a:tableStyleId>
                </a:tblPr>
                <a:tblGrid>
                  <a:gridCol w="113680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</a:tblGrid>
                <a:tr h="218546">
                  <a:tc>
                    <a:txBody>
                      <a:bodyPr/>
                      <a:lstStyle/>
                      <a:p>
                        <a:endParaRPr lang="en-US" sz="105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Act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Com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Fact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Ent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 err="1"/>
                          <a:t>Hhd</a:t>
                        </a:r>
                        <a:endParaRPr lang="en-US" sz="105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 err="1"/>
                          <a:t>Gov</a:t>
                        </a:r>
                        <a:endParaRPr lang="en-US" sz="105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Tax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S-I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 err="1"/>
                          <a:t>Stk</a:t>
                        </a:r>
                        <a:endParaRPr lang="en-US" sz="105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 err="1"/>
                          <a:t>Wld</a:t>
                        </a:r>
                        <a:endParaRPr lang="en-US" sz="105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Tot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Activities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Commodities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Factors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Enterprises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Households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Government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Taxes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Savings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Stock change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Rest of world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Total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</a:tbl>
            </a:graphicData>
          </a:graphic>
        </p:graphicFrame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0DC7C0C-4A21-2A5D-4641-09821550EF41}"/>
                </a:ext>
              </a:extLst>
            </p:cNvPr>
            <p:cNvCxnSpPr/>
            <p:nvPr/>
          </p:nvCxnSpPr>
          <p:spPr>
            <a:xfrm>
              <a:off x="4062743" y="3627387"/>
              <a:ext cx="0" cy="289560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DF4A4D3-B7C6-C5B3-A5DB-66201CDFF866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3627387"/>
              <a:ext cx="4895850" cy="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87CFB4E-2303-8EED-342D-0F2F5C94F81B}"/>
                </a:ext>
              </a:extLst>
            </p:cNvPr>
            <p:cNvCxnSpPr/>
            <p:nvPr/>
          </p:nvCxnSpPr>
          <p:spPr>
            <a:xfrm>
              <a:off x="4415168" y="3627387"/>
              <a:ext cx="0" cy="2895600"/>
            </a:xfrm>
            <a:prstGeom prst="straightConnector1">
              <a:avLst/>
            </a:prstGeom>
            <a:ln w="31750">
              <a:solidFill>
                <a:schemeClr val="accent5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367036F-18C2-AC18-4F44-73BEB93105B8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3846462"/>
              <a:ext cx="4895850" cy="0"/>
            </a:xfrm>
            <a:prstGeom prst="straightConnector1">
              <a:avLst/>
            </a:prstGeom>
            <a:ln w="31750">
              <a:solidFill>
                <a:schemeClr val="accent5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A575008-B785-4A9D-892C-EB7535C76D4D}"/>
                </a:ext>
              </a:extLst>
            </p:cNvPr>
            <p:cNvCxnSpPr/>
            <p:nvPr/>
          </p:nvCxnSpPr>
          <p:spPr>
            <a:xfrm>
              <a:off x="4910468" y="3627387"/>
              <a:ext cx="0" cy="2895600"/>
            </a:xfrm>
            <a:prstGeom prst="straightConnector1">
              <a:avLst/>
            </a:prstGeom>
            <a:ln w="3175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2AAA119-C403-AA60-86C6-A4C79C11CB15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4102413"/>
              <a:ext cx="4895850" cy="0"/>
            </a:xfrm>
            <a:prstGeom prst="straightConnector1">
              <a:avLst/>
            </a:prstGeom>
            <a:ln w="3175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23D4A81-9953-CE99-176E-210CF565AC8E}"/>
                </a:ext>
              </a:extLst>
            </p:cNvPr>
            <p:cNvCxnSpPr/>
            <p:nvPr/>
          </p:nvCxnSpPr>
          <p:spPr>
            <a:xfrm>
              <a:off x="5338603" y="3627387"/>
              <a:ext cx="0" cy="289560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60A1D11-1E89-400B-3E89-73694B45CAC1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4360812"/>
              <a:ext cx="4895850" cy="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3A47CA1-A8BC-BDC0-AB8A-F852033B22D0}"/>
                </a:ext>
              </a:extLst>
            </p:cNvPr>
            <p:cNvCxnSpPr/>
            <p:nvPr/>
          </p:nvCxnSpPr>
          <p:spPr>
            <a:xfrm>
              <a:off x="5835122" y="3627387"/>
              <a:ext cx="0" cy="2895600"/>
            </a:xfrm>
            <a:prstGeom prst="straightConnector1">
              <a:avLst/>
            </a:prstGeom>
            <a:ln w="31750">
              <a:solidFill>
                <a:schemeClr val="accent5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2C68B50-7C54-5F27-28EA-B8DB66CB8BF9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4617987"/>
              <a:ext cx="4895850" cy="0"/>
            </a:xfrm>
            <a:prstGeom prst="straightConnector1">
              <a:avLst/>
            </a:prstGeom>
            <a:ln w="31750">
              <a:solidFill>
                <a:schemeClr val="accent5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903F12C-487B-72EE-8B7A-E9876D62A3E6}"/>
                </a:ext>
              </a:extLst>
            </p:cNvPr>
            <p:cNvCxnSpPr/>
            <p:nvPr/>
          </p:nvCxnSpPr>
          <p:spPr>
            <a:xfrm>
              <a:off x="6243478" y="3627387"/>
              <a:ext cx="0" cy="2895600"/>
            </a:xfrm>
            <a:prstGeom prst="straightConnector1">
              <a:avLst/>
            </a:prstGeom>
            <a:ln w="3175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2E270BA-9E82-02B2-8B83-CC52F402E30B}"/>
                </a:ext>
              </a:extLst>
            </p:cNvPr>
            <p:cNvCxnSpPr>
              <a:cxnSpLocks/>
            </p:cNvCxnSpPr>
            <p:nvPr/>
          </p:nvCxnSpPr>
          <p:spPr>
            <a:xfrm>
              <a:off x="4071288" y="4883463"/>
              <a:ext cx="4895850" cy="0"/>
            </a:xfrm>
            <a:prstGeom prst="straightConnector1">
              <a:avLst/>
            </a:prstGeom>
            <a:ln w="3175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9A40502-CC47-05F1-C562-2F59CB05258F}"/>
                </a:ext>
              </a:extLst>
            </p:cNvPr>
            <p:cNvCxnSpPr/>
            <p:nvPr/>
          </p:nvCxnSpPr>
          <p:spPr>
            <a:xfrm>
              <a:off x="6691643" y="3627387"/>
              <a:ext cx="0" cy="289560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6648D7E-FB73-01A7-C8DF-1EEE2A31EF66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5122812"/>
              <a:ext cx="4895850" cy="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5C9DBC2-BE81-119D-E065-79BD642D9485}"/>
                </a:ext>
              </a:extLst>
            </p:cNvPr>
            <p:cNvCxnSpPr/>
            <p:nvPr/>
          </p:nvCxnSpPr>
          <p:spPr>
            <a:xfrm>
              <a:off x="7158368" y="3627387"/>
              <a:ext cx="0" cy="2895600"/>
            </a:xfrm>
            <a:prstGeom prst="straightConnector1">
              <a:avLst/>
            </a:prstGeom>
            <a:ln w="31750">
              <a:solidFill>
                <a:schemeClr val="accent5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81B2535-FF5D-87E2-FE24-0AACB0DC983A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5399037"/>
              <a:ext cx="4895850" cy="0"/>
            </a:xfrm>
            <a:prstGeom prst="straightConnector1">
              <a:avLst/>
            </a:prstGeom>
            <a:ln w="31750">
              <a:solidFill>
                <a:schemeClr val="accent5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925F292-D642-15CD-285D-814BE95A56C5}"/>
                </a:ext>
              </a:extLst>
            </p:cNvPr>
            <p:cNvCxnSpPr/>
            <p:nvPr/>
          </p:nvCxnSpPr>
          <p:spPr>
            <a:xfrm>
              <a:off x="7615568" y="3627387"/>
              <a:ext cx="0" cy="2895600"/>
            </a:xfrm>
            <a:prstGeom prst="straightConnector1">
              <a:avLst/>
            </a:prstGeom>
            <a:ln w="3175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CCB70D7-CCBB-ED9E-01C7-430516D18248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5654988"/>
              <a:ext cx="4895850" cy="0"/>
            </a:xfrm>
            <a:prstGeom prst="straightConnector1">
              <a:avLst/>
            </a:prstGeom>
            <a:ln w="3175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82037E2-A7BA-F859-A2A3-37B32142C9A2}"/>
                </a:ext>
              </a:extLst>
            </p:cNvPr>
            <p:cNvCxnSpPr/>
            <p:nvPr/>
          </p:nvCxnSpPr>
          <p:spPr>
            <a:xfrm>
              <a:off x="8034668" y="3627387"/>
              <a:ext cx="0" cy="289560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355D3C1-F06E-B80F-A313-876B20155E03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5894337"/>
              <a:ext cx="4895850" cy="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7667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9E7C7-2E0D-44B7-656C-B029771C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SAMs  </a:t>
            </a:r>
            <a:r>
              <a:rPr lang="en-US" b="0" dirty="0"/>
              <a:t>|  Cross-Entropy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621DA-996B-33C5-FA66-462217C96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9207987" cy="1964745"/>
          </a:xfrm>
        </p:spPr>
        <p:txBody>
          <a:bodyPr>
            <a:normAutofit/>
          </a:bodyPr>
          <a:lstStyle/>
          <a:p>
            <a:r>
              <a:rPr lang="en-US" sz="2400" b="1" dirty="0"/>
              <a:t>Better approach is to use the cross-entropy method</a:t>
            </a:r>
          </a:p>
          <a:p>
            <a:pPr lvl="1"/>
            <a:r>
              <a:rPr lang="en-US" sz="2200" dirty="0"/>
              <a:t>Each cell is adjusted individually (rather than entire rows &amp; columns)</a:t>
            </a:r>
          </a:p>
          <a:p>
            <a:pPr lvl="1"/>
            <a:r>
              <a:rPr lang="en-US" sz="2200" dirty="0"/>
              <a:t>Minimize deviation from original data (using error distributions)</a:t>
            </a:r>
          </a:p>
          <a:p>
            <a:pPr lvl="1"/>
            <a:r>
              <a:rPr lang="en-US" sz="2200" b="1" dirty="0"/>
              <a:t>Advantages</a:t>
            </a:r>
            <a:r>
              <a:rPr lang="en-US" sz="2200" dirty="0"/>
              <a:t>: Focus more on cells that are causing imbalances </a:t>
            </a:r>
          </a:p>
          <a:p>
            <a:pPr lvl="1"/>
            <a:r>
              <a:rPr lang="en-US" sz="2200" b="1" dirty="0"/>
              <a:t>Shortcoming</a:t>
            </a:r>
            <a:r>
              <a:rPr lang="en-US" sz="2200" dirty="0"/>
              <a:t>: More complex (need GAMS rather than just Excel)</a:t>
            </a:r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26" name="Content Placeholder 5">
            <a:extLst>
              <a:ext uri="{FF2B5EF4-FFF2-40B4-BE49-F238E27FC236}">
                <a16:creationId xmlns:a16="http://schemas.microsoft.com/office/drawing/2014/main" id="{CDB1C937-C32B-2BE3-80F9-55DB48CCDB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7315954"/>
              </p:ext>
            </p:extLst>
          </p:nvPr>
        </p:nvGraphicFramePr>
        <p:xfrm>
          <a:off x="2931353" y="3277786"/>
          <a:ext cx="6026140" cy="3017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18546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Hhd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Gov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Stk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Wld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Activities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Commodities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Factors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Enterprises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Households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Government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Taxes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Savings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Stock change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Rest of world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Total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FB15866C-DD82-3238-4689-A8989FA220C0}"/>
              </a:ext>
            </a:extLst>
          </p:cNvPr>
          <p:cNvSpPr/>
          <p:nvPr/>
        </p:nvSpPr>
        <p:spPr>
          <a:xfrm>
            <a:off x="5821457" y="3778014"/>
            <a:ext cx="495300" cy="291194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DAC3276-29F7-E699-8A48-751645398033}"/>
              </a:ext>
            </a:extLst>
          </p:cNvPr>
          <p:cNvSpPr/>
          <p:nvPr/>
        </p:nvSpPr>
        <p:spPr>
          <a:xfrm>
            <a:off x="4043083" y="4025664"/>
            <a:ext cx="495300" cy="291194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7796A55-5E1E-324E-531A-3FD31FA6859C}"/>
              </a:ext>
            </a:extLst>
          </p:cNvPr>
          <p:cNvSpPr/>
          <p:nvPr/>
        </p:nvSpPr>
        <p:spPr>
          <a:xfrm>
            <a:off x="4076847" y="3545333"/>
            <a:ext cx="911424" cy="2749973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CCDFC3E-25A0-7DEA-3752-129C4B3F7824}"/>
              </a:ext>
            </a:extLst>
          </p:cNvPr>
          <p:cNvSpPr/>
          <p:nvPr/>
        </p:nvSpPr>
        <p:spPr>
          <a:xfrm>
            <a:off x="4988271" y="3545333"/>
            <a:ext cx="3969222" cy="480331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4C7321-53F2-9B74-2B97-4D717EFDC0C9}"/>
              </a:ext>
            </a:extLst>
          </p:cNvPr>
          <p:cNvSpPr/>
          <p:nvPr/>
        </p:nvSpPr>
        <p:spPr>
          <a:xfrm>
            <a:off x="4500283" y="5745818"/>
            <a:ext cx="495300" cy="291194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92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0033-E4FF-24E6-4934-A69FA0EA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 </a:t>
            </a:r>
            <a:r>
              <a:rPr lang="en-US" b="0" dirty="0"/>
              <a:t>|  SAM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69051-4297-19EC-3D02-1071E7B00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480" y="1339230"/>
            <a:ext cx="5016130" cy="4208131"/>
          </a:xfrm>
        </p:spPr>
        <p:txBody>
          <a:bodyPr>
            <a:normAutofit/>
          </a:bodyPr>
          <a:lstStyle/>
          <a:p>
            <a:r>
              <a:rPr lang="en-US" sz="2400" b="1" dirty="0"/>
              <a:t>Aggregated SAM</a:t>
            </a:r>
          </a:p>
          <a:p>
            <a:pPr lvl="1"/>
            <a:r>
              <a:rPr lang="en-US" sz="2200" dirty="0"/>
              <a:t>7 activities, 7 commodities</a:t>
            </a:r>
          </a:p>
          <a:p>
            <a:pPr lvl="1"/>
            <a:r>
              <a:rPr lang="en-US" sz="2200" dirty="0"/>
              <a:t>2 households (rural &amp; urban)</a:t>
            </a:r>
          </a:p>
          <a:p>
            <a:endParaRPr lang="en-US" sz="2400" dirty="0"/>
          </a:p>
          <a:p>
            <a:r>
              <a:rPr lang="en-US" sz="2400" b="1" dirty="0"/>
              <a:t>Answer questions about the structure of the economy</a:t>
            </a:r>
          </a:p>
          <a:p>
            <a:pPr lvl="1"/>
            <a:r>
              <a:rPr lang="en-US" sz="2200" dirty="0"/>
              <a:t>Link to data in the SAM</a:t>
            </a:r>
          </a:p>
          <a:p>
            <a:pPr lvl="1"/>
            <a:r>
              <a:rPr lang="en-US" sz="2200" dirty="0"/>
              <a:t>Check your answers as you go (correct values shown in blue)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AA9019-1F18-3D53-D791-E5D99EC25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247447"/>
            <a:ext cx="4572000" cy="5620827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BE266-AD48-E124-7876-AE181446DAFE}"/>
              </a:ext>
            </a:extLst>
          </p:cNvPr>
          <p:cNvSpPr txBox="1"/>
          <p:nvPr/>
        </p:nvSpPr>
        <p:spPr>
          <a:xfrm>
            <a:off x="4561729" y="5832965"/>
            <a:ext cx="30719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Exercises folder</a:t>
            </a:r>
          </a:p>
          <a:p>
            <a:endParaRPr lang="pt-BR" sz="300" dirty="0"/>
          </a:p>
          <a:p>
            <a:r>
              <a:rPr lang="pt-BR" dirty="0"/>
              <a:t>Exercise 2 – SAM Analysis.xlsx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923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0033-E4FF-24E6-4934-A69FA0EA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2x  </a:t>
            </a:r>
            <a:r>
              <a:rPr lang="en-US" b="0" dirty="0"/>
              <a:t>|  Detailed SAM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69051-4297-19EC-3D02-1071E7B00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8005910" cy="2612017"/>
          </a:xfrm>
        </p:spPr>
        <p:txBody>
          <a:bodyPr>
            <a:normAutofit/>
          </a:bodyPr>
          <a:lstStyle/>
          <a:p>
            <a:r>
              <a:rPr lang="en-US" sz="2400" b="1" dirty="0"/>
              <a:t>Answer the questions using data from </a:t>
            </a:r>
            <a:r>
              <a:rPr lang="en-US" sz="2400" b="1"/>
              <a:t>the SAM</a:t>
            </a:r>
            <a:endParaRPr lang="en-US" sz="2400" b="1" dirty="0"/>
          </a:p>
          <a:p>
            <a:pPr lvl="1"/>
            <a:r>
              <a:rPr lang="en-US" sz="2200" dirty="0"/>
              <a:t>Use the workings sheet for calculations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05DC91-37E2-0D9C-9960-1808A4F43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693" y="2188396"/>
            <a:ext cx="9717308" cy="3372587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79DB2F-08F5-F489-431F-4895F9E51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807" y="4989676"/>
            <a:ext cx="7702192" cy="1876873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D91A86-7062-807F-2A5F-6CE0014165A4}"/>
              </a:ext>
            </a:extLst>
          </p:cNvPr>
          <p:cNvSpPr txBox="1"/>
          <p:nvPr/>
        </p:nvSpPr>
        <p:spPr>
          <a:xfrm>
            <a:off x="400691" y="5754524"/>
            <a:ext cx="3945277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Exercises folder</a:t>
            </a:r>
          </a:p>
          <a:p>
            <a:endParaRPr lang="pt-BR" sz="300" dirty="0"/>
          </a:p>
          <a:p>
            <a:r>
              <a:rPr lang="pt-BR" dirty="0"/>
              <a:t>Exercise 2x – Detailed SAM Analysis.xlsx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015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3DC7-DA25-3A40-6AC6-827ED311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3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SAM Multiplier Analysis</a:t>
            </a:r>
            <a:endParaRPr lang="en-US" dirty="0"/>
          </a:p>
        </p:txBody>
      </p:sp>
      <p:pic>
        <p:nvPicPr>
          <p:cNvPr id="4" name="Picture 3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48C793E9-A8BF-B0DB-B51A-74444202E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575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B32D-A259-BAD4-57AB-8F26FF4CE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and Indirect Linkages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42365-3626-BE29-C93A-1988559A9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08" y="1025035"/>
            <a:ext cx="11363218" cy="5740740"/>
          </a:xfrm>
        </p:spPr>
        <p:txBody>
          <a:bodyPr>
            <a:normAutofit/>
          </a:bodyPr>
          <a:lstStyle/>
          <a:p>
            <a:r>
              <a:rPr lang="en-US" sz="2400" b="1" dirty="0"/>
              <a:t>Total impact of demand shock = Direct effects + Indirect effects</a:t>
            </a:r>
          </a:p>
          <a:p>
            <a:endParaRPr lang="en-US" sz="100" dirty="0"/>
          </a:p>
          <a:p>
            <a:r>
              <a:rPr lang="en-US" sz="2400" b="1" dirty="0"/>
              <a:t>Indirect effects = Production linkages + Consumption linkages</a:t>
            </a:r>
          </a:p>
          <a:p>
            <a:pPr lvl="1"/>
            <a:r>
              <a:rPr lang="en-US" sz="2200" dirty="0"/>
              <a:t>Consumption linkages: incomes → demand for other sectors’ products </a:t>
            </a:r>
          </a:p>
          <a:p>
            <a:endParaRPr lang="en-US" sz="100" dirty="0"/>
          </a:p>
          <a:p>
            <a:r>
              <a:rPr lang="en-US" sz="2400" b="1" dirty="0"/>
              <a:t>Production linkages = Backward linkages + forward linkages</a:t>
            </a:r>
          </a:p>
          <a:p>
            <a:pPr lvl="1"/>
            <a:r>
              <a:rPr lang="en-US" sz="2200" dirty="0"/>
              <a:t>Backward linkages: producers purchase of inputs from other sectors</a:t>
            </a:r>
          </a:p>
          <a:p>
            <a:pPr lvl="1"/>
            <a:r>
              <a:rPr lang="en-US" sz="2200" dirty="0"/>
              <a:t>Forward linkages: supply of upstream producers with intermediate inputs</a:t>
            </a:r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EC1D28A-1BE5-2FB2-E800-C9408C5B9A76}"/>
              </a:ext>
            </a:extLst>
          </p:cNvPr>
          <p:cNvGrpSpPr/>
          <p:nvPr/>
        </p:nvGrpSpPr>
        <p:grpSpPr>
          <a:xfrm>
            <a:off x="1333292" y="3926227"/>
            <a:ext cx="6484266" cy="2633302"/>
            <a:chOff x="1806507" y="4313129"/>
            <a:chExt cx="6019800" cy="2391236"/>
          </a:xfrm>
        </p:grpSpPr>
        <p:sp>
          <p:nvSpPr>
            <p:cNvPr id="5" name="Text Box 2">
              <a:extLst>
                <a:ext uri="{FF2B5EF4-FFF2-40B4-BE49-F238E27FC236}">
                  <a16:creationId xmlns:a16="http://schemas.microsoft.com/office/drawing/2014/main" id="{2B15D1B2-77C3-0748-96ED-EC672EF3AC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957" y="4313129"/>
              <a:ext cx="965200" cy="475123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</a:rPr>
                <a:t>Direct effects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Text Box 3">
              <a:extLst>
                <a:ext uri="{FF2B5EF4-FFF2-40B4-BE49-F238E27FC236}">
                  <a16:creationId xmlns:a16="http://schemas.microsoft.com/office/drawing/2014/main" id="{666A6192-48A5-E9DB-25CA-066731142F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5607" y="5326184"/>
              <a:ext cx="965200" cy="5334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</a:rPr>
                <a:t>Indirect effects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1BECD487-91FB-A0E4-4760-5E8153BF4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2145" y="4784617"/>
              <a:ext cx="1285875" cy="47512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1400" b="1">
                  <a:solidFill>
                    <a:schemeClr val="bg1"/>
                  </a:solidFill>
                  <a:latin typeface="Calibri" pitchFamily="34" charset="0"/>
                </a:rPr>
                <a:t>Consumption linkages </a:t>
              </a:r>
              <a:endParaRPr lang="en-US" sz="1400" b="1">
                <a:solidFill>
                  <a:schemeClr val="bg1"/>
                </a:solidFill>
              </a:endParaRPr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8F1BCE15-BFAB-C923-AD6F-5743BE1A4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6507" y="4945184"/>
              <a:ext cx="1162050" cy="457200"/>
            </a:xfrm>
            <a:prstGeom prst="rect">
              <a:avLst/>
            </a:prstGeom>
            <a:solidFill>
              <a:srgbClr val="54544B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</a:rPr>
                <a:t>Exogenous shock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F73D346C-0A84-4A7F-3A82-4920EAE89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2145" y="5760929"/>
              <a:ext cx="1285875" cy="47512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1400" b="1">
                  <a:solidFill>
                    <a:schemeClr val="bg1"/>
                  </a:solidFill>
                  <a:latin typeface="Calibri" pitchFamily="34" charset="0"/>
                </a:rPr>
                <a:t>Production linkages </a:t>
              </a:r>
              <a:endParaRPr lang="en-US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5B3B30CE-B5BB-0D1B-DBCA-317B7EAEE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3007" y="5267217"/>
              <a:ext cx="1003300" cy="47512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</a:rPr>
                <a:t>Backward linkages 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A22824DD-63B9-1F8C-FC9D-74AB0BE1C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6657" y="6229242"/>
              <a:ext cx="1001713" cy="47512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</a:rPr>
                <a:t>Forward linkages 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2" name="Group 9">
              <a:extLst>
                <a:ext uri="{FF2B5EF4-FFF2-40B4-BE49-F238E27FC236}">
                  <a16:creationId xmlns:a16="http://schemas.microsoft.com/office/drawing/2014/main" id="{9482F13A-5FE6-923E-2299-52A47CF0B9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8557" y="4638797"/>
              <a:ext cx="527050" cy="963612"/>
              <a:chOff x="3096" y="8208"/>
              <a:chExt cx="662" cy="1067"/>
            </a:xfrm>
          </p:grpSpPr>
          <p:cxnSp>
            <p:nvCxnSpPr>
              <p:cNvPr id="23" name="AutoShape 10">
                <a:extLst>
                  <a:ext uri="{FF2B5EF4-FFF2-40B4-BE49-F238E27FC236}">
                    <a16:creationId xmlns:a16="http://schemas.microsoft.com/office/drawing/2014/main" id="{3935F995-66D4-9A64-8593-D93F9423517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96" y="8755"/>
                <a:ext cx="287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/>
              </a:ln>
            </p:spPr>
          </p:cxnSp>
          <p:cxnSp>
            <p:nvCxnSpPr>
              <p:cNvPr id="24" name="AutoShape 11">
                <a:extLst>
                  <a:ext uri="{FF2B5EF4-FFF2-40B4-BE49-F238E27FC236}">
                    <a16:creationId xmlns:a16="http://schemas.microsoft.com/office/drawing/2014/main" id="{02F4A109-C671-18A9-F670-91DBB01AA01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383" y="8208"/>
                <a:ext cx="0" cy="1067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/>
              </a:ln>
            </p:spPr>
          </p:cxnSp>
          <p:cxnSp>
            <p:nvCxnSpPr>
              <p:cNvPr id="25" name="AutoShape 12">
                <a:extLst>
                  <a:ext uri="{FF2B5EF4-FFF2-40B4-BE49-F238E27FC236}">
                    <a16:creationId xmlns:a16="http://schemas.microsoft.com/office/drawing/2014/main" id="{6E324A8E-7075-315D-6ACC-0AB720AD89C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383" y="8208"/>
                <a:ext cx="375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6" name="AutoShape 13">
                <a:extLst>
                  <a:ext uri="{FF2B5EF4-FFF2-40B4-BE49-F238E27FC236}">
                    <a16:creationId xmlns:a16="http://schemas.microsoft.com/office/drawing/2014/main" id="{577E6475-59CD-FF4E-5FE7-DFEE9EDB547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383" y="9275"/>
                <a:ext cx="375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13" name="Group 14">
              <a:extLst>
                <a:ext uri="{FF2B5EF4-FFF2-40B4-BE49-F238E27FC236}">
                  <a16:creationId xmlns:a16="http://schemas.microsoft.com/office/drawing/2014/main" id="{C8583D2B-6AED-9C70-A5BC-02ADBF5E3F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7157" y="5132509"/>
              <a:ext cx="527050" cy="962025"/>
              <a:chOff x="3096" y="8208"/>
              <a:chExt cx="662" cy="1067"/>
            </a:xfrm>
          </p:grpSpPr>
          <p:cxnSp>
            <p:nvCxnSpPr>
              <p:cNvPr id="19" name="AutoShape 15">
                <a:extLst>
                  <a:ext uri="{FF2B5EF4-FFF2-40B4-BE49-F238E27FC236}">
                    <a16:creationId xmlns:a16="http://schemas.microsoft.com/office/drawing/2014/main" id="{064672FE-9334-38E9-12F6-5D3C73EBDF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96" y="8756"/>
                <a:ext cx="287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/>
              </a:ln>
            </p:spPr>
          </p:cxnSp>
          <p:cxnSp>
            <p:nvCxnSpPr>
              <p:cNvPr id="20" name="AutoShape 16">
                <a:extLst>
                  <a:ext uri="{FF2B5EF4-FFF2-40B4-BE49-F238E27FC236}">
                    <a16:creationId xmlns:a16="http://schemas.microsoft.com/office/drawing/2014/main" id="{A1BBA422-AD53-B715-D258-2CCE366C561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383" y="8208"/>
                <a:ext cx="0" cy="1067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/>
              </a:ln>
            </p:spPr>
          </p:cxnSp>
          <p:cxnSp>
            <p:nvCxnSpPr>
              <p:cNvPr id="21" name="AutoShape 17">
                <a:extLst>
                  <a:ext uri="{FF2B5EF4-FFF2-40B4-BE49-F238E27FC236}">
                    <a16:creationId xmlns:a16="http://schemas.microsoft.com/office/drawing/2014/main" id="{420434DF-E36A-AF1E-6D45-F31BC2244B9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383" y="8208"/>
                <a:ext cx="375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2" name="AutoShape 18">
                <a:extLst>
                  <a:ext uri="{FF2B5EF4-FFF2-40B4-BE49-F238E27FC236}">
                    <a16:creationId xmlns:a16="http://schemas.microsoft.com/office/drawing/2014/main" id="{0A74C1BB-CEA3-3B6B-7CB4-1CB2F3C7780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383" y="9275"/>
                <a:ext cx="375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14" name="Group 19">
              <a:extLst>
                <a:ext uri="{FF2B5EF4-FFF2-40B4-BE49-F238E27FC236}">
                  <a16:creationId xmlns:a16="http://schemas.microsoft.com/office/drawing/2014/main" id="{4F38C22C-708A-542F-10C3-EAEC787F8C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88020" y="5602409"/>
              <a:ext cx="528637" cy="962025"/>
              <a:chOff x="3096" y="8208"/>
              <a:chExt cx="662" cy="1067"/>
            </a:xfrm>
          </p:grpSpPr>
          <p:cxnSp>
            <p:nvCxnSpPr>
              <p:cNvPr id="15" name="AutoShape 20">
                <a:extLst>
                  <a:ext uri="{FF2B5EF4-FFF2-40B4-BE49-F238E27FC236}">
                    <a16:creationId xmlns:a16="http://schemas.microsoft.com/office/drawing/2014/main" id="{81F9FE8B-77CD-698F-F9EC-BEEEF156983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96" y="8756"/>
                <a:ext cx="288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/>
              </a:ln>
            </p:spPr>
          </p:cxnSp>
          <p:cxnSp>
            <p:nvCxnSpPr>
              <p:cNvPr id="16" name="AutoShape 21">
                <a:extLst>
                  <a:ext uri="{FF2B5EF4-FFF2-40B4-BE49-F238E27FC236}">
                    <a16:creationId xmlns:a16="http://schemas.microsoft.com/office/drawing/2014/main" id="{EBCFE604-6CE9-329D-F4D1-F960C1B5FF5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384" y="8208"/>
                <a:ext cx="0" cy="1067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/>
              </a:ln>
            </p:spPr>
          </p:cxnSp>
          <p:cxnSp>
            <p:nvCxnSpPr>
              <p:cNvPr id="17" name="AutoShape 22">
                <a:extLst>
                  <a:ext uri="{FF2B5EF4-FFF2-40B4-BE49-F238E27FC236}">
                    <a16:creationId xmlns:a16="http://schemas.microsoft.com/office/drawing/2014/main" id="{863FB091-E0A1-25E5-DCEE-267B39F9FAA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384" y="8208"/>
                <a:ext cx="374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8" name="AutoShape 23">
                <a:extLst>
                  <a:ext uri="{FF2B5EF4-FFF2-40B4-BE49-F238E27FC236}">
                    <a16:creationId xmlns:a16="http://schemas.microsoft.com/office/drawing/2014/main" id="{7EC3839A-4CC3-DE91-2FD4-27A03E71D08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384" y="9275"/>
                <a:ext cx="374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 type="triangl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273106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F8EED-75ED-BE8D-88CD-A3C1C299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Income Flow in Multiplier Process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CF957BD-B7FC-FC71-4A0D-C7B6C023AB99}"/>
              </a:ext>
            </a:extLst>
          </p:cNvPr>
          <p:cNvGrpSpPr/>
          <p:nvPr/>
        </p:nvGrpSpPr>
        <p:grpSpPr>
          <a:xfrm>
            <a:off x="920820" y="1147484"/>
            <a:ext cx="9219773" cy="5263589"/>
            <a:chOff x="571500" y="1558452"/>
            <a:chExt cx="8001000" cy="47742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D28BEF3-6FD0-A16C-161C-7D2C000BCB91}"/>
                </a:ext>
              </a:extLst>
            </p:cNvPr>
            <p:cNvGrpSpPr/>
            <p:nvPr/>
          </p:nvGrpSpPr>
          <p:grpSpPr>
            <a:xfrm>
              <a:off x="773113" y="1558452"/>
              <a:ext cx="7799387" cy="4640263"/>
              <a:chOff x="1039813" y="1276350"/>
              <a:chExt cx="7799387" cy="4640263"/>
            </a:xfrm>
          </p:grpSpPr>
          <p:sp>
            <p:nvSpPr>
              <p:cNvPr id="7" name="Text Box 3">
                <a:extLst>
                  <a:ext uri="{FF2B5EF4-FFF2-40B4-BE49-F238E27FC236}">
                    <a16:creationId xmlns:a16="http://schemas.microsoft.com/office/drawing/2014/main" id="{CBF1F665-95C4-36FE-2898-33B0AE0F77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71625" y="1276350"/>
                <a:ext cx="1225550" cy="711200"/>
              </a:xfrm>
              <a:prstGeom prst="rect">
                <a:avLst/>
              </a:prstGeom>
              <a:solidFill>
                <a:srgbClr val="54544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Aft>
                    <a:spcPts val="1000"/>
                  </a:spcAft>
                  <a:defRPr/>
                </a:pPr>
                <a:r>
                  <a:rPr lang="en-US" sz="1400" b="1" dirty="0">
                    <a:solidFill>
                      <a:schemeClr val="bg1"/>
                    </a:solidFill>
                    <a:latin typeface="Calibri" pitchFamily="34" charset="0"/>
                  </a:rPr>
                  <a:t>Increase in agricultural exports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Text Box 4">
                <a:extLst>
                  <a:ext uri="{FF2B5EF4-FFF2-40B4-BE49-F238E27FC236}">
                    <a16:creationId xmlns:a16="http://schemas.microsoft.com/office/drawing/2014/main" id="{B124B189-F621-85C4-B047-D353433AFB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71625" y="2462213"/>
                <a:ext cx="1225550" cy="711200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Aft>
                    <a:spcPts val="1000"/>
                  </a:spcAft>
                  <a:defRPr/>
                </a:pPr>
                <a:r>
                  <a:rPr lang="en-US" sz="1400" b="1">
                    <a:solidFill>
                      <a:schemeClr val="bg1"/>
                    </a:solidFill>
                    <a:latin typeface="Calibri" pitchFamily="34" charset="0"/>
                  </a:rPr>
                  <a:t>Increase in agricultural production</a:t>
                </a:r>
                <a:endParaRPr lang="en-US" sz="1400" b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9" name="AutoShape 5">
                <a:extLst>
                  <a:ext uri="{FF2B5EF4-FFF2-40B4-BE49-F238E27FC236}">
                    <a16:creationId xmlns:a16="http://schemas.microsoft.com/office/drawing/2014/main" id="{5A0D859C-C93C-B10B-AE90-9E3C7C4FE8F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101850" y="1987550"/>
                <a:ext cx="0" cy="474663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0" name="Text Box 6">
                <a:extLst>
                  <a:ext uri="{FF2B5EF4-FFF2-40B4-BE49-F238E27FC236}">
                    <a16:creationId xmlns:a16="http://schemas.microsoft.com/office/drawing/2014/main" id="{A8556CFF-0E30-D67C-8F76-235094F023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70038" y="3760788"/>
                <a:ext cx="1227137" cy="7112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Aft>
                    <a:spcPts val="1000"/>
                  </a:spcAft>
                  <a:defRPr/>
                </a:pPr>
                <a:r>
                  <a:rPr lang="en-US" sz="1400" b="1" dirty="0">
                    <a:solidFill>
                      <a:schemeClr val="bg1"/>
                    </a:solidFill>
                    <a:latin typeface="Calibri" pitchFamily="34" charset="0"/>
                  </a:rPr>
                  <a:t>Increase in nonagricultural production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Text Box 7">
                <a:extLst>
                  <a:ext uri="{FF2B5EF4-FFF2-40B4-BE49-F238E27FC236}">
                    <a16:creationId xmlns:a16="http://schemas.microsoft.com/office/drawing/2014/main" id="{CBF13121-3334-85AD-9DEB-F4E122CE33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6013" y="3703638"/>
                <a:ext cx="1095375" cy="86836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Aft>
                    <a:spcPts val="1000"/>
                  </a:spcAft>
                  <a:defRPr/>
                </a:pPr>
                <a:r>
                  <a:rPr lang="en-US" sz="1400" b="1" dirty="0">
                    <a:solidFill>
                      <a:schemeClr val="bg1"/>
                    </a:solidFill>
                    <a:latin typeface="Calibri" pitchFamily="34" charset="0"/>
                  </a:rPr>
                  <a:t>Increase in factor incomes and employment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Text Box 8">
                <a:extLst>
                  <a:ext uri="{FF2B5EF4-FFF2-40B4-BE49-F238E27FC236}">
                    <a16:creationId xmlns:a16="http://schemas.microsoft.com/office/drawing/2014/main" id="{11C64E35-A8DE-BF85-F24E-89B5EEA0E3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6013" y="5046663"/>
                <a:ext cx="1095375" cy="86995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Aft>
                    <a:spcPts val="1000"/>
                  </a:spcAft>
                  <a:defRPr/>
                </a:pPr>
                <a:r>
                  <a:rPr lang="en-US" sz="1400" b="1" dirty="0">
                    <a:solidFill>
                      <a:schemeClr val="bg1"/>
                    </a:solidFill>
                    <a:latin typeface="Calibri" pitchFamily="34" charset="0"/>
                  </a:rPr>
                  <a:t>Increase in household incomes and consumption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3" name="AutoShape 9">
                <a:extLst>
                  <a:ext uri="{FF2B5EF4-FFF2-40B4-BE49-F238E27FC236}">
                    <a16:creationId xmlns:a16="http://schemas.microsoft.com/office/drawing/2014/main" id="{8E1C7BCF-E64F-3DD0-70BD-66AB4E96E51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101850" y="3173413"/>
                <a:ext cx="0" cy="587375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4" name="Text Box 10">
                <a:extLst>
                  <a:ext uri="{FF2B5EF4-FFF2-40B4-BE49-F238E27FC236}">
                    <a16:creationId xmlns:a16="http://schemas.microsoft.com/office/drawing/2014/main" id="{63E9E3E8-3E81-0B60-3D73-E6A12219E4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2800" y="2065338"/>
                <a:ext cx="1189038" cy="2778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en-US" sz="1400" b="1" i="1" dirty="0">
                    <a:solidFill>
                      <a:srgbClr val="54544B"/>
                    </a:solidFill>
                    <a:latin typeface="Calibri" pitchFamily="34" charset="0"/>
                  </a:rPr>
                  <a:t>Direct effect</a:t>
                </a:r>
                <a:endParaRPr lang="en-US" sz="1400" b="1" dirty="0">
                  <a:solidFill>
                    <a:srgbClr val="54544B"/>
                  </a:solidFill>
                </a:endParaRPr>
              </a:p>
            </p:txBody>
          </p:sp>
          <p:sp>
            <p:nvSpPr>
              <p:cNvPr id="15" name="Text Box 11">
                <a:extLst>
                  <a:ext uri="{FF2B5EF4-FFF2-40B4-BE49-F238E27FC236}">
                    <a16:creationId xmlns:a16="http://schemas.microsoft.com/office/drawing/2014/main" id="{CB1B1BFE-8357-A5B3-3D2D-79C70F2D7C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7563" y="3285568"/>
                <a:ext cx="1417637" cy="4745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en-US" sz="1400" b="1" i="1" dirty="0">
                    <a:solidFill>
                      <a:srgbClr val="54544B"/>
                    </a:solidFill>
                    <a:latin typeface="Calibri" pitchFamily="34" charset="0"/>
                  </a:rPr>
                  <a:t>Production linkages</a:t>
                </a:r>
                <a:endParaRPr lang="en-US" sz="1400" b="1" dirty="0">
                  <a:solidFill>
                    <a:srgbClr val="54544B"/>
                  </a:solidFill>
                </a:endParaRPr>
              </a:p>
            </p:txBody>
          </p:sp>
          <p:cxnSp>
            <p:nvCxnSpPr>
              <p:cNvPr id="16" name="AutoShape 12">
                <a:extLst>
                  <a:ext uri="{FF2B5EF4-FFF2-40B4-BE49-F238E27FC236}">
                    <a16:creationId xmlns:a16="http://schemas.microsoft.com/office/drawing/2014/main" id="{BEB16C09-41F9-F50B-6CB1-BD3C4119763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198938" y="4572000"/>
                <a:ext cx="0" cy="474663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7E1E2BFB-6DAC-0D6A-8ECC-EC31034DC6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8938" y="5024438"/>
                <a:ext cx="1109662" cy="4745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Aft>
                    <a:spcPts val="1000"/>
                  </a:spcAft>
                  <a:defRPr/>
                </a:pPr>
                <a:r>
                  <a:rPr lang="en-US" sz="1400" b="1" i="1" dirty="0">
                    <a:solidFill>
                      <a:srgbClr val="54544B"/>
                    </a:solidFill>
                    <a:latin typeface="Calibri" pitchFamily="34" charset="0"/>
                  </a:rPr>
                  <a:t>Consumption linkages</a:t>
                </a:r>
                <a:endParaRPr lang="en-US" sz="1400" b="1" dirty="0">
                  <a:solidFill>
                    <a:srgbClr val="54544B"/>
                  </a:solidFill>
                </a:endParaRPr>
              </a:p>
            </p:txBody>
          </p:sp>
          <p:cxnSp>
            <p:nvCxnSpPr>
              <p:cNvPr id="18" name="AutoShape 14">
                <a:extLst>
                  <a:ext uri="{FF2B5EF4-FFF2-40B4-BE49-F238E27FC236}">
                    <a16:creationId xmlns:a16="http://schemas.microsoft.com/office/drawing/2014/main" id="{19A8FB29-C79C-2EE1-1EC6-F7B74BFDFC9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039813" y="2784475"/>
                <a:ext cx="4762" cy="2713038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AutoShape 15">
                <a:extLst>
                  <a:ext uri="{FF2B5EF4-FFF2-40B4-BE49-F238E27FC236}">
                    <a16:creationId xmlns:a16="http://schemas.microsoft.com/office/drawing/2014/main" id="{BC6EA060-7F49-75BD-D952-CEA84768488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50925" y="5497513"/>
                <a:ext cx="2598738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AutoShape 16">
                <a:extLst>
                  <a:ext uri="{FF2B5EF4-FFF2-40B4-BE49-F238E27FC236}">
                    <a16:creationId xmlns:a16="http://schemas.microsoft.com/office/drawing/2014/main" id="{D01C7155-2D1F-C9CF-45ED-01DE819712F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50925" y="2784475"/>
                <a:ext cx="520700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AutoShape 17">
                <a:extLst>
                  <a:ext uri="{FF2B5EF4-FFF2-40B4-BE49-F238E27FC236}">
                    <a16:creationId xmlns:a16="http://schemas.microsoft.com/office/drawing/2014/main" id="{24F08A9E-B624-1EDD-9642-053521910D1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55688" y="4114800"/>
                <a:ext cx="519112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AutoShape 18">
                <a:extLst>
                  <a:ext uri="{FF2B5EF4-FFF2-40B4-BE49-F238E27FC236}">
                    <a16:creationId xmlns:a16="http://schemas.microsoft.com/office/drawing/2014/main" id="{FDD9B0D4-8E19-CD68-38F3-4786D8B69A3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797175" y="2784475"/>
                <a:ext cx="1390650" cy="1588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AutoShape 19">
                <a:extLst>
                  <a:ext uri="{FF2B5EF4-FFF2-40B4-BE49-F238E27FC236}">
                    <a16:creationId xmlns:a16="http://schemas.microsoft.com/office/drawing/2014/main" id="{200313F8-1466-391C-5226-196D3D71E7F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797175" y="4122738"/>
                <a:ext cx="852488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AutoShape 20">
                <a:extLst>
                  <a:ext uri="{FF2B5EF4-FFF2-40B4-BE49-F238E27FC236}">
                    <a16:creationId xmlns:a16="http://schemas.microsoft.com/office/drawing/2014/main" id="{352DBB2A-B0DE-853E-8B7F-4C91A29DBC1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187825" y="2784475"/>
                <a:ext cx="0" cy="919163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5" name="Text Box 22">
                <a:extLst>
                  <a:ext uri="{FF2B5EF4-FFF2-40B4-BE49-F238E27FC236}">
                    <a16:creationId xmlns:a16="http://schemas.microsoft.com/office/drawing/2014/main" id="{358DD81F-F921-ED87-9D4A-AD6FA26E64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7313" y="2055813"/>
                <a:ext cx="1189037" cy="4745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en-US" sz="1400" b="1" i="1">
                    <a:solidFill>
                      <a:srgbClr val="54544B"/>
                    </a:solidFill>
                    <a:latin typeface="Calibri" pitchFamily="34" charset="0"/>
                  </a:rPr>
                  <a:t>Indirect effects</a:t>
                </a:r>
                <a:endParaRPr lang="en-US" sz="1400" b="1">
                  <a:solidFill>
                    <a:srgbClr val="54544B"/>
                  </a:solidFill>
                </a:endParaRPr>
              </a:p>
            </p:txBody>
          </p:sp>
          <p:sp>
            <p:nvSpPr>
              <p:cNvPr id="26" name="Text Box 24">
                <a:extLst>
                  <a:ext uri="{FF2B5EF4-FFF2-40B4-BE49-F238E27FC236}">
                    <a16:creationId xmlns:a16="http://schemas.microsoft.com/office/drawing/2014/main" id="{1E53BE54-AAF3-CACC-8671-D3CEBB7B04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84750" y="4960938"/>
                <a:ext cx="1416050" cy="2778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en-US" sz="1400" b="1" i="1" dirty="0">
                    <a:solidFill>
                      <a:srgbClr val="54544B"/>
                    </a:solidFill>
                    <a:latin typeface="Calibri" pitchFamily="34" charset="0"/>
                  </a:rPr>
                  <a:t>Import leakage</a:t>
                </a:r>
                <a:endParaRPr lang="en-US" sz="1400" b="1" dirty="0">
                  <a:solidFill>
                    <a:srgbClr val="54544B"/>
                  </a:solidFill>
                </a:endParaRPr>
              </a:p>
            </p:txBody>
          </p:sp>
          <p:sp>
            <p:nvSpPr>
              <p:cNvPr id="27" name="Text Box 25">
                <a:extLst>
                  <a:ext uri="{FF2B5EF4-FFF2-40B4-BE49-F238E27FC236}">
                    <a16:creationId xmlns:a16="http://schemas.microsoft.com/office/drawing/2014/main" id="{52C1735E-46BF-F6FA-79A7-01CBF2AA3C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3188" y="3970338"/>
                <a:ext cx="1122363" cy="3143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Aft>
                    <a:spcPts val="1000"/>
                  </a:spcAft>
                  <a:defRPr/>
                </a:pPr>
                <a:r>
                  <a:rPr lang="en-US" sz="1400" b="1" dirty="0">
                    <a:solidFill>
                      <a:schemeClr val="bg1"/>
                    </a:solidFill>
                    <a:latin typeface="Calibri" pitchFamily="34" charset="0"/>
                  </a:rPr>
                  <a:t>Government 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Text Box 26">
                <a:extLst>
                  <a:ext uri="{FF2B5EF4-FFF2-40B4-BE49-F238E27FC236}">
                    <a16:creationId xmlns:a16="http://schemas.microsoft.com/office/drawing/2014/main" id="{428CE6E5-3698-FDA4-8EC2-829AE59B62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3350" y="5238750"/>
                <a:ext cx="1095375" cy="31908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Aft>
                    <a:spcPts val="1000"/>
                  </a:spcAft>
                  <a:defRPr/>
                </a:pPr>
                <a:r>
                  <a:rPr lang="en-US" sz="1400" b="1" dirty="0">
                    <a:solidFill>
                      <a:schemeClr val="bg1"/>
                    </a:solidFill>
                    <a:latin typeface="Calibri" pitchFamily="34" charset="0"/>
                  </a:rPr>
                  <a:t>Rest of world</a:t>
                </a:r>
                <a:endParaRPr 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 Box 27">
                <a:extLst>
                  <a:ext uri="{FF2B5EF4-FFF2-40B4-BE49-F238E27FC236}">
                    <a16:creationId xmlns:a16="http://schemas.microsoft.com/office/drawing/2014/main" id="{125C7E99-7038-162B-EC5D-58046666E1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6350" y="2408238"/>
                <a:ext cx="330200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en-US" b="1" dirty="0">
                    <a:solidFill>
                      <a:srgbClr val="54544B"/>
                    </a:solidFill>
                    <a:latin typeface="Calibri" pitchFamily="34" charset="0"/>
                  </a:rPr>
                  <a:t>A</a:t>
                </a:r>
                <a:endParaRPr lang="en-US" dirty="0">
                  <a:solidFill>
                    <a:srgbClr val="54544B"/>
                  </a:solidFill>
                </a:endParaRPr>
              </a:p>
            </p:txBody>
          </p:sp>
          <p:sp>
            <p:nvSpPr>
              <p:cNvPr id="30" name="Text Box 28">
                <a:extLst>
                  <a:ext uri="{FF2B5EF4-FFF2-40B4-BE49-F238E27FC236}">
                    <a16:creationId xmlns:a16="http://schemas.microsoft.com/office/drawing/2014/main" id="{FAC203F1-40B0-71A8-F981-3A74DE6188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5400" y="3702050"/>
                <a:ext cx="33178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en-US" b="1">
                    <a:solidFill>
                      <a:srgbClr val="54544B"/>
                    </a:solidFill>
                    <a:latin typeface="Calibri" pitchFamily="34" charset="0"/>
                  </a:rPr>
                  <a:t>A</a:t>
                </a:r>
                <a:endParaRPr lang="en-US">
                  <a:solidFill>
                    <a:srgbClr val="54544B"/>
                  </a:solidFill>
                </a:endParaRPr>
              </a:p>
            </p:txBody>
          </p:sp>
          <p:sp>
            <p:nvSpPr>
              <p:cNvPr id="31" name="Text Box 29">
                <a:extLst>
                  <a:ext uri="{FF2B5EF4-FFF2-40B4-BE49-F238E27FC236}">
                    <a16:creationId xmlns:a16="http://schemas.microsoft.com/office/drawing/2014/main" id="{11825DB6-A464-ABF9-D2BD-5CB5EB7263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2325" y="3646488"/>
                <a:ext cx="33178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en-US" b="1">
                    <a:solidFill>
                      <a:srgbClr val="54544B"/>
                    </a:solidFill>
                    <a:latin typeface="Calibri" pitchFamily="34" charset="0"/>
                  </a:rPr>
                  <a:t>B</a:t>
                </a:r>
                <a:endParaRPr lang="en-US">
                  <a:solidFill>
                    <a:srgbClr val="54544B"/>
                  </a:solidFill>
                </a:endParaRPr>
              </a:p>
            </p:txBody>
          </p:sp>
          <p:sp>
            <p:nvSpPr>
              <p:cNvPr id="32" name="Text Box 30">
                <a:extLst>
                  <a:ext uri="{FF2B5EF4-FFF2-40B4-BE49-F238E27FC236}">
                    <a16:creationId xmlns:a16="http://schemas.microsoft.com/office/drawing/2014/main" id="{CA0AF6AB-7C9F-C147-F982-2FC294FDF4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2325" y="4994275"/>
                <a:ext cx="33178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en-US" b="1">
                    <a:solidFill>
                      <a:srgbClr val="54544B"/>
                    </a:solidFill>
                    <a:latin typeface="Calibri" pitchFamily="34" charset="0"/>
                  </a:rPr>
                  <a:t>C</a:t>
                </a:r>
                <a:endParaRPr lang="en-US">
                  <a:solidFill>
                    <a:srgbClr val="54544B"/>
                  </a:solidFill>
                </a:endParaRPr>
              </a:p>
            </p:txBody>
          </p:sp>
          <p:cxnSp>
            <p:nvCxnSpPr>
              <p:cNvPr id="33" name="AutoShape 31">
                <a:extLst>
                  <a:ext uri="{FF2B5EF4-FFF2-40B4-BE49-F238E27FC236}">
                    <a16:creationId xmlns:a16="http://schemas.microsoft.com/office/drawing/2014/main" id="{F19CAA2F-0E73-7673-4F1F-8FD2F559860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51388" y="4114800"/>
                <a:ext cx="422275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4" name="Text Box 32">
                <a:extLst>
                  <a:ext uri="{FF2B5EF4-FFF2-40B4-BE49-F238E27FC236}">
                    <a16:creationId xmlns:a16="http://schemas.microsoft.com/office/drawing/2014/main" id="{72C22C92-47A4-4E06-321C-4C67CE7809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84750" y="3681413"/>
                <a:ext cx="1416050" cy="2778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Aft>
                    <a:spcPts val="1000"/>
                  </a:spcAft>
                  <a:defRPr/>
                </a:pPr>
                <a:r>
                  <a:rPr lang="en-US" sz="1400" b="1" i="1" dirty="0">
                    <a:solidFill>
                      <a:srgbClr val="54544B"/>
                    </a:solidFill>
                    <a:latin typeface="Calibri" pitchFamily="34" charset="0"/>
                  </a:rPr>
                  <a:t>Tax leakage</a:t>
                </a:r>
                <a:endParaRPr lang="en-US" sz="1400" b="1" dirty="0">
                  <a:solidFill>
                    <a:srgbClr val="54544B"/>
                  </a:solidFill>
                </a:endParaRPr>
              </a:p>
            </p:txBody>
          </p:sp>
          <p:cxnSp>
            <p:nvCxnSpPr>
              <p:cNvPr id="35" name="AutoShape 31">
                <a:extLst>
                  <a:ext uri="{FF2B5EF4-FFF2-40B4-BE49-F238E27FC236}">
                    <a16:creationId xmlns:a16="http://schemas.microsoft.com/office/drawing/2014/main" id="{79FF9770-A1F6-236D-CF08-6F1EB62258C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56150" y="5391150"/>
                <a:ext cx="422275" cy="0"/>
              </a:xfrm>
              <a:prstGeom prst="straightConnector1">
                <a:avLst/>
              </a:prstGeom>
              <a:noFill/>
              <a:ln w="15875">
                <a:solidFill>
                  <a:srgbClr val="54544B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D911C97-0821-8B70-80ED-6A40535BCF9F}"/>
                  </a:ext>
                </a:extLst>
              </p:cNvPr>
              <p:cNvSpPr txBox="1"/>
              <p:nvPr/>
            </p:nvSpPr>
            <p:spPr>
              <a:xfrm>
                <a:off x="5410200" y="2190750"/>
                <a:ext cx="3429000" cy="106082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2000" dirty="0">
                    <a:solidFill>
                      <a:srgbClr val="54544B"/>
                    </a:solidFill>
                    <a:latin typeface="+mn-lt"/>
                  </a:rPr>
                  <a:t>A: Output multipliers</a:t>
                </a:r>
              </a:p>
              <a:p>
                <a:pPr fontAlgn="auto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2000" dirty="0">
                    <a:solidFill>
                      <a:srgbClr val="54544B"/>
                    </a:solidFill>
                    <a:latin typeface="+mn-lt"/>
                  </a:rPr>
                  <a:t>B: GDP (value-added) multiplier</a:t>
                </a:r>
              </a:p>
              <a:p>
                <a:pPr fontAlgn="auto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sz="2000" dirty="0">
                    <a:solidFill>
                      <a:srgbClr val="54544B"/>
                    </a:solidFill>
                    <a:latin typeface="+mn-lt"/>
                  </a:rPr>
                  <a:t>C: Income multiplier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6E7558-48D7-508F-E2ED-5FDB4A15D26C}"/>
                </a:ext>
              </a:extLst>
            </p:cNvPr>
            <p:cNvSpPr/>
            <p:nvPr/>
          </p:nvSpPr>
          <p:spPr>
            <a:xfrm>
              <a:off x="571500" y="2580803"/>
              <a:ext cx="4146550" cy="3751903"/>
            </a:xfrm>
            <a:prstGeom prst="rect">
              <a:avLst/>
            </a:prstGeom>
            <a:noFill/>
            <a:ln w="15875">
              <a:solidFill>
                <a:srgbClr val="54544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42644168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79FB1-F7BA-C249-24E2-B4225932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 </a:t>
            </a:r>
            <a:r>
              <a:rPr lang="en-US" b="0" dirty="0"/>
              <a:t>|  Round-By-Round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3E7AC-BF8C-FB66-E610-0938BE0D6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773" y="1360684"/>
            <a:ext cx="5065160" cy="5368490"/>
          </a:xfrm>
        </p:spPr>
        <p:txBody>
          <a:bodyPr>
            <a:normAutofit/>
          </a:bodyPr>
          <a:lstStyle/>
          <a:p>
            <a:r>
              <a:rPr lang="en-US" sz="2400" b="1" dirty="0"/>
              <a:t>Manually calculate indirect effects</a:t>
            </a:r>
          </a:p>
          <a:p>
            <a:pPr lvl="1"/>
            <a:r>
              <a:rPr lang="en-US" sz="2200" dirty="0"/>
              <a:t>Backward production linkages only</a:t>
            </a:r>
          </a:p>
          <a:p>
            <a:pPr lvl="1"/>
            <a:r>
              <a:rPr lang="en-US" sz="2200" dirty="0"/>
              <a:t>3 rounds of effects</a:t>
            </a:r>
          </a:p>
          <a:p>
            <a:endParaRPr lang="en-US" sz="2400" dirty="0"/>
          </a:p>
          <a:p>
            <a:r>
              <a:rPr lang="en-US" sz="2400" b="1" dirty="0"/>
              <a:t>Check calculations as you go (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blue</a:t>
            </a:r>
            <a:r>
              <a:rPr lang="en-US" sz="2400" b="1" dirty="0"/>
              <a:t>)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1997E-CDFC-EAEE-0DD7-37208B103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964" y="1125147"/>
            <a:ext cx="6572036" cy="5091409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7321B6-7D73-5CFA-7FD9-4E5624A51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553" y="2647383"/>
            <a:ext cx="4301447" cy="4210617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E03B3E-0C79-4D89-1E04-94FF0A4F7618}"/>
              </a:ext>
            </a:extLst>
          </p:cNvPr>
          <p:cNvSpPr txBox="1"/>
          <p:nvPr/>
        </p:nvSpPr>
        <p:spPr>
          <a:xfrm>
            <a:off x="1448656" y="4908291"/>
            <a:ext cx="3945277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Exercises folder</a:t>
            </a:r>
          </a:p>
          <a:p>
            <a:endParaRPr lang="pt-BR" sz="300" dirty="0"/>
          </a:p>
          <a:p>
            <a:r>
              <a:rPr lang="pt-BR" dirty="0"/>
              <a:t>Exercise 3 – Round-By-Round Effects.xlsx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890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6BEA1-9CF7-5985-7898-B9AE882BE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Assumptions for Multipliers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0AA37-6A0F-8458-116D-A52824F5D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37" y="1261341"/>
            <a:ext cx="6999043" cy="4872331"/>
          </a:xfrm>
        </p:spPr>
        <p:txBody>
          <a:bodyPr>
            <a:normAutofit/>
          </a:bodyPr>
          <a:lstStyle/>
          <a:p>
            <a:r>
              <a:rPr lang="en-US" sz="2400" b="1" dirty="0"/>
              <a:t>Three assumptions behind multipliers…</a:t>
            </a:r>
          </a:p>
          <a:p>
            <a:endParaRPr lang="en-US" sz="2400" dirty="0"/>
          </a:p>
          <a:p>
            <a:pPr lvl="1"/>
            <a:r>
              <a:rPr lang="en-US" sz="2200" b="1" dirty="0"/>
              <a:t>Fixed prices</a:t>
            </a:r>
            <a:r>
              <a:rPr lang="en-US" sz="2200" dirty="0"/>
              <a:t>: Any changes in demand lead to changes in physical output rather than prices.</a:t>
            </a:r>
          </a:p>
          <a:p>
            <a:pPr lvl="1"/>
            <a:endParaRPr lang="en-US" sz="2200" dirty="0"/>
          </a:p>
          <a:p>
            <a:pPr lvl="1"/>
            <a:r>
              <a:rPr lang="en-US" sz="2200" b="1" dirty="0"/>
              <a:t>Unlimited resources</a:t>
            </a:r>
            <a:r>
              <a:rPr lang="en-US" sz="2200" dirty="0"/>
              <a:t>: Factor supplies are unconstrained, so that any increase in demand is matched by increased supply.</a:t>
            </a:r>
          </a:p>
          <a:p>
            <a:pPr lvl="1"/>
            <a:endParaRPr lang="en-US" sz="2200" dirty="0"/>
          </a:p>
          <a:p>
            <a:pPr lvl="1"/>
            <a:r>
              <a:rPr lang="en-US" sz="2200" b="1" dirty="0"/>
              <a:t>Fixed input coefficients</a:t>
            </a:r>
            <a:r>
              <a:rPr lang="en-US" sz="2200" dirty="0"/>
              <a:t>: Production technologies and households’ consumption patterns are unaffected by exogenous changes in demand (i.e., linkage effects are linear and there is no behavioral change).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98252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D2D0-ED35-21D6-3427-14A29543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 Entries Using Letters or Symbols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26E7B8-6EAA-E13A-987F-09F2FEE58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190222"/>
              </p:ext>
            </p:extLst>
          </p:nvPr>
        </p:nvGraphicFramePr>
        <p:xfrm>
          <a:off x="660114" y="2121092"/>
          <a:ext cx="9788705" cy="2792754"/>
        </p:xfrm>
        <a:graphic>
          <a:graphicData uri="http://schemas.openxmlformats.org/drawingml/2006/table">
            <a:tbl>
              <a:tblPr/>
              <a:tblGrid>
                <a:gridCol w="76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284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54544B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Activities</a:t>
                      </a: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Commodities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Factors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House-holds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Exogenous demand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A1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A2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C1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C2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A1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A2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C1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11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12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C2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21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22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V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 + 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L</a:t>
                      </a:r>
                      <a:r>
                        <a:rPr lang="en-US" sz="1400" baseline="-2500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L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V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CDA363-4EB9-31FF-A8EA-EB5723EFA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019" y="1254993"/>
            <a:ext cx="9895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We can replace the values appearing in the SAM with letters so that we can use them in deriving the multiplier formula…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BC3171F-084A-F606-10FD-D096C6F31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114" y="5072059"/>
            <a:ext cx="857970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 eaLnBrk="1" hangingPunct="1">
              <a:tabLst>
                <a:tab pos="282575" algn="l"/>
              </a:tabLst>
            </a:pP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X  	= gross output of each activity (i.e., X</a:t>
            </a:r>
            <a:r>
              <a:rPr lang="en-US" altLang="en-US" baseline="-30000" dirty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and X</a:t>
            </a:r>
            <a:r>
              <a:rPr lang="en-US" altLang="en-US" baseline="-30000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altLang="en-US" dirty="0"/>
          </a:p>
          <a:p>
            <a:pPr indent="0">
              <a:tabLst>
                <a:tab pos="282575" algn="l"/>
              </a:tabLst>
            </a:pP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Z  	= total demand for each commodity (i.e., Z</a:t>
            </a:r>
            <a:r>
              <a:rPr lang="en-US" altLang="en-US" baseline="-30000" dirty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and Z</a:t>
            </a:r>
            <a:r>
              <a:rPr lang="en-US" altLang="en-US" baseline="-30000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altLang="en-US" dirty="0"/>
          </a:p>
          <a:p>
            <a:pPr indent="0">
              <a:tabLst>
                <a:tab pos="282575" algn="l"/>
              </a:tabLst>
            </a:pP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V  	= total factor income (equal to household income)</a:t>
            </a:r>
            <a:endParaRPr lang="en-US" altLang="en-US" dirty="0"/>
          </a:p>
          <a:p>
            <a:pPr indent="0">
              <a:tabLst>
                <a:tab pos="282575" algn="l"/>
              </a:tabLst>
            </a:pP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Y  	= total household income (equal to total factor income) </a:t>
            </a:r>
            <a:endParaRPr lang="en-US" altLang="en-US" dirty="0"/>
          </a:p>
          <a:p>
            <a:pPr indent="0">
              <a:tabLst>
                <a:tab pos="282575" algn="l"/>
              </a:tabLst>
            </a:pP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E  	= exogenous components of demand (i.e., government, investment &amp; exports)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9209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1FCC1-E036-C432-53E0-82E239D9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Coefficient Matrix (M)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4EA5E1-06A8-BCCB-44F0-2803B1398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09962"/>
              </p:ext>
            </p:extLst>
          </p:nvPr>
        </p:nvGraphicFramePr>
        <p:xfrm>
          <a:off x="660114" y="2121092"/>
          <a:ext cx="9788705" cy="2792754"/>
        </p:xfrm>
        <a:graphic>
          <a:graphicData uri="http://schemas.openxmlformats.org/drawingml/2006/table">
            <a:tbl>
              <a:tblPr/>
              <a:tblGrid>
                <a:gridCol w="76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8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284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54544B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Activities</a:t>
                      </a: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Commodities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Factors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House-holds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Exogenous demand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A1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A2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C1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C2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A1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b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= 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/Z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A2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b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= 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/Z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C1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11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=Z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11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/X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=Z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/X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= C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/Y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C2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21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=Z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21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/X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=Z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/X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c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= C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/Y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1400" baseline="-250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=V</a:t>
                      </a:r>
                      <a:r>
                        <a:rPr lang="en-US" sz="1400" baseline="-250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/X</a:t>
                      </a:r>
                      <a:r>
                        <a:rPr lang="en-US" sz="1400" baseline="-250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=V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/X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V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Y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l</a:t>
                      </a:r>
                      <a:r>
                        <a:rPr lang="en-US" sz="1400" baseline="-250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= L</a:t>
                      </a:r>
                      <a:r>
                        <a:rPr lang="en-US" sz="1400" baseline="-250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/Z</a:t>
                      </a:r>
                      <a:r>
                        <a:rPr lang="en-US" sz="1400" baseline="-250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l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= L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/Z</a:t>
                      </a:r>
                      <a:r>
                        <a:rPr lang="en-US" sz="1400" baseline="-250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 = S/Y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49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AF4EE6A-F4BD-411E-9B9A-9FF4E47B7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019" y="1254993"/>
            <a:ext cx="923825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We then divide each column through by its column total to derive a coefficients matrix (called “M-matrix”)…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F1025AD-930E-92A5-BCC2-7E17E24B5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114" y="5005478"/>
            <a:ext cx="857970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 eaLnBrk="1" hangingPunct="1">
              <a:tabLst>
                <a:tab pos="282575" algn="l"/>
              </a:tabLst>
            </a:pP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a  	= technical coefficients (i.e., input or intermediate shares in production)</a:t>
            </a:r>
          </a:p>
          <a:p>
            <a:pPr indent="0" eaLnBrk="1" hangingPunct="1">
              <a:tabLst>
                <a:tab pos="282575" algn="l"/>
              </a:tabLst>
            </a:pP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b  	= share of domestic output in total demand </a:t>
            </a:r>
          </a:p>
          <a:p>
            <a:pPr indent="0" eaLnBrk="1" hangingPunct="1">
              <a:tabLst>
                <a:tab pos="282575" algn="l"/>
              </a:tabLst>
            </a:pP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v  	= the share of value-added or factor income in gross output</a:t>
            </a:r>
          </a:p>
          <a:p>
            <a:pPr indent="0" eaLnBrk="1" hangingPunct="1">
              <a:tabLst>
                <a:tab pos="282575" algn="l"/>
              </a:tabLst>
            </a:pP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l  	= share of the value of total demand from imports or commodity taxes</a:t>
            </a:r>
          </a:p>
          <a:p>
            <a:pPr indent="0" eaLnBrk="1" hangingPunct="1">
              <a:tabLst>
                <a:tab pos="282575" algn="l"/>
              </a:tabLst>
            </a:pP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c  	= household consumption expenditure shares</a:t>
            </a:r>
          </a:p>
          <a:p>
            <a:pPr indent="0" eaLnBrk="1" hangingPunct="1">
              <a:tabLst>
                <a:tab pos="282575" algn="l"/>
              </a:tabLst>
            </a:pP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s   	= household savings rate (i.e., savings as a share of total household income) </a:t>
            </a:r>
          </a:p>
        </p:txBody>
      </p:sp>
    </p:spTree>
    <p:extLst>
      <p:ext uri="{BB962C8B-B14F-4D97-AF65-F5344CB8AC3E}">
        <p14:creationId xmlns:p14="http://schemas.microsoft.com/office/powerpoint/2010/main" val="3565782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EE1C8-BF5C-C479-FD88-2AF3D9EA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Multiplier Formula (1)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51E803-4B3C-EBBD-DAB5-8BC361B1C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76" y="1141163"/>
            <a:ext cx="8686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dirty="0">
                <a:latin typeface="Calibri" panose="020F0502020204030204" pitchFamily="34" charset="0"/>
              </a:rPr>
              <a:t>Total demand Z</a:t>
            </a:r>
            <a:r>
              <a:rPr lang="en-US" altLang="en-US" sz="2000" dirty="0">
                <a:latin typeface="Calibri" panose="020F0502020204030204" pitchFamily="34" charset="0"/>
              </a:rPr>
              <a:t> in each sector is the sum of intermediate input demand, household consumption demand, and other </a:t>
            </a:r>
            <a:r>
              <a:rPr lang="en-US" altLang="en-US" sz="2000" b="1" dirty="0">
                <a:latin typeface="Calibri" panose="020F0502020204030204" pitchFamily="34" charset="0"/>
              </a:rPr>
              <a:t>exogenous sources of demand E</a:t>
            </a:r>
            <a:r>
              <a:rPr lang="en-US" altLang="en-US" sz="2000" dirty="0">
                <a:latin typeface="Calibri" panose="020F0502020204030204" pitchFamily="34" charset="0"/>
              </a:rPr>
              <a:t>…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3">
                <a:extLst>
                  <a:ext uri="{FF2B5EF4-FFF2-40B4-BE49-F238E27FC236}">
                    <a16:creationId xmlns:a16="http://schemas.microsoft.com/office/drawing/2014/main" id="{3A1DC018-8CD7-B4AB-0B50-DC3F4E0233D4}"/>
                  </a:ext>
                </a:extLst>
              </p:cNvPr>
              <p:cNvSpPr txBox="1"/>
              <p:nvPr/>
            </p:nvSpPr>
            <p:spPr bwMode="auto">
              <a:xfrm>
                <a:off x="3002143" y="1913140"/>
                <a:ext cx="3262312" cy="4333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Object 13">
                <a:extLst>
                  <a:ext uri="{FF2B5EF4-FFF2-40B4-BE49-F238E27FC236}">
                    <a16:creationId xmlns:a16="http://schemas.microsoft.com/office/drawing/2014/main" id="{3A1DC018-8CD7-B4AB-0B50-DC3F4E023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2143" y="1913140"/>
                <a:ext cx="3262312" cy="4333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4">
                <a:extLst>
                  <a:ext uri="{FF2B5EF4-FFF2-40B4-BE49-F238E27FC236}">
                    <a16:creationId xmlns:a16="http://schemas.microsoft.com/office/drawing/2014/main" id="{A6879476-1283-E6D4-BEE9-D60551203AC4}"/>
                  </a:ext>
                </a:extLst>
              </p:cNvPr>
              <p:cNvSpPr txBox="1"/>
              <p:nvPr/>
            </p:nvSpPr>
            <p:spPr bwMode="auto">
              <a:xfrm>
                <a:off x="3002143" y="2455944"/>
                <a:ext cx="3381375" cy="4349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Object 14">
                <a:extLst>
                  <a:ext uri="{FF2B5EF4-FFF2-40B4-BE49-F238E27FC236}">
                    <a16:creationId xmlns:a16="http://schemas.microsoft.com/office/drawing/2014/main" id="{A6879476-1283-E6D4-BEE9-D60551203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2143" y="2455944"/>
                <a:ext cx="3381375" cy="434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23">
            <a:extLst>
              <a:ext uri="{FF2B5EF4-FFF2-40B4-BE49-F238E27FC236}">
                <a16:creationId xmlns:a16="http://schemas.microsoft.com/office/drawing/2014/main" id="{477FDAC7-A2A3-8CAE-877F-4DCDCEE91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74" y="2950242"/>
            <a:ext cx="8686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From the SAM we know that </a:t>
            </a:r>
            <a:r>
              <a:rPr lang="en-US" altLang="en-US" sz="2000" b="1" dirty="0">
                <a:latin typeface="Calibri" panose="020F0502020204030204" pitchFamily="34" charset="0"/>
              </a:rPr>
              <a:t>gross output X </a:t>
            </a:r>
            <a:r>
              <a:rPr lang="en-US" altLang="en-US" sz="2000" dirty="0">
                <a:latin typeface="Calibri" panose="020F0502020204030204" pitchFamily="34" charset="0"/>
              </a:rPr>
              <a:t>is only part of total demand Z…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753E829-97CB-98AC-B409-ECAB7CA6F65B}"/>
              </a:ext>
            </a:extLst>
          </p:cNvPr>
          <p:cNvGrpSpPr/>
          <p:nvPr/>
        </p:nvGrpSpPr>
        <p:grpSpPr>
          <a:xfrm>
            <a:off x="3002143" y="3506663"/>
            <a:ext cx="2630487" cy="434975"/>
            <a:chOff x="2948623" y="3620142"/>
            <a:chExt cx="2630487" cy="434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bject 15">
                  <a:extLst>
                    <a:ext uri="{FF2B5EF4-FFF2-40B4-BE49-F238E27FC236}">
                      <a16:creationId xmlns:a16="http://schemas.microsoft.com/office/drawing/2014/main" id="{A795A727-DF18-08E3-C23E-46746CA67A4B}"/>
                    </a:ext>
                  </a:extLst>
                </p:cNvPr>
                <p:cNvSpPr txBox="1"/>
                <p:nvPr/>
              </p:nvSpPr>
              <p:spPr bwMode="auto">
                <a:xfrm>
                  <a:off x="2948623" y="3620142"/>
                  <a:ext cx="1136650" cy="43497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bject 15">
                  <a:extLst>
                    <a:ext uri="{FF2B5EF4-FFF2-40B4-BE49-F238E27FC236}">
                      <a16:creationId xmlns:a16="http://schemas.microsoft.com/office/drawing/2014/main" id="{B64E615A-6F0A-4804-A4AB-1DA219E0F6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48623" y="3620142"/>
                  <a:ext cx="1136650" cy="4349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16">
                  <a:extLst>
                    <a:ext uri="{FF2B5EF4-FFF2-40B4-BE49-F238E27FC236}">
                      <a16:creationId xmlns:a16="http://schemas.microsoft.com/office/drawing/2014/main" id="{2D8804AB-7607-F60F-AD92-BB2098E26DB1}"/>
                    </a:ext>
                  </a:extLst>
                </p:cNvPr>
                <p:cNvSpPr txBox="1"/>
                <p:nvPr/>
              </p:nvSpPr>
              <p:spPr bwMode="auto">
                <a:xfrm>
                  <a:off x="4345623" y="3620142"/>
                  <a:ext cx="1233487" cy="43497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Object 16">
                  <a:extLst>
                    <a:ext uri="{FF2B5EF4-FFF2-40B4-BE49-F238E27FC236}">
                      <a16:creationId xmlns:a16="http://schemas.microsoft.com/office/drawing/2014/main" id="{03EE2460-8A43-4D7F-A69E-4F0A239497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45623" y="3620142"/>
                  <a:ext cx="1233487" cy="4349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25">
            <a:extLst>
              <a:ext uri="{FF2B5EF4-FFF2-40B4-BE49-F238E27FC236}">
                <a16:creationId xmlns:a16="http://schemas.microsoft.com/office/drawing/2014/main" id="{35577852-1B09-E98F-83DC-4EBDA494D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74" y="3995224"/>
            <a:ext cx="900684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We also know </a:t>
            </a:r>
            <a:r>
              <a:rPr lang="en-US" altLang="en-US" sz="2000" b="1" dirty="0">
                <a:latin typeface="Calibri" panose="020F0502020204030204" pitchFamily="34" charset="0"/>
              </a:rPr>
              <a:t>household income Y </a:t>
            </a:r>
            <a:r>
              <a:rPr lang="en-US" altLang="en-US" sz="2000" dirty="0">
                <a:latin typeface="Calibri" panose="020F0502020204030204" pitchFamily="34" charset="0"/>
              </a:rPr>
              <a:t>depends on factor earnings in each sector…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7">
                <a:extLst>
                  <a:ext uri="{FF2B5EF4-FFF2-40B4-BE49-F238E27FC236}">
                    <a16:creationId xmlns:a16="http://schemas.microsoft.com/office/drawing/2014/main" id="{317A3E1D-6719-C6FA-FF31-458D46F2FCD3}"/>
                  </a:ext>
                </a:extLst>
              </p:cNvPr>
              <p:cNvSpPr txBox="1"/>
              <p:nvPr/>
            </p:nvSpPr>
            <p:spPr bwMode="auto">
              <a:xfrm>
                <a:off x="3002143" y="4466771"/>
                <a:ext cx="3987800" cy="4349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Object 17">
                <a:extLst>
                  <a:ext uri="{FF2B5EF4-FFF2-40B4-BE49-F238E27FC236}">
                    <a16:creationId xmlns:a16="http://schemas.microsoft.com/office/drawing/2014/main" id="{317A3E1D-6719-C6FA-FF31-458D46F2F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2143" y="4466771"/>
                <a:ext cx="3987800" cy="4349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27">
            <a:extLst>
              <a:ext uri="{FF2B5EF4-FFF2-40B4-BE49-F238E27FC236}">
                <a16:creationId xmlns:a16="http://schemas.microsoft.com/office/drawing/2014/main" id="{3B0EB64A-2EC9-5CC8-FC4E-E68F8E3C5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75" y="4942106"/>
            <a:ext cx="8686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We can now replace X and Y in the demand equations…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8">
                <a:extLst>
                  <a:ext uri="{FF2B5EF4-FFF2-40B4-BE49-F238E27FC236}">
                    <a16:creationId xmlns:a16="http://schemas.microsoft.com/office/drawing/2014/main" id="{0BCEA576-C56B-6030-484E-812BD9360314}"/>
                  </a:ext>
                </a:extLst>
              </p:cNvPr>
              <p:cNvSpPr txBox="1"/>
              <p:nvPr/>
            </p:nvSpPr>
            <p:spPr bwMode="auto">
              <a:xfrm>
                <a:off x="3002143" y="5463631"/>
                <a:ext cx="5484812" cy="5064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Object 18">
                <a:extLst>
                  <a:ext uri="{FF2B5EF4-FFF2-40B4-BE49-F238E27FC236}">
                    <a16:creationId xmlns:a16="http://schemas.microsoft.com/office/drawing/2014/main" id="{0BCEA576-C56B-6030-484E-812BD9360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2143" y="5463631"/>
                <a:ext cx="5484812" cy="5064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20">
                <a:extLst>
                  <a:ext uri="{FF2B5EF4-FFF2-40B4-BE49-F238E27FC236}">
                    <a16:creationId xmlns:a16="http://schemas.microsoft.com/office/drawing/2014/main" id="{FE09E412-42E0-97ED-DDBA-838606CAE1C2}"/>
                  </a:ext>
                </a:extLst>
              </p:cNvPr>
              <p:cNvSpPr txBox="1"/>
              <p:nvPr/>
            </p:nvSpPr>
            <p:spPr bwMode="auto">
              <a:xfrm>
                <a:off x="3002143" y="5970043"/>
                <a:ext cx="5603875" cy="5064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Object 20">
                <a:extLst>
                  <a:ext uri="{FF2B5EF4-FFF2-40B4-BE49-F238E27FC236}">
                    <a16:creationId xmlns:a16="http://schemas.microsoft.com/office/drawing/2014/main" id="{FE09E412-42E0-97ED-DDBA-838606CAE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2143" y="5970043"/>
                <a:ext cx="5603875" cy="5064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66908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144F3-413F-7580-C77B-1D6AEE0D2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Multiplier Formula (2)</a:t>
            </a:r>
          </a:p>
        </p:txBody>
      </p:sp>
      <p:sp>
        <p:nvSpPr>
          <p:cNvPr id="4" name="TextBox 27">
            <a:extLst>
              <a:ext uri="{FF2B5EF4-FFF2-40B4-BE49-F238E27FC236}">
                <a16:creationId xmlns:a16="http://schemas.microsoft.com/office/drawing/2014/main" id="{A28DC144-B0FD-9B3B-DB05-13F805ACE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631" y="1203534"/>
            <a:ext cx="8686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From the previous slide…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59F2B7F-0533-52A9-7C44-9B576CFC4947}"/>
              </a:ext>
            </a:extLst>
          </p:cNvPr>
          <p:cNvGrpSpPr/>
          <p:nvPr/>
        </p:nvGrpSpPr>
        <p:grpSpPr>
          <a:xfrm>
            <a:off x="2306449" y="1739315"/>
            <a:ext cx="5603875" cy="982662"/>
            <a:chOff x="1711325" y="1681163"/>
            <a:chExt cx="5603875" cy="9826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bject 7">
                  <a:extLst>
                    <a:ext uri="{FF2B5EF4-FFF2-40B4-BE49-F238E27FC236}">
                      <a16:creationId xmlns:a16="http://schemas.microsoft.com/office/drawing/2014/main" id="{7C0578A0-026C-E136-4C6C-C3A9401A7068}"/>
                    </a:ext>
                  </a:extLst>
                </p:cNvPr>
                <p:cNvSpPr txBox="1"/>
                <p:nvPr/>
              </p:nvSpPr>
              <p:spPr bwMode="auto">
                <a:xfrm>
                  <a:off x="1757363" y="1681163"/>
                  <a:ext cx="5484812" cy="506412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Object 7">
                  <a:extLst>
                    <a:ext uri="{FF2B5EF4-FFF2-40B4-BE49-F238E27FC236}">
                      <a16:creationId xmlns:a16="http://schemas.microsoft.com/office/drawing/2014/main" id="{96A4CE23-801B-46A7-BD06-9BCC284E2E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57363" y="1681163"/>
                  <a:ext cx="5484812" cy="50641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8">
                  <a:extLst>
                    <a:ext uri="{FF2B5EF4-FFF2-40B4-BE49-F238E27FC236}">
                      <a16:creationId xmlns:a16="http://schemas.microsoft.com/office/drawing/2014/main" id="{D08AE25C-124B-0180-2F10-9840DFB19A03}"/>
                    </a:ext>
                  </a:extLst>
                </p:cNvPr>
                <p:cNvSpPr txBox="1"/>
                <p:nvPr/>
              </p:nvSpPr>
              <p:spPr bwMode="auto">
                <a:xfrm>
                  <a:off x="1711325" y="2157413"/>
                  <a:ext cx="5603875" cy="506412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Object 8">
                  <a:extLst>
                    <a:ext uri="{FF2B5EF4-FFF2-40B4-BE49-F238E27FC236}">
                      <a16:creationId xmlns:a16="http://schemas.microsoft.com/office/drawing/2014/main" id="{4015F7F2-CD78-4A21-B079-0A11566258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11325" y="2157413"/>
                  <a:ext cx="5603875" cy="50641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15">
            <a:extLst>
              <a:ext uri="{FF2B5EF4-FFF2-40B4-BE49-F238E27FC236}">
                <a16:creationId xmlns:a16="http://schemas.microsoft.com/office/drawing/2014/main" id="{71728B10-A52A-C691-24D0-CDA1EE0BF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631" y="2847646"/>
            <a:ext cx="8686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Move all terms, except for exogenous demand E, onto the left-hand side…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CC12A6D-94B8-E82F-1267-DFC7121F4883}"/>
              </a:ext>
            </a:extLst>
          </p:cNvPr>
          <p:cNvGrpSpPr/>
          <p:nvPr/>
        </p:nvGrpSpPr>
        <p:grpSpPr>
          <a:xfrm>
            <a:off x="2306449" y="3439687"/>
            <a:ext cx="5529263" cy="911225"/>
            <a:chOff x="1749425" y="3305175"/>
            <a:chExt cx="5529263" cy="9112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9">
                  <a:extLst>
                    <a:ext uri="{FF2B5EF4-FFF2-40B4-BE49-F238E27FC236}">
                      <a16:creationId xmlns:a16="http://schemas.microsoft.com/office/drawing/2014/main" id="{1A300618-C2D7-4DD5-8B77-52494BAB4B4E}"/>
                    </a:ext>
                  </a:extLst>
                </p:cNvPr>
                <p:cNvSpPr txBox="1"/>
                <p:nvPr/>
              </p:nvSpPr>
              <p:spPr bwMode="auto">
                <a:xfrm>
                  <a:off x="2022475" y="3305175"/>
                  <a:ext cx="4951413" cy="434975"/>
                </a:xfrm>
                <a:prstGeom prst="rect">
                  <a:avLst/>
                </a:prstGeom>
                <a:noFill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Object 9">
                  <a:extLst>
                    <a:ext uri="{FF2B5EF4-FFF2-40B4-BE49-F238E27FC236}">
                      <a16:creationId xmlns:a16="http://schemas.microsoft.com/office/drawing/2014/main" id="{E2C95C03-EF1C-49A9-B1DF-D9DF17A84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22475" y="3305175"/>
                  <a:ext cx="4951413" cy="4349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10">
                  <a:extLst>
                    <a:ext uri="{FF2B5EF4-FFF2-40B4-BE49-F238E27FC236}">
                      <a16:creationId xmlns:a16="http://schemas.microsoft.com/office/drawing/2014/main" id="{6DC8727C-78C9-274D-039F-5AA81D39340D}"/>
                    </a:ext>
                  </a:extLst>
                </p:cNvPr>
                <p:cNvSpPr txBox="1"/>
                <p:nvPr/>
              </p:nvSpPr>
              <p:spPr bwMode="auto">
                <a:xfrm>
                  <a:off x="1749425" y="3781425"/>
                  <a:ext cx="5529263" cy="43497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Object 10">
                  <a:extLst>
                    <a:ext uri="{FF2B5EF4-FFF2-40B4-BE49-F238E27FC236}">
                      <a16:creationId xmlns:a16="http://schemas.microsoft.com/office/drawing/2014/main" id="{3BD48069-54EE-4435-9CC8-423773A8FD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49425" y="3781425"/>
                  <a:ext cx="5529263" cy="4349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8">
            <a:extLst>
              <a:ext uri="{FF2B5EF4-FFF2-40B4-BE49-F238E27FC236}">
                <a16:creationId xmlns:a16="http://schemas.microsoft.com/office/drawing/2014/main" id="{36A2CE18-AEF3-F0EC-0D19-F2CBE19B3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631" y="4538538"/>
            <a:ext cx="8686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Finally, we group Z terms together…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E355B0-6158-B375-3A6A-127F25F5BA6A}"/>
              </a:ext>
            </a:extLst>
          </p:cNvPr>
          <p:cNvGrpSpPr/>
          <p:nvPr/>
        </p:nvGrpSpPr>
        <p:grpSpPr>
          <a:xfrm>
            <a:off x="2352487" y="5123052"/>
            <a:ext cx="5383212" cy="982662"/>
            <a:chOff x="1757363" y="5098197"/>
            <a:chExt cx="5383212" cy="9826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11">
                  <a:extLst>
                    <a:ext uri="{FF2B5EF4-FFF2-40B4-BE49-F238E27FC236}">
                      <a16:creationId xmlns:a16="http://schemas.microsoft.com/office/drawing/2014/main" id="{30928994-6C0E-EE3A-C403-834A619D884A}"/>
                    </a:ext>
                  </a:extLst>
                </p:cNvPr>
                <p:cNvSpPr txBox="1"/>
                <p:nvPr/>
              </p:nvSpPr>
              <p:spPr bwMode="auto">
                <a:xfrm>
                  <a:off x="1839913" y="5098197"/>
                  <a:ext cx="5192712" cy="506412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Object 11">
                  <a:extLst>
                    <a:ext uri="{FF2B5EF4-FFF2-40B4-BE49-F238E27FC236}">
                      <a16:creationId xmlns:a16="http://schemas.microsoft.com/office/drawing/2014/main" id="{CBEA4B6C-EC9B-410C-934C-FC189C5369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39913" y="5098197"/>
                  <a:ext cx="5192712" cy="50641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bject 12">
                  <a:extLst>
                    <a:ext uri="{FF2B5EF4-FFF2-40B4-BE49-F238E27FC236}">
                      <a16:creationId xmlns:a16="http://schemas.microsoft.com/office/drawing/2014/main" id="{C66EBA39-1CF1-FB01-4AB0-44FC8D3BAC2D}"/>
                    </a:ext>
                  </a:extLst>
                </p:cNvPr>
                <p:cNvSpPr txBox="1"/>
                <p:nvPr/>
              </p:nvSpPr>
              <p:spPr bwMode="auto">
                <a:xfrm>
                  <a:off x="1757363" y="5574447"/>
                  <a:ext cx="5383212" cy="506412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Object 12">
                  <a:extLst>
                    <a:ext uri="{FF2B5EF4-FFF2-40B4-BE49-F238E27FC236}">
                      <a16:creationId xmlns:a16="http://schemas.microsoft.com/office/drawing/2014/main" id="{2FA43A5F-D7F5-494C-B5DE-0654AB7F2F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57363" y="5574447"/>
                  <a:ext cx="5383212" cy="50641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007422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F965-F247-5864-DA68-B987F9E6A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Multiplier Formula (3)</a:t>
            </a: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22B15D2E-40B9-30C4-71FB-6AAC65B84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404" y="1192658"/>
            <a:ext cx="8686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From the previous slide…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657FA6-B932-581C-B4E9-6954A06057B8}"/>
              </a:ext>
            </a:extLst>
          </p:cNvPr>
          <p:cNvGrpSpPr/>
          <p:nvPr/>
        </p:nvGrpSpPr>
        <p:grpSpPr>
          <a:xfrm>
            <a:off x="2306610" y="1693288"/>
            <a:ext cx="5383212" cy="982663"/>
            <a:chOff x="1779588" y="1670050"/>
            <a:chExt cx="5383212" cy="9826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bject 6">
                  <a:extLst>
                    <a:ext uri="{FF2B5EF4-FFF2-40B4-BE49-F238E27FC236}">
                      <a16:creationId xmlns:a16="http://schemas.microsoft.com/office/drawing/2014/main" id="{322D3E7C-FCDC-EC00-9288-E963A41FC7E2}"/>
                    </a:ext>
                  </a:extLst>
                </p:cNvPr>
                <p:cNvSpPr txBox="1"/>
                <p:nvPr/>
              </p:nvSpPr>
              <p:spPr bwMode="auto">
                <a:xfrm>
                  <a:off x="1862138" y="1670050"/>
                  <a:ext cx="5192712" cy="506413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Object 6">
                  <a:extLst>
                    <a:ext uri="{FF2B5EF4-FFF2-40B4-BE49-F238E27FC236}">
                      <a16:creationId xmlns:a16="http://schemas.microsoft.com/office/drawing/2014/main" id="{4E860B14-B45B-4764-A9F3-1DD9252EFD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62138" y="1670050"/>
                  <a:ext cx="5192712" cy="50641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7">
                  <a:extLst>
                    <a:ext uri="{FF2B5EF4-FFF2-40B4-BE49-F238E27FC236}">
                      <a16:creationId xmlns:a16="http://schemas.microsoft.com/office/drawing/2014/main" id="{4D47338E-B1DA-B274-2432-E8AB02ADDC89}"/>
                    </a:ext>
                  </a:extLst>
                </p:cNvPr>
                <p:cNvSpPr txBox="1"/>
                <p:nvPr/>
              </p:nvSpPr>
              <p:spPr bwMode="auto">
                <a:xfrm>
                  <a:off x="1779588" y="2146300"/>
                  <a:ext cx="5383212" cy="506413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US" i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Object 7">
                  <a:extLst>
                    <a:ext uri="{FF2B5EF4-FFF2-40B4-BE49-F238E27FC236}">
                      <a16:creationId xmlns:a16="http://schemas.microsoft.com/office/drawing/2014/main" id="{A48FCC7B-C973-40DC-AD36-525AA1231F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9588" y="2146300"/>
                  <a:ext cx="5383212" cy="50641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13">
            <a:extLst>
              <a:ext uri="{FF2B5EF4-FFF2-40B4-BE49-F238E27FC236}">
                <a16:creationId xmlns:a16="http://schemas.microsoft.com/office/drawing/2014/main" id="{3637C1FF-166C-1732-B7F8-D492DB687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404" y="2907024"/>
            <a:ext cx="8686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We can now use matrix algebra to convert the equations into matrix format…</a:t>
            </a:r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0DA783BE-35B4-9CCC-E307-E5346225F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404" y="4243010"/>
            <a:ext cx="8686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The first term is the identity matrix (I) minus the coefficient matrix (M). We can also rename the other two vectors Z and E…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C3F1846B-57B1-2364-627A-CAA563E0FCEE}"/>
                  </a:ext>
                </a:extLst>
              </p:cNvPr>
              <p:cNvSpPr txBox="1"/>
              <p:nvPr/>
            </p:nvSpPr>
            <p:spPr bwMode="auto">
              <a:xfrm>
                <a:off x="2389160" y="4962451"/>
                <a:ext cx="1546225" cy="4349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d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C3F1846B-57B1-2364-627A-CAA563E0F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9160" y="4962451"/>
                <a:ext cx="1546225" cy="4349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23">
            <a:extLst>
              <a:ext uri="{FF2B5EF4-FFF2-40B4-BE49-F238E27FC236}">
                <a16:creationId xmlns:a16="http://schemas.microsoft.com/office/drawing/2014/main" id="{13B18F92-933C-BDF8-F14C-54CE6B864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404" y="5507933"/>
            <a:ext cx="8686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Finally, by rearranging terms, we arrive at the unconstrained multiplier formula.…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F3B364AA-4CC0-7F58-A621-AE71CDECB520}"/>
                  </a:ext>
                </a:extLst>
              </p:cNvPr>
              <p:cNvSpPr txBox="1"/>
              <p:nvPr/>
            </p:nvSpPr>
            <p:spPr bwMode="auto">
              <a:xfrm>
                <a:off x="2389160" y="5938142"/>
                <a:ext cx="1714500" cy="48260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</m:d>
                        </m:e>
                        <m:sup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F3B364AA-4CC0-7F58-A621-AE71CDECB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9160" y="5938142"/>
                <a:ext cx="1714500" cy="482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6E5298-B383-56A3-FA90-4C099CDD6583}"/>
                  </a:ext>
                </a:extLst>
              </p:cNvPr>
              <p:cNvSpPr txBox="1"/>
              <p:nvPr/>
            </p:nvSpPr>
            <p:spPr>
              <a:xfrm>
                <a:off x="2306610" y="3417305"/>
                <a:ext cx="5684890" cy="5350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6E5298-B383-56A3-FA90-4C099CDD6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610" y="3417305"/>
                <a:ext cx="5684890" cy="5350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7488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61511-1361-D7BF-090D-F7E4FBFD4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 </a:t>
            </a:r>
            <a:r>
              <a:rPr lang="en-US" b="0" dirty="0"/>
              <a:t>|  Multiplier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7948C-348E-2588-2F85-B86130720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284" y="1119727"/>
            <a:ext cx="10071017" cy="2560647"/>
          </a:xfrm>
        </p:spPr>
        <p:txBody>
          <a:bodyPr>
            <a:normAutofit/>
          </a:bodyPr>
          <a:lstStyle/>
          <a:p>
            <a:r>
              <a:rPr lang="en-US" sz="2400" b="1" dirty="0"/>
              <a:t>Estimate multiplier effects from an exogenous increase in demand</a:t>
            </a:r>
          </a:p>
          <a:p>
            <a:pPr lvl="1"/>
            <a:r>
              <a:rPr lang="en-US" sz="2200" dirty="0"/>
              <a:t>Will need multiplier functions </a:t>
            </a:r>
            <a:r>
              <a:rPr lang="en-US" sz="2200" b="1" dirty="0"/>
              <a:t>MINVERSE</a:t>
            </a:r>
            <a:r>
              <a:rPr lang="en-US" sz="2200" dirty="0"/>
              <a:t> and </a:t>
            </a:r>
            <a:r>
              <a:rPr lang="en-US" sz="2200" b="1" dirty="0"/>
              <a:t>MMULT </a:t>
            </a:r>
            <a:r>
              <a:rPr lang="en-US" sz="2200" dirty="0"/>
              <a:t>(CTRL+SHIFT+ENTER)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C4036A-816D-9666-6893-4F59C8296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409" y="2188396"/>
            <a:ext cx="7340592" cy="4577379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A86796-FC18-B0CE-231C-F646B8F65AB5}"/>
              </a:ext>
            </a:extLst>
          </p:cNvPr>
          <p:cNvSpPr txBox="1"/>
          <p:nvPr/>
        </p:nvSpPr>
        <p:spPr>
          <a:xfrm>
            <a:off x="1147282" y="5576111"/>
            <a:ext cx="3945277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Exercises folder</a:t>
            </a:r>
          </a:p>
          <a:p>
            <a:endParaRPr lang="pt-BR" sz="300" dirty="0"/>
          </a:p>
          <a:p>
            <a:r>
              <a:rPr lang="pt-BR" dirty="0"/>
              <a:t>Exercise 4 – Multiplier Analysis.xlsx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3683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30B68-A088-90EF-FC3B-22DF50AA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4x  </a:t>
            </a:r>
            <a:r>
              <a:rPr lang="en-US" b="0" dirty="0"/>
              <a:t>|  Multiplier Scenarios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28F78-25D5-482F-96AC-44D1D498B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174" y="1387011"/>
            <a:ext cx="5568595" cy="2342508"/>
          </a:xfrm>
        </p:spPr>
        <p:txBody>
          <a:bodyPr>
            <a:normAutofit/>
          </a:bodyPr>
          <a:lstStyle/>
          <a:p>
            <a:r>
              <a:rPr lang="en-US" sz="2400" b="1" dirty="0"/>
              <a:t>Same SAM and multiplier model from Exercise 4</a:t>
            </a:r>
          </a:p>
          <a:p>
            <a:endParaRPr lang="en-US" sz="2400" dirty="0"/>
          </a:p>
          <a:p>
            <a:r>
              <a:rPr lang="en-US" sz="2400" b="1" dirty="0"/>
              <a:t>Run four simulations</a:t>
            </a:r>
          </a:p>
          <a:p>
            <a:pPr lvl="1"/>
            <a:r>
              <a:rPr lang="en-US" sz="2000" b="1" dirty="0"/>
              <a:t>1 &amp; 2</a:t>
            </a:r>
            <a:r>
              <a:rPr lang="en-US" sz="2000" dirty="0"/>
              <a:t>: Redistribute rural and urban incomes</a:t>
            </a:r>
          </a:p>
          <a:p>
            <a:pPr lvl="1"/>
            <a:r>
              <a:rPr lang="en-US" sz="2000" b="1" dirty="0"/>
              <a:t>3 &amp; 4</a:t>
            </a:r>
            <a:r>
              <a:rPr lang="en-US" sz="2000" dirty="0"/>
              <a:t>: Changes in agricultural export demand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BFEDA-6FAD-671C-B3F4-6057DD949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910" y="1138141"/>
            <a:ext cx="5000090" cy="5719859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573070-F6BD-D16B-8891-72A9729AC3BA}"/>
              </a:ext>
            </a:extLst>
          </p:cNvPr>
          <p:cNvSpPr txBox="1"/>
          <p:nvPr/>
        </p:nvSpPr>
        <p:spPr>
          <a:xfrm>
            <a:off x="3171291" y="5802142"/>
            <a:ext cx="3945277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Exercises folder</a:t>
            </a:r>
          </a:p>
          <a:p>
            <a:endParaRPr lang="pt-BR" sz="300" dirty="0"/>
          </a:p>
          <a:p>
            <a:r>
              <a:rPr lang="pt-BR" dirty="0"/>
              <a:t>Exercise 4x – Multiplier Scenarios.xlsx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6971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3DC7-DA25-3A40-6AC6-827ED311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4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Simple CGE Model</a:t>
            </a:r>
            <a:endParaRPr lang="en-US" dirty="0"/>
          </a:p>
        </p:txBody>
      </p:sp>
      <p:pic>
        <p:nvPicPr>
          <p:cNvPr id="4" name="Picture 3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A20FF964-AD00-A3CE-B54D-64336F2E4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391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92BC-891F-A9C9-CFD6-4A81C4431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Tracing an Economic Shock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A7C98EC-FB31-5557-A646-C041CB6A2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6" y="1159268"/>
            <a:ext cx="11444351" cy="5378764"/>
          </a:xfrm>
        </p:spPr>
        <p:txBody>
          <a:bodyPr>
            <a:normAutofit/>
          </a:bodyPr>
          <a:lstStyle/>
          <a:p>
            <a:r>
              <a:rPr lang="en-US" sz="2400" dirty="0"/>
              <a:t>Using the SAM, we can trace economywide effects of production and demand changes</a:t>
            </a:r>
          </a:p>
          <a:p>
            <a:endParaRPr lang="en-US" sz="2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631C7F-12A2-5DFD-7EA9-87C33AF2D4E5}"/>
              </a:ext>
            </a:extLst>
          </p:cNvPr>
          <p:cNvCxnSpPr/>
          <p:nvPr/>
        </p:nvCxnSpPr>
        <p:spPr>
          <a:xfrm>
            <a:off x="1812534" y="2637159"/>
            <a:ext cx="838200" cy="158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E3E089-46F9-54A7-1352-FEDD612ADFC2}"/>
              </a:ext>
            </a:extLst>
          </p:cNvPr>
          <p:cNvCxnSpPr/>
          <p:nvPr/>
        </p:nvCxnSpPr>
        <p:spPr>
          <a:xfrm rot="5400000">
            <a:off x="213128" y="4238947"/>
            <a:ext cx="3199606" cy="794"/>
          </a:xfrm>
          <a:prstGeom prst="straightConnector1">
            <a:avLst/>
          </a:prstGeom>
          <a:ln w="22225">
            <a:solidFill>
              <a:schemeClr val="tx1"/>
            </a:solidFill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6B8978C-F843-0493-C076-44BFD9EFC8FB}"/>
              </a:ext>
            </a:extLst>
          </p:cNvPr>
          <p:cNvCxnSpPr/>
          <p:nvPr/>
        </p:nvCxnSpPr>
        <p:spPr>
          <a:xfrm rot="10800000">
            <a:off x="1812534" y="5837559"/>
            <a:ext cx="685800" cy="1588"/>
          </a:xfrm>
          <a:prstGeom prst="straightConnector1">
            <a:avLst/>
          </a:prstGeom>
          <a:ln w="22225">
            <a:solidFill>
              <a:schemeClr val="tx1"/>
            </a:solidFill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AAE3993-FB99-1F11-C0E1-4875BE9F2E8B}"/>
              </a:ext>
            </a:extLst>
          </p:cNvPr>
          <p:cNvSpPr/>
          <p:nvPr/>
        </p:nvSpPr>
        <p:spPr>
          <a:xfrm>
            <a:off x="1431534" y="2410147"/>
            <a:ext cx="4572000" cy="3693319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1" algn="ctr">
              <a:buNone/>
            </a:pPr>
            <a:r>
              <a:rPr lang="en-US" sz="2400" b="1" dirty="0"/>
              <a:t>Sector production </a:t>
            </a:r>
          </a:p>
          <a:p>
            <a:pPr lvl="1" algn="ctr">
              <a:buNone/>
            </a:pPr>
            <a:endParaRPr lang="en-US" sz="2400" b="1" dirty="0"/>
          </a:p>
          <a:p>
            <a:pPr lvl="1" algn="ctr">
              <a:buNone/>
            </a:pPr>
            <a:endParaRPr lang="en-US" sz="2400" b="1" dirty="0"/>
          </a:p>
          <a:p>
            <a:pPr lvl="1" algn="ctr">
              <a:buNone/>
            </a:pPr>
            <a:r>
              <a:rPr lang="en-US" sz="2400" b="1" dirty="0"/>
              <a:t>Factor employment </a:t>
            </a:r>
          </a:p>
          <a:p>
            <a:pPr lvl="1" algn="ctr">
              <a:buNone/>
            </a:pPr>
            <a:endParaRPr lang="en-US" sz="2400" b="1" dirty="0"/>
          </a:p>
          <a:p>
            <a:pPr lvl="1" algn="ctr">
              <a:buNone/>
            </a:pPr>
            <a:endParaRPr lang="en-US" sz="2400" b="1" dirty="0"/>
          </a:p>
          <a:p>
            <a:pPr lvl="1" algn="ctr">
              <a:buNone/>
            </a:pPr>
            <a:r>
              <a:rPr lang="en-US" sz="2400" b="1" dirty="0"/>
              <a:t>Household income </a:t>
            </a:r>
          </a:p>
          <a:p>
            <a:pPr lvl="1" algn="ctr">
              <a:buNone/>
            </a:pPr>
            <a:endParaRPr lang="en-US" sz="2400" b="1" dirty="0"/>
          </a:p>
          <a:p>
            <a:pPr lvl="1" algn="ctr">
              <a:buNone/>
            </a:pPr>
            <a:endParaRPr lang="en-US" b="1" dirty="0"/>
          </a:p>
          <a:p>
            <a:pPr lvl="1" algn="ctr">
              <a:buNone/>
            </a:pPr>
            <a:r>
              <a:rPr lang="en-US" sz="2400" b="1" dirty="0"/>
              <a:t>Commodity demand</a:t>
            </a:r>
            <a:endParaRPr lang="en-US" sz="3600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849482-0DF2-5446-EA52-EFAE9880A569}"/>
              </a:ext>
            </a:extLst>
          </p:cNvPr>
          <p:cNvCxnSpPr/>
          <p:nvPr/>
        </p:nvCxnSpPr>
        <p:spPr>
          <a:xfrm rot="5400000">
            <a:off x="3680228" y="3133253"/>
            <a:ext cx="381000" cy="158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6413AD-4BBB-9A15-4863-96D23AF88E53}"/>
              </a:ext>
            </a:extLst>
          </p:cNvPr>
          <p:cNvCxnSpPr/>
          <p:nvPr/>
        </p:nvCxnSpPr>
        <p:spPr>
          <a:xfrm rot="5400000">
            <a:off x="3680228" y="4276253"/>
            <a:ext cx="381000" cy="158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5AA293E-7A4F-6BD3-F496-CDCC137558DC}"/>
              </a:ext>
            </a:extLst>
          </p:cNvPr>
          <p:cNvCxnSpPr/>
          <p:nvPr/>
        </p:nvCxnSpPr>
        <p:spPr>
          <a:xfrm rot="5400000">
            <a:off x="3680228" y="5343053"/>
            <a:ext cx="381000" cy="158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7070049-C347-B760-4B3F-6C3319BCA67C}"/>
              </a:ext>
            </a:extLst>
          </p:cNvPr>
          <p:cNvSpPr txBox="1"/>
          <p:nvPr/>
        </p:nvSpPr>
        <p:spPr>
          <a:xfrm>
            <a:off x="5622534" y="1806162"/>
            <a:ext cx="4191000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Example</a:t>
            </a:r>
          </a:p>
          <a:p>
            <a:r>
              <a:rPr lang="en-US" sz="2400" dirty="0">
                <a:solidFill>
                  <a:srgbClr val="C00000"/>
                </a:solidFill>
              </a:rPr>
              <a:t>Investment demand doubles</a:t>
            </a:r>
          </a:p>
        </p:txBody>
      </p:sp>
    </p:spTree>
    <p:extLst>
      <p:ext uri="{BB962C8B-B14F-4D97-AF65-F5344CB8AC3E}">
        <p14:creationId xmlns:p14="http://schemas.microsoft.com/office/powerpoint/2010/main" val="165014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11871-CBC9-AF8B-72D8-9778BD6E5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Closed-Economy, No Government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69227B-FEE9-451C-EA69-6B3DDEA5B673}"/>
              </a:ext>
            </a:extLst>
          </p:cNvPr>
          <p:cNvGrpSpPr/>
          <p:nvPr/>
        </p:nvGrpSpPr>
        <p:grpSpPr>
          <a:xfrm>
            <a:off x="3190358" y="1867566"/>
            <a:ext cx="1558637" cy="646331"/>
            <a:chOff x="332509" y="3092335"/>
            <a:chExt cx="1989513" cy="64633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F06FA0F-B738-FA01-3D8C-0D22AE0AC577}"/>
                </a:ext>
              </a:extLst>
            </p:cNvPr>
            <p:cNvSpPr/>
            <p:nvPr/>
          </p:nvSpPr>
          <p:spPr>
            <a:xfrm>
              <a:off x="332509" y="3092336"/>
              <a:ext cx="1989513" cy="64633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F500644-30D0-777B-7782-316DE4923B48}"/>
                </a:ext>
              </a:extLst>
            </p:cNvPr>
            <p:cNvSpPr txBox="1"/>
            <p:nvPr/>
          </p:nvSpPr>
          <p:spPr>
            <a:xfrm>
              <a:off x="332509" y="3092335"/>
              <a:ext cx="1983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Factor Markets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120C970-4951-BB12-18B1-0F1FE8AC1A14}"/>
              </a:ext>
            </a:extLst>
          </p:cNvPr>
          <p:cNvGrpSpPr/>
          <p:nvPr/>
        </p:nvGrpSpPr>
        <p:grpSpPr>
          <a:xfrm>
            <a:off x="4476436" y="3340654"/>
            <a:ext cx="1558637" cy="369333"/>
            <a:chOff x="332509" y="3092335"/>
            <a:chExt cx="1989513" cy="36933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4DDC44A-A8A5-95B3-CB2A-072D99FFABE2}"/>
                </a:ext>
              </a:extLst>
            </p:cNvPr>
            <p:cNvSpPr/>
            <p:nvPr/>
          </p:nvSpPr>
          <p:spPr>
            <a:xfrm>
              <a:off x="332509" y="3092336"/>
              <a:ext cx="1989513" cy="369332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A5931C0-0418-AAF9-3E34-E0CB42584BEC}"/>
                </a:ext>
              </a:extLst>
            </p:cNvPr>
            <p:cNvSpPr txBox="1"/>
            <p:nvPr/>
          </p:nvSpPr>
          <p:spPr>
            <a:xfrm>
              <a:off x="332509" y="3092335"/>
              <a:ext cx="19895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Households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F5D9AD1-8035-63A5-7890-5429D4DD1469}"/>
              </a:ext>
            </a:extLst>
          </p:cNvPr>
          <p:cNvGrpSpPr/>
          <p:nvPr/>
        </p:nvGrpSpPr>
        <p:grpSpPr>
          <a:xfrm>
            <a:off x="1898609" y="3336614"/>
            <a:ext cx="1562884" cy="369333"/>
            <a:chOff x="332509" y="3092335"/>
            <a:chExt cx="1994934" cy="369333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0B121DE-4232-C37B-A240-30CA0E4914FE}"/>
                </a:ext>
              </a:extLst>
            </p:cNvPr>
            <p:cNvSpPr/>
            <p:nvPr/>
          </p:nvSpPr>
          <p:spPr>
            <a:xfrm>
              <a:off x="332509" y="3092336"/>
              <a:ext cx="1989513" cy="369332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816CB58-6F65-58EF-44E6-A707FA1BF263}"/>
                </a:ext>
              </a:extLst>
            </p:cNvPr>
            <p:cNvSpPr txBox="1"/>
            <p:nvPr/>
          </p:nvSpPr>
          <p:spPr>
            <a:xfrm>
              <a:off x="332509" y="3092335"/>
              <a:ext cx="19949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Firms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63C57F-9EF5-DB22-6C79-B02253BC6750}"/>
              </a:ext>
            </a:extLst>
          </p:cNvPr>
          <p:cNvGrpSpPr/>
          <p:nvPr/>
        </p:nvGrpSpPr>
        <p:grpSpPr>
          <a:xfrm>
            <a:off x="8406955" y="3349782"/>
            <a:ext cx="1558637" cy="651480"/>
            <a:chOff x="332509" y="3087186"/>
            <a:chExt cx="1989513" cy="65148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B8E9152-9841-BEA8-CA5E-2C3D00E77861}"/>
                </a:ext>
              </a:extLst>
            </p:cNvPr>
            <p:cNvSpPr/>
            <p:nvPr/>
          </p:nvSpPr>
          <p:spPr>
            <a:xfrm>
              <a:off x="332509" y="3087186"/>
              <a:ext cx="1989513" cy="651480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7E55187-511E-7426-54DD-C7A1C4C20140}"/>
                </a:ext>
              </a:extLst>
            </p:cNvPr>
            <p:cNvSpPr txBox="1"/>
            <p:nvPr/>
          </p:nvSpPr>
          <p:spPr>
            <a:xfrm>
              <a:off x="332510" y="3092335"/>
              <a:ext cx="19773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Savings &amp; Investment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010B53F-3F66-886F-9C9D-2182798E1267}"/>
              </a:ext>
            </a:extLst>
          </p:cNvPr>
          <p:cNvGrpSpPr/>
          <p:nvPr/>
        </p:nvGrpSpPr>
        <p:grpSpPr>
          <a:xfrm>
            <a:off x="3194852" y="4528660"/>
            <a:ext cx="1558637" cy="646331"/>
            <a:chOff x="332509" y="3092335"/>
            <a:chExt cx="1989513" cy="646331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67145D0-EBC4-60E7-FA1B-C77F95C744D4}"/>
                </a:ext>
              </a:extLst>
            </p:cNvPr>
            <p:cNvSpPr/>
            <p:nvPr/>
          </p:nvSpPr>
          <p:spPr>
            <a:xfrm>
              <a:off x="332509" y="3092336"/>
              <a:ext cx="1989513" cy="64633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867424F-569B-4632-D65C-E21B08B6D3AA}"/>
                </a:ext>
              </a:extLst>
            </p:cNvPr>
            <p:cNvSpPr txBox="1"/>
            <p:nvPr/>
          </p:nvSpPr>
          <p:spPr>
            <a:xfrm>
              <a:off x="332509" y="3092335"/>
              <a:ext cx="19808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Product Markets</a:t>
              </a: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4D6E-8A0F-C1E8-2863-2ECDE6D4F523}"/>
              </a:ext>
            </a:extLst>
          </p:cNvPr>
          <p:cNvCxnSpPr>
            <a:cxnSpLocks/>
            <a:stCxn id="70" idx="1"/>
          </p:cNvCxnSpPr>
          <p:nvPr/>
        </p:nvCxnSpPr>
        <p:spPr>
          <a:xfrm flipH="1" flipV="1">
            <a:off x="2677927" y="2190730"/>
            <a:ext cx="512431" cy="2"/>
          </a:xfrm>
          <a:prstGeom prst="line">
            <a:avLst/>
          </a:prstGeom>
          <a:ln w="12700">
            <a:solidFill>
              <a:srgbClr val="54544B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D99C6-51FA-25C0-CD3F-C8A92FC73D0D}"/>
              </a:ext>
            </a:extLst>
          </p:cNvPr>
          <p:cNvCxnSpPr>
            <a:cxnSpLocks/>
            <a:stCxn id="66" idx="0"/>
          </p:cNvCxnSpPr>
          <p:nvPr/>
        </p:nvCxnSpPr>
        <p:spPr>
          <a:xfrm flipH="1" flipV="1">
            <a:off x="2677927" y="2190731"/>
            <a:ext cx="2124" cy="1145883"/>
          </a:xfrm>
          <a:prstGeom prst="line">
            <a:avLst/>
          </a:prstGeom>
          <a:ln w="12700">
            <a:solidFill>
              <a:srgbClr val="5454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6AB90E-F058-AF2E-D442-8F355C7200D6}"/>
              </a:ext>
            </a:extLst>
          </p:cNvPr>
          <p:cNvCxnSpPr>
            <a:cxnSpLocks/>
            <a:endCxn id="70" idx="3"/>
          </p:cNvCxnSpPr>
          <p:nvPr/>
        </p:nvCxnSpPr>
        <p:spPr>
          <a:xfrm flipH="1">
            <a:off x="4743965" y="2190729"/>
            <a:ext cx="511789" cy="3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2D90E2-72F5-CD0B-6348-6B0233867C34}"/>
              </a:ext>
            </a:extLst>
          </p:cNvPr>
          <p:cNvCxnSpPr>
            <a:cxnSpLocks/>
            <a:stCxn id="68" idx="0"/>
          </p:cNvCxnSpPr>
          <p:nvPr/>
        </p:nvCxnSpPr>
        <p:spPr>
          <a:xfrm flipH="1" flipV="1">
            <a:off x="5255754" y="2190730"/>
            <a:ext cx="1" cy="1149924"/>
          </a:xfrm>
          <a:prstGeom prst="line">
            <a:avLst/>
          </a:prstGeom>
          <a:ln w="12700">
            <a:solidFill>
              <a:srgbClr val="54544B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2AE10A-FA29-C153-D290-47F804E264F9}"/>
              </a:ext>
            </a:extLst>
          </p:cNvPr>
          <p:cNvCxnSpPr>
            <a:cxnSpLocks/>
            <a:endCxn id="68" idx="2"/>
          </p:cNvCxnSpPr>
          <p:nvPr/>
        </p:nvCxnSpPr>
        <p:spPr>
          <a:xfrm flipH="1" flipV="1">
            <a:off x="5255755" y="3709986"/>
            <a:ext cx="1" cy="1141846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86B8B4-4693-461D-5C4A-F2606443510D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2677929" y="3705946"/>
            <a:ext cx="2122" cy="1145884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E44E9E-657C-AE8F-F0E9-9C2468EFF81D}"/>
              </a:ext>
            </a:extLst>
          </p:cNvPr>
          <p:cNvCxnSpPr>
            <a:cxnSpLocks/>
            <a:endCxn id="60" idx="3"/>
          </p:cNvCxnSpPr>
          <p:nvPr/>
        </p:nvCxnSpPr>
        <p:spPr>
          <a:xfrm flipH="1">
            <a:off x="4746708" y="4851821"/>
            <a:ext cx="4439566" cy="5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9923790-1481-6D35-520D-D32ADE0F0D7E}"/>
              </a:ext>
            </a:extLst>
          </p:cNvPr>
          <p:cNvCxnSpPr>
            <a:cxnSpLocks/>
            <a:stCxn id="60" idx="1"/>
          </p:cNvCxnSpPr>
          <p:nvPr/>
        </p:nvCxnSpPr>
        <p:spPr>
          <a:xfrm flipH="1" flipV="1">
            <a:off x="2680176" y="4851825"/>
            <a:ext cx="514676" cy="1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8F0B427-BB5E-F41D-89A2-B7036412C161}"/>
              </a:ext>
            </a:extLst>
          </p:cNvPr>
          <p:cNvCxnSpPr>
            <a:cxnSpLocks/>
            <a:stCxn id="60" idx="0"/>
          </p:cNvCxnSpPr>
          <p:nvPr/>
        </p:nvCxnSpPr>
        <p:spPr>
          <a:xfrm flipV="1">
            <a:off x="3970780" y="3521277"/>
            <a:ext cx="3389" cy="1007383"/>
          </a:xfrm>
          <a:prstGeom prst="line">
            <a:avLst/>
          </a:prstGeom>
          <a:ln w="12700">
            <a:solidFill>
              <a:srgbClr val="54544B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7B2FF96-C03C-651D-AB44-0E452F501FF8}"/>
              </a:ext>
            </a:extLst>
          </p:cNvPr>
          <p:cNvCxnSpPr/>
          <p:nvPr/>
        </p:nvCxnSpPr>
        <p:spPr>
          <a:xfrm flipH="1">
            <a:off x="3457247" y="3521276"/>
            <a:ext cx="511841" cy="1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AD7C2AF-6D24-0087-08DF-ED882FDF8752}"/>
              </a:ext>
            </a:extLst>
          </p:cNvPr>
          <p:cNvSpPr txBox="1"/>
          <p:nvPr/>
        </p:nvSpPr>
        <p:spPr>
          <a:xfrm>
            <a:off x="4670952" y="4856833"/>
            <a:ext cx="116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54544B"/>
                </a:solidFill>
              </a:rPr>
              <a:t>Private consumption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3DB78C-2A46-6267-4985-683260AC6005}"/>
              </a:ext>
            </a:extLst>
          </p:cNvPr>
          <p:cNvSpPr txBox="1"/>
          <p:nvPr/>
        </p:nvSpPr>
        <p:spPr>
          <a:xfrm>
            <a:off x="4748994" y="1667318"/>
            <a:ext cx="742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4544B"/>
                </a:solidFill>
              </a:rPr>
              <a:t>Wages &amp; rents</a:t>
            </a:r>
            <a:endParaRPr lang="en-US" dirty="0">
              <a:solidFill>
                <a:srgbClr val="54544B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22DF28-A9D2-79E2-8D3E-1F1AFFDE89EC}"/>
              </a:ext>
            </a:extLst>
          </p:cNvPr>
          <p:cNvSpPr txBox="1"/>
          <p:nvPr/>
        </p:nvSpPr>
        <p:spPr>
          <a:xfrm>
            <a:off x="2719371" y="3840969"/>
            <a:ext cx="126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54544B"/>
                </a:solidFill>
              </a:rPr>
              <a:t>Intermediate demand</a:t>
            </a:r>
            <a:endParaRPr lang="en-US" dirty="0">
              <a:solidFill>
                <a:srgbClr val="54544B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362849-7BC7-98A6-EA12-BBF1D1E28C32}"/>
              </a:ext>
            </a:extLst>
          </p:cNvPr>
          <p:cNvSpPr txBox="1"/>
          <p:nvPr/>
        </p:nvSpPr>
        <p:spPr>
          <a:xfrm>
            <a:off x="2549269" y="4851821"/>
            <a:ext cx="641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54544B"/>
                </a:solidFill>
              </a:rPr>
              <a:t>Sales</a:t>
            </a:r>
            <a:endParaRPr lang="en-US" dirty="0">
              <a:solidFill>
                <a:srgbClr val="54544B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236319-0B06-B624-8F6C-703FDA9FBBA2}"/>
              </a:ext>
            </a:extLst>
          </p:cNvPr>
          <p:cNvCxnSpPr>
            <a:cxnSpLocks/>
            <a:endCxn id="64" idx="2"/>
          </p:cNvCxnSpPr>
          <p:nvPr/>
        </p:nvCxnSpPr>
        <p:spPr>
          <a:xfrm flipH="1" flipV="1">
            <a:off x="9181516" y="4001262"/>
            <a:ext cx="4757" cy="845552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2B54D95-8E39-8F7B-3900-4469E3F2382A}"/>
              </a:ext>
            </a:extLst>
          </p:cNvPr>
          <p:cNvSpPr txBox="1"/>
          <p:nvPr/>
        </p:nvSpPr>
        <p:spPr>
          <a:xfrm>
            <a:off x="2549269" y="1658944"/>
            <a:ext cx="641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54544B"/>
                </a:solidFill>
              </a:rPr>
              <a:t>Factor costs</a:t>
            </a:r>
            <a:endParaRPr lang="en-US" dirty="0">
              <a:solidFill>
                <a:srgbClr val="54544B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B27E1A-80E3-586C-B9E6-4057E322294F}"/>
              </a:ext>
            </a:extLst>
          </p:cNvPr>
          <p:cNvSpPr txBox="1"/>
          <p:nvPr/>
        </p:nvSpPr>
        <p:spPr>
          <a:xfrm>
            <a:off x="8257949" y="4858422"/>
            <a:ext cx="1001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54544B"/>
                </a:solidFill>
              </a:rPr>
              <a:t>Investment demand</a:t>
            </a:r>
            <a:endParaRPr lang="en-US" dirty="0">
              <a:solidFill>
                <a:srgbClr val="54544B"/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80D05D6-613D-B1E6-B213-F5A488D5633E}"/>
              </a:ext>
            </a:extLst>
          </p:cNvPr>
          <p:cNvCxnSpPr/>
          <p:nvPr/>
        </p:nvCxnSpPr>
        <p:spPr>
          <a:xfrm flipH="1">
            <a:off x="5454902" y="2193835"/>
            <a:ext cx="3731370" cy="4986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9073B56-582A-00BB-1A4A-5AE3DDFCF4F2}"/>
              </a:ext>
            </a:extLst>
          </p:cNvPr>
          <p:cNvCxnSpPr/>
          <p:nvPr/>
        </p:nvCxnSpPr>
        <p:spPr>
          <a:xfrm flipH="1" flipV="1">
            <a:off x="5452127" y="2192073"/>
            <a:ext cx="1" cy="1149924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B5E799D-8D6A-49FC-AE84-7F6F42874A50}"/>
              </a:ext>
            </a:extLst>
          </p:cNvPr>
          <p:cNvCxnSpPr>
            <a:cxnSpLocks/>
            <a:stCxn id="64" idx="0"/>
          </p:cNvCxnSpPr>
          <p:nvPr/>
        </p:nvCxnSpPr>
        <p:spPr>
          <a:xfrm flipV="1">
            <a:off x="9181516" y="2186184"/>
            <a:ext cx="4756" cy="1168747"/>
          </a:xfrm>
          <a:prstGeom prst="line">
            <a:avLst/>
          </a:prstGeom>
          <a:ln w="12700">
            <a:solidFill>
              <a:srgbClr val="54544B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E29CDE3-5F3D-F39D-ECF2-C4A2F6347CC9}"/>
              </a:ext>
            </a:extLst>
          </p:cNvPr>
          <p:cNvSpPr txBox="1"/>
          <p:nvPr/>
        </p:nvSpPr>
        <p:spPr>
          <a:xfrm>
            <a:off x="7117979" y="1883587"/>
            <a:ext cx="2068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54544B"/>
                </a:solidFill>
              </a:rPr>
              <a:t>Domestic private savings</a:t>
            </a:r>
            <a:endParaRPr lang="en-US" dirty="0">
              <a:solidFill>
                <a:srgbClr val="5454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4059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B0E5E-CFB1-6A94-1311-694229014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SAM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77E301-2C51-32D9-5B5A-2A3309C3E3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27662" y="1609976"/>
          <a:ext cx="883602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335">
                  <a:extLst>
                    <a:ext uri="{9D8B030D-6E8A-4147-A177-3AD203B41FA5}">
                      <a16:colId xmlns:a16="http://schemas.microsoft.com/office/drawing/2014/main" val="3538683720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1359202420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2610662853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2520502661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2455490985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370655231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687903196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1598987686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4237710055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782118625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2580100646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1443816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ACT</a:t>
                      </a:r>
                    </a:p>
                  </a:txBody>
                  <a:tcPr anchorCtr="1">
                    <a:lnL w="12700" cmpd="sng">
                      <a:noFill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4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COM</a:t>
                      </a:r>
                    </a:p>
                  </a:txBody>
                  <a:tcPr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4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FAC</a:t>
                      </a:r>
                    </a:p>
                  </a:txBody>
                  <a:tcPr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4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HHD</a:t>
                      </a:r>
                    </a:p>
                  </a:txBody>
                  <a:tcPr anchorCtr="1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4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INV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TOT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62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AG</a:t>
                      </a:r>
                    </a:p>
                  </a:txBody>
                  <a:tcPr anchorCtr="1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NAG</a:t>
                      </a:r>
                    </a:p>
                  </a:txBody>
                  <a:tcPr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AG</a:t>
                      </a:r>
                    </a:p>
                  </a:txBody>
                  <a:tcPr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NAG</a:t>
                      </a:r>
                    </a:p>
                  </a:txBody>
                  <a:tcPr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LAB</a:t>
                      </a:r>
                    </a:p>
                  </a:txBody>
                  <a:tcPr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CAP</a:t>
                      </a:r>
                    </a:p>
                  </a:txBody>
                  <a:tcPr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RUR</a:t>
                      </a:r>
                    </a:p>
                  </a:txBody>
                  <a:tcPr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URB</a:t>
                      </a:r>
                    </a:p>
                  </a:txBody>
                  <a:tcPr anchorCtr="1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0341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ACT</a:t>
                      </a:r>
                    </a:p>
                  </a:txBody>
                  <a:tcPr anchor="ctr" anchorCtr="1">
                    <a:lnT w="12700" cmpd="sng">
                      <a:noFill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AG</a:t>
                      </a:r>
                    </a:p>
                  </a:txBody>
                  <a:tcPr anchor="ctr" anchorCtr="1">
                    <a:lnT w="12700" cmpd="sng">
                      <a:noFill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2445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NAG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16626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COM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AG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40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486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NAG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91975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FAC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LAB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40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7534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CAP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71769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HHD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RUR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40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7127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URB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53587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SAV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anchor="ctr" anchorCtr="1"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4881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TOT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anchor="ctr" anchorCtr="1">
                    <a:lnR w="12700" cmpd="sng">
                      <a:noFill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355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77AEB5-D1F5-97B2-0C3C-C317FB3DF4A7}"/>
              </a:ext>
            </a:extLst>
          </p:cNvPr>
          <p:cNvGraphicFramePr>
            <a:graphicFrameLocks noGrp="1"/>
          </p:cNvGraphicFramePr>
          <p:nvPr/>
        </p:nvGraphicFramePr>
        <p:xfrm>
          <a:off x="5269226" y="3277490"/>
          <a:ext cx="1485208" cy="1120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2181948482"/>
                    </a:ext>
                  </a:extLst>
                </a:gridCol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0.66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0.40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0.33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34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0.60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34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1.00</a:t>
                      </a:r>
                    </a:p>
                  </a:txBody>
                  <a:tcPr anchor="ctr" anchorCtr="1">
                    <a:solidFill>
                      <a:srgbClr val="5C8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1.00</a:t>
                      </a:r>
                    </a:p>
                  </a:txBody>
                  <a:tcPr anchor="ctr" anchorCtr="1">
                    <a:solidFill>
                      <a:srgbClr val="5C8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59289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7AC85E-AA4D-6985-5819-C57DC05C8987}"/>
              </a:ext>
            </a:extLst>
          </p:cNvPr>
          <p:cNvGraphicFramePr>
            <a:graphicFrameLocks noGrp="1"/>
          </p:cNvGraphicFramePr>
          <p:nvPr/>
        </p:nvGraphicFramePr>
        <p:xfrm>
          <a:off x="6912495" y="2435402"/>
          <a:ext cx="1485208" cy="1493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2181948482"/>
                    </a:ext>
                  </a:extLst>
                </a:gridCol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0.66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0.40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0.33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34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0.40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34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rgbClr val="C34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0.20</a:t>
                      </a:r>
                    </a:p>
                  </a:txBody>
                  <a:tcPr anchor="ctr" anchorCtr="1">
                    <a:solidFill>
                      <a:srgbClr val="C34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316757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1.00</a:t>
                      </a:r>
                    </a:p>
                  </a:txBody>
                  <a:tcPr anchor="ctr" anchorCtr="1">
                    <a:solidFill>
                      <a:srgbClr val="5C8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1.00</a:t>
                      </a:r>
                    </a:p>
                  </a:txBody>
                  <a:tcPr anchor="ctr" anchorCtr="1">
                    <a:solidFill>
                      <a:srgbClr val="5C8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59289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9E85E30-CDD7-5505-7352-EC4FAC2F52AA}"/>
              </a:ext>
            </a:extLst>
          </p:cNvPr>
          <p:cNvGraphicFramePr>
            <a:graphicFrameLocks noGrp="1"/>
          </p:cNvGraphicFramePr>
          <p:nvPr/>
        </p:nvGraphicFramePr>
        <p:xfrm>
          <a:off x="8216271" y="3956069"/>
          <a:ext cx="1451196" cy="1120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598">
                  <a:extLst>
                    <a:ext uri="{9D8B030D-6E8A-4147-A177-3AD203B41FA5}">
                      <a16:colId xmlns:a16="http://schemas.microsoft.com/office/drawing/2014/main" val="2181948482"/>
                    </a:ext>
                  </a:extLst>
                </a:gridCol>
                <a:gridCol w="725598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0.66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0.40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0.33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0.60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1.00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C8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1.00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C8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04839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1473A5E-BFF0-4A17-77D7-70F5148DB99F}"/>
              </a:ext>
            </a:extLst>
          </p:cNvPr>
          <p:cNvCxnSpPr>
            <a:stCxn id="5" idx="1"/>
          </p:cNvCxnSpPr>
          <p:nvPr/>
        </p:nvCxnSpPr>
        <p:spPr>
          <a:xfrm flipH="1">
            <a:off x="4657495" y="3837675"/>
            <a:ext cx="611731" cy="91555"/>
          </a:xfrm>
          <a:prstGeom prst="straightConnector1">
            <a:avLst/>
          </a:prstGeom>
          <a:ln w="12700">
            <a:solidFill>
              <a:srgbClr val="C34E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08F877-6298-FAAF-E4BE-729912FA8004}"/>
              </a:ext>
            </a:extLst>
          </p:cNvPr>
          <p:cNvCxnSpPr/>
          <p:nvPr/>
        </p:nvCxnSpPr>
        <p:spPr>
          <a:xfrm>
            <a:off x="8397703" y="2806261"/>
            <a:ext cx="621321" cy="314711"/>
          </a:xfrm>
          <a:prstGeom prst="straightConnector1">
            <a:avLst/>
          </a:prstGeom>
          <a:ln w="12700">
            <a:solidFill>
              <a:srgbClr val="C34E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A38BBD-2740-4534-C5A7-B4173E223416}"/>
              </a:ext>
            </a:extLst>
          </p:cNvPr>
          <p:cNvCxnSpPr>
            <a:stCxn id="7" idx="1"/>
          </p:cNvCxnSpPr>
          <p:nvPr/>
        </p:nvCxnSpPr>
        <p:spPr>
          <a:xfrm flipH="1">
            <a:off x="7605259" y="4516254"/>
            <a:ext cx="611012" cy="138685"/>
          </a:xfrm>
          <a:prstGeom prst="straightConnector1">
            <a:avLst/>
          </a:prstGeom>
          <a:ln w="12700">
            <a:solidFill>
              <a:srgbClr val="C34E2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8C7E5A-0952-27DA-24D3-07F320F3A4F3}"/>
              </a:ext>
            </a:extLst>
          </p:cNvPr>
          <p:cNvCxnSpPr>
            <a:cxnSpLocks/>
          </p:cNvCxnSpPr>
          <p:nvPr/>
        </p:nvCxnSpPr>
        <p:spPr>
          <a:xfrm>
            <a:off x="3915177" y="1444077"/>
            <a:ext cx="2208944" cy="0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E29DC62-5D7B-9210-2DCC-6C6C615892CA}"/>
              </a:ext>
            </a:extLst>
          </p:cNvPr>
          <p:cNvSpPr txBox="1"/>
          <p:nvPr/>
        </p:nvSpPr>
        <p:spPr>
          <a:xfrm>
            <a:off x="3915177" y="1029187"/>
            <a:ext cx="220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Incomes across rows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C63CF6-CD91-5577-1A45-462D8419CF25}"/>
              </a:ext>
            </a:extLst>
          </p:cNvPr>
          <p:cNvCxnSpPr>
            <a:cxnSpLocks/>
          </p:cNvCxnSpPr>
          <p:nvPr/>
        </p:nvCxnSpPr>
        <p:spPr>
          <a:xfrm>
            <a:off x="2259327" y="2382790"/>
            <a:ext cx="0" cy="1507733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7B50979-BA29-22D2-4E9B-BAC2DEF09479}"/>
              </a:ext>
            </a:extLst>
          </p:cNvPr>
          <p:cNvSpPr txBox="1"/>
          <p:nvPr/>
        </p:nvSpPr>
        <p:spPr>
          <a:xfrm>
            <a:off x="377445" y="2762120"/>
            <a:ext cx="185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Expenditures down columns</a:t>
            </a:r>
          </a:p>
        </p:txBody>
      </p:sp>
    </p:spTree>
    <p:extLst>
      <p:ext uri="{BB962C8B-B14F-4D97-AF65-F5344CB8AC3E}">
        <p14:creationId xmlns:p14="http://schemas.microsoft.com/office/powerpoint/2010/main" val="2138313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0CEB0-0743-1A3D-04D6-E7204595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Tracing an Economic Shock</a:t>
            </a:r>
          </a:p>
        </p:txBody>
      </p:sp>
      <p:sp>
        <p:nvSpPr>
          <p:cNvPr id="4" name="Content Placeholder 11">
            <a:extLst>
              <a:ext uri="{FF2B5EF4-FFF2-40B4-BE49-F238E27FC236}">
                <a16:creationId xmlns:a16="http://schemas.microsoft.com/office/drawing/2014/main" id="{5AEDB9BE-AD00-53EE-5166-FDC06AB20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6" y="1159268"/>
            <a:ext cx="11444351" cy="5378764"/>
          </a:xfrm>
        </p:spPr>
        <p:txBody>
          <a:bodyPr>
            <a:normAutofit/>
          </a:bodyPr>
          <a:lstStyle/>
          <a:p>
            <a:r>
              <a:rPr lang="en-US" sz="2400" dirty="0"/>
              <a:t>Using the SAM, we can trace economywide effects of production and demand changes</a:t>
            </a:r>
          </a:p>
          <a:p>
            <a:endParaRPr lang="en-US" sz="2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57CC7F9-B85E-DF3A-BF7B-874BAC8EF47C}"/>
              </a:ext>
            </a:extLst>
          </p:cNvPr>
          <p:cNvCxnSpPr/>
          <p:nvPr/>
        </p:nvCxnSpPr>
        <p:spPr>
          <a:xfrm>
            <a:off x="1812534" y="2637159"/>
            <a:ext cx="838200" cy="158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EC4843-8FF7-195B-BBCC-2A39814493D5}"/>
              </a:ext>
            </a:extLst>
          </p:cNvPr>
          <p:cNvCxnSpPr/>
          <p:nvPr/>
        </p:nvCxnSpPr>
        <p:spPr>
          <a:xfrm rot="5400000">
            <a:off x="213128" y="4238947"/>
            <a:ext cx="3199606" cy="794"/>
          </a:xfrm>
          <a:prstGeom prst="straightConnector1">
            <a:avLst/>
          </a:prstGeom>
          <a:ln w="22225">
            <a:solidFill>
              <a:schemeClr val="tx1"/>
            </a:solidFill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A28A27-D152-343D-B7AB-5996CD0A8716}"/>
              </a:ext>
            </a:extLst>
          </p:cNvPr>
          <p:cNvCxnSpPr/>
          <p:nvPr/>
        </p:nvCxnSpPr>
        <p:spPr>
          <a:xfrm rot="10800000">
            <a:off x="1812534" y="5837559"/>
            <a:ext cx="685800" cy="1588"/>
          </a:xfrm>
          <a:prstGeom prst="straightConnector1">
            <a:avLst/>
          </a:prstGeom>
          <a:ln w="22225">
            <a:solidFill>
              <a:schemeClr val="tx1"/>
            </a:solidFill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B965615-ABAB-E1AF-A71A-8755A8B98F91}"/>
              </a:ext>
            </a:extLst>
          </p:cNvPr>
          <p:cNvSpPr/>
          <p:nvPr/>
        </p:nvSpPr>
        <p:spPr>
          <a:xfrm>
            <a:off x="1431534" y="2410147"/>
            <a:ext cx="4572000" cy="3693319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lvl="1" algn="ctr">
              <a:buNone/>
            </a:pPr>
            <a:r>
              <a:rPr lang="en-US" sz="2400" b="1" dirty="0"/>
              <a:t>Sector production </a:t>
            </a:r>
          </a:p>
          <a:p>
            <a:pPr lvl="1" algn="ctr">
              <a:buNone/>
            </a:pPr>
            <a:endParaRPr lang="en-US" sz="2400" b="1" dirty="0"/>
          </a:p>
          <a:p>
            <a:pPr lvl="1" algn="ctr">
              <a:buNone/>
            </a:pPr>
            <a:endParaRPr lang="en-US" sz="2400" b="1" dirty="0"/>
          </a:p>
          <a:p>
            <a:pPr lvl="1" algn="ctr">
              <a:buNone/>
            </a:pPr>
            <a:r>
              <a:rPr lang="en-US" sz="2400" b="1" dirty="0"/>
              <a:t>Factor employment </a:t>
            </a:r>
          </a:p>
          <a:p>
            <a:pPr lvl="1" algn="ctr">
              <a:buNone/>
            </a:pPr>
            <a:endParaRPr lang="en-US" sz="2400" b="1" dirty="0"/>
          </a:p>
          <a:p>
            <a:pPr lvl="1" algn="ctr">
              <a:buNone/>
            </a:pPr>
            <a:endParaRPr lang="en-US" sz="2400" b="1" dirty="0"/>
          </a:p>
          <a:p>
            <a:pPr lvl="1" algn="ctr">
              <a:buNone/>
            </a:pPr>
            <a:r>
              <a:rPr lang="en-US" sz="2400" b="1" dirty="0"/>
              <a:t>Household income </a:t>
            </a:r>
          </a:p>
          <a:p>
            <a:pPr lvl="1" algn="ctr">
              <a:buNone/>
            </a:pPr>
            <a:endParaRPr lang="en-US" sz="2400" b="1" dirty="0"/>
          </a:p>
          <a:p>
            <a:pPr lvl="1" algn="ctr">
              <a:buNone/>
            </a:pPr>
            <a:endParaRPr lang="en-US" b="1" dirty="0"/>
          </a:p>
          <a:p>
            <a:pPr lvl="1" algn="ctr">
              <a:buNone/>
            </a:pPr>
            <a:r>
              <a:rPr lang="en-US" sz="2400" b="1" dirty="0"/>
              <a:t>Commodity demand</a:t>
            </a:r>
            <a:endParaRPr lang="en-US" sz="36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4D8F13-447E-71AB-EF95-CFAD5E94911E}"/>
              </a:ext>
            </a:extLst>
          </p:cNvPr>
          <p:cNvCxnSpPr/>
          <p:nvPr/>
        </p:nvCxnSpPr>
        <p:spPr>
          <a:xfrm rot="5400000">
            <a:off x="3680228" y="3133253"/>
            <a:ext cx="381000" cy="158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BB297C-C774-F6A5-A715-C39126FC63AB}"/>
              </a:ext>
            </a:extLst>
          </p:cNvPr>
          <p:cNvCxnSpPr/>
          <p:nvPr/>
        </p:nvCxnSpPr>
        <p:spPr>
          <a:xfrm rot="5400000">
            <a:off x="3680228" y="4276253"/>
            <a:ext cx="381000" cy="158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71B40A-E46D-BA20-301F-5263454D95F6}"/>
              </a:ext>
            </a:extLst>
          </p:cNvPr>
          <p:cNvCxnSpPr/>
          <p:nvPr/>
        </p:nvCxnSpPr>
        <p:spPr>
          <a:xfrm rot="5400000">
            <a:off x="3680228" y="5343053"/>
            <a:ext cx="381000" cy="158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F9FA301-205E-2ED8-D51C-40E65A7ACD95}"/>
              </a:ext>
            </a:extLst>
          </p:cNvPr>
          <p:cNvSpPr txBox="1"/>
          <p:nvPr/>
        </p:nvSpPr>
        <p:spPr>
          <a:xfrm>
            <a:off x="5622534" y="1806162"/>
            <a:ext cx="4191000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Example</a:t>
            </a:r>
          </a:p>
          <a:p>
            <a:r>
              <a:rPr lang="en-US" sz="2400" dirty="0">
                <a:solidFill>
                  <a:srgbClr val="C00000"/>
                </a:solidFill>
              </a:rPr>
              <a:t>Investment demand doubles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5141EF-F30C-EDE3-81C7-B84E40319131}"/>
              </a:ext>
            </a:extLst>
          </p:cNvPr>
          <p:cNvSpPr txBox="1"/>
          <p:nvPr/>
        </p:nvSpPr>
        <p:spPr>
          <a:xfrm>
            <a:off x="5622534" y="3592446"/>
            <a:ext cx="41148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Non-agric. is capital-intensive - so capital incomes rise more than labor incomes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B5BBB8-0A74-88E6-B22E-707F20B237EB}"/>
              </a:ext>
            </a:extLst>
          </p:cNvPr>
          <p:cNvSpPr txBox="1"/>
          <p:nvPr/>
        </p:nvSpPr>
        <p:spPr>
          <a:xfrm>
            <a:off x="5622534" y="4583046"/>
            <a:ext cx="41148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Most capital income goes to urban households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6462C4-B42B-0A60-B086-208ADB7FF658}"/>
              </a:ext>
            </a:extLst>
          </p:cNvPr>
          <p:cNvSpPr txBox="1"/>
          <p:nvPr/>
        </p:nvSpPr>
        <p:spPr>
          <a:xfrm>
            <a:off x="5622534" y="5457977"/>
            <a:ext cx="4114800" cy="9233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Urban households spend income on both agric. and non-agric. goods – so both sectors’ production must increase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BDC277-FE40-2701-9DF0-CBAB52DA1556}"/>
              </a:ext>
            </a:extLst>
          </p:cNvPr>
          <p:cNvSpPr/>
          <p:nvPr/>
        </p:nvSpPr>
        <p:spPr>
          <a:xfrm>
            <a:off x="5622534" y="2955045"/>
            <a:ext cx="3334695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Non-agricultural production rises</a:t>
            </a:r>
          </a:p>
        </p:txBody>
      </p:sp>
    </p:spTree>
    <p:extLst>
      <p:ext uri="{BB962C8B-B14F-4D97-AF65-F5344CB8AC3E}">
        <p14:creationId xmlns:p14="http://schemas.microsoft.com/office/powerpoint/2010/main" val="317865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D6511-C751-96AE-1692-968CD4528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Tracing Direct and Indirect Effects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C7C275-7AFB-6CC6-1C60-2CEF37D25F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27662" y="1609976"/>
          <a:ext cx="883602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335">
                  <a:extLst>
                    <a:ext uri="{9D8B030D-6E8A-4147-A177-3AD203B41FA5}">
                      <a16:colId xmlns:a16="http://schemas.microsoft.com/office/drawing/2014/main" val="3538683720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1359202420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2610662853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2520502661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2455490985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370655231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687903196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1598987686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4237710055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782118625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2580100646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1443816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ACT</a:t>
                      </a:r>
                    </a:p>
                  </a:txBody>
                  <a:tcPr anchorCtr="1">
                    <a:lnL w="12700" cmpd="sng">
                      <a:noFill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4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COM</a:t>
                      </a:r>
                    </a:p>
                  </a:txBody>
                  <a:tcPr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4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FAC</a:t>
                      </a:r>
                    </a:p>
                  </a:txBody>
                  <a:tcPr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4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HHD</a:t>
                      </a:r>
                    </a:p>
                  </a:txBody>
                  <a:tcPr anchorCtr="1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4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INV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TOT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62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AG</a:t>
                      </a:r>
                    </a:p>
                  </a:txBody>
                  <a:tcPr anchorCtr="1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NAG</a:t>
                      </a:r>
                    </a:p>
                  </a:txBody>
                  <a:tcPr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AG</a:t>
                      </a:r>
                    </a:p>
                  </a:txBody>
                  <a:tcPr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NAG</a:t>
                      </a:r>
                    </a:p>
                  </a:txBody>
                  <a:tcPr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LAB</a:t>
                      </a:r>
                    </a:p>
                  </a:txBody>
                  <a:tcPr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CAP</a:t>
                      </a:r>
                    </a:p>
                  </a:txBody>
                  <a:tcPr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RUR</a:t>
                      </a:r>
                    </a:p>
                  </a:txBody>
                  <a:tcPr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URB</a:t>
                      </a:r>
                    </a:p>
                  </a:txBody>
                  <a:tcPr anchorCtr="1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0341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ACT</a:t>
                      </a:r>
                    </a:p>
                  </a:txBody>
                  <a:tcPr anchor="ctr" anchorCtr="1">
                    <a:lnT w="12700" cmpd="sng">
                      <a:noFill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AG</a:t>
                      </a:r>
                    </a:p>
                  </a:txBody>
                  <a:tcPr anchor="ctr" anchorCtr="1">
                    <a:lnT w="12700" cmpd="sng">
                      <a:noFill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2445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NAG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16626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COM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AG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40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486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NAG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91975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FAC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LAB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40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7534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CAP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71769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HHD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RUR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40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7127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URB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53587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SAV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anchor="ctr" anchorCtr="1"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4881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TOT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anchor="ctr" anchorCtr="1">
                    <a:lnR w="12700" cmpd="sng">
                      <a:noFill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3550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C94FCA-91B6-ADEB-2B0A-24C21F0ECE68}"/>
              </a:ext>
            </a:extLst>
          </p:cNvPr>
          <p:cNvCxnSpPr>
            <a:cxnSpLocks/>
          </p:cNvCxnSpPr>
          <p:nvPr/>
        </p:nvCxnSpPr>
        <p:spPr>
          <a:xfrm>
            <a:off x="3915177" y="1444077"/>
            <a:ext cx="2208944" cy="0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4FA5A15-00C5-3725-3506-59CB9FA1DF58}"/>
              </a:ext>
            </a:extLst>
          </p:cNvPr>
          <p:cNvSpPr txBox="1"/>
          <p:nvPr/>
        </p:nvSpPr>
        <p:spPr>
          <a:xfrm>
            <a:off x="3915177" y="1029187"/>
            <a:ext cx="220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Incomes across rows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B86E6E-C44A-E9C1-E056-AFAD9EE4304E}"/>
              </a:ext>
            </a:extLst>
          </p:cNvPr>
          <p:cNvCxnSpPr>
            <a:cxnSpLocks/>
          </p:cNvCxnSpPr>
          <p:nvPr/>
        </p:nvCxnSpPr>
        <p:spPr>
          <a:xfrm>
            <a:off x="2259327" y="2382790"/>
            <a:ext cx="0" cy="1507733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29AD61C-699D-CB6F-2BC0-07F5517C1D36}"/>
              </a:ext>
            </a:extLst>
          </p:cNvPr>
          <p:cNvSpPr txBox="1"/>
          <p:nvPr/>
        </p:nvSpPr>
        <p:spPr>
          <a:xfrm>
            <a:off x="377445" y="2762120"/>
            <a:ext cx="185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Expenditures down columns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0DAB82A-D6BC-D093-BE44-AFE0943882BD}"/>
              </a:ext>
            </a:extLst>
          </p:cNvPr>
          <p:cNvGraphicFramePr>
            <a:graphicFrameLocks noGrp="1"/>
          </p:cNvGraphicFramePr>
          <p:nvPr/>
        </p:nvGraphicFramePr>
        <p:xfrm>
          <a:off x="9784066" y="3091750"/>
          <a:ext cx="742604" cy="746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54544B"/>
                        </a:solidFill>
                      </a:endParaRP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20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7434986-59A7-0C92-5E0A-7A1BFFAC65DA}"/>
              </a:ext>
            </a:extLst>
          </p:cNvPr>
          <p:cNvGraphicFramePr>
            <a:graphicFrameLocks noGrp="1"/>
          </p:cNvGraphicFramePr>
          <p:nvPr/>
        </p:nvGraphicFramePr>
        <p:xfrm>
          <a:off x="10513418" y="3091750"/>
          <a:ext cx="742604" cy="746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60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0480BD5-4230-4F34-CE7D-F6A0B7F5AD8E}"/>
              </a:ext>
            </a:extLst>
          </p:cNvPr>
          <p:cNvGraphicFramePr>
            <a:graphicFrameLocks noGrp="1"/>
          </p:cNvGraphicFramePr>
          <p:nvPr/>
        </p:nvGraphicFramePr>
        <p:xfrm>
          <a:off x="5356311" y="5696873"/>
          <a:ext cx="1485208" cy="373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2181948482"/>
                    </a:ext>
                  </a:extLst>
                </a:gridCol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60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426132F-F47E-CD9B-1029-9F0DD86057EC}"/>
              </a:ext>
            </a:extLst>
          </p:cNvPr>
          <p:cNvGraphicFramePr>
            <a:graphicFrameLocks noGrp="1"/>
          </p:cNvGraphicFramePr>
          <p:nvPr/>
        </p:nvGraphicFramePr>
        <p:xfrm>
          <a:off x="5356998" y="2351462"/>
          <a:ext cx="1485208" cy="746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2181948482"/>
                    </a:ext>
                  </a:extLst>
                </a:gridCol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C34E2D"/>
                        </a:solidFill>
                      </a:endParaRP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C34E2D"/>
                        </a:solidFill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60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BBD3FA5-CF98-255B-B7EB-BE189006A8BB}"/>
              </a:ext>
            </a:extLst>
          </p:cNvPr>
          <p:cNvGraphicFramePr>
            <a:graphicFrameLocks noGrp="1"/>
          </p:cNvGraphicFramePr>
          <p:nvPr/>
        </p:nvGraphicFramePr>
        <p:xfrm>
          <a:off x="10513418" y="2351462"/>
          <a:ext cx="742604" cy="746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60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5E4676B-F875-DA80-D6F0-6F41196F9AC0}"/>
              </a:ext>
            </a:extLst>
          </p:cNvPr>
          <p:cNvGraphicFramePr>
            <a:graphicFrameLocks noGrp="1"/>
          </p:cNvGraphicFramePr>
          <p:nvPr/>
        </p:nvGraphicFramePr>
        <p:xfrm>
          <a:off x="3884355" y="3836214"/>
          <a:ext cx="1485208" cy="746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2181948482"/>
                    </a:ext>
                  </a:extLst>
                </a:gridCol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24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36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F7DD926-C6F1-FF86-2FF9-CA922B383D6B}"/>
              </a:ext>
            </a:extLst>
          </p:cNvPr>
          <p:cNvGraphicFramePr>
            <a:graphicFrameLocks noGrp="1"/>
          </p:cNvGraphicFramePr>
          <p:nvPr/>
        </p:nvGraphicFramePr>
        <p:xfrm>
          <a:off x="3884355" y="5696873"/>
          <a:ext cx="1485208" cy="373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2181948482"/>
                    </a:ext>
                  </a:extLst>
                </a:gridCol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60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0C70C97-46EE-9F2B-EDB2-FD0FF29350D0}"/>
              </a:ext>
            </a:extLst>
          </p:cNvPr>
          <p:cNvGraphicFramePr>
            <a:graphicFrameLocks noGrp="1"/>
          </p:cNvGraphicFramePr>
          <p:nvPr/>
        </p:nvGraphicFramePr>
        <p:xfrm>
          <a:off x="10520044" y="3836214"/>
          <a:ext cx="742604" cy="746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64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56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0CDAC58-4F94-D87F-3CD3-08FFFF06B877}"/>
              </a:ext>
            </a:extLst>
          </p:cNvPr>
          <p:cNvGraphicFramePr>
            <a:graphicFrameLocks noGrp="1"/>
          </p:cNvGraphicFramePr>
          <p:nvPr/>
        </p:nvGraphicFramePr>
        <p:xfrm>
          <a:off x="6834893" y="4583128"/>
          <a:ext cx="1485208" cy="746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2181948482"/>
                    </a:ext>
                  </a:extLst>
                </a:gridCol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42.4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22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21.6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34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D6CBAC6-B3B6-DDC7-9565-EC23F9253C40}"/>
              </a:ext>
            </a:extLst>
          </p:cNvPr>
          <p:cNvGraphicFramePr>
            <a:graphicFrameLocks noGrp="1"/>
          </p:cNvGraphicFramePr>
          <p:nvPr/>
        </p:nvGraphicFramePr>
        <p:xfrm>
          <a:off x="6832651" y="5693560"/>
          <a:ext cx="1485208" cy="373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2181948482"/>
                    </a:ext>
                  </a:extLst>
                </a:gridCol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64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56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CE4FDFE-A9FE-2B64-FBEF-D895C3EC42ED}"/>
              </a:ext>
            </a:extLst>
          </p:cNvPr>
          <p:cNvGraphicFramePr>
            <a:graphicFrameLocks noGrp="1"/>
          </p:cNvGraphicFramePr>
          <p:nvPr/>
        </p:nvGraphicFramePr>
        <p:xfrm>
          <a:off x="10520829" y="4576502"/>
          <a:ext cx="742604" cy="746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64.4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55.6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BDC08CA-0B31-574F-B013-48C327F320A5}"/>
              </a:ext>
            </a:extLst>
          </p:cNvPr>
          <p:cNvGraphicFramePr>
            <a:graphicFrameLocks noGrp="1"/>
          </p:cNvGraphicFramePr>
          <p:nvPr/>
        </p:nvGraphicFramePr>
        <p:xfrm>
          <a:off x="8304607" y="3091750"/>
          <a:ext cx="1485208" cy="746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2181948482"/>
                    </a:ext>
                  </a:extLst>
                </a:gridCol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42.6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22.25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21.8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22.25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C83E109-0770-5653-0D55-B4C009117827}"/>
              </a:ext>
            </a:extLst>
          </p:cNvPr>
          <p:cNvGraphicFramePr>
            <a:graphicFrameLocks noGrp="1"/>
          </p:cNvGraphicFramePr>
          <p:nvPr/>
        </p:nvGraphicFramePr>
        <p:xfrm>
          <a:off x="8300173" y="5320130"/>
          <a:ext cx="1485208" cy="746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2181948482"/>
                    </a:ext>
                  </a:extLst>
                </a:gridCol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11.1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64.4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55.6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29B8EAA0-FFD8-177A-5E47-D01FA68E7490}"/>
              </a:ext>
            </a:extLst>
          </p:cNvPr>
          <p:cNvGraphicFramePr>
            <a:graphicFrameLocks noGrp="1"/>
          </p:cNvGraphicFramePr>
          <p:nvPr/>
        </p:nvGraphicFramePr>
        <p:xfrm>
          <a:off x="5258447" y="3281138"/>
          <a:ext cx="1485208" cy="1120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2181948482"/>
                    </a:ext>
                  </a:extLst>
                </a:gridCol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0.66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0.40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0.33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34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0.60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34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1.00</a:t>
                      </a:r>
                    </a:p>
                  </a:txBody>
                  <a:tcPr anchor="ctr" anchorCtr="1">
                    <a:solidFill>
                      <a:srgbClr val="5C8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1.00</a:t>
                      </a:r>
                    </a:p>
                  </a:txBody>
                  <a:tcPr anchor="ctr" anchorCtr="1">
                    <a:solidFill>
                      <a:srgbClr val="5C8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592892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65C0EECE-C3CD-2810-EA90-3C25E1630AF4}"/>
              </a:ext>
            </a:extLst>
          </p:cNvPr>
          <p:cNvGraphicFramePr>
            <a:graphicFrameLocks noGrp="1"/>
          </p:cNvGraphicFramePr>
          <p:nvPr/>
        </p:nvGraphicFramePr>
        <p:xfrm>
          <a:off x="8178987" y="4088434"/>
          <a:ext cx="1451196" cy="1120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598">
                  <a:extLst>
                    <a:ext uri="{9D8B030D-6E8A-4147-A177-3AD203B41FA5}">
                      <a16:colId xmlns:a16="http://schemas.microsoft.com/office/drawing/2014/main" val="2181948482"/>
                    </a:ext>
                  </a:extLst>
                </a:gridCol>
                <a:gridCol w="725598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0.66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0.40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0.33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0.60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1.00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C8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1.00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C8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548483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7E26721-F988-4FFD-E561-31DEF1AC0EA6}"/>
              </a:ext>
            </a:extLst>
          </p:cNvPr>
          <p:cNvGraphicFramePr>
            <a:graphicFrameLocks noGrp="1"/>
          </p:cNvGraphicFramePr>
          <p:nvPr/>
        </p:nvGraphicFramePr>
        <p:xfrm>
          <a:off x="6917950" y="2432175"/>
          <a:ext cx="1485208" cy="1493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2181948482"/>
                    </a:ext>
                  </a:extLst>
                </a:gridCol>
                <a:gridCol w="742604">
                  <a:extLst>
                    <a:ext uri="{9D8B030D-6E8A-4147-A177-3AD203B41FA5}">
                      <a16:colId xmlns:a16="http://schemas.microsoft.com/office/drawing/2014/main" val="3402148355"/>
                    </a:ext>
                  </a:extLst>
                </a:gridCol>
              </a:tblGrid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0.66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0.40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6601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0.33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34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0.40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34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85178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rgbClr val="C34E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0.20</a:t>
                      </a:r>
                    </a:p>
                  </a:txBody>
                  <a:tcPr anchor="ctr" anchorCtr="1">
                    <a:solidFill>
                      <a:srgbClr val="C34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17809"/>
                  </a:ext>
                </a:extLst>
              </a:tr>
              <a:tr h="37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1.00</a:t>
                      </a:r>
                    </a:p>
                  </a:txBody>
                  <a:tcPr anchor="ctr" anchorCtr="1">
                    <a:solidFill>
                      <a:srgbClr val="5C8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1.00</a:t>
                      </a:r>
                    </a:p>
                  </a:txBody>
                  <a:tcPr anchor="ctr" anchorCtr="1">
                    <a:solidFill>
                      <a:srgbClr val="5C8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592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34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FEF0-849D-8178-B193-1F8A3648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a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24E39-6DC2-05C1-2319-87E82360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302" y="1275373"/>
            <a:ext cx="9094971" cy="3978480"/>
          </a:xfrm>
        </p:spPr>
        <p:txBody>
          <a:bodyPr>
            <a:normAutofit/>
          </a:bodyPr>
          <a:lstStyle/>
          <a:p>
            <a:r>
              <a:rPr lang="en-US" sz="2400" b="1" dirty="0"/>
              <a:t>Even for a simple aggregate SAM, tracing the economywide impact of a shock quickly becomes complex</a:t>
            </a:r>
          </a:p>
          <a:p>
            <a:pPr lvl="1"/>
            <a:r>
              <a:rPr lang="en-US" sz="2200" dirty="0"/>
              <a:t>In our example, we stopped before second-round effects got started</a:t>
            </a:r>
          </a:p>
          <a:p>
            <a:pPr lvl="1"/>
            <a:r>
              <a:rPr lang="en-US" sz="2200" dirty="0"/>
              <a:t>We assumed no resource competition (i.e., production is unconstrained)</a:t>
            </a:r>
          </a:p>
          <a:p>
            <a:endParaRPr lang="en-US" sz="2400" dirty="0"/>
          </a:p>
          <a:p>
            <a:r>
              <a:rPr lang="en-US" sz="2400" b="1" dirty="0"/>
              <a:t>CGE models follow the logic of our example, but use equations to capture all structural linkages in the SAM</a:t>
            </a:r>
          </a:p>
          <a:p>
            <a:pPr lvl="1"/>
            <a:r>
              <a:rPr lang="en-US" sz="2200" dirty="0"/>
              <a:t>It is more precise and can use much larger and more complex SAMs</a:t>
            </a:r>
          </a:p>
          <a:p>
            <a:pPr lvl="1"/>
            <a:r>
              <a:rPr lang="en-US" sz="2200" dirty="0"/>
              <a:t>It captures resource constraints and market competition (i.e., role of prices in allocating labor/capital and agricultural/non-agricultural goods)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18058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8C182-E381-2872-4139-1DCC34AE5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CGE  </a:t>
            </a:r>
            <a:r>
              <a:rPr lang="en-US" b="0" dirty="0"/>
              <a:t>|  Activity Production Functions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44FBB7-0C5C-60A3-6B72-9CEB6110801C}"/>
              </a:ext>
            </a:extLst>
          </p:cNvPr>
          <p:cNvGraphicFramePr>
            <a:graphicFrameLocks/>
          </p:cNvGraphicFramePr>
          <p:nvPr/>
        </p:nvGraphicFramePr>
        <p:xfrm>
          <a:off x="691329" y="1459085"/>
          <a:ext cx="29453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335">
                  <a:extLst>
                    <a:ext uri="{9D8B030D-6E8A-4147-A177-3AD203B41FA5}">
                      <a16:colId xmlns:a16="http://schemas.microsoft.com/office/drawing/2014/main" val="3538683720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1359202420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2610662853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25205026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ACT</a:t>
                      </a:r>
                    </a:p>
                  </a:txBody>
                  <a:tcPr anchorCtr="1">
                    <a:lnL w="12700" cmpd="sng">
                      <a:noFill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62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AG</a:t>
                      </a:r>
                    </a:p>
                  </a:txBody>
                  <a:tcPr anchorCtr="1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NAG</a:t>
                      </a:r>
                    </a:p>
                  </a:txBody>
                  <a:tcPr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0341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FAC</a:t>
                      </a:r>
                    </a:p>
                  </a:txBody>
                  <a:tcPr anchor="ctr" anchorCtr="1">
                    <a:lnT w="12700" cmpd="sng">
                      <a:noFill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LAB</a:t>
                      </a:r>
                    </a:p>
                  </a:txBody>
                  <a:tcPr anchor="ctr" anchorCtr="1">
                    <a:lnT w="12700" cmpd="sng">
                      <a:noFill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40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7534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CAP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71769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TOT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355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72DE471-9EB2-2C5C-262A-2A1B08B4AD32}"/>
              </a:ext>
            </a:extLst>
          </p:cNvPr>
          <p:cNvSpPr/>
          <p:nvPr/>
        </p:nvSpPr>
        <p:spPr>
          <a:xfrm>
            <a:off x="4595583" y="2576019"/>
            <a:ext cx="5879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Resources are scarce and there is fixed supply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8572C-6975-B0E6-8281-753649D82C61}"/>
              </a:ext>
            </a:extLst>
          </p:cNvPr>
          <p:cNvSpPr/>
          <p:nvPr/>
        </p:nvSpPr>
        <p:spPr>
          <a:xfrm>
            <a:off x="4595584" y="1289195"/>
            <a:ext cx="58790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Production technologies are from SAM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4CE648-C2A6-92B5-03CF-BC52DC186EB0}"/>
                  </a:ext>
                </a:extLst>
              </p:cNvPr>
              <p:cNvSpPr txBox="1"/>
              <p:nvPr/>
            </p:nvSpPr>
            <p:spPr>
              <a:xfrm>
                <a:off x="4883113" y="3091074"/>
                <a:ext cx="2352247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𝐿𝐴𝐵𝑆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𝐿𝐴𝐵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4CE648-C2A6-92B5-03CF-BC52DC186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113" y="3091074"/>
                <a:ext cx="2352247" cy="896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F664D7-49D3-F336-CA90-DB1BC820C0A5}"/>
                  </a:ext>
                </a:extLst>
              </p:cNvPr>
              <p:cNvSpPr txBox="1"/>
              <p:nvPr/>
            </p:nvSpPr>
            <p:spPr>
              <a:xfrm>
                <a:off x="7706107" y="3099901"/>
                <a:ext cx="2338461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𝐶𝐴𝑃𝑆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𝐶𝐴𝑃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F664D7-49D3-F336-CA90-DB1BC820C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107" y="3099901"/>
                <a:ext cx="2338461" cy="896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9CDC21F-4915-3666-5845-5990ECB708BC}"/>
              </a:ext>
            </a:extLst>
          </p:cNvPr>
          <p:cNvSpPr/>
          <p:nvPr/>
        </p:nvSpPr>
        <p:spPr>
          <a:xfrm>
            <a:off x="691329" y="4311161"/>
            <a:ext cx="112677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So producers maximize profits while competing for scarce resources </a:t>
            </a:r>
          </a:p>
          <a:p>
            <a:r>
              <a:rPr lang="en-US" sz="2400" dirty="0"/>
              <a:t>(they pay wages and rents equal to the value of labor and capital’s marginal product)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882A6F-CC99-477C-62FF-BCB2D5F0BD03}"/>
                  </a:ext>
                </a:extLst>
              </p:cNvPr>
              <p:cNvSpPr txBox="1"/>
              <p:nvPr/>
            </p:nvSpPr>
            <p:spPr>
              <a:xfrm>
                <a:off x="2003024" y="5466038"/>
                <a:ext cx="2126095" cy="761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𝐿𝐴𝐵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882A6F-CC99-477C-62FF-BCB2D5F0B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024" y="5466038"/>
                <a:ext cx="2126095" cy="7618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33AA98-6D89-6BB4-3A3F-39074E76FDB9}"/>
                  </a:ext>
                </a:extLst>
              </p:cNvPr>
              <p:cNvSpPr txBox="1"/>
              <p:nvPr/>
            </p:nvSpPr>
            <p:spPr>
              <a:xfrm>
                <a:off x="5000277" y="5421977"/>
                <a:ext cx="2833468" cy="777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𝐶𝐴𝑃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33AA98-6D89-6BB4-3A3F-39074E76F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277" y="5421977"/>
                <a:ext cx="2833468" cy="77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852369-A30E-3EC2-5148-4148699AD9E6}"/>
                  </a:ext>
                </a:extLst>
              </p:cNvPr>
              <p:cNvSpPr txBox="1"/>
              <p:nvPr/>
            </p:nvSpPr>
            <p:spPr>
              <a:xfrm>
                <a:off x="4883113" y="1796706"/>
                <a:ext cx="3482620" cy="4476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𝐿𝐴𝐵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sup>
                      </m:sSubSup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𝐶𝐴𝑃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852369-A30E-3EC2-5148-4148699AD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113" y="1796706"/>
                <a:ext cx="3482620" cy="447687"/>
              </a:xfrm>
              <a:prstGeom prst="rect">
                <a:avLst/>
              </a:prstGeom>
              <a:blipFill>
                <a:blip r:embed="rId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4981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1A12F-971C-1666-44F8-06E29733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CGE  </a:t>
            </a:r>
            <a:r>
              <a:rPr lang="en-US" b="0" dirty="0"/>
              <a:t>|  Household Incomes and Spending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300ADB-9A5B-3233-3212-60121947FB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48704" y="1369623"/>
          <a:ext cx="368167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335">
                  <a:extLst>
                    <a:ext uri="{9D8B030D-6E8A-4147-A177-3AD203B41FA5}">
                      <a16:colId xmlns:a16="http://schemas.microsoft.com/office/drawing/2014/main" val="3538683720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1359202420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687903196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1598987686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1443816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FAC</a:t>
                      </a:r>
                    </a:p>
                  </a:txBody>
                  <a:tcPr anchorCtr="1">
                    <a:lnL w="12700" cmpd="sng">
                      <a:noFill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4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TOT</a:t>
                      </a:r>
                    </a:p>
                  </a:txBody>
                  <a:tcPr anchor="ctr" anchorCtr="1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62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LAB</a:t>
                      </a:r>
                    </a:p>
                  </a:txBody>
                  <a:tcPr anchorCtr="1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CAP</a:t>
                      </a:r>
                    </a:p>
                  </a:txBody>
                  <a:tcPr anchorCtr="1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0341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HHD</a:t>
                      </a:r>
                    </a:p>
                  </a:txBody>
                  <a:tcPr anchor="ctr" anchorCtr="1">
                    <a:lnT w="12700" cmpd="sng">
                      <a:noFill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RUR</a:t>
                      </a:r>
                    </a:p>
                  </a:txBody>
                  <a:tcPr anchor="ctr" anchorCtr="1">
                    <a:lnT w="12700" cmpd="sng">
                      <a:noFill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40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7127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URB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53587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TOT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355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6E248B9-5763-EF07-8825-58A94018118C}"/>
              </a:ext>
            </a:extLst>
          </p:cNvPr>
          <p:cNvSpPr/>
          <p:nvPr/>
        </p:nvSpPr>
        <p:spPr>
          <a:xfrm>
            <a:off x="5020363" y="1214114"/>
            <a:ext cx="51407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Factor incomes are paid to households based on fixed factor income shares (θ)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E60123-3495-E8A7-D649-07204ED3C2AC}"/>
                  </a:ext>
                </a:extLst>
              </p:cNvPr>
              <p:cNvSpPr txBox="1"/>
              <p:nvPr/>
            </p:nvSpPr>
            <p:spPr>
              <a:xfrm>
                <a:off x="5480958" y="3087103"/>
                <a:ext cx="5962338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𝐿𝐴𝐵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𝐿𝐴𝐵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𝐶𝐴𝑃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𝐶𝐴𝑃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E60123-3495-E8A7-D649-07204ED3C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958" y="3087103"/>
                <a:ext cx="5962338" cy="896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F2E84E-D05F-16AE-8294-ED53AEAA7117}"/>
                  </a:ext>
                </a:extLst>
              </p:cNvPr>
              <p:cNvSpPr txBox="1"/>
              <p:nvPr/>
            </p:nvSpPr>
            <p:spPr>
              <a:xfrm>
                <a:off x="5480958" y="2103067"/>
                <a:ext cx="1730089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𝐿𝐴𝐵</m:t>
                              </m:r>
                            </m:sup>
                          </m:sSubSup>
                        </m:e>
                      </m:nary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F2E84E-D05F-16AE-8294-ED53AEAA7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958" y="2103067"/>
                <a:ext cx="1730089" cy="896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CA4DDF-19E5-9C9C-91B2-5B649C0FBFB6}"/>
                  </a:ext>
                </a:extLst>
              </p:cNvPr>
              <p:cNvSpPr txBox="1"/>
              <p:nvPr/>
            </p:nvSpPr>
            <p:spPr>
              <a:xfrm>
                <a:off x="7633378" y="2103067"/>
                <a:ext cx="1735732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𝐶𝐴𝑃</m:t>
                              </m:r>
                            </m:sup>
                          </m:sSubSup>
                        </m:e>
                      </m:nary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CA4DDF-19E5-9C9C-91B2-5B649C0FB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3378" y="2103067"/>
                <a:ext cx="1735732" cy="896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C6A55B95-6C34-39BC-823C-D0D726DD5284}"/>
              </a:ext>
            </a:extLst>
          </p:cNvPr>
          <p:cNvGraphicFramePr>
            <a:graphicFrameLocks/>
          </p:cNvGraphicFramePr>
          <p:nvPr/>
        </p:nvGraphicFramePr>
        <p:xfrm>
          <a:off x="7667931" y="4375857"/>
          <a:ext cx="294534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335">
                  <a:extLst>
                    <a:ext uri="{9D8B030D-6E8A-4147-A177-3AD203B41FA5}">
                      <a16:colId xmlns:a16="http://schemas.microsoft.com/office/drawing/2014/main" val="3538683720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1359202420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4237710055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7821186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HHD</a:t>
                      </a:r>
                    </a:p>
                  </a:txBody>
                  <a:tcPr anchorCtr="1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5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62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RUR</a:t>
                      </a:r>
                    </a:p>
                  </a:txBody>
                  <a:tcPr anchorCtr="1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URB</a:t>
                      </a:r>
                    </a:p>
                  </a:txBody>
                  <a:tcPr anchorCtr="1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0341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COM</a:t>
                      </a:r>
                    </a:p>
                  </a:txBody>
                  <a:tcPr anchor="ctr" anchorCtr="1">
                    <a:lnT w="12700" cmpd="sng">
                      <a:noFill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AG</a:t>
                      </a:r>
                    </a:p>
                  </a:txBody>
                  <a:tcPr anchor="ctr" anchorCtr="1">
                    <a:lnT w="12700" cmpd="sng">
                      <a:noFill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40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486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NAG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91975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SAV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anchor="ctr" anchorCtr="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94881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TOT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n-lt"/>
                        </a:rPr>
                        <a:t>60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3550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B173847B-D748-4E5A-4D5C-77BB738EABAB}"/>
              </a:ext>
            </a:extLst>
          </p:cNvPr>
          <p:cNvSpPr/>
          <p:nvPr/>
        </p:nvSpPr>
        <p:spPr>
          <a:xfrm>
            <a:off x="1794486" y="4135679"/>
            <a:ext cx="70124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Households save (S&lt;1) and spend remainder on goods (fixed budget shares δ) to maximize utility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E14263-2F35-6151-4A1F-C26EF85C3E2C}"/>
                  </a:ext>
                </a:extLst>
              </p:cNvPr>
              <p:cNvSpPr txBox="1"/>
              <p:nvPr/>
            </p:nvSpPr>
            <p:spPr>
              <a:xfrm>
                <a:off x="2232733" y="5119045"/>
                <a:ext cx="37712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𝑎h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𝑎h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E14263-2F35-6151-4A1F-C26EF85C3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733" y="5119045"/>
                <a:ext cx="3771225" cy="369332"/>
              </a:xfrm>
              <a:prstGeom prst="rect">
                <a:avLst/>
              </a:prstGeom>
              <a:blipFill>
                <a:blip r:embed="rId5"/>
                <a:stretch>
                  <a:fillRect l="-1292" r="-16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0CEA40-3778-E16B-010D-DBADC668386C}"/>
                  </a:ext>
                </a:extLst>
              </p:cNvPr>
              <p:cNvSpPr txBox="1"/>
              <p:nvPr/>
            </p:nvSpPr>
            <p:spPr>
              <a:xfrm>
                <a:off x="2263674" y="5587738"/>
                <a:ext cx="1553374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𝑎h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0CEA40-3778-E16B-010D-DBADC6683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3674" y="5587738"/>
                <a:ext cx="1553374" cy="896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44135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7CB2F-2D35-E200-E729-E397F916E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CGE  </a:t>
            </a:r>
            <a:r>
              <a:rPr lang="en-US" b="0" dirty="0"/>
              <a:t>|  Savings and Investment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5712C1-B282-4F03-8526-BA02BDE246E0}"/>
              </a:ext>
            </a:extLst>
          </p:cNvPr>
          <p:cNvGraphicFramePr>
            <a:graphicFrameLocks/>
          </p:cNvGraphicFramePr>
          <p:nvPr/>
        </p:nvGraphicFramePr>
        <p:xfrm>
          <a:off x="865990" y="1363395"/>
          <a:ext cx="22090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335">
                  <a:extLst>
                    <a:ext uri="{9D8B030D-6E8A-4147-A177-3AD203B41FA5}">
                      <a16:colId xmlns:a16="http://schemas.microsoft.com/office/drawing/2014/main" val="3538683720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1359202420"/>
                    </a:ext>
                  </a:extLst>
                </a:gridCol>
                <a:gridCol w="736335">
                  <a:extLst>
                    <a:ext uri="{9D8B030D-6E8A-4147-A177-3AD203B41FA5}">
                      <a16:colId xmlns:a16="http://schemas.microsoft.com/office/drawing/2014/main" val="2580100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INV</a:t>
                      </a:r>
                    </a:p>
                  </a:txBody>
                  <a:tcPr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62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0341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COM</a:t>
                      </a:r>
                    </a:p>
                  </a:txBody>
                  <a:tcPr anchor="ctr" anchorCtr="1">
                    <a:lnT w="12700" cmpd="sng">
                      <a:noFill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AG</a:t>
                      </a:r>
                    </a:p>
                  </a:txBody>
                  <a:tcPr anchor="ctr" anchorCtr="1">
                    <a:lnT w="12700" cmpd="sng">
                      <a:noFill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486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NAG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anchor="ctr" anchorCtr="1"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91975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TOT</a:t>
                      </a: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anchor="ctr" anchorCtr="1">
                    <a:lnR w="12700" cmpd="sng">
                      <a:noFill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355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FB02901-83F1-0C40-142B-D64D0D51FFAF}"/>
              </a:ext>
            </a:extLst>
          </p:cNvPr>
          <p:cNvSpPr/>
          <p:nvPr/>
        </p:nvSpPr>
        <p:spPr>
          <a:xfrm>
            <a:off x="3699863" y="1536520"/>
            <a:ext cx="7494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In equilibrium, investment demand equals total savings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305F29-291E-A6EF-ED80-8E08216061A0}"/>
                  </a:ext>
                </a:extLst>
              </p:cNvPr>
              <p:cNvSpPr txBox="1"/>
              <p:nvPr/>
            </p:nvSpPr>
            <p:spPr>
              <a:xfrm>
                <a:off x="4011369" y="2038514"/>
                <a:ext cx="3127716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305F29-291E-A6EF-ED80-8E0821606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369" y="2038514"/>
                <a:ext cx="3127716" cy="896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53394F-4AB2-0B70-04FD-2D64C73DD673}"/>
                  </a:ext>
                </a:extLst>
              </p:cNvPr>
              <p:cNvSpPr txBox="1"/>
              <p:nvPr/>
            </p:nvSpPr>
            <p:spPr>
              <a:xfrm>
                <a:off x="7788238" y="2038513"/>
                <a:ext cx="1406219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53394F-4AB2-0B70-04FD-2D64C73DD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238" y="2038513"/>
                <a:ext cx="1406219" cy="896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DCA8566-7D76-9A0B-E73C-71FAF29E8365}"/>
              </a:ext>
            </a:extLst>
          </p:cNvPr>
          <p:cNvSpPr/>
          <p:nvPr/>
        </p:nvSpPr>
        <p:spPr>
          <a:xfrm>
            <a:off x="1317806" y="3741566"/>
            <a:ext cx="8815565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BUT savings rates (S) and investment (I) cannot both be flexible </a:t>
            </a:r>
          </a:p>
          <a:p>
            <a:endParaRPr lang="en-US" dirty="0"/>
          </a:p>
          <a:p>
            <a:r>
              <a:rPr lang="en-US" sz="2400" dirty="0"/>
              <a:t>We must fix one of these variables… 		or </a:t>
            </a:r>
          </a:p>
          <a:p>
            <a:endParaRPr lang="en-US" dirty="0"/>
          </a:p>
          <a:p>
            <a:r>
              <a:rPr lang="en-US" sz="2400" dirty="0"/>
              <a:t>This is a </a:t>
            </a:r>
            <a:r>
              <a:rPr lang="en-US" sz="2400" b="1" dirty="0"/>
              <a:t>macroeconomic closure</a:t>
            </a:r>
            <a:r>
              <a:rPr lang="en-US" sz="2400" dirty="0"/>
              <a:t> rule, which tells the model how to balance the savings-investment account (i.e., should savings drive investment, or should investment drive savings?)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F0763C-2C7E-2C8D-8932-576D6F24E9FF}"/>
                  </a:ext>
                </a:extLst>
              </p:cNvPr>
              <p:cNvSpPr txBox="1"/>
              <p:nvPr/>
            </p:nvSpPr>
            <p:spPr>
              <a:xfrm>
                <a:off x="6402716" y="4425611"/>
                <a:ext cx="376834" cy="370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F0763C-2C7E-2C8D-8932-576D6F24E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2716" y="4425611"/>
                <a:ext cx="376834" cy="370101"/>
              </a:xfrm>
              <a:prstGeom prst="rect">
                <a:avLst/>
              </a:prstGeom>
              <a:blipFill>
                <a:blip r:embed="rId4"/>
                <a:stretch>
                  <a:fillRect l="-17742" r="-6452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CEEC06-ED86-0CF1-795F-0E65693B7312}"/>
                  </a:ext>
                </a:extLst>
              </p:cNvPr>
              <p:cNvSpPr txBox="1"/>
              <p:nvPr/>
            </p:nvSpPr>
            <p:spPr>
              <a:xfrm>
                <a:off x="7283986" y="4425610"/>
                <a:ext cx="3258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CEEC06-ED86-0CF1-795F-0E65693B7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986" y="4425610"/>
                <a:ext cx="325858" cy="369332"/>
              </a:xfrm>
              <a:prstGeom prst="rect">
                <a:avLst/>
              </a:prstGeom>
              <a:blipFill>
                <a:blip r:embed="rId5"/>
                <a:stretch>
                  <a:fillRect l="-22642" t="-4918" r="-35849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9686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93BC5-27BD-A255-3AAE-BD91285B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CGE  </a:t>
            </a:r>
            <a:r>
              <a:rPr lang="en-US" b="0" dirty="0"/>
              <a:t>|  Equations &amp; Variables in the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AC7671-6448-2277-35CD-185C7E6DCF8F}"/>
              </a:ext>
            </a:extLst>
          </p:cNvPr>
          <p:cNvSpPr/>
          <p:nvPr/>
        </p:nvSpPr>
        <p:spPr>
          <a:xfrm>
            <a:off x="2765611" y="1891710"/>
            <a:ext cx="437499" cy="450660"/>
          </a:xfrm>
          <a:prstGeom prst="rect">
            <a:avLst/>
          </a:prstGeom>
          <a:solidFill>
            <a:srgbClr val="C00000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974385-2E33-DF94-B0A8-9990DD77BD1A}"/>
              </a:ext>
            </a:extLst>
          </p:cNvPr>
          <p:cNvSpPr/>
          <p:nvPr/>
        </p:nvSpPr>
        <p:spPr>
          <a:xfrm>
            <a:off x="5771084" y="1902864"/>
            <a:ext cx="437499" cy="450660"/>
          </a:xfrm>
          <a:prstGeom prst="rect">
            <a:avLst/>
          </a:prstGeom>
          <a:solidFill>
            <a:srgbClr val="C00000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4170AF-4BBE-814A-E455-87B66A7509D6}"/>
              </a:ext>
            </a:extLst>
          </p:cNvPr>
          <p:cNvSpPr/>
          <p:nvPr/>
        </p:nvSpPr>
        <p:spPr>
          <a:xfrm>
            <a:off x="1617254" y="5085223"/>
            <a:ext cx="437499" cy="450660"/>
          </a:xfrm>
          <a:prstGeom prst="rect">
            <a:avLst/>
          </a:prstGeom>
          <a:solidFill>
            <a:srgbClr val="C00000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D7FEA0-8057-81C3-2C1A-F2B5F627C8C7}"/>
              </a:ext>
            </a:extLst>
          </p:cNvPr>
          <p:cNvSpPr/>
          <p:nvPr/>
        </p:nvSpPr>
        <p:spPr>
          <a:xfrm>
            <a:off x="1617254" y="5947280"/>
            <a:ext cx="437499" cy="450660"/>
          </a:xfrm>
          <a:prstGeom prst="rect">
            <a:avLst/>
          </a:prstGeom>
          <a:solidFill>
            <a:srgbClr val="C00000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71F62D-8909-6F3F-8AC6-8923C35F8B9F}"/>
                  </a:ext>
                </a:extLst>
              </p:cNvPr>
              <p:cNvSpPr txBox="1"/>
              <p:nvPr/>
            </p:nvSpPr>
            <p:spPr>
              <a:xfrm>
                <a:off x="1630506" y="1185846"/>
                <a:ext cx="3482620" cy="4476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𝐿𝐴𝐵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𝐶𝐴𝑃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71F62D-8909-6F3F-8AC6-8923C35F8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506" y="1185846"/>
                <a:ext cx="3482620" cy="4476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59EC00-6B2A-97C2-DA23-20326AB29CEF}"/>
                  </a:ext>
                </a:extLst>
              </p:cNvPr>
              <p:cNvSpPr txBox="1"/>
              <p:nvPr/>
            </p:nvSpPr>
            <p:spPr>
              <a:xfrm>
                <a:off x="1630506" y="2817128"/>
                <a:ext cx="2352247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𝐿𝐴𝐵𝑆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𝐿𝐴𝐵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59EC00-6B2A-97C2-DA23-20326AB29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506" y="2817128"/>
                <a:ext cx="2352247" cy="896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F85452-45DC-594C-5D3B-D847425AA617}"/>
                  </a:ext>
                </a:extLst>
              </p:cNvPr>
              <p:cNvSpPr txBox="1"/>
              <p:nvPr/>
            </p:nvSpPr>
            <p:spPr>
              <a:xfrm>
                <a:off x="4323282" y="2815202"/>
                <a:ext cx="2338461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𝐶𝐴𝑃𝑆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𝐶𝐴𝑃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F85452-45DC-594C-5D3B-D847425AA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282" y="2815202"/>
                <a:ext cx="2338461" cy="896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7AF86D-0F42-6597-C6B1-3E2666714DD8}"/>
                  </a:ext>
                </a:extLst>
              </p:cNvPr>
              <p:cNvSpPr txBox="1"/>
              <p:nvPr/>
            </p:nvSpPr>
            <p:spPr>
              <a:xfrm>
                <a:off x="1632394" y="1944740"/>
                <a:ext cx="2126095" cy="761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𝐿𝐴𝐵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7AF86D-0F42-6597-C6B1-3E2666714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394" y="1944740"/>
                <a:ext cx="2126095" cy="7618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172634-54F0-FEA1-62AF-B402899408BD}"/>
                  </a:ext>
                </a:extLst>
              </p:cNvPr>
              <p:cNvSpPr txBox="1"/>
              <p:nvPr/>
            </p:nvSpPr>
            <p:spPr>
              <a:xfrm>
                <a:off x="3927003" y="1929351"/>
                <a:ext cx="2833468" cy="777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𝐶𝐴𝑃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172634-54F0-FEA1-62AF-B40289940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003" y="1929351"/>
                <a:ext cx="2833468" cy="77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7E2C58-4C24-85BC-C34F-A60F152F391F}"/>
                  </a:ext>
                </a:extLst>
              </p:cNvPr>
              <p:cNvSpPr txBox="1"/>
              <p:nvPr/>
            </p:nvSpPr>
            <p:spPr>
              <a:xfrm>
                <a:off x="1630506" y="3892214"/>
                <a:ext cx="5962338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𝐿𝐴𝐵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𝐿𝐴𝐵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𝐶𝐴𝑃</m:t>
                          </m:r>
                        </m:sup>
                      </m:sSub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𝐶𝐴𝑃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7E2C58-4C24-85BC-C34F-A60F152F3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506" y="3892214"/>
                <a:ext cx="5962338" cy="8962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3FA34D-D8C7-C285-4FBE-B9178FA6C37D}"/>
                  </a:ext>
                </a:extLst>
              </p:cNvPr>
              <p:cNvSpPr txBox="1"/>
              <p:nvPr/>
            </p:nvSpPr>
            <p:spPr>
              <a:xfrm>
                <a:off x="1630506" y="5975816"/>
                <a:ext cx="37712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𝑎h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𝑎h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3FA34D-D8C7-C285-4FBE-B9178FA6C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506" y="5975816"/>
                <a:ext cx="3771225" cy="369332"/>
              </a:xfrm>
              <a:prstGeom prst="rect">
                <a:avLst/>
              </a:prstGeom>
              <a:blipFill>
                <a:blip r:embed="rId8"/>
                <a:stretch>
                  <a:fillRect l="-1292" r="-162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BED87F-3087-73B1-2A45-41EE762C169E}"/>
                  </a:ext>
                </a:extLst>
              </p:cNvPr>
              <p:cNvSpPr txBox="1"/>
              <p:nvPr/>
            </p:nvSpPr>
            <p:spPr>
              <a:xfrm>
                <a:off x="1604002" y="4912746"/>
                <a:ext cx="3127716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BED87F-3087-73B1-2A45-41EE762C1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002" y="4912746"/>
                <a:ext cx="3127716" cy="8962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1F4ED7-0957-A663-6687-794ACC1C9B74}"/>
                  </a:ext>
                </a:extLst>
              </p:cNvPr>
              <p:cNvSpPr txBox="1"/>
              <p:nvPr/>
            </p:nvSpPr>
            <p:spPr>
              <a:xfrm>
                <a:off x="9694467" y="1289205"/>
                <a:ext cx="4268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1F4ED7-0957-A663-6687-794ACC1C9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467" y="1289205"/>
                <a:ext cx="426848" cy="369332"/>
              </a:xfrm>
              <a:prstGeom prst="rect">
                <a:avLst/>
              </a:prstGeom>
              <a:blipFill>
                <a:blip r:embed="rId10"/>
                <a:stretch>
                  <a:fillRect l="-22857" r="-1429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325876-A55E-FAD6-D929-E2B41E948BB3}"/>
                  </a:ext>
                </a:extLst>
              </p:cNvPr>
              <p:cNvSpPr txBox="1"/>
              <p:nvPr/>
            </p:nvSpPr>
            <p:spPr>
              <a:xfrm>
                <a:off x="9584341" y="1997890"/>
                <a:ext cx="7621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𝐿𝐴𝐵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325876-A55E-FAD6-D929-E2B41E948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341" y="1997890"/>
                <a:ext cx="762195" cy="369332"/>
              </a:xfrm>
              <a:prstGeom prst="rect">
                <a:avLst/>
              </a:prstGeom>
              <a:blipFill>
                <a:blip r:embed="rId11"/>
                <a:stretch>
                  <a:fillRect l="-8800" r="-16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DBF40A-01A1-DEF0-3AFF-005B38840D62}"/>
                  </a:ext>
                </a:extLst>
              </p:cNvPr>
              <p:cNvSpPr txBox="1"/>
              <p:nvPr/>
            </p:nvSpPr>
            <p:spPr>
              <a:xfrm>
                <a:off x="9664017" y="2826333"/>
                <a:ext cx="3055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2DBF40A-01A1-DEF0-3AFF-005B38840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4017" y="2826333"/>
                <a:ext cx="305596" cy="369332"/>
              </a:xfrm>
              <a:prstGeom prst="rect">
                <a:avLst/>
              </a:prstGeom>
              <a:blipFill>
                <a:blip r:embed="rId12"/>
                <a:stretch>
                  <a:fillRect l="-12000" r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B4F702-D907-EAFA-9270-7F6429FF236F}"/>
                  </a:ext>
                </a:extLst>
              </p:cNvPr>
              <p:cNvSpPr txBox="1"/>
              <p:nvPr/>
            </p:nvSpPr>
            <p:spPr>
              <a:xfrm>
                <a:off x="9584341" y="2342370"/>
                <a:ext cx="7387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𝐶𝐴𝑃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B4F702-D907-EAFA-9270-7F6429FF2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341" y="2342370"/>
                <a:ext cx="738792" cy="369332"/>
              </a:xfrm>
              <a:prstGeom prst="rect">
                <a:avLst/>
              </a:prstGeom>
              <a:blipFill>
                <a:blip r:embed="rId13"/>
                <a:stretch>
                  <a:fillRect l="-9091" r="-826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36B6924-09DB-91AA-01ED-946F0CF6B7A7}"/>
                  </a:ext>
                </a:extLst>
              </p:cNvPr>
              <p:cNvSpPr txBox="1"/>
              <p:nvPr/>
            </p:nvSpPr>
            <p:spPr>
              <a:xfrm>
                <a:off x="9706047" y="3157411"/>
                <a:ext cx="2215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36B6924-09DB-91AA-01ED-946F0CF6B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6047" y="3157411"/>
                <a:ext cx="221536" cy="369332"/>
              </a:xfrm>
              <a:prstGeom prst="rect">
                <a:avLst/>
              </a:prstGeom>
              <a:blipFill>
                <a:blip r:embed="rId14"/>
                <a:stretch>
                  <a:fillRect l="-16216" r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26EC86-CACA-D579-9E6D-FACF622015DC}"/>
                  </a:ext>
                </a:extLst>
              </p:cNvPr>
              <p:cNvSpPr txBox="1"/>
              <p:nvPr/>
            </p:nvSpPr>
            <p:spPr>
              <a:xfrm>
                <a:off x="9689138" y="4131297"/>
                <a:ext cx="3636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26EC86-CACA-D579-9E6D-FACF62201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9138" y="4131297"/>
                <a:ext cx="363689" cy="369332"/>
              </a:xfrm>
              <a:prstGeom prst="rect">
                <a:avLst/>
              </a:prstGeom>
              <a:blipFill>
                <a:blip r:embed="rId15"/>
                <a:stretch>
                  <a:fillRect l="-18333" r="-666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C4A5A5-E337-8AC9-85D9-D8D673243046}"/>
                  </a:ext>
                </a:extLst>
              </p:cNvPr>
              <p:cNvSpPr txBox="1"/>
              <p:nvPr/>
            </p:nvSpPr>
            <p:spPr>
              <a:xfrm>
                <a:off x="9633564" y="4795560"/>
                <a:ext cx="3768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C4A5A5-E337-8AC9-85D9-D8D673243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3564" y="4795560"/>
                <a:ext cx="376833" cy="369332"/>
              </a:xfrm>
              <a:prstGeom prst="rect">
                <a:avLst/>
              </a:prstGeom>
              <a:blipFill>
                <a:blip r:embed="rId16"/>
                <a:stretch>
                  <a:fillRect l="-17742" r="-645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52F5F9F-3972-D9A9-D4D2-BFC44BCF1F27}"/>
                  </a:ext>
                </a:extLst>
              </p:cNvPr>
              <p:cNvSpPr txBox="1"/>
              <p:nvPr/>
            </p:nvSpPr>
            <p:spPr>
              <a:xfrm>
                <a:off x="9659529" y="5420745"/>
                <a:ext cx="3258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52F5F9F-3972-D9A9-D4D2-BFC44BCF1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529" y="5420745"/>
                <a:ext cx="325858" cy="369332"/>
              </a:xfrm>
              <a:prstGeom prst="rect">
                <a:avLst/>
              </a:prstGeom>
              <a:blipFill>
                <a:blip r:embed="rId17"/>
                <a:stretch>
                  <a:fillRect l="-22642" r="-1887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008605-BCCE-80EC-D70D-1015ABDCBB15}"/>
                  </a:ext>
                </a:extLst>
              </p:cNvPr>
              <p:cNvSpPr txBox="1"/>
              <p:nvPr/>
            </p:nvSpPr>
            <p:spPr>
              <a:xfrm>
                <a:off x="9659529" y="5975816"/>
                <a:ext cx="5631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𝑎h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008605-BCCE-80EC-D70D-1015ABDCB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529" y="5975816"/>
                <a:ext cx="563103" cy="369332"/>
              </a:xfrm>
              <a:prstGeom prst="rect">
                <a:avLst/>
              </a:prstGeom>
              <a:blipFill>
                <a:blip r:embed="rId18"/>
                <a:stretch>
                  <a:fillRect l="-13043" r="-5435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6EF2BAA0-094A-BA90-06BB-55EA8BACEBBF}"/>
              </a:ext>
            </a:extLst>
          </p:cNvPr>
          <p:cNvSpPr/>
          <p:nvPr/>
        </p:nvSpPr>
        <p:spPr>
          <a:xfrm>
            <a:off x="7276970" y="1237201"/>
            <a:ext cx="2179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/>
              <a:t>2eqs = 2vars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517EE7-C742-4085-6770-4BCDD8C147ED}"/>
              </a:ext>
            </a:extLst>
          </p:cNvPr>
          <p:cNvSpPr/>
          <p:nvPr/>
        </p:nvSpPr>
        <p:spPr>
          <a:xfrm>
            <a:off x="7276970" y="2081024"/>
            <a:ext cx="2179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/>
              <a:t>4eqs = 4vars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D9703A-B9A2-A5E0-66A5-B5BA4207B939}"/>
              </a:ext>
            </a:extLst>
          </p:cNvPr>
          <p:cNvSpPr/>
          <p:nvPr/>
        </p:nvSpPr>
        <p:spPr>
          <a:xfrm>
            <a:off x="7253039" y="3009222"/>
            <a:ext cx="2179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/>
              <a:t>2eqs = 2vars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A0D576-7A44-91A2-C50B-96EF20B4FF38}"/>
              </a:ext>
            </a:extLst>
          </p:cNvPr>
          <p:cNvSpPr/>
          <p:nvPr/>
        </p:nvSpPr>
        <p:spPr>
          <a:xfrm>
            <a:off x="7274570" y="4095274"/>
            <a:ext cx="2179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/>
              <a:t>2eqs = 2vars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970E3A-82D4-AC82-7CA0-FE3782EFB847}"/>
              </a:ext>
            </a:extLst>
          </p:cNvPr>
          <p:cNvSpPr/>
          <p:nvPr/>
        </p:nvSpPr>
        <p:spPr>
          <a:xfrm>
            <a:off x="7253039" y="5074218"/>
            <a:ext cx="2179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/>
              <a:t>2eqs = 2vars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C9B62C-0331-0D6A-75A8-36ED8E452AEE}"/>
              </a:ext>
            </a:extLst>
          </p:cNvPr>
          <p:cNvSpPr/>
          <p:nvPr/>
        </p:nvSpPr>
        <p:spPr>
          <a:xfrm>
            <a:off x="7253039" y="5936275"/>
            <a:ext cx="2179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/>
              <a:t>4eqs = 4vars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7025DC-3538-9998-8AB9-18F8F3A733D5}"/>
              </a:ext>
            </a:extLst>
          </p:cNvPr>
          <p:cNvSpPr/>
          <p:nvPr/>
        </p:nvSpPr>
        <p:spPr>
          <a:xfrm>
            <a:off x="9527438" y="5067592"/>
            <a:ext cx="4896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11902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7FFA4-0478-466B-D3AC-BFA3439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Equation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E064CA-B8A2-1293-8918-8F76907C6364}"/>
              </a:ext>
            </a:extLst>
          </p:cNvPr>
          <p:cNvSpPr/>
          <p:nvPr/>
        </p:nvSpPr>
        <p:spPr>
          <a:xfrm>
            <a:off x="446812" y="3541898"/>
            <a:ext cx="109883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There are two of these equations and two price variables (</a:t>
            </a:r>
            <a:r>
              <a:rPr lang="en-US" sz="2400" i="1" dirty="0">
                <a:solidFill>
                  <a:srgbClr val="C00000"/>
                </a:solidFill>
              </a:rPr>
              <a:t>P</a:t>
            </a:r>
            <a:r>
              <a:rPr lang="en-US" sz="2400" i="1" baseline="-25000" dirty="0">
                <a:solidFill>
                  <a:srgbClr val="C00000"/>
                </a:solidFill>
              </a:rPr>
              <a:t>a</a:t>
            </a:r>
            <a:r>
              <a:rPr lang="en-US" sz="2400" dirty="0"/>
              <a:t>) so we are now ‘square’ (i.e., no. equations = no. endogenous variables)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474122-0516-0FAA-A6AF-C540E25B9AE1}"/>
                  </a:ext>
                </a:extLst>
              </p:cNvPr>
              <p:cNvSpPr txBox="1"/>
              <p:nvPr/>
            </p:nvSpPr>
            <p:spPr>
              <a:xfrm>
                <a:off x="1160977" y="2493380"/>
                <a:ext cx="2483116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𝑎h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474122-0516-0FAA-A6AF-C540E25B9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977" y="2493380"/>
                <a:ext cx="2483116" cy="896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19DD72C8-F482-1A0C-3E26-A349033A06A5}"/>
              </a:ext>
            </a:extLst>
          </p:cNvPr>
          <p:cNvSpPr/>
          <p:nvPr/>
        </p:nvSpPr>
        <p:spPr>
          <a:xfrm>
            <a:off x="446812" y="1170869"/>
            <a:ext cx="117451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We have equations ensuring that total factor demand equals supply</a:t>
            </a:r>
          </a:p>
          <a:p>
            <a:endParaRPr lang="en-US" sz="1200" dirty="0"/>
          </a:p>
          <a:p>
            <a:r>
              <a:rPr lang="en-US" sz="2400" dirty="0"/>
              <a:t>Total commodity supply (</a:t>
            </a:r>
            <a:r>
              <a:rPr lang="en-US" sz="2400" i="1" dirty="0" err="1">
                <a:solidFill>
                  <a:srgbClr val="C00000"/>
                </a:solidFill>
              </a:rPr>
              <a:t>Q</a:t>
            </a:r>
            <a:r>
              <a:rPr lang="en-US" sz="2400" i="1" baseline="-25000" dirty="0" err="1">
                <a:solidFill>
                  <a:srgbClr val="C00000"/>
                </a:solidFill>
              </a:rPr>
              <a:t>a</a:t>
            </a:r>
            <a:r>
              <a:rPr lang="en-US" sz="2400" dirty="0"/>
              <a:t>) must equal the sum of household and investment demands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FE3EC8-5080-8FD2-399A-6708B70F26C4}"/>
              </a:ext>
            </a:extLst>
          </p:cNvPr>
          <p:cNvSpPr/>
          <p:nvPr/>
        </p:nvSpPr>
        <p:spPr>
          <a:xfrm>
            <a:off x="1160977" y="4847432"/>
            <a:ext cx="8676416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We need a ‘numeraire’ = a fixed price against which all other prices are compared to (i.e., acts as a value ‘anchor’ for the model)</a:t>
            </a:r>
          </a:p>
          <a:p>
            <a:pPr algn="ctr"/>
            <a:endParaRPr lang="en-US" sz="1200" dirty="0"/>
          </a:p>
          <a:p>
            <a:pPr algn="ctr"/>
            <a:r>
              <a:rPr lang="en-US" sz="2400" dirty="0"/>
              <a:t>If we fix a variable, we must drop an equation to stay ‘square’</a:t>
            </a:r>
          </a:p>
        </p:txBody>
      </p:sp>
    </p:spTree>
    <p:extLst>
      <p:ext uri="{BB962C8B-B14F-4D97-AF65-F5344CB8AC3E}">
        <p14:creationId xmlns:p14="http://schemas.microsoft.com/office/powerpoint/2010/main" val="24213448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7AC8-90AD-B91D-0BAB-09E16A861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Calibration and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97ABB-6BE4-2640-6E48-EDD3AD35A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89" y="1251067"/>
            <a:ext cx="8735375" cy="4194237"/>
          </a:xfrm>
        </p:spPr>
        <p:txBody>
          <a:bodyPr>
            <a:normAutofit/>
          </a:bodyPr>
          <a:lstStyle/>
          <a:p>
            <a:r>
              <a:rPr lang="en-US" sz="2400" b="1" dirty="0"/>
              <a:t>Attach SAM values to the model’s parameters and variables</a:t>
            </a:r>
          </a:p>
          <a:p>
            <a:pPr lvl="1"/>
            <a:r>
              <a:rPr lang="en-US" sz="2200" dirty="0"/>
              <a:t>SAM is balanced, so model is initially balanced (i.e., in equilibrium)</a:t>
            </a:r>
          </a:p>
          <a:p>
            <a:endParaRPr lang="en-US" sz="2400" dirty="0"/>
          </a:p>
          <a:p>
            <a:r>
              <a:rPr lang="en-US" sz="2400" b="1" dirty="0"/>
              <a:t>When we shock the model, it falls out of equilibrium</a:t>
            </a:r>
          </a:p>
          <a:p>
            <a:pPr lvl="1"/>
            <a:r>
              <a:rPr lang="en-US" sz="2200" dirty="0"/>
              <a:t>Solve the model to find a new equilibrium</a:t>
            </a:r>
          </a:p>
          <a:p>
            <a:pPr lvl="1"/>
            <a:r>
              <a:rPr lang="en-US" sz="2200" dirty="0"/>
              <a:t>Difference in the values of the variables between the old and the new equilibriums is the impact of the shock (i.e., comparative statics)</a:t>
            </a:r>
          </a:p>
          <a:p>
            <a:endParaRPr lang="en-US" sz="2400" dirty="0"/>
          </a:p>
          <a:p>
            <a:r>
              <a:rPr lang="en-US" sz="2400" b="1" dirty="0"/>
              <a:t>We use the General Algebraic Modeling System (GAMS)</a:t>
            </a:r>
          </a:p>
          <a:p>
            <a:pPr lvl="1"/>
            <a:r>
              <a:rPr lang="en-US" sz="2200" dirty="0"/>
              <a:t>GEMPACK is another specialized modeling  language/environment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99948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DB03-78EA-6682-CAE0-B3E2C807F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Extensions in IFPRI Standard CGE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1B84E-87BC-DA7F-F251-C5B3782C0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398" y="1230518"/>
            <a:ext cx="7728508" cy="4718219"/>
          </a:xfrm>
        </p:spPr>
        <p:txBody>
          <a:bodyPr>
            <a:normAutofit/>
          </a:bodyPr>
          <a:lstStyle/>
          <a:p>
            <a:r>
              <a:rPr lang="en-US" sz="2400" b="1" dirty="0"/>
              <a:t>We use more complicated (flexible) functional forms:</a:t>
            </a:r>
          </a:p>
          <a:p>
            <a:pPr lvl="1"/>
            <a:r>
              <a:rPr lang="en-US" sz="2200" dirty="0"/>
              <a:t>Constant Elasticity of Substitution (CES) production functions so technologies change with relative factor prices</a:t>
            </a:r>
          </a:p>
          <a:p>
            <a:pPr lvl="1"/>
            <a:r>
              <a:rPr lang="en-US" sz="2200" dirty="0"/>
              <a:t>Linear Expenditure System (LES) of demand systems to allow for non-unity income elasticities</a:t>
            </a:r>
          </a:p>
          <a:p>
            <a:endParaRPr lang="en-US" sz="2400" dirty="0"/>
          </a:p>
          <a:p>
            <a:r>
              <a:rPr lang="en-US" sz="2400" b="1" dirty="0"/>
              <a:t>Include government and the rest of the world</a:t>
            </a:r>
          </a:p>
          <a:p>
            <a:pPr lvl="1"/>
            <a:r>
              <a:rPr lang="en-US" sz="2200" dirty="0"/>
              <a:t>CES and CET trade functions allow producers and consumers to shift between domestic and foreign markets</a:t>
            </a:r>
          </a:p>
          <a:p>
            <a:pPr lvl="1"/>
            <a:r>
              <a:rPr lang="en-US" sz="2200" dirty="0"/>
              <a:t>We also have two extra macro-closures </a:t>
            </a:r>
          </a:p>
          <a:p>
            <a:pPr lvl="1"/>
            <a:r>
              <a:rPr lang="en-US" sz="2200" dirty="0"/>
              <a:t>Government: Flexible tax rates or spending?</a:t>
            </a:r>
          </a:p>
          <a:p>
            <a:pPr lvl="1"/>
            <a:r>
              <a:rPr lang="en-US" sz="2200" dirty="0"/>
              <a:t>Current account: Flexible exchange rate or deficit?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569442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3DC7-DA25-3A40-6AC6-827ED311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5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IFPRI Standard CGE Model</a:t>
            </a:r>
            <a:endParaRPr lang="en-US" dirty="0"/>
          </a:p>
        </p:txBody>
      </p:sp>
      <p:pic>
        <p:nvPicPr>
          <p:cNvPr id="9" name="Picture 8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43BDDE39-D38B-8049-B7C6-B366FF0D6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481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64F0-AA99-D192-A82B-F28F62A8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Have a Standard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61B2E-E935-8371-811D-B478F8667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Common core model</a:t>
            </a:r>
          </a:p>
          <a:p>
            <a:pPr lvl="1"/>
            <a:r>
              <a:rPr lang="en-US" dirty="0"/>
              <a:t>Avoid reinventing the wheel</a:t>
            </a:r>
          </a:p>
          <a:p>
            <a:pPr lvl="1"/>
            <a:r>
              <a:rPr lang="en-US" dirty="0"/>
              <a:t>Quick to get up and running for new countries/SAMs</a:t>
            </a:r>
          </a:p>
          <a:p>
            <a:pPr lvl="1"/>
            <a:r>
              <a:rPr lang="en-US" dirty="0"/>
              <a:t>Can focus on new analysis rather than lots of programming</a:t>
            </a:r>
          </a:p>
          <a:p>
            <a:endParaRPr lang="en-US" dirty="0"/>
          </a:p>
          <a:p>
            <a:r>
              <a:rPr lang="en-US" b="1" dirty="0"/>
              <a:t>Versatile </a:t>
            </a:r>
          </a:p>
          <a:p>
            <a:pPr lvl="1"/>
            <a:r>
              <a:rPr lang="en-US" dirty="0"/>
              <a:t>Captures most unique country characteristics (e.g., taxes)</a:t>
            </a:r>
          </a:p>
          <a:p>
            <a:pPr lvl="1"/>
            <a:r>
              <a:rPr lang="en-US" dirty="0"/>
              <a:t>Can add complexity or special country characteristics </a:t>
            </a:r>
          </a:p>
          <a:p>
            <a:endParaRPr lang="en-US" dirty="0"/>
          </a:p>
          <a:p>
            <a:r>
              <a:rPr lang="en-US" b="1" dirty="0"/>
              <a:t>Easier to debug or to explain to others what you’re doing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1FE92-844F-46D0-DC82-3A2DFF27F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208" y="1025035"/>
            <a:ext cx="3903368" cy="504994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43440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11DA5-5041-71C9-942D-16CACFFC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 Many Equations, Variables and Parameters!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0EFDC7-F6AA-5DD8-6612-6F8F82441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882151" y="710702"/>
            <a:ext cx="4251431" cy="60035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95EFBF-9412-0F6F-EF70-2F5D4C784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35" y="1586781"/>
            <a:ext cx="3150343" cy="368937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37A101-24E1-3EFB-4CF0-3750E62DB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558" y="2208098"/>
            <a:ext cx="3203079" cy="368937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5C74A0-8A2C-BECF-0A15-58A9C5490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983570" y="2224281"/>
            <a:ext cx="987428" cy="685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E3A5899-3FA5-C39A-1697-E6009E47AA07}"/>
              </a:ext>
            </a:extLst>
          </p:cNvPr>
          <p:cNvSpPr txBox="1"/>
          <p:nvPr/>
        </p:nvSpPr>
        <p:spPr>
          <a:xfrm>
            <a:off x="541935" y="988780"/>
            <a:ext cx="4089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34E2D"/>
                </a:solidFill>
              </a:rPr>
              <a:t>51 variables &amp; 46 parameters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DBA66B-CF96-5ABD-A248-347FFB4C5FFF}"/>
              </a:ext>
            </a:extLst>
          </p:cNvPr>
          <p:cNvSpPr txBox="1"/>
          <p:nvPr/>
        </p:nvSpPr>
        <p:spPr>
          <a:xfrm>
            <a:off x="6006070" y="972986"/>
            <a:ext cx="6003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34E2D"/>
                </a:solidFill>
              </a:rPr>
              <a:t>48 equations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68F94-1D05-D620-2B24-76F11D7F574C}"/>
              </a:ext>
            </a:extLst>
          </p:cNvPr>
          <p:cNvSpPr txBox="1"/>
          <p:nvPr/>
        </p:nvSpPr>
        <p:spPr>
          <a:xfrm>
            <a:off x="4374193" y="6318736"/>
            <a:ext cx="7081491" cy="400110"/>
          </a:xfrm>
          <a:prstGeom prst="rect">
            <a:avLst/>
          </a:prstGeom>
          <a:solidFill>
            <a:srgbClr val="C34E2D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34E2D"/>
                </a:solidFill>
              </a:rPr>
              <a:t>Better to start with a </a:t>
            </a:r>
            <a:r>
              <a:rPr lang="en-US" sz="2000" b="1" u="sng" dirty="0">
                <a:solidFill>
                  <a:srgbClr val="C34E2D"/>
                </a:solidFill>
              </a:rPr>
              <a:t>conceptual</a:t>
            </a:r>
            <a:r>
              <a:rPr lang="en-US" sz="2000" b="1" dirty="0">
                <a:solidFill>
                  <a:srgbClr val="C34E2D"/>
                </a:solidFill>
              </a:rPr>
              <a:t> understanding of the model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4276CD-ABCC-20BA-54CF-436FBAE61DB4}"/>
              </a:ext>
            </a:extLst>
          </p:cNvPr>
          <p:cNvCxnSpPr/>
          <p:nvPr/>
        </p:nvCxnSpPr>
        <p:spPr>
          <a:xfrm>
            <a:off x="11229654" y="6518791"/>
            <a:ext cx="780007" cy="0"/>
          </a:xfrm>
          <a:prstGeom prst="straightConnector1">
            <a:avLst/>
          </a:prstGeom>
          <a:ln w="28575">
            <a:solidFill>
              <a:srgbClr val="C34E2D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1437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DE302-9009-11A4-F1ED-FC8A61122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Flows in the Standard Model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7FF9C0-6B63-6E97-BC82-362C8E079222}"/>
              </a:ext>
            </a:extLst>
          </p:cNvPr>
          <p:cNvCxnSpPr/>
          <p:nvPr/>
        </p:nvCxnSpPr>
        <p:spPr>
          <a:xfrm flipH="1">
            <a:off x="4702869" y="4307882"/>
            <a:ext cx="2358218" cy="4923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6D4B5B7-6253-EB24-F197-B86D140BBEAE}"/>
              </a:ext>
            </a:extLst>
          </p:cNvPr>
          <p:cNvSpPr/>
          <p:nvPr/>
        </p:nvSpPr>
        <p:spPr>
          <a:xfrm>
            <a:off x="5178431" y="4257011"/>
            <a:ext cx="79999" cy="92869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CD12FFF-241B-3FA8-6ABF-836A8C6B1645}"/>
              </a:ext>
            </a:extLst>
          </p:cNvPr>
          <p:cNvGrpSpPr/>
          <p:nvPr/>
        </p:nvGrpSpPr>
        <p:grpSpPr>
          <a:xfrm>
            <a:off x="1857512" y="1278803"/>
            <a:ext cx="8066983" cy="4770748"/>
            <a:chOff x="274823" y="1213657"/>
            <a:chExt cx="8066983" cy="477074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DF36878-4F2D-3C20-BDFA-C7B8D58FA64C}"/>
                </a:ext>
              </a:extLst>
            </p:cNvPr>
            <p:cNvCxnSpPr/>
            <p:nvPr/>
          </p:nvCxnSpPr>
          <p:spPr>
            <a:xfrm flipV="1">
              <a:off x="4024714" y="2529868"/>
              <a:ext cx="0" cy="379608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A37227-15C8-34C9-1AD0-0B165376327B}"/>
                </a:ext>
              </a:extLst>
            </p:cNvPr>
            <p:cNvSpPr txBox="1"/>
            <p:nvPr/>
          </p:nvSpPr>
          <p:spPr>
            <a:xfrm>
              <a:off x="4019001" y="3621859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Social transfers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3FDDBC-8C0B-2479-1F8F-D4B554EDE425}"/>
                </a:ext>
              </a:extLst>
            </p:cNvPr>
            <p:cNvSpPr txBox="1"/>
            <p:nvPr/>
          </p:nvSpPr>
          <p:spPr>
            <a:xfrm>
              <a:off x="804863" y="5348521"/>
              <a:ext cx="761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Exports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D0B2AAF-58F2-A00D-8F60-87C8598984A6}"/>
                </a:ext>
              </a:extLst>
            </p:cNvPr>
            <p:cNvGrpSpPr/>
            <p:nvPr/>
          </p:nvGrpSpPr>
          <p:grpSpPr>
            <a:xfrm>
              <a:off x="1566572" y="1422279"/>
              <a:ext cx="1558637" cy="646331"/>
              <a:chOff x="332509" y="3092335"/>
              <a:chExt cx="1989513" cy="646331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48967D5-38C4-EB7B-0DF2-6FAB7B1E45C6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A24A9DD-4C7C-9850-92A3-95D3C3A75285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30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Factor Markets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27BF29B-1B8E-B933-DC34-A471B29A9A2A}"/>
                </a:ext>
              </a:extLst>
            </p:cNvPr>
            <p:cNvGrpSpPr/>
            <p:nvPr/>
          </p:nvGrpSpPr>
          <p:grpSpPr>
            <a:xfrm>
              <a:off x="2852650" y="2895367"/>
              <a:ext cx="1558637" cy="369333"/>
              <a:chOff x="332509" y="3092335"/>
              <a:chExt cx="1989513" cy="369333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435F7E7-F72F-44A0-A37D-DC1ACCE179E7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51C7CE8-B5E1-D954-3DC3-1BD7419AE901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95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Households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187A847-1FD4-6D55-333A-8D65AE2A21F0}"/>
                </a:ext>
              </a:extLst>
            </p:cNvPr>
            <p:cNvGrpSpPr/>
            <p:nvPr/>
          </p:nvGrpSpPr>
          <p:grpSpPr>
            <a:xfrm>
              <a:off x="274823" y="2891327"/>
              <a:ext cx="1562884" cy="369333"/>
              <a:chOff x="332509" y="3092335"/>
              <a:chExt cx="1994934" cy="369333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00B8411-02B8-6496-BBE5-A3B202B7FD94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7F24A51-EB63-5EE5-81ED-1C9C681DCF03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949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Firms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C79A6-98FF-60DB-AD05-CDC6E8205BD1}"/>
                </a:ext>
              </a:extLst>
            </p:cNvPr>
            <p:cNvGrpSpPr/>
            <p:nvPr/>
          </p:nvGrpSpPr>
          <p:grpSpPr>
            <a:xfrm>
              <a:off x="6783169" y="2904495"/>
              <a:ext cx="1558637" cy="651480"/>
              <a:chOff x="332509" y="3087186"/>
              <a:chExt cx="1989513" cy="651480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E88753C-28D3-037C-05C7-708F219C7889}"/>
                  </a:ext>
                </a:extLst>
              </p:cNvPr>
              <p:cNvSpPr/>
              <p:nvPr/>
            </p:nvSpPr>
            <p:spPr>
              <a:xfrm>
                <a:off x="332509" y="3087186"/>
                <a:ext cx="1989513" cy="651480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CA56FD4-F850-646A-C698-BEB565FA09EA}"/>
                  </a:ext>
                </a:extLst>
              </p:cNvPr>
              <p:cNvSpPr txBox="1"/>
              <p:nvPr/>
            </p:nvSpPr>
            <p:spPr>
              <a:xfrm>
                <a:off x="332510" y="3092335"/>
                <a:ext cx="19773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Savings &amp; Investment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07F4C8B-9A3A-A3D5-0F50-EDB3C10576B2}"/>
                </a:ext>
              </a:extLst>
            </p:cNvPr>
            <p:cNvGrpSpPr/>
            <p:nvPr/>
          </p:nvGrpSpPr>
          <p:grpSpPr>
            <a:xfrm>
              <a:off x="4835039" y="2891327"/>
              <a:ext cx="1558637" cy="369333"/>
              <a:chOff x="332509" y="3092335"/>
              <a:chExt cx="1989513" cy="369333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6C6C826-B076-126D-7F28-11E8406052BC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23AE1C3-0E48-8986-EAEC-A2DB20B88C01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9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Government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5660713-EC93-3485-32F2-A27BFED43835}"/>
                </a:ext>
              </a:extLst>
            </p:cNvPr>
            <p:cNvGrpSpPr/>
            <p:nvPr/>
          </p:nvGrpSpPr>
          <p:grpSpPr>
            <a:xfrm>
              <a:off x="1571066" y="4083373"/>
              <a:ext cx="1558637" cy="646331"/>
              <a:chOff x="332509" y="3092335"/>
              <a:chExt cx="1989513" cy="646331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6A7F6B6-F3C5-B0AB-AD97-FA041340B1F6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2C23C38-0D96-2038-337F-60230C137701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085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Product Markets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E52F4F4-40E6-EB5E-E77F-5CCC597AF251}"/>
                </a:ext>
              </a:extLst>
            </p:cNvPr>
            <p:cNvGrpSpPr/>
            <p:nvPr/>
          </p:nvGrpSpPr>
          <p:grpSpPr>
            <a:xfrm>
              <a:off x="1571523" y="5338074"/>
              <a:ext cx="1561272" cy="646331"/>
              <a:chOff x="332509" y="3092335"/>
              <a:chExt cx="1992877" cy="646331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EB50C9C-05F7-2C86-D032-409FFC2F3D61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EE455FC-D1EF-D180-9B2E-CB90425DE4DB}"/>
                  </a:ext>
                </a:extLst>
              </p:cNvPr>
              <p:cNvSpPr txBox="1"/>
              <p:nvPr/>
            </p:nvSpPr>
            <p:spPr>
              <a:xfrm>
                <a:off x="332510" y="3092335"/>
                <a:ext cx="19928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Foreign Markets</a:t>
                </a:r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D1404B4-AB3B-F285-6E4F-E1F6C219B207}"/>
                </a:ext>
              </a:extLst>
            </p:cNvPr>
            <p:cNvCxnSpPr>
              <a:cxnSpLocks/>
              <a:stCxn id="73" idx="1"/>
            </p:cNvCxnSpPr>
            <p:nvPr/>
          </p:nvCxnSpPr>
          <p:spPr>
            <a:xfrm flipH="1" flipV="1">
              <a:off x="1054141" y="1745443"/>
              <a:ext cx="512431" cy="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8885F35-6D26-8478-F3CB-EAC62C3E928F}"/>
                </a:ext>
              </a:extLst>
            </p:cNvPr>
            <p:cNvCxnSpPr>
              <a:cxnSpLocks/>
              <a:stCxn id="69" idx="0"/>
            </p:cNvCxnSpPr>
            <p:nvPr/>
          </p:nvCxnSpPr>
          <p:spPr>
            <a:xfrm flipH="1" flipV="1">
              <a:off x="1054141" y="1745444"/>
              <a:ext cx="2124" cy="1145883"/>
            </a:xfrm>
            <a:prstGeom prst="line">
              <a:avLst/>
            </a:prstGeom>
            <a:ln w="12700">
              <a:solidFill>
                <a:srgbClr val="5454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3A9A57A-7D2A-3446-841C-0AF8E5874CE8}"/>
                </a:ext>
              </a:extLst>
            </p:cNvPr>
            <p:cNvCxnSpPr>
              <a:cxnSpLocks/>
              <a:endCxn id="73" idx="3"/>
            </p:cNvCxnSpPr>
            <p:nvPr/>
          </p:nvCxnSpPr>
          <p:spPr>
            <a:xfrm flipH="1">
              <a:off x="3120179" y="1745442"/>
              <a:ext cx="511789" cy="3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E690605-8369-C792-3B7E-4AC8DD7F4945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H="1" flipV="1">
              <a:off x="3631968" y="1745443"/>
              <a:ext cx="1" cy="1149924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B42A227-B5F1-E942-6B05-BD9800E68AFF}"/>
                </a:ext>
              </a:extLst>
            </p:cNvPr>
            <p:cNvCxnSpPr>
              <a:cxnSpLocks/>
              <a:endCxn id="71" idx="2"/>
            </p:cNvCxnSpPr>
            <p:nvPr/>
          </p:nvCxnSpPr>
          <p:spPr>
            <a:xfrm flipH="1" flipV="1">
              <a:off x="3631969" y="3264699"/>
              <a:ext cx="1" cy="1141846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BED4376-7BBB-1B80-7268-9D22BC9DAAE3}"/>
                </a:ext>
              </a:extLst>
            </p:cNvPr>
            <p:cNvCxnSpPr>
              <a:cxnSpLocks/>
              <a:endCxn id="69" idx="2"/>
            </p:cNvCxnSpPr>
            <p:nvPr/>
          </p:nvCxnSpPr>
          <p:spPr>
            <a:xfrm flipV="1">
              <a:off x="1054143" y="3260659"/>
              <a:ext cx="2122" cy="114588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B147CF1-E95E-B078-2193-E95AC5F23D35}"/>
                </a:ext>
              </a:extLst>
            </p:cNvPr>
            <p:cNvCxnSpPr>
              <a:cxnSpLocks/>
              <a:endCxn id="63" idx="3"/>
            </p:cNvCxnSpPr>
            <p:nvPr/>
          </p:nvCxnSpPr>
          <p:spPr>
            <a:xfrm flipH="1">
              <a:off x="3122922" y="4406534"/>
              <a:ext cx="4439566" cy="5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04D12DB-A15B-C38E-F097-422802A9421E}"/>
                </a:ext>
              </a:extLst>
            </p:cNvPr>
            <p:cNvCxnSpPr>
              <a:cxnSpLocks/>
              <a:stCxn id="63" idx="1"/>
            </p:cNvCxnSpPr>
            <p:nvPr/>
          </p:nvCxnSpPr>
          <p:spPr>
            <a:xfrm flipH="1" flipV="1">
              <a:off x="1056390" y="4406538"/>
              <a:ext cx="514676" cy="1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2F30AB6-CDD4-6637-DDE5-6E3CA17B65AE}"/>
                </a:ext>
              </a:extLst>
            </p:cNvPr>
            <p:cNvCxnSpPr>
              <a:cxnSpLocks/>
              <a:stCxn id="63" idx="0"/>
            </p:cNvCxnSpPr>
            <p:nvPr/>
          </p:nvCxnSpPr>
          <p:spPr>
            <a:xfrm flipV="1">
              <a:off x="2346994" y="3075990"/>
              <a:ext cx="3389" cy="1007383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AA484EA-EE3F-EB63-E8D4-466D4169A8FC}"/>
                </a:ext>
              </a:extLst>
            </p:cNvPr>
            <p:cNvCxnSpPr/>
            <p:nvPr/>
          </p:nvCxnSpPr>
          <p:spPr>
            <a:xfrm flipH="1">
              <a:off x="1833461" y="3075989"/>
              <a:ext cx="511841" cy="1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2C7CF73-9946-5E47-0E9D-91990242F90C}"/>
                </a:ext>
              </a:extLst>
            </p:cNvPr>
            <p:cNvSpPr txBox="1"/>
            <p:nvPr/>
          </p:nvSpPr>
          <p:spPr>
            <a:xfrm>
              <a:off x="3047166" y="4411546"/>
              <a:ext cx="11696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Private consumption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68BF207-2F5B-AB96-BD6A-A4E425BF96CC}"/>
                </a:ext>
              </a:extLst>
            </p:cNvPr>
            <p:cNvSpPr txBox="1"/>
            <p:nvPr/>
          </p:nvSpPr>
          <p:spPr>
            <a:xfrm>
              <a:off x="3125208" y="1222031"/>
              <a:ext cx="742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54544B"/>
                  </a:solidFill>
                </a:rPr>
                <a:t>Wages &amp; rents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7EE970D-D01C-ABC9-8312-FC07677E38EA}"/>
                </a:ext>
              </a:extLst>
            </p:cNvPr>
            <p:cNvSpPr txBox="1"/>
            <p:nvPr/>
          </p:nvSpPr>
          <p:spPr>
            <a:xfrm>
              <a:off x="1095585" y="3395682"/>
              <a:ext cx="126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Intermediate demand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A1D8DA8-1AC6-089E-B699-A73DBB8DB08F}"/>
                </a:ext>
              </a:extLst>
            </p:cNvPr>
            <p:cNvCxnSpPr>
              <a:cxnSpLocks/>
              <a:stCxn id="61" idx="0"/>
              <a:endCxn id="63" idx="2"/>
            </p:cNvCxnSpPr>
            <p:nvPr/>
          </p:nvCxnSpPr>
          <p:spPr>
            <a:xfrm flipH="1" flipV="1">
              <a:off x="2346994" y="4729704"/>
              <a:ext cx="5166" cy="608370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5110FC8-97C3-F3E4-E07B-EF5987AF8008}"/>
                </a:ext>
              </a:extLst>
            </p:cNvPr>
            <p:cNvCxnSpPr/>
            <p:nvPr/>
          </p:nvCxnSpPr>
          <p:spPr>
            <a:xfrm flipV="1">
              <a:off x="822326" y="3265230"/>
              <a:ext cx="734" cy="2404305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03323E4-B5C1-AC07-2F4E-C270D258B14B}"/>
                </a:ext>
              </a:extLst>
            </p:cNvPr>
            <p:cNvCxnSpPr>
              <a:cxnSpLocks/>
              <a:stCxn id="61" idx="1"/>
            </p:cNvCxnSpPr>
            <p:nvPr/>
          </p:nvCxnSpPr>
          <p:spPr>
            <a:xfrm flipH="1">
              <a:off x="822326" y="5661240"/>
              <a:ext cx="749198" cy="550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CDF5B83-A282-04F6-26D9-FC53A370A01A}"/>
                </a:ext>
              </a:extLst>
            </p:cNvPr>
            <p:cNvSpPr txBox="1"/>
            <p:nvPr/>
          </p:nvSpPr>
          <p:spPr>
            <a:xfrm>
              <a:off x="925483" y="4406534"/>
              <a:ext cx="6410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Sales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8820A31-7522-0270-3A87-86FFB9AC02E7}"/>
                </a:ext>
              </a:extLst>
            </p:cNvPr>
            <p:cNvSpPr txBox="1"/>
            <p:nvPr/>
          </p:nvSpPr>
          <p:spPr>
            <a:xfrm>
              <a:off x="1572738" y="5030860"/>
              <a:ext cx="761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Imports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10AD4FB-A5A5-0528-B580-CF99A7A9A83A}"/>
                </a:ext>
              </a:extLst>
            </p:cNvPr>
            <p:cNvCxnSpPr>
              <a:cxnSpLocks/>
              <a:endCxn id="65" idx="2"/>
            </p:cNvCxnSpPr>
            <p:nvPr/>
          </p:nvCxnSpPr>
          <p:spPr>
            <a:xfrm flipH="1" flipV="1">
              <a:off x="5614357" y="3260659"/>
              <a:ext cx="1" cy="1146827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08696FE-C2CB-AEED-CFC3-F1696F23AE7D}"/>
                </a:ext>
              </a:extLst>
            </p:cNvPr>
            <p:cNvCxnSpPr>
              <a:cxnSpLocks/>
              <a:endCxn id="67" idx="2"/>
            </p:cNvCxnSpPr>
            <p:nvPr/>
          </p:nvCxnSpPr>
          <p:spPr>
            <a:xfrm flipH="1" flipV="1">
              <a:off x="7557730" y="3555975"/>
              <a:ext cx="4757" cy="8455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BCD8FFB-8CC9-5A4A-7D46-29A3C7B734EA}"/>
                </a:ext>
              </a:extLst>
            </p:cNvPr>
            <p:cNvSpPr txBox="1"/>
            <p:nvPr/>
          </p:nvSpPr>
          <p:spPr>
            <a:xfrm>
              <a:off x="925483" y="1213657"/>
              <a:ext cx="6410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Factor costs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0757008-9289-46F4-C414-A7A2AD77339A}"/>
                </a:ext>
              </a:extLst>
            </p:cNvPr>
            <p:cNvSpPr txBox="1"/>
            <p:nvPr/>
          </p:nvSpPr>
          <p:spPr>
            <a:xfrm>
              <a:off x="5025984" y="4417896"/>
              <a:ext cx="11696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Public consumption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BDD2AD8-4690-51F3-8ECA-7E0717906F7F}"/>
                </a:ext>
              </a:extLst>
            </p:cNvPr>
            <p:cNvSpPr txBox="1"/>
            <p:nvPr/>
          </p:nvSpPr>
          <p:spPr>
            <a:xfrm>
              <a:off x="6634163" y="4413135"/>
              <a:ext cx="10013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Investment demand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F7FE946-E0D2-8EFD-B2DE-DF46CD5211C2}"/>
                </a:ext>
              </a:extLst>
            </p:cNvPr>
            <p:cNvCxnSpPr/>
            <p:nvPr/>
          </p:nvCxnSpPr>
          <p:spPr>
            <a:xfrm flipH="1">
              <a:off x="3831116" y="1748548"/>
              <a:ext cx="3731370" cy="4986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1EBF057-49AD-6A58-B2F9-C000148BCEB3}"/>
                </a:ext>
              </a:extLst>
            </p:cNvPr>
            <p:cNvCxnSpPr/>
            <p:nvPr/>
          </p:nvCxnSpPr>
          <p:spPr>
            <a:xfrm flipH="1" flipV="1">
              <a:off x="3828341" y="1746786"/>
              <a:ext cx="1" cy="114992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E0B295E-075B-0AC2-6A60-423BEC10F2EE}"/>
                </a:ext>
              </a:extLst>
            </p:cNvPr>
            <p:cNvCxnSpPr>
              <a:cxnSpLocks/>
              <a:stCxn id="67" idx="0"/>
            </p:cNvCxnSpPr>
            <p:nvPr/>
          </p:nvCxnSpPr>
          <p:spPr>
            <a:xfrm flipV="1">
              <a:off x="7557730" y="1740897"/>
              <a:ext cx="4756" cy="1168747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8A49F04-5A3D-F9DE-8E65-5A93CB138D15}"/>
                </a:ext>
              </a:extLst>
            </p:cNvPr>
            <p:cNvSpPr txBox="1"/>
            <p:nvPr/>
          </p:nvSpPr>
          <p:spPr>
            <a:xfrm>
              <a:off x="5494193" y="1438300"/>
              <a:ext cx="20682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Domestic private savings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6D3FE7C-308C-46CB-91A5-0104A02364DB}"/>
                </a:ext>
              </a:extLst>
            </p:cNvPr>
            <p:cNvCxnSpPr/>
            <p:nvPr/>
          </p:nvCxnSpPr>
          <p:spPr>
            <a:xfrm flipH="1">
              <a:off x="4025901" y="2524891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DCABD3F-1F1C-1F1A-B15A-7522D47947C1}"/>
                </a:ext>
              </a:extLst>
            </p:cNvPr>
            <p:cNvCxnSpPr/>
            <p:nvPr/>
          </p:nvCxnSpPr>
          <p:spPr>
            <a:xfrm flipH="1" flipV="1">
              <a:off x="5351673" y="2525672"/>
              <a:ext cx="2772" cy="36255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C094DD6-A42B-E429-3290-699B18AC6D22}"/>
                </a:ext>
              </a:extLst>
            </p:cNvPr>
            <p:cNvCxnSpPr/>
            <p:nvPr/>
          </p:nvCxnSpPr>
          <p:spPr>
            <a:xfrm flipH="1" flipV="1">
              <a:off x="5750407" y="2520618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1D20AD2-6809-D6B9-927D-AE0F027F451D}"/>
                </a:ext>
              </a:extLst>
            </p:cNvPr>
            <p:cNvCxnSpPr/>
            <p:nvPr/>
          </p:nvCxnSpPr>
          <p:spPr>
            <a:xfrm flipH="1">
              <a:off x="5751446" y="2523329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29F767A-1E19-6FE7-1E0E-704FBBBF4AB4}"/>
                </a:ext>
              </a:extLst>
            </p:cNvPr>
            <p:cNvCxnSpPr/>
            <p:nvPr/>
          </p:nvCxnSpPr>
          <p:spPr>
            <a:xfrm flipH="1" flipV="1">
              <a:off x="7072484" y="2530461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C043D1A-30DD-EBE5-04F2-4BA2FF2DB648}"/>
                </a:ext>
              </a:extLst>
            </p:cNvPr>
            <p:cNvCxnSpPr/>
            <p:nvPr/>
          </p:nvCxnSpPr>
          <p:spPr>
            <a:xfrm flipH="1" flipV="1">
              <a:off x="5346081" y="3260426"/>
              <a:ext cx="2772" cy="3625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14A1FA7-63AD-79B0-12F4-41ADAEAB6F1B}"/>
                </a:ext>
              </a:extLst>
            </p:cNvPr>
            <p:cNvCxnSpPr/>
            <p:nvPr/>
          </p:nvCxnSpPr>
          <p:spPr>
            <a:xfrm flipH="1" flipV="1">
              <a:off x="4023248" y="3259688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69FFCC4-197B-9894-1F22-E2383E7F6F2A}"/>
                </a:ext>
              </a:extLst>
            </p:cNvPr>
            <p:cNvCxnSpPr/>
            <p:nvPr/>
          </p:nvCxnSpPr>
          <p:spPr>
            <a:xfrm flipH="1">
              <a:off x="4025901" y="3623159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25F626D-247D-9E8C-B18C-E79E9166C749}"/>
                </a:ext>
              </a:extLst>
            </p:cNvPr>
            <p:cNvSpPr txBox="1"/>
            <p:nvPr/>
          </p:nvSpPr>
          <p:spPr>
            <a:xfrm>
              <a:off x="5739385" y="2213230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Public savings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5C398FB-806E-4F52-3FBB-B9A975A6BED6}"/>
                </a:ext>
              </a:extLst>
            </p:cNvPr>
            <p:cNvSpPr txBox="1"/>
            <p:nvPr/>
          </p:nvSpPr>
          <p:spPr>
            <a:xfrm>
              <a:off x="4009508" y="2217090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Direct taxes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C0FF1BB-215E-6ABA-2076-36B554113A27}"/>
                </a:ext>
              </a:extLst>
            </p:cNvPr>
            <p:cNvCxnSpPr/>
            <p:nvPr/>
          </p:nvCxnSpPr>
          <p:spPr>
            <a:xfrm flipH="1">
              <a:off x="3122922" y="5656298"/>
              <a:ext cx="4674416" cy="0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51FA49F-5C9A-F5D0-D11C-045441B34F83}"/>
                </a:ext>
              </a:extLst>
            </p:cNvPr>
            <p:cNvCxnSpPr/>
            <p:nvPr/>
          </p:nvCxnSpPr>
          <p:spPr>
            <a:xfrm flipV="1">
              <a:off x="7795022" y="3555975"/>
              <a:ext cx="2316" cy="210032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0F9A91D-3844-A4C1-13C8-206E8716AAE6}"/>
                </a:ext>
              </a:extLst>
            </p:cNvPr>
            <p:cNvSpPr txBox="1"/>
            <p:nvPr/>
          </p:nvSpPr>
          <p:spPr>
            <a:xfrm>
              <a:off x="5144823" y="5338074"/>
              <a:ext cx="26652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Foreign savings or capital inflows</a:t>
              </a:r>
              <a:endParaRPr lang="en-US" dirty="0">
                <a:solidFill>
                  <a:srgbClr val="54544B"/>
                </a:solidFill>
              </a:endParaRPr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51C1B73-0CE6-A10D-FBAD-A33E87E51650}"/>
              </a:ext>
            </a:extLst>
          </p:cNvPr>
          <p:cNvCxnSpPr/>
          <p:nvPr/>
        </p:nvCxnSpPr>
        <p:spPr>
          <a:xfrm flipH="1" flipV="1">
            <a:off x="7062144" y="3321562"/>
            <a:ext cx="452" cy="982105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142B2D3-05CB-0D4B-7174-D0E0519DBED1}"/>
              </a:ext>
            </a:extLst>
          </p:cNvPr>
          <p:cNvSpPr txBox="1"/>
          <p:nvPr/>
        </p:nvSpPr>
        <p:spPr>
          <a:xfrm>
            <a:off x="5717957" y="4000099"/>
            <a:ext cx="1350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54544B"/>
                </a:solidFill>
              </a:rPr>
              <a:t>Indirect taxes</a:t>
            </a:r>
            <a:endParaRPr lang="en-US" dirty="0">
              <a:solidFill>
                <a:srgbClr val="5454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1100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48F3C-7803-14D4-D6ED-C113E8B3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Forms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867905-200D-AE7A-C197-976DF02D7657}"/>
              </a:ext>
            </a:extLst>
          </p:cNvPr>
          <p:cNvGrpSpPr/>
          <p:nvPr/>
        </p:nvGrpSpPr>
        <p:grpSpPr>
          <a:xfrm>
            <a:off x="977311" y="1144412"/>
            <a:ext cx="7054969" cy="1183016"/>
            <a:chOff x="408726" y="1360993"/>
            <a:chExt cx="7054969" cy="11830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6593373-C3DF-776F-6A8E-409423DE46C0}"/>
                </a:ext>
              </a:extLst>
            </p:cNvPr>
            <p:cNvSpPr/>
            <p:nvPr/>
          </p:nvSpPr>
          <p:spPr>
            <a:xfrm>
              <a:off x="408726" y="1360993"/>
              <a:ext cx="3848691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Cobb-Douglas (CD)</a:t>
              </a:r>
            </a:p>
            <a:p>
              <a:r>
                <a:rPr lang="en-US" sz="2400" dirty="0"/>
                <a:t>Constant expenditure shares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219C5F1-6573-CC2A-1B19-862138498F27}"/>
                </a:ext>
              </a:extLst>
            </p:cNvPr>
            <p:cNvGrpSpPr/>
            <p:nvPr/>
          </p:nvGrpSpPr>
          <p:grpSpPr>
            <a:xfrm>
              <a:off x="4545332" y="1360993"/>
              <a:ext cx="2918363" cy="1183016"/>
              <a:chOff x="4876636" y="1343681"/>
              <a:chExt cx="2918363" cy="118301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50302660-8F49-5296-A768-FA6E1A1A6537}"/>
                      </a:ext>
                    </a:extLst>
                  </p:cNvPr>
                  <p:cNvSpPr txBox="1"/>
                  <p:nvPr/>
                </p:nvSpPr>
                <p:spPr>
                  <a:xfrm>
                    <a:off x="4876636" y="1343681"/>
                    <a:ext cx="2352182" cy="3866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" name="TextBox 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6636" y="1343681"/>
                    <a:ext cx="2352182" cy="38664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3886" t="-4762" r="-2073" b="-28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10E0F24-966D-A55D-245C-FD3C989FF46B}"/>
                      </a:ext>
                    </a:extLst>
                  </p:cNvPr>
                  <p:cNvSpPr txBox="1"/>
                  <p:nvPr/>
                </p:nvSpPr>
                <p:spPr>
                  <a:xfrm>
                    <a:off x="4876636" y="1759179"/>
                    <a:ext cx="2156681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6636" y="1759179"/>
                    <a:ext cx="2156681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412" r="-3672" b="-3278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13F57F8A-90D1-200C-1D52-874A6054FFB5}"/>
                      </a:ext>
                    </a:extLst>
                  </p:cNvPr>
                  <p:cNvSpPr txBox="1"/>
                  <p:nvPr/>
                </p:nvSpPr>
                <p:spPr>
                  <a:xfrm>
                    <a:off x="4876636" y="2157365"/>
                    <a:ext cx="2918363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Text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6636" y="2157365"/>
                    <a:ext cx="2918363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835" r="-2505" b="-344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24AC6DF-29A0-04BA-20E4-8EEA3CF287DD}"/>
              </a:ext>
            </a:extLst>
          </p:cNvPr>
          <p:cNvSpPr/>
          <p:nvPr/>
        </p:nvSpPr>
        <p:spPr>
          <a:xfrm>
            <a:off x="977311" y="2621465"/>
            <a:ext cx="53057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Constant Elasticity of Substitution (CES)</a:t>
            </a:r>
          </a:p>
          <a:p>
            <a:r>
              <a:rPr lang="en-US" sz="2400" dirty="0"/>
              <a:t>Shares relative to prices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6DC361-200E-8B1D-84B6-4E71786C38BE}"/>
              </a:ext>
            </a:extLst>
          </p:cNvPr>
          <p:cNvSpPr/>
          <p:nvPr/>
        </p:nvSpPr>
        <p:spPr>
          <a:xfrm>
            <a:off x="7147005" y="2617497"/>
            <a:ext cx="27878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Leontief</a:t>
            </a:r>
          </a:p>
          <a:p>
            <a:r>
              <a:rPr lang="en-US" sz="2400" dirty="0"/>
              <a:t>Fixed quantity ratios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3DFA25-2FF1-BC03-5D6D-94BBF614C1C8}"/>
              </a:ext>
            </a:extLst>
          </p:cNvPr>
          <p:cNvGrpSpPr/>
          <p:nvPr/>
        </p:nvGrpSpPr>
        <p:grpSpPr>
          <a:xfrm>
            <a:off x="977311" y="2970703"/>
            <a:ext cx="3310544" cy="3411272"/>
            <a:chOff x="536121" y="3141928"/>
            <a:chExt cx="3310544" cy="3411272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56795BF2-2C95-53A2-6224-B81B290A9CD9}"/>
                </a:ext>
              </a:extLst>
            </p:cNvPr>
            <p:cNvSpPr/>
            <p:nvPr/>
          </p:nvSpPr>
          <p:spPr>
            <a:xfrm rot="10800000">
              <a:off x="1702314" y="3141928"/>
              <a:ext cx="2054678" cy="2286000"/>
            </a:xfrm>
            <a:prstGeom prst="arc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54544B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CF0AED3-A056-6B1C-5F95-F0A05EA560FA}"/>
                </a:ext>
              </a:extLst>
            </p:cNvPr>
            <p:cNvGrpSpPr/>
            <p:nvPr/>
          </p:nvGrpSpPr>
          <p:grpSpPr>
            <a:xfrm>
              <a:off x="536121" y="3745468"/>
              <a:ext cx="3241530" cy="2807732"/>
              <a:chOff x="1219200" y="2746321"/>
              <a:chExt cx="3241530" cy="2807732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364E3102-3AC3-5DBA-8377-EDB7BAB36F19}"/>
                  </a:ext>
                </a:extLst>
              </p:cNvPr>
              <p:cNvCxnSpPr/>
              <p:nvPr/>
            </p:nvCxnSpPr>
            <p:spPr>
              <a:xfrm flipV="1">
                <a:off x="1740239" y="2746321"/>
                <a:ext cx="0" cy="243840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5BAC369B-86A9-D13A-AE04-D1E6D11E1EE1}"/>
                  </a:ext>
                </a:extLst>
              </p:cNvPr>
              <p:cNvCxnSpPr/>
              <p:nvPr/>
            </p:nvCxnSpPr>
            <p:spPr>
              <a:xfrm>
                <a:off x="1740239" y="5184721"/>
                <a:ext cx="2720491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D1041DE-719B-CB31-2F7C-E9103544655C}"/>
                  </a:ext>
                </a:extLst>
              </p:cNvPr>
              <p:cNvSpPr txBox="1"/>
              <p:nvPr/>
            </p:nvSpPr>
            <p:spPr>
              <a:xfrm>
                <a:off x="1219200" y="2782676"/>
                <a:ext cx="461665" cy="2402045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pPr algn="r"/>
                <a:r>
                  <a:rPr lang="en-US" b="1" dirty="0"/>
                  <a:t>Labor  employment (L)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A619EA-B111-1934-7562-A0638DB9A5EA}"/>
                  </a:ext>
                </a:extLst>
              </p:cNvPr>
              <p:cNvSpPr txBox="1"/>
              <p:nvPr/>
            </p:nvSpPr>
            <p:spPr>
              <a:xfrm>
                <a:off x="1955289" y="5184721"/>
                <a:ext cx="2429242" cy="369332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algn="r"/>
                <a:r>
                  <a:rPr lang="en-US" b="1" dirty="0"/>
                  <a:t>Capital employment (K)</a:t>
                </a:r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F40699-E72E-1174-D609-99792ED7C4CE}"/>
                </a:ext>
              </a:extLst>
            </p:cNvPr>
            <p:cNvCxnSpPr/>
            <p:nvPr/>
          </p:nvCxnSpPr>
          <p:spPr>
            <a:xfrm>
              <a:off x="1057160" y="4373246"/>
              <a:ext cx="2298361" cy="1810622"/>
            </a:xfrm>
            <a:prstGeom prst="line">
              <a:avLst/>
            </a:prstGeom>
            <a:ln w="15875">
              <a:solidFill>
                <a:srgbClr val="C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3324067-13BF-7CA1-5F62-FF4D28879B89}"/>
                </a:ext>
              </a:extLst>
            </p:cNvPr>
            <p:cNvCxnSpPr/>
            <p:nvPr/>
          </p:nvCxnSpPr>
          <p:spPr>
            <a:xfrm>
              <a:off x="1057160" y="3893989"/>
              <a:ext cx="1792030" cy="2289879"/>
            </a:xfrm>
            <a:prstGeom prst="line">
              <a:avLst/>
            </a:prstGeom>
            <a:ln w="15875"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B7F39C1-1385-7261-CEAA-3B222A966D73}"/>
                </a:ext>
              </a:extLst>
            </p:cNvPr>
            <p:cNvSpPr txBox="1"/>
            <p:nvPr/>
          </p:nvSpPr>
          <p:spPr>
            <a:xfrm>
              <a:off x="1143000" y="5666154"/>
              <a:ext cx="2703665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C00000"/>
                  </a:solidFill>
                </a:rPr>
                <a:t>r/w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5D110B-E440-13FC-3ECE-436E13836069}"/>
                </a:ext>
              </a:extLst>
            </p:cNvPr>
            <p:cNvSpPr txBox="1"/>
            <p:nvPr/>
          </p:nvSpPr>
          <p:spPr>
            <a:xfrm>
              <a:off x="1490870" y="5646588"/>
              <a:ext cx="1060395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r*/w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4CC92A-018B-7024-6FEB-2C01CD0A1742}"/>
              </a:ext>
            </a:extLst>
          </p:cNvPr>
          <p:cNvGrpSpPr/>
          <p:nvPr/>
        </p:nvGrpSpPr>
        <p:grpSpPr>
          <a:xfrm>
            <a:off x="7147005" y="3602640"/>
            <a:ext cx="3241530" cy="2807732"/>
            <a:chOff x="4995256" y="3745468"/>
            <a:chExt cx="3241530" cy="280773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A3B301-20EC-9693-77A3-61EED4428E7D}"/>
                </a:ext>
              </a:extLst>
            </p:cNvPr>
            <p:cNvGrpSpPr/>
            <p:nvPr/>
          </p:nvGrpSpPr>
          <p:grpSpPr>
            <a:xfrm>
              <a:off x="4995256" y="3745468"/>
              <a:ext cx="3241530" cy="2807732"/>
              <a:chOff x="1219200" y="2746321"/>
              <a:chExt cx="3241530" cy="2807732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F0DCD345-5DD0-26C4-EA58-5E7FE9E14320}"/>
                  </a:ext>
                </a:extLst>
              </p:cNvPr>
              <p:cNvCxnSpPr/>
              <p:nvPr/>
            </p:nvCxnSpPr>
            <p:spPr>
              <a:xfrm flipV="1">
                <a:off x="1740239" y="2746321"/>
                <a:ext cx="0" cy="243840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76947180-C7AC-AD49-DD89-0F0897B42C18}"/>
                  </a:ext>
                </a:extLst>
              </p:cNvPr>
              <p:cNvCxnSpPr/>
              <p:nvPr/>
            </p:nvCxnSpPr>
            <p:spPr>
              <a:xfrm>
                <a:off x="1740239" y="5184721"/>
                <a:ext cx="2720491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EF3DFC1-9C41-E2D3-329D-FEC0E0E4A7A1}"/>
                  </a:ext>
                </a:extLst>
              </p:cNvPr>
              <p:cNvSpPr txBox="1"/>
              <p:nvPr/>
            </p:nvSpPr>
            <p:spPr>
              <a:xfrm>
                <a:off x="1219200" y="2782676"/>
                <a:ext cx="461665" cy="2402045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pPr algn="r"/>
                <a:r>
                  <a:rPr lang="en-US" b="1" dirty="0"/>
                  <a:t>Labor  employment (L)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2BB7F7A-79F9-16EA-7E06-4ED8F3FE6CA2}"/>
                  </a:ext>
                </a:extLst>
              </p:cNvPr>
              <p:cNvSpPr txBox="1"/>
              <p:nvPr/>
            </p:nvSpPr>
            <p:spPr>
              <a:xfrm>
                <a:off x="1955509" y="5184721"/>
                <a:ext cx="2429021" cy="369332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algn="r"/>
                <a:r>
                  <a:rPr lang="en-US" b="1" dirty="0"/>
                  <a:t>Capital employment (K)</a:t>
                </a:r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C22C30F-4B30-7D7B-AB1F-55534046BE92}"/>
                </a:ext>
              </a:extLst>
            </p:cNvPr>
            <p:cNvCxnSpPr/>
            <p:nvPr/>
          </p:nvCxnSpPr>
          <p:spPr>
            <a:xfrm flipH="1">
              <a:off x="5516296" y="3745468"/>
              <a:ext cx="2103704" cy="2438400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3DFBE6-C958-B4A8-696B-0EB2BB70D67A}"/>
                </a:ext>
              </a:extLst>
            </p:cNvPr>
            <p:cNvCxnSpPr/>
            <p:nvPr/>
          </p:nvCxnSpPr>
          <p:spPr>
            <a:xfrm>
              <a:off x="6190818" y="3893989"/>
              <a:ext cx="0" cy="1505821"/>
            </a:xfrm>
            <a:prstGeom prst="line">
              <a:avLst/>
            </a:prstGeom>
            <a:ln w="15875">
              <a:solidFill>
                <a:srgbClr val="C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42098ED-28A7-C60E-B894-430440876605}"/>
                </a:ext>
              </a:extLst>
            </p:cNvPr>
            <p:cNvCxnSpPr/>
            <p:nvPr/>
          </p:nvCxnSpPr>
          <p:spPr>
            <a:xfrm flipH="1">
              <a:off x="6190818" y="5399810"/>
              <a:ext cx="1856564" cy="0"/>
            </a:xfrm>
            <a:prstGeom prst="line">
              <a:avLst/>
            </a:prstGeom>
            <a:ln w="15875">
              <a:solidFill>
                <a:srgbClr val="C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712086A-A28F-D841-788B-8F1F94A2B2F5}"/>
                </a:ext>
              </a:extLst>
            </p:cNvPr>
            <p:cNvCxnSpPr/>
            <p:nvPr/>
          </p:nvCxnSpPr>
          <p:spPr>
            <a:xfrm>
              <a:off x="6525436" y="3893989"/>
              <a:ext cx="0" cy="1124820"/>
            </a:xfrm>
            <a:prstGeom prst="line">
              <a:avLst/>
            </a:prstGeom>
            <a:ln w="15875">
              <a:solidFill>
                <a:schemeClr val="accent5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D55F57E-15F6-80C3-841E-157F319B65FC}"/>
                </a:ext>
              </a:extLst>
            </p:cNvPr>
            <p:cNvCxnSpPr/>
            <p:nvPr/>
          </p:nvCxnSpPr>
          <p:spPr>
            <a:xfrm flipH="1">
              <a:off x="6525436" y="5018809"/>
              <a:ext cx="1475563" cy="1"/>
            </a:xfrm>
            <a:prstGeom prst="line">
              <a:avLst/>
            </a:prstGeom>
            <a:ln w="15875">
              <a:solidFill>
                <a:schemeClr val="accent5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41905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8085-8AEA-4E9C-8F6B-44F19B69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Linkages vs. Trade-Offs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71F64-785E-49A3-96C5-F0E647297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0" y="1572102"/>
            <a:ext cx="6464300" cy="5075374"/>
          </a:xfrm>
        </p:spPr>
        <p:txBody>
          <a:bodyPr>
            <a:normAutofit/>
          </a:bodyPr>
          <a:lstStyle/>
          <a:p>
            <a:r>
              <a:rPr lang="en-US" b="1" dirty="0"/>
              <a:t>Linkages in the SAM</a:t>
            </a:r>
          </a:p>
          <a:p>
            <a:pPr lvl="1"/>
            <a:r>
              <a:rPr lang="en-US" dirty="0"/>
              <a:t>Backward &amp; forward production linkages</a:t>
            </a:r>
          </a:p>
          <a:p>
            <a:pPr lvl="1"/>
            <a:r>
              <a:rPr lang="en-US" dirty="0"/>
              <a:t>Income/demand linkages</a:t>
            </a:r>
          </a:p>
          <a:p>
            <a:pPr lvl="1"/>
            <a:r>
              <a:rPr lang="en-US" dirty="0"/>
              <a:t>Foreign trade</a:t>
            </a:r>
          </a:p>
          <a:p>
            <a:endParaRPr lang="en-US" sz="1200" dirty="0"/>
          </a:p>
          <a:p>
            <a:r>
              <a:rPr lang="en-US" b="1" dirty="0"/>
              <a:t>Multiplier models assume unlimited resources</a:t>
            </a:r>
          </a:p>
          <a:p>
            <a:pPr lvl="1"/>
            <a:r>
              <a:rPr lang="en-US" dirty="0"/>
              <a:t>Implies that prices are fixed</a:t>
            </a:r>
          </a:p>
          <a:p>
            <a:pPr lvl="1"/>
            <a:r>
              <a:rPr lang="en-US" dirty="0"/>
              <a:t>No trade-offs</a:t>
            </a:r>
          </a:p>
          <a:p>
            <a:endParaRPr lang="en-US" sz="1050" b="1" dirty="0"/>
          </a:p>
          <a:p>
            <a:r>
              <a:rPr lang="en-US" b="1" dirty="0"/>
              <a:t>Resource constraints introduce trade-offs</a:t>
            </a:r>
          </a:p>
          <a:p>
            <a:pPr lvl="1"/>
            <a:r>
              <a:rPr lang="en-US" dirty="0"/>
              <a:t>Factors are limited = wage rates are set in markets</a:t>
            </a:r>
          </a:p>
          <a:p>
            <a:pPr lvl="1"/>
            <a:r>
              <a:rPr lang="en-US" dirty="0"/>
              <a:t>Product supply is limited = product prices adjust</a:t>
            </a:r>
          </a:p>
          <a:p>
            <a:pPr lvl="1"/>
            <a:r>
              <a:rPr lang="en-US" dirty="0"/>
              <a:t>Foreign exchange is limited = exchange rate adjusts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792DD-57AF-4A39-B22A-23AFA926D089}"/>
              </a:ext>
            </a:extLst>
          </p:cNvPr>
          <p:cNvSpPr txBox="1"/>
          <p:nvPr/>
        </p:nvSpPr>
        <p:spPr>
          <a:xfrm>
            <a:off x="325437" y="3833111"/>
            <a:ext cx="279977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400" b="1" dirty="0"/>
              <a:t>A</a:t>
            </a:r>
            <a:r>
              <a:rPr lang="en-US" sz="1400" dirty="0"/>
              <a:t>	= Activities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C	</a:t>
            </a:r>
            <a:r>
              <a:rPr lang="en-US" sz="1400" dirty="0"/>
              <a:t>= Commodities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F	</a:t>
            </a:r>
            <a:r>
              <a:rPr lang="en-US" sz="1400" dirty="0"/>
              <a:t>= Factors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H	</a:t>
            </a:r>
            <a:r>
              <a:rPr lang="en-US" sz="1400" dirty="0"/>
              <a:t>= Households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G	</a:t>
            </a:r>
            <a:r>
              <a:rPr lang="en-US" sz="1400" dirty="0"/>
              <a:t>= Government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I	</a:t>
            </a:r>
            <a:r>
              <a:rPr lang="en-US" sz="1400" dirty="0"/>
              <a:t>= Investment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W</a:t>
            </a:r>
            <a:r>
              <a:rPr lang="en-US" sz="1400" dirty="0"/>
              <a:t>	= Rest of world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23100-C554-46F4-A1FC-8A2062C2CA57}"/>
              </a:ext>
            </a:extLst>
          </p:cNvPr>
          <p:cNvSpPr txBox="1"/>
          <p:nvPr/>
        </p:nvSpPr>
        <p:spPr>
          <a:xfrm>
            <a:off x="310197" y="1202770"/>
            <a:ext cx="265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Basic SAM layout</a:t>
            </a:r>
          </a:p>
        </p:txBody>
      </p:sp>
      <p:graphicFrame>
        <p:nvGraphicFramePr>
          <p:cNvPr id="6" name="Table 114">
            <a:extLst>
              <a:ext uri="{FF2B5EF4-FFF2-40B4-BE49-F238E27FC236}">
                <a16:creationId xmlns:a16="http://schemas.microsoft.com/office/drawing/2014/main" id="{916E9D2B-24D9-47F0-AC01-E662680B01D8}"/>
              </a:ext>
            </a:extLst>
          </p:cNvPr>
          <p:cNvGraphicFramePr>
            <a:graphicFrameLocks noGrp="1"/>
          </p:cNvGraphicFramePr>
          <p:nvPr/>
        </p:nvGraphicFramePr>
        <p:xfrm>
          <a:off x="310197" y="1582546"/>
          <a:ext cx="3616641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1849">
                  <a:extLst>
                    <a:ext uri="{9D8B030D-6E8A-4147-A177-3AD203B41FA5}">
                      <a16:colId xmlns:a16="http://schemas.microsoft.com/office/drawing/2014/main" val="3066416653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2390178515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2723883678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244517278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3058675632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1778176030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4111222252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479483401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1893929709"/>
                    </a:ext>
                  </a:extLst>
                </a:gridCol>
              </a:tblGrid>
              <a:tr h="239425"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169226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68128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97440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459157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614760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443015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840230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64448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011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1088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28">
            <a:extLst>
              <a:ext uri="{FF2B5EF4-FFF2-40B4-BE49-F238E27FC236}">
                <a16:creationId xmlns:a16="http://schemas.microsoft.com/office/drawing/2014/main" id="{EDB5D7B8-F54A-473B-99D9-70C1FA727E22}"/>
              </a:ext>
            </a:extLst>
          </p:cNvPr>
          <p:cNvSpPr/>
          <p:nvPr/>
        </p:nvSpPr>
        <p:spPr>
          <a:xfrm>
            <a:off x="1110714" y="1824962"/>
            <a:ext cx="399205" cy="238125"/>
          </a:xfrm>
          <a:prstGeom prst="rect">
            <a:avLst/>
          </a:prstGeom>
          <a:solidFill>
            <a:srgbClr val="0B8E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58F7F29-BA3A-4C94-8ABE-D22B6C111DDF}"/>
              </a:ext>
            </a:extLst>
          </p:cNvPr>
          <p:cNvSpPr/>
          <p:nvPr/>
        </p:nvSpPr>
        <p:spPr>
          <a:xfrm>
            <a:off x="1110715" y="1830230"/>
            <a:ext cx="399205" cy="238125"/>
          </a:xfrm>
          <a:prstGeom prst="rect">
            <a:avLst/>
          </a:prstGeom>
          <a:solidFill>
            <a:srgbClr val="0B8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DCD6248-5512-469B-BB06-AAAFC69F6BA9}"/>
              </a:ext>
            </a:extLst>
          </p:cNvPr>
          <p:cNvSpPr/>
          <p:nvPr/>
        </p:nvSpPr>
        <p:spPr>
          <a:xfrm>
            <a:off x="708869" y="3049209"/>
            <a:ext cx="399205" cy="238125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3C41CC0-C1EC-4B52-A79E-E2785A15A2E5}"/>
              </a:ext>
            </a:extLst>
          </p:cNvPr>
          <p:cNvSpPr/>
          <p:nvPr/>
        </p:nvSpPr>
        <p:spPr>
          <a:xfrm>
            <a:off x="710455" y="3051301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876AFD05-657E-4D82-B063-D07C1BA4C038}"/>
              </a:ext>
            </a:extLst>
          </p:cNvPr>
          <p:cNvSpPr/>
          <p:nvPr/>
        </p:nvSpPr>
        <p:spPr>
          <a:xfrm>
            <a:off x="710456" y="2071438"/>
            <a:ext cx="399205" cy="238125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3607810-7BFE-4BB9-A01C-72F8BB0A207A}"/>
              </a:ext>
            </a:extLst>
          </p:cNvPr>
          <p:cNvSpPr/>
          <p:nvPr/>
        </p:nvSpPr>
        <p:spPr>
          <a:xfrm>
            <a:off x="712804" y="2071957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D960E02-C6F3-42CB-ABF9-97E97D6C479C}"/>
              </a:ext>
            </a:extLst>
          </p:cNvPr>
          <p:cNvSpPr/>
          <p:nvPr/>
        </p:nvSpPr>
        <p:spPr>
          <a:xfrm>
            <a:off x="710457" y="2314831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096C249-C6B1-479F-9EA0-CE156B2B0C65}"/>
              </a:ext>
            </a:extLst>
          </p:cNvPr>
          <p:cNvSpPr/>
          <p:nvPr/>
        </p:nvSpPr>
        <p:spPr>
          <a:xfrm>
            <a:off x="712380" y="2316923"/>
            <a:ext cx="399205" cy="238125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EF36228-C451-423B-A88E-1CAE881C4184}"/>
              </a:ext>
            </a:extLst>
          </p:cNvPr>
          <p:cNvSpPr txBox="1"/>
          <p:nvPr/>
        </p:nvSpPr>
        <p:spPr>
          <a:xfrm>
            <a:off x="306423" y="3334972"/>
            <a:ext cx="27997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400" b="1" dirty="0"/>
              <a:t>A</a:t>
            </a:r>
            <a:r>
              <a:rPr lang="en-US" sz="1400" dirty="0"/>
              <a:t>	= Activities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C	</a:t>
            </a:r>
            <a:r>
              <a:rPr lang="en-US" sz="1400" dirty="0"/>
              <a:t>= Commodities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F	</a:t>
            </a:r>
            <a:r>
              <a:rPr lang="en-US" sz="1400" dirty="0"/>
              <a:t>= Factors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D	</a:t>
            </a:r>
            <a:r>
              <a:rPr lang="en-US" sz="1400" dirty="0"/>
              <a:t>= Final demanders</a:t>
            </a:r>
            <a:endParaRPr lang="en-US" sz="900" dirty="0"/>
          </a:p>
          <a:p>
            <a:pPr>
              <a:tabLst>
                <a:tab pos="285750" algn="l"/>
              </a:tabLst>
            </a:pPr>
            <a:r>
              <a:rPr lang="en-US" sz="1400" b="1" dirty="0"/>
              <a:t>W</a:t>
            </a:r>
            <a:r>
              <a:rPr lang="en-US" sz="1400" dirty="0"/>
              <a:t>	= Rest of world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E6931E-94C8-43B8-89B3-CB805828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Chains  </a:t>
            </a:r>
            <a:r>
              <a:rPr lang="en-US" b="0" dirty="0"/>
              <a:t>|  Activity Output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2F4F8A-3521-4075-9548-35E7A1C0CC08}"/>
              </a:ext>
            </a:extLst>
          </p:cNvPr>
          <p:cNvSpPr txBox="1"/>
          <p:nvPr/>
        </p:nvSpPr>
        <p:spPr>
          <a:xfrm>
            <a:off x="6131598" y="2168177"/>
            <a:ext cx="2784093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Aggregate activity output</a:t>
            </a:r>
          </a:p>
          <a:p>
            <a:pPr algn="ctr"/>
            <a:r>
              <a:rPr lang="en-US" sz="1400" dirty="0"/>
              <a:t>Final output is a combination (composite) of factor and intermediate inputs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DDB34A-AFF2-497E-A720-4B0B62CD5EBC}"/>
              </a:ext>
            </a:extLst>
          </p:cNvPr>
          <p:cNvSpPr txBox="1"/>
          <p:nvPr/>
        </p:nvSpPr>
        <p:spPr>
          <a:xfrm>
            <a:off x="8231281" y="3641363"/>
            <a:ext cx="2746764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Intermediate demand</a:t>
            </a:r>
          </a:p>
          <a:p>
            <a:pPr algn="ctr"/>
            <a:r>
              <a:rPr lang="en-US" sz="1400" dirty="0"/>
              <a:t>Producers require inputs in fixed proportions and cannot substitute even if prices change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3F8578-A3CE-4B52-B675-98F8F75D95BD}"/>
              </a:ext>
            </a:extLst>
          </p:cNvPr>
          <p:cNvSpPr txBox="1"/>
          <p:nvPr/>
        </p:nvSpPr>
        <p:spPr>
          <a:xfrm>
            <a:off x="4222714" y="3670976"/>
            <a:ext cx="2476500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Production function</a:t>
            </a:r>
          </a:p>
          <a:p>
            <a:pPr algn="ctr"/>
            <a:r>
              <a:rPr lang="en-US" sz="1400" dirty="0"/>
              <a:t>Producers can substitute between factors when relative factor prices change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60CDB87-7C4E-4ED0-B084-90DA3D6D09C9}"/>
              </a:ext>
            </a:extLst>
          </p:cNvPr>
          <p:cNvGrpSpPr/>
          <p:nvPr/>
        </p:nvGrpSpPr>
        <p:grpSpPr>
          <a:xfrm>
            <a:off x="3624745" y="4863082"/>
            <a:ext cx="3733800" cy="1524000"/>
            <a:chOff x="533400" y="4648200"/>
            <a:chExt cx="3733800" cy="1524000"/>
          </a:xfrm>
          <a:effectLst/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E027012-E60F-4BA7-91EB-327EAC93A056}"/>
                </a:ext>
              </a:extLst>
            </p:cNvPr>
            <p:cNvGrpSpPr/>
            <p:nvPr/>
          </p:nvGrpSpPr>
          <p:grpSpPr>
            <a:xfrm>
              <a:off x="533400" y="5802868"/>
              <a:ext cx="3733800" cy="369332"/>
              <a:chOff x="838200" y="3810000"/>
              <a:chExt cx="3733800" cy="369332"/>
            </a:xfrm>
          </p:grpSpPr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A2A9BDB-9525-4D46-A612-F48BA856990C}"/>
                  </a:ext>
                </a:extLst>
              </p:cNvPr>
              <p:cNvSpPr txBox="1"/>
              <p:nvPr/>
            </p:nvSpPr>
            <p:spPr>
              <a:xfrm>
                <a:off x="838200" y="3810000"/>
                <a:ext cx="1143000" cy="369332"/>
              </a:xfrm>
              <a:prstGeom prst="rect">
                <a:avLst/>
              </a:prstGeom>
              <a:solidFill>
                <a:srgbClr val="C34E2D"/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Labor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2506C71-D066-49EF-AA77-B2527A982A9D}"/>
                  </a:ext>
                </a:extLst>
              </p:cNvPr>
              <p:cNvSpPr txBox="1"/>
              <p:nvPr/>
            </p:nvSpPr>
            <p:spPr>
              <a:xfrm>
                <a:off x="2133600" y="3810000"/>
                <a:ext cx="1143000" cy="369332"/>
              </a:xfrm>
              <a:prstGeom prst="rect">
                <a:avLst/>
              </a:prstGeom>
              <a:solidFill>
                <a:srgbClr val="C34E2D"/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Land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1D8B922-3124-4422-9D87-8C761ED1F8F5}"/>
                  </a:ext>
                </a:extLst>
              </p:cNvPr>
              <p:cNvSpPr txBox="1"/>
              <p:nvPr/>
            </p:nvSpPr>
            <p:spPr>
              <a:xfrm>
                <a:off x="3429000" y="3810000"/>
                <a:ext cx="1143000" cy="369332"/>
              </a:xfrm>
              <a:prstGeom prst="rect">
                <a:avLst/>
              </a:prstGeom>
              <a:solidFill>
                <a:srgbClr val="C34E2D"/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Capital</a:t>
                </a: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91B9174-6D97-4CF3-94C0-309F3299654F}"/>
                </a:ext>
              </a:extLst>
            </p:cNvPr>
            <p:cNvSpPr txBox="1"/>
            <p:nvPr/>
          </p:nvSpPr>
          <p:spPr>
            <a:xfrm>
              <a:off x="1409700" y="4648200"/>
              <a:ext cx="1981200" cy="369332"/>
            </a:xfrm>
            <a:prstGeom prst="rect">
              <a:avLst/>
            </a:prstGeom>
            <a:solidFill>
              <a:srgbClr val="C34E2D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Value-added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FB55F279-6422-4F6B-8CB8-4FC479191C2D}"/>
                </a:ext>
              </a:extLst>
            </p:cNvPr>
            <p:cNvCxnSpPr>
              <a:stCxn id="71" idx="0"/>
              <a:endCxn id="64" idx="2"/>
            </p:cNvCxnSpPr>
            <p:nvPr/>
          </p:nvCxnSpPr>
          <p:spPr>
            <a:xfrm flipV="1">
              <a:off x="2400300" y="5017532"/>
              <a:ext cx="0" cy="785336"/>
            </a:xfrm>
            <a:prstGeom prst="straightConnector1">
              <a:avLst/>
            </a:prstGeom>
            <a:ln>
              <a:solidFill>
                <a:srgbClr val="C34E2D"/>
              </a:solidFill>
              <a:tailEnd type="triangl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933AA6D0-5F8D-4978-BB83-6877789C7FF0}"/>
                </a:ext>
              </a:extLst>
            </p:cNvPr>
            <p:cNvCxnSpPr/>
            <p:nvPr/>
          </p:nvCxnSpPr>
          <p:spPr>
            <a:xfrm flipH="1">
              <a:off x="1104900" y="5562600"/>
              <a:ext cx="2590800" cy="0"/>
            </a:xfrm>
            <a:prstGeom prst="straightConnector1">
              <a:avLst/>
            </a:prstGeom>
            <a:ln>
              <a:solidFill>
                <a:srgbClr val="C34E2D"/>
              </a:solidFill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0C634D27-08E6-4448-B60D-D6E39F258B26}"/>
                </a:ext>
              </a:extLst>
            </p:cNvPr>
            <p:cNvCxnSpPr>
              <a:stCxn id="70" idx="0"/>
            </p:cNvCxnSpPr>
            <p:nvPr/>
          </p:nvCxnSpPr>
          <p:spPr>
            <a:xfrm flipV="1">
              <a:off x="1104900" y="5562600"/>
              <a:ext cx="0" cy="240268"/>
            </a:xfrm>
            <a:prstGeom prst="straightConnector1">
              <a:avLst/>
            </a:prstGeom>
            <a:ln>
              <a:solidFill>
                <a:srgbClr val="C34E2D"/>
              </a:solidFill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85F8DEC9-BE3E-47B2-A85B-0D93B52F4B1C}"/>
                </a:ext>
              </a:extLst>
            </p:cNvPr>
            <p:cNvCxnSpPr/>
            <p:nvPr/>
          </p:nvCxnSpPr>
          <p:spPr>
            <a:xfrm flipV="1">
              <a:off x="3695700" y="5562600"/>
              <a:ext cx="0" cy="240268"/>
            </a:xfrm>
            <a:prstGeom prst="straightConnector1">
              <a:avLst/>
            </a:prstGeom>
            <a:ln>
              <a:solidFill>
                <a:srgbClr val="C34E2D"/>
              </a:solidFill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B357DC6-81B4-4C5F-AA03-FB1D4951EE94}"/>
                </a:ext>
              </a:extLst>
            </p:cNvPr>
            <p:cNvSpPr txBox="1"/>
            <p:nvPr/>
          </p:nvSpPr>
          <p:spPr>
            <a:xfrm>
              <a:off x="1447026" y="5271700"/>
              <a:ext cx="1905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Substitution</a:t>
              </a:r>
              <a:endParaRPr lang="en-US" sz="160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8F8B399-A230-4235-A950-3CD743C6101F}"/>
              </a:ext>
            </a:extLst>
          </p:cNvPr>
          <p:cNvGrpSpPr/>
          <p:nvPr/>
        </p:nvGrpSpPr>
        <p:grpSpPr>
          <a:xfrm>
            <a:off x="7739545" y="4863082"/>
            <a:ext cx="3733800" cy="1524000"/>
            <a:chOff x="533400" y="4648200"/>
            <a:chExt cx="3733800" cy="1524000"/>
          </a:xfrm>
          <a:effectLst/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31228A8-AE2E-469B-9946-6F614DEAE6A3}"/>
                </a:ext>
              </a:extLst>
            </p:cNvPr>
            <p:cNvGrpSpPr/>
            <p:nvPr/>
          </p:nvGrpSpPr>
          <p:grpSpPr>
            <a:xfrm>
              <a:off x="533400" y="5802868"/>
              <a:ext cx="3733800" cy="369332"/>
              <a:chOff x="838200" y="3810000"/>
              <a:chExt cx="3733800" cy="369332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2CDDB18-335C-4CC7-A634-C43C516A18C4}"/>
                  </a:ext>
                </a:extLst>
              </p:cNvPr>
              <p:cNvSpPr txBox="1"/>
              <p:nvPr/>
            </p:nvSpPr>
            <p:spPr>
              <a:xfrm>
                <a:off x="838200" y="3810000"/>
                <a:ext cx="1143000" cy="369332"/>
              </a:xfrm>
              <a:prstGeom prst="rect">
                <a:avLst/>
              </a:prstGeom>
              <a:solidFill>
                <a:srgbClr val="C34E2D"/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Feed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6AF5E48-9CAC-427C-977B-33F5BB6279CB}"/>
                  </a:ext>
                </a:extLst>
              </p:cNvPr>
              <p:cNvSpPr txBox="1"/>
              <p:nvPr/>
            </p:nvSpPr>
            <p:spPr>
              <a:xfrm>
                <a:off x="2133600" y="3810000"/>
                <a:ext cx="1143000" cy="369332"/>
              </a:xfrm>
              <a:prstGeom prst="rect">
                <a:avLst/>
              </a:prstGeom>
              <a:solidFill>
                <a:srgbClr val="C34E2D"/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Medicine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C66E50C-493A-4223-AFDC-659A62558408}"/>
                  </a:ext>
                </a:extLst>
              </p:cNvPr>
              <p:cNvSpPr txBox="1"/>
              <p:nvPr/>
            </p:nvSpPr>
            <p:spPr>
              <a:xfrm>
                <a:off x="3429000" y="3810000"/>
                <a:ext cx="1143000" cy="369332"/>
              </a:xfrm>
              <a:prstGeom prst="rect">
                <a:avLst/>
              </a:prstGeom>
              <a:solidFill>
                <a:srgbClr val="C34E2D"/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Other</a:t>
                </a: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D06C94B-C44E-4FAD-8E22-FEA4079549BD}"/>
                </a:ext>
              </a:extLst>
            </p:cNvPr>
            <p:cNvSpPr txBox="1"/>
            <p:nvPr/>
          </p:nvSpPr>
          <p:spPr>
            <a:xfrm>
              <a:off x="1409700" y="4648200"/>
              <a:ext cx="1981200" cy="369332"/>
            </a:xfrm>
            <a:prstGeom prst="rect">
              <a:avLst/>
            </a:prstGeom>
            <a:solidFill>
              <a:srgbClr val="C34E2D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Intermediates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8FDB8167-A8EC-42BD-AE2D-2F110538DB26}"/>
                </a:ext>
              </a:extLst>
            </p:cNvPr>
            <p:cNvCxnSpPr>
              <a:stCxn id="82" idx="0"/>
              <a:endCxn id="75" idx="2"/>
            </p:cNvCxnSpPr>
            <p:nvPr/>
          </p:nvCxnSpPr>
          <p:spPr>
            <a:xfrm flipV="1">
              <a:off x="2400300" y="5017532"/>
              <a:ext cx="0" cy="785336"/>
            </a:xfrm>
            <a:prstGeom prst="straightConnector1">
              <a:avLst/>
            </a:prstGeom>
            <a:ln>
              <a:solidFill>
                <a:srgbClr val="C34E2D"/>
              </a:solidFill>
              <a:tailEnd type="triangl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BF972184-FEE3-4D30-9BC5-681038C0A9E9}"/>
                </a:ext>
              </a:extLst>
            </p:cNvPr>
            <p:cNvCxnSpPr/>
            <p:nvPr/>
          </p:nvCxnSpPr>
          <p:spPr>
            <a:xfrm flipH="1">
              <a:off x="1104900" y="5562600"/>
              <a:ext cx="2590800" cy="0"/>
            </a:xfrm>
            <a:prstGeom prst="straightConnector1">
              <a:avLst/>
            </a:prstGeom>
            <a:ln>
              <a:solidFill>
                <a:srgbClr val="C34E2D"/>
              </a:solidFill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173E0A4B-193F-454A-9CCB-D0306AE9A652}"/>
                </a:ext>
              </a:extLst>
            </p:cNvPr>
            <p:cNvCxnSpPr>
              <a:stCxn id="81" idx="0"/>
            </p:cNvCxnSpPr>
            <p:nvPr/>
          </p:nvCxnSpPr>
          <p:spPr>
            <a:xfrm flipV="1">
              <a:off x="1104900" y="5562600"/>
              <a:ext cx="0" cy="240268"/>
            </a:xfrm>
            <a:prstGeom prst="straightConnector1">
              <a:avLst/>
            </a:prstGeom>
            <a:ln>
              <a:solidFill>
                <a:srgbClr val="C34E2D"/>
              </a:solidFill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04FE5A45-1687-4EED-AC59-9EC9D8522684}"/>
                </a:ext>
              </a:extLst>
            </p:cNvPr>
            <p:cNvCxnSpPr/>
            <p:nvPr/>
          </p:nvCxnSpPr>
          <p:spPr>
            <a:xfrm flipV="1">
              <a:off x="3695700" y="5562600"/>
              <a:ext cx="0" cy="240268"/>
            </a:xfrm>
            <a:prstGeom prst="straightConnector1">
              <a:avLst/>
            </a:prstGeom>
            <a:ln>
              <a:solidFill>
                <a:srgbClr val="C34E2D"/>
              </a:solidFill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D78C9B5-864E-449C-947F-E104F87CB5C6}"/>
                </a:ext>
              </a:extLst>
            </p:cNvPr>
            <p:cNvSpPr txBox="1"/>
            <p:nvPr/>
          </p:nvSpPr>
          <p:spPr>
            <a:xfrm>
              <a:off x="1285779" y="5271699"/>
              <a:ext cx="1905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 substitution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1C9618A-813C-4230-B2E5-C925734E7793}"/>
              </a:ext>
            </a:extLst>
          </p:cNvPr>
          <p:cNvGrpSpPr/>
          <p:nvPr/>
        </p:nvGrpSpPr>
        <p:grpSpPr>
          <a:xfrm>
            <a:off x="5466245" y="3358960"/>
            <a:ext cx="4114800" cy="1504122"/>
            <a:chOff x="2400300" y="3124200"/>
            <a:chExt cx="4114800" cy="1504122"/>
          </a:xfrm>
          <a:effectLst/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FEBF962E-073D-4311-A458-42213AEC7BE4}"/>
                </a:ext>
              </a:extLst>
            </p:cNvPr>
            <p:cNvCxnSpPr/>
            <p:nvPr/>
          </p:nvCxnSpPr>
          <p:spPr>
            <a:xfrm flipV="1">
              <a:off x="4457700" y="3799364"/>
              <a:ext cx="0" cy="577334"/>
            </a:xfrm>
            <a:prstGeom prst="straightConnector1">
              <a:avLst/>
            </a:prstGeom>
            <a:ln>
              <a:solidFill>
                <a:srgbClr val="C34E2D"/>
              </a:solidFill>
              <a:tailEnd type="triangl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88396C45-4AAC-4E39-A081-1911BE7D5314}"/>
                </a:ext>
              </a:extLst>
            </p:cNvPr>
            <p:cNvCxnSpPr/>
            <p:nvPr/>
          </p:nvCxnSpPr>
          <p:spPr>
            <a:xfrm flipH="1">
              <a:off x="2400300" y="4385086"/>
              <a:ext cx="4114800" cy="0"/>
            </a:xfrm>
            <a:prstGeom prst="straightConnector1">
              <a:avLst/>
            </a:prstGeom>
            <a:ln>
              <a:solidFill>
                <a:srgbClr val="C34E2D"/>
              </a:solidFill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485B7599-431A-40E5-A37A-EF20E681F0B4}"/>
                </a:ext>
              </a:extLst>
            </p:cNvPr>
            <p:cNvCxnSpPr/>
            <p:nvPr/>
          </p:nvCxnSpPr>
          <p:spPr>
            <a:xfrm flipV="1">
              <a:off x="2400300" y="4381428"/>
              <a:ext cx="0" cy="240268"/>
            </a:xfrm>
            <a:prstGeom prst="straightConnector1">
              <a:avLst/>
            </a:prstGeom>
            <a:ln>
              <a:solidFill>
                <a:srgbClr val="C34E2D"/>
              </a:solidFill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8748E546-F475-4116-8EC1-C2F23BADA165}"/>
                </a:ext>
              </a:extLst>
            </p:cNvPr>
            <p:cNvCxnSpPr/>
            <p:nvPr/>
          </p:nvCxnSpPr>
          <p:spPr>
            <a:xfrm flipV="1">
              <a:off x="6515100" y="4388054"/>
              <a:ext cx="0" cy="240268"/>
            </a:xfrm>
            <a:prstGeom prst="straightConnector1">
              <a:avLst/>
            </a:prstGeom>
            <a:ln>
              <a:solidFill>
                <a:srgbClr val="C34E2D"/>
              </a:solidFill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855075B-1861-44DF-B97C-7D7DD76FA526}"/>
                </a:ext>
              </a:extLst>
            </p:cNvPr>
            <p:cNvSpPr txBox="1"/>
            <p:nvPr/>
          </p:nvSpPr>
          <p:spPr>
            <a:xfrm>
              <a:off x="3342251" y="4092748"/>
              <a:ext cx="20606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 substitution</a:t>
              </a:r>
              <a:endParaRPr lang="en-US" sz="1600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C113B99-640D-4D73-B4BC-99FBC480638B}"/>
                </a:ext>
              </a:extLst>
            </p:cNvPr>
            <p:cNvSpPr txBox="1"/>
            <p:nvPr/>
          </p:nvSpPr>
          <p:spPr>
            <a:xfrm>
              <a:off x="3505200" y="3124200"/>
              <a:ext cx="1905000" cy="646331"/>
            </a:xfrm>
            <a:prstGeom prst="rect">
              <a:avLst/>
            </a:prstGeom>
            <a:solidFill>
              <a:srgbClr val="C34E2D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Activity gross output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FE6F89F-FB9C-4B9E-9893-167E3830FA2B}"/>
              </a:ext>
            </a:extLst>
          </p:cNvPr>
          <p:cNvGrpSpPr/>
          <p:nvPr/>
        </p:nvGrpSpPr>
        <p:grpSpPr>
          <a:xfrm>
            <a:off x="6571145" y="1345734"/>
            <a:ext cx="1905000" cy="2012095"/>
            <a:chOff x="3479800" y="1445567"/>
            <a:chExt cx="1905000" cy="2012095"/>
          </a:xfrm>
          <a:effectLst/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6EA1034D-56EC-4E59-95BA-C4D4C3A21FFD}"/>
                </a:ext>
              </a:extLst>
            </p:cNvPr>
            <p:cNvGrpSpPr/>
            <p:nvPr/>
          </p:nvGrpSpPr>
          <p:grpSpPr>
            <a:xfrm>
              <a:off x="3479800" y="1671935"/>
              <a:ext cx="1905000" cy="1785727"/>
              <a:chOff x="3479800" y="1671935"/>
              <a:chExt cx="1905000" cy="1785727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4DC30D4-140F-40F9-866A-5DA4FDCE6847}"/>
                  </a:ext>
                </a:extLst>
              </p:cNvPr>
              <p:cNvSpPr txBox="1"/>
              <p:nvPr/>
            </p:nvSpPr>
            <p:spPr>
              <a:xfrm>
                <a:off x="3479800" y="1671935"/>
                <a:ext cx="1905000" cy="646331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Main commodity: Beef</a:t>
                </a:r>
              </a:p>
            </p:txBody>
          </p: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5E84D346-1063-4936-8060-309C738A97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57700" y="2323761"/>
                <a:ext cx="12700" cy="1133901"/>
              </a:xfrm>
              <a:prstGeom prst="straightConnector1">
                <a:avLst/>
              </a:prstGeom>
              <a:ln>
                <a:solidFill>
                  <a:srgbClr val="0B8EB8"/>
                </a:solidFill>
                <a:tailEnd type="triangle" w="lg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0435F6B5-301D-45AB-9398-DB3E9A31506D}"/>
                </a:ext>
              </a:extLst>
            </p:cNvPr>
            <p:cNvCxnSpPr/>
            <p:nvPr/>
          </p:nvCxnSpPr>
          <p:spPr>
            <a:xfrm flipV="1">
              <a:off x="4432300" y="1445567"/>
              <a:ext cx="0" cy="226369"/>
            </a:xfrm>
            <a:prstGeom prst="straightConnector1">
              <a:avLst/>
            </a:prstGeom>
            <a:ln>
              <a:solidFill>
                <a:srgbClr val="0B8EB8"/>
              </a:solidFill>
              <a:tailEnd type="triangl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F861DBF-E330-416D-8C73-E8C27A90C685}"/>
              </a:ext>
            </a:extLst>
          </p:cNvPr>
          <p:cNvGrpSpPr/>
          <p:nvPr/>
        </p:nvGrpSpPr>
        <p:grpSpPr>
          <a:xfrm>
            <a:off x="7539424" y="1345734"/>
            <a:ext cx="3526417" cy="1450033"/>
            <a:chOff x="4474583" y="1445567"/>
            <a:chExt cx="3526417" cy="1450033"/>
          </a:xfrm>
          <a:effectLst/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B7C91BD9-C5C9-41BB-8D70-7C427EAB9FFC}"/>
                </a:ext>
              </a:extLst>
            </p:cNvPr>
            <p:cNvGrpSpPr/>
            <p:nvPr/>
          </p:nvGrpSpPr>
          <p:grpSpPr>
            <a:xfrm>
              <a:off x="4474583" y="1671935"/>
              <a:ext cx="3526417" cy="1223665"/>
              <a:chOff x="4474583" y="1671935"/>
              <a:chExt cx="3526417" cy="1223665"/>
            </a:xfrm>
          </p:grpSpPr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91B26083-76F3-4C5D-8A2E-677BC86A572F}"/>
                  </a:ext>
                </a:extLst>
              </p:cNvPr>
              <p:cNvCxnSpPr/>
              <p:nvPr/>
            </p:nvCxnSpPr>
            <p:spPr>
              <a:xfrm flipH="1">
                <a:off x="4484204" y="2890711"/>
                <a:ext cx="2590800" cy="0"/>
              </a:xfrm>
              <a:prstGeom prst="straightConnector1">
                <a:avLst/>
              </a:prstGeom>
              <a:ln>
                <a:solidFill>
                  <a:srgbClr val="0B8EB8"/>
                </a:solidFill>
                <a:tailEnd type="none" w="lg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484F0152-9078-492F-B02B-2D74EB50164E}"/>
                  </a:ext>
                </a:extLst>
              </p:cNvPr>
              <p:cNvCxnSpPr/>
              <p:nvPr/>
            </p:nvCxnSpPr>
            <p:spPr>
              <a:xfrm flipV="1">
                <a:off x="7075004" y="2318266"/>
                <a:ext cx="0" cy="577334"/>
              </a:xfrm>
              <a:prstGeom prst="straightConnector1">
                <a:avLst/>
              </a:prstGeom>
              <a:ln>
                <a:solidFill>
                  <a:srgbClr val="0B8EB8"/>
                </a:solidFill>
                <a:tailEnd type="triangle" w="lg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6532436-434B-4717-8CB2-B78314F9CFB3}"/>
                  </a:ext>
                </a:extLst>
              </p:cNvPr>
              <p:cNvSpPr txBox="1"/>
              <p:nvPr/>
            </p:nvSpPr>
            <p:spPr>
              <a:xfrm>
                <a:off x="6096000" y="1671935"/>
                <a:ext cx="1905000" cy="646331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By-product: Leather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BE09841-AE51-420C-A821-9E58954F23B8}"/>
                  </a:ext>
                </a:extLst>
              </p:cNvPr>
              <p:cNvSpPr txBox="1"/>
              <p:nvPr/>
            </p:nvSpPr>
            <p:spPr>
              <a:xfrm>
                <a:off x="4474583" y="2339446"/>
                <a:ext cx="1905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No substitution</a:t>
                </a:r>
              </a:p>
            </p:txBody>
          </p:sp>
        </p:grp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F24255DB-C322-42B8-B9B3-BF9A9B12FA03}"/>
                </a:ext>
              </a:extLst>
            </p:cNvPr>
            <p:cNvCxnSpPr/>
            <p:nvPr/>
          </p:nvCxnSpPr>
          <p:spPr>
            <a:xfrm flipV="1">
              <a:off x="7048500" y="1445567"/>
              <a:ext cx="0" cy="226369"/>
            </a:xfrm>
            <a:prstGeom prst="straightConnector1">
              <a:avLst/>
            </a:prstGeom>
            <a:ln>
              <a:solidFill>
                <a:srgbClr val="0B8EB8"/>
              </a:solidFill>
              <a:tailEnd type="triangl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50196E29-10A0-40C7-AB2A-DCCB9545C2FB}"/>
              </a:ext>
            </a:extLst>
          </p:cNvPr>
          <p:cNvSpPr txBox="1"/>
          <p:nvPr/>
        </p:nvSpPr>
        <p:spPr>
          <a:xfrm>
            <a:off x="3653362" y="1498339"/>
            <a:ext cx="2651323" cy="80021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Activities vs. commodities</a:t>
            </a:r>
          </a:p>
          <a:p>
            <a:pPr algn="ctr"/>
            <a:r>
              <a:rPr lang="en-US" sz="1400" dirty="0"/>
              <a:t>Some activities produce more than one commodity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E2A951E-0053-45BD-B223-860CC1E44FED}"/>
              </a:ext>
            </a:extLst>
          </p:cNvPr>
          <p:cNvGrpSpPr/>
          <p:nvPr/>
        </p:nvGrpSpPr>
        <p:grpSpPr>
          <a:xfrm>
            <a:off x="3319945" y="2790879"/>
            <a:ext cx="8458200" cy="3865519"/>
            <a:chOff x="228600" y="2740545"/>
            <a:chExt cx="8458200" cy="3865519"/>
          </a:xfrm>
          <a:effectLst/>
        </p:grpSpPr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23EFB938-CD20-4466-B55F-5D9FC39B8CE1}"/>
                </a:ext>
              </a:extLst>
            </p:cNvPr>
            <p:cNvCxnSpPr/>
            <p:nvPr/>
          </p:nvCxnSpPr>
          <p:spPr>
            <a:xfrm flipH="1">
              <a:off x="228600" y="3200400"/>
              <a:ext cx="8458200" cy="0"/>
            </a:xfrm>
            <a:prstGeom prst="straightConnector1">
              <a:avLst/>
            </a:prstGeom>
            <a:ln w="19050">
              <a:solidFill>
                <a:srgbClr val="C34E2D"/>
              </a:solidFill>
              <a:prstDash val="dash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8931DC94-12DC-496E-B143-D7E30B913541}"/>
                </a:ext>
              </a:extLst>
            </p:cNvPr>
            <p:cNvCxnSpPr/>
            <p:nvPr/>
          </p:nvCxnSpPr>
          <p:spPr>
            <a:xfrm flipV="1">
              <a:off x="228600" y="3200400"/>
              <a:ext cx="0" cy="3405664"/>
            </a:xfrm>
            <a:prstGeom prst="straightConnector1">
              <a:avLst/>
            </a:prstGeom>
            <a:ln w="19050">
              <a:solidFill>
                <a:srgbClr val="C34E2D"/>
              </a:solidFill>
              <a:prstDash val="dash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98C57DFA-D2C4-4983-B981-EDB18D80EA39}"/>
                </a:ext>
              </a:extLst>
            </p:cNvPr>
            <p:cNvCxnSpPr/>
            <p:nvPr/>
          </p:nvCxnSpPr>
          <p:spPr>
            <a:xfrm flipV="1">
              <a:off x="8686800" y="3200400"/>
              <a:ext cx="0" cy="3276600"/>
            </a:xfrm>
            <a:prstGeom prst="straightConnector1">
              <a:avLst/>
            </a:prstGeom>
            <a:ln w="19050">
              <a:solidFill>
                <a:srgbClr val="C34E2D"/>
              </a:solidFill>
              <a:prstDash val="dash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2C3637B-4614-498F-87D6-4FF8211D1330}"/>
                </a:ext>
              </a:extLst>
            </p:cNvPr>
            <p:cNvSpPr txBox="1"/>
            <p:nvPr/>
          </p:nvSpPr>
          <p:spPr>
            <a:xfrm>
              <a:off x="228600" y="2740545"/>
              <a:ext cx="190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C34E2D"/>
                  </a:solidFill>
                </a:rPr>
                <a:t>FACTORY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7CCE19D-49B9-4151-9CDB-6C6E6A08F7DA}"/>
              </a:ext>
            </a:extLst>
          </p:cNvPr>
          <p:cNvGrpSpPr/>
          <p:nvPr/>
        </p:nvGrpSpPr>
        <p:grpSpPr>
          <a:xfrm>
            <a:off x="3815245" y="1345734"/>
            <a:ext cx="7658100" cy="1676400"/>
            <a:chOff x="723900" y="1295400"/>
            <a:chExt cx="7658100" cy="1676400"/>
          </a:xfrm>
          <a:effectLst/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FF74B9F3-E51C-47E4-BE5E-9809A2BBE024}"/>
                </a:ext>
              </a:extLst>
            </p:cNvPr>
            <p:cNvCxnSpPr/>
            <p:nvPr/>
          </p:nvCxnSpPr>
          <p:spPr>
            <a:xfrm flipH="1">
              <a:off x="2781300" y="2971377"/>
              <a:ext cx="5600700" cy="423"/>
            </a:xfrm>
            <a:prstGeom prst="straightConnector1">
              <a:avLst/>
            </a:prstGeom>
            <a:ln w="19050">
              <a:solidFill>
                <a:srgbClr val="0B8EB8"/>
              </a:solidFill>
              <a:prstDash val="dash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F895CFB7-9607-4133-945A-A172263260CE}"/>
                </a:ext>
              </a:extLst>
            </p:cNvPr>
            <p:cNvCxnSpPr/>
            <p:nvPr/>
          </p:nvCxnSpPr>
          <p:spPr>
            <a:xfrm>
              <a:off x="2781300" y="1295400"/>
              <a:ext cx="0" cy="1675978"/>
            </a:xfrm>
            <a:prstGeom prst="straightConnector1">
              <a:avLst/>
            </a:prstGeom>
            <a:ln w="19050">
              <a:solidFill>
                <a:srgbClr val="0B8EB8"/>
              </a:solidFill>
              <a:prstDash val="dash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02222339-7BCF-4DDF-9779-C49DCD9EFCEA}"/>
                </a:ext>
              </a:extLst>
            </p:cNvPr>
            <p:cNvCxnSpPr/>
            <p:nvPr/>
          </p:nvCxnSpPr>
          <p:spPr>
            <a:xfrm>
              <a:off x="8382000" y="1295400"/>
              <a:ext cx="0" cy="1675978"/>
            </a:xfrm>
            <a:prstGeom prst="straightConnector1">
              <a:avLst/>
            </a:prstGeom>
            <a:ln w="19050">
              <a:solidFill>
                <a:srgbClr val="0B8EB8"/>
              </a:solidFill>
              <a:prstDash val="dash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3822679B-DB29-486F-8ED3-600FBCFFE3D7}"/>
                </a:ext>
              </a:extLst>
            </p:cNvPr>
            <p:cNvSpPr txBox="1"/>
            <p:nvPr/>
          </p:nvSpPr>
          <p:spPr>
            <a:xfrm>
              <a:off x="723900" y="1295400"/>
              <a:ext cx="1905000" cy="4616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B8EB8"/>
                  </a:solidFill>
                </a:rPr>
                <a:t>WAREHOUSE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AA829BA6-A063-4D3A-9B82-A098A7FFE08F}"/>
              </a:ext>
            </a:extLst>
          </p:cNvPr>
          <p:cNvSpPr txBox="1"/>
          <p:nvPr/>
        </p:nvSpPr>
        <p:spPr>
          <a:xfrm>
            <a:off x="310197" y="1202770"/>
            <a:ext cx="265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Basic SAM layout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AAB0A9D-2CE1-41F3-9EF2-647A5D1CE2EC}"/>
              </a:ext>
            </a:extLst>
          </p:cNvPr>
          <p:cNvSpPr/>
          <p:nvPr/>
        </p:nvSpPr>
        <p:spPr>
          <a:xfrm>
            <a:off x="1112047" y="1826550"/>
            <a:ext cx="399205" cy="238125"/>
          </a:xfrm>
          <a:prstGeom prst="rect">
            <a:avLst/>
          </a:prstGeom>
          <a:solidFill>
            <a:srgbClr val="0B8E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7" name="Table 114">
            <a:extLst>
              <a:ext uri="{FF2B5EF4-FFF2-40B4-BE49-F238E27FC236}">
                <a16:creationId xmlns:a16="http://schemas.microsoft.com/office/drawing/2014/main" id="{CDC73638-970D-4752-928C-959B8DBE7AC2}"/>
              </a:ext>
            </a:extLst>
          </p:cNvPr>
          <p:cNvGraphicFramePr>
            <a:graphicFrameLocks noGrp="1"/>
          </p:cNvGraphicFramePr>
          <p:nvPr/>
        </p:nvGraphicFramePr>
        <p:xfrm>
          <a:off x="310197" y="1582546"/>
          <a:ext cx="2799776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68">
                  <a:extLst>
                    <a:ext uri="{9D8B030D-6E8A-4147-A177-3AD203B41FA5}">
                      <a16:colId xmlns:a16="http://schemas.microsoft.com/office/drawing/2014/main" val="3066416653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390178515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723883678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44517278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3058675632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479483401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1893929709"/>
                    </a:ext>
                  </a:extLst>
                </a:gridCol>
              </a:tblGrid>
              <a:tr h="239425"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169226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68128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97440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459157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614760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64448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011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475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23" grpId="0" animBg="1"/>
      <p:bldP spid="123" grpId="1" animBg="1"/>
      <p:bldP spid="121" grpId="0" animBg="1"/>
      <p:bldP spid="121" grpId="1" animBg="1"/>
      <p:bldP spid="126" grpId="0" animBg="1"/>
      <p:bldP spid="120" grpId="0" animBg="1"/>
      <p:bldP spid="120" grpId="1" animBg="1"/>
      <p:bldP spid="125" grpId="0" animBg="1"/>
      <p:bldP spid="124" grpId="0" animBg="1"/>
      <p:bldP spid="122" grpId="0" animBg="1"/>
      <p:bldP spid="122" grpId="1" animBg="1"/>
      <p:bldP spid="59" grpId="0"/>
      <p:bldP spid="59" grpId="1"/>
      <p:bldP spid="60" grpId="0"/>
      <p:bldP spid="60" grpId="1"/>
      <p:bldP spid="61" grpId="0"/>
      <p:bldP spid="61" grpId="1"/>
      <p:bldP spid="103" grpId="0"/>
      <p:bldP spid="103" grpId="1"/>
      <p:bldP spid="18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246">
            <a:extLst>
              <a:ext uri="{FF2B5EF4-FFF2-40B4-BE49-F238E27FC236}">
                <a16:creationId xmlns:a16="http://schemas.microsoft.com/office/drawing/2014/main" id="{087C0A28-4C68-4456-9690-76898FFCA48D}"/>
              </a:ext>
            </a:extLst>
          </p:cNvPr>
          <p:cNvSpPr/>
          <p:nvPr/>
        </p:nvSpPr>
        <p:spPr>
          <a:xfrm>
            <a:off x="1910689" y="2070163"/>
            <a:ext cx="399205" cy="238125"/>
          </a:xfrm>
          <a:prstGeom prst="rect">
            <a:avLst/>
          </a:prstGeom>
          <a:solidFill>
            <a:srgbClr val="5C8E3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0FDEDC10-7CEF-44C3-AAE7-CF86D01DC875}"/>
              </a:ext>
            </a:extLst>
          </p:cNvPr>
          <p:cNvSpPr/>
          <p:nvPr/>
        </p:nvSpPr>
        <p:spPr>
          <a:xfrm>
            <a:off x="1909125" y="2072727"/>
            <a:ext cx="399205" cy="238125"/>
          </a:xfrm>
          <a:prstGeom prst="rect">
            <a:avLst/>
          </a:prstGeom>
          <a:solidFill>
            <a:srgbClr val="5C8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7740C2CE-F9D9-4C88-B312-8B7F762BB06C}"/>
              </a:ext>
            </a:extLst>
          </p:cNvPr>
          <p:cNvSpPr/>
          <p:nvPr/>
        </p:nvSpPr>
        <p:spPr>
          <a:xfrm>
            <a:off x="2311109" y="2072188"/>
            <a:ext cx="399205" cy="238125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41C9D69C-F3FD-4910-822C-535C9452536C}"/>
              </a:ext>
            </a:extLst>
          </p:cNvPr>
          <p:cNvSpPr/>
          <p:nvPr/>
        </p:nvSpPr>
        <p:spPr>
          <a:xfrm>
            <a:off x="2311979" y="2076153"/>
            <a:ext cx="399205" cy="238125"/>
          </a:xfrm>
          <a:prstGeom prst="rect">
            <a:avLst/>
          </a:prstGeom>
          <a:solidFill>
            <a:srgbClr val="FF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6297E25B-FB3B-4CBA-9E75-352DDD442C90}"/>
              </a:ext>
            </a:extLst>
          </p:cNvPr>
          <p:cNvSpPr/>
          <p:nvPr/>
        </p:nvSpPr>
        <p:spPr>
          <a:xfrm>
            <a:off x="1109660" y="2804319"/>
            <a:ext cx="399205" cy="238125"/>
          </a:xfrm>
          <a:prstGeom prst="rect">
            <a:avLst/>
          </a:prstGeom>
          <a:solidFill>
            <a:srgbClr val="FF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7FC3CEBE-DCF9-465A-BB2B-93196B8805B4}"/>
              </a:ext>
            </a:extLst>
          </p:cNvPr>
          <p:cNvSpPr/>
          <p:nvPr/>
        </p:nvSpPr>
        <p:spPr>
          <a:xfrm>
            <a:off x="1111248" y="2804320"/>
            <a:ext cx="399205" cy="238125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DB5D7B8-F54A-473B-99D9-70C1FA727E22}"/>
              </a:ext>
            </a:extLst>
          </p:cNvPr>
          <p:cNvSpPr/>
          <p:nvPr/>
        </p:nvSpPr>
        <p:spPr>
          <a:xfrm>
            <a:off x="1109661" y="1823357"/>
            <a:ext cx="399205" cy="238125"/>
          </a:xfrm>
          <a:prstGeom prst="rect">
            <a:avLst/>
          </a:prstGeom>
          <a:solidFill>
            <a:srgbClr val="0B8E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914CC450-369D-4755-98DB-B91B4BB2D35E}"/>
              </a:ext>
            </a:extLst>
          </p:cNvPr>
          <p:cNvSpPr/>
          <p:nvPr/>
        </p:nvSpPr>
        <p:spPr>
          <a:xfrm>
            <a:off x="1109661" y="1827564"/>
            <a:ext cx="399205" cy="238125"/>
          </a:xfrm>
          <a:prstGeom prst="rect">
            <a:avLst/>
          </a:prstGeom>
          <a:solidFill>
            <a:srgbClr val="0B8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3C41CC0-C1EC-4B52-A79E-E2785A15A2E5}"/>
              </a:ext>
            </a:extLst>
          </p:cNvPr>
          <p:cNvSpPr/>
          <p:nvPr/>
        </p:nvSpPr>
        <p:spPr>
          <a:xfrm>
            <a:off x="710456" y="3051301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3607810-7BFE-4BB9-A01C-72F8BB0A207A}"/>
              </a:ext>
            </a:extLst>
          </p:cNvPr>
          <p:cNvSpPr/>
          <p:nvPr/>
        </p:nvSpPr>
        <p:spPr>
          <a:xfrm>
            <a:off x="710457" y="2069896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D960E02-C6F3-42CB-ABF9-97E97D6C479C}"/>
              </a:ext>
            </a:extLst>
          </p:cNvPr>
          <p:cNvSpPr/>
          <p:nvPr/>
        </p:nvSpPr>
        <p:spPr>
          <a:xfrm>
            <a:off x="710457" y="2314831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EF36228-C451-423B-A88E-1CAE881C4184}"/>
              </a:ext>
            </a:extLst>
          </p:cNvPr>
          <p:cNvSpPr txBox="1"/>
          <p:nvPr/>
        </p:nvSpPr>
        <p:spPr>
          <a:xfrm>
            <a:off x="306423" y="3334972"/>
            <a:ext cx="27997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400" b="1" dirty="0"/>
              <a:t>A</a:t>
            </a:r>
            <a:r>
              <a:rPr lang="en-US" sz="1400" dirty="0"/>
              <a:t>	= Activities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C	</a:t>
            </a:r>
            <a:r>
              <a:rPr lang="en-US" sz="1400" dirty="0"/>
              <a:t>= Commodities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F	</a:t>
            </a:r>
            <a:r>
              <a:rPr lang="en-US" sz="1400" dirty="0"/>
              <a:t>= Factors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D	</a:t>
            </a:r>
            <a:r>
              <a:rPr lang="en-US" sz="1400" dirty="0"/>
              <a:t>= Final demanders</a:t>
            </a:r>
            <a:endParaRPr lang="en-US" sz="900" dirty="0"/>
          </a:p>
          <a:p>
            <a:pPr>
              <a:tabLst>
                <a:tab pos="285750" algn="l"/>
              </a:tabLst>
            </a:pPr>
            <a:r>
              <a:rPr lang="en-US" sz="1400" b="1" dirty="0"/>
              <a:t>W</a:t>
            </a:r>
            <a:r>
              <a:rPr lang="en-US" sz="1400" dirty="0"/>
              <a:t>	= Rest of world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E6931E-94C8-43B8-89B3-CB805828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Chains  </a:t>
            </a:r>
            <a:r>
              <a:rPr lang="en-US" b="0" dirty="0"/>
              <a:t>|  Commodity Supply &amp; Demand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A829BA6-A063-4D3A-9B82-A098A7FFE08F}"/>
              </a:ext>
            </a:extLst>
          </p:cNvPr>
          <p:cNvSpPr txBox="1"/>
          <p:nvPr/>
        </p:nvSpPr>
        <p:spPr>
          <a:xfrm>
            <a:off x="310197" y="1202770"/>
            <a:ext cx="265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Basic SAM layout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DBCD689-BBA3-4F5E-96C2-114366E6A859}"/>
              </a:ext>
            </a:extLst>
          </p:cNvPr>
          <p:cNvSpPr txBox="1"/>
          <p:nvPr/>
        </p:nvSpPr>
        <p:spPr>
          <a:xfrm>
            <a:off x="3855244" y="3268636"/>
            <a:ext cx="285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Import demand function</a:t>
            </a:r>
            <a:endParaRPr lang="en-US" dirty="0"/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990122D1-9721-477C-B6E4-469837543A48}"/>
              </a:ext>
            </a:extLst>
          </p:cNvPr>
          <p:cNvGrpSpPr/>
          <p:nvPr/>
        </p:nvGrpSpPr>
        <p:grpSpPr>
          <a:xfrm>
            <a:off x="4135887" y="4454307"/>
            <a:ext cx="6870700" cy="2137643"/>
            <a:chOff x="2692400" y="833735"/>
            <a:chExt cx="6870700" cy="2137643"/>
          </a:xfrm>
        </p:grpSpPr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12F208A6-5835-48CE-A2EB-87634816446C}"/>
                </a:ext>
              </a:extLst>
            </p:cNvPr>
            <p:cNvCxnSpPr/>
            <p:nvPr/>
          </p:nvCxnSpPr>
          <p:spPr>
            <a:xfrm flipH="1">
              <a:off x="2781300" y="1295823"/>
              <a:ext cx="6781800" cy="0"/>
            </a:xfrm>
            <a:prstGeom prst="straightConnector1">
              <a:avLst/>
            </a:prstGeom>
            <a:ln w="19050">
              <a:solidFill>
                <a:srgbClr val="0B8EB8"/>
              </a:solidFill>
              <a:prstDash val="dash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80E504BA-C378-429C-878B-1366E69975CD}"/>
                </a:ext>
              </a:extLst>
            </p:cNvPr>
            <p:cNvCxnSpPr/>
            <p:nvPr/>
          </p:nvCxnSpPr>
          <p:spPr>
            <a:xfrm>
              <a:off x="2781300" y="1295400"/>
              <a:ext cx="0" cy="1675978"/>
            </a:xfrm>
            <a:prstGeom prst="straightConnector1">
              <a:avLst/>
            </a:prstGeom>
            <a:ln w="19050">
              <a:solidFill>
                <a:srgbClr val="0B8EB8"/>
              </a:solidFill>
              <a:prstDash val="dash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9D052FA8-7907-431C-9597-E7060C3366B5}"/>
                </a:ext>
              </a:extLst>
            </p:cNvPr>
            <p:cNvCxnSpPr/>
            <p:nvPr/>
          </p:nvCxnSpPr>
          <p:spPr>
            <a:xfrm>
              <a:off x="9563100" y="1295400"/>
              <a:ext cx="0" cy="1675978"/>
            </a:xfrm>
            <a:prstGeom prst="straightConnector1">
              <a:avLst/>
            </a:prstGeom>
            <a:ln w="19050">
              <a:solidFill>
                <a:srgbClr val="0B8EB8"/>
              </a:solidFill>
              <a:prstDash val="dash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BF28ECAD-D18E-4A33-A5A9-BA2D4DBFB484}"/>
                </a:ext>
              </a:extLst>
            </p:cNvPr>
            <p:cNvSpPr txBox="1"/>
            <p:nvPr/>
          </p:nvSpPr>
          <p:spPr>
            <a:xfrm>
              <a:off x="2692400" y="833735"/>
              <a:ext cx="190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B8EB8"/>
                  </a:solidFill>
                </a:rPr>
                <a:t>WAREHOUSE</a:t>
              </a:r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2C4AD2A8-5442-4EC9-9F1E-58B778787B18}"/>
              </a:ext>
            </a:extLst>
          </p:cNvPr>
          <p:cNvSpPr txBox="1"/>
          <p:nvPr/>
        </p:nvSpPr>
        <p:spPr>
          <a:xfrm>
            <a:off x="6091897" y="3939490"/>
            <a:ext cx="30580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Output aggregation function</a:t>
            </a:r>
          </a:p>
          <a:p>
            <a:pPr algn="ctr"/>
            <a:r>
              <a:rPr lang="en-US" sz="1400" dirty="0"/>
              <a:t>Combines commodities from different activities &amp; allows substitution to ensure lowest composite price</a:t>
            </a:r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F96CBD0F-515A-4616-8881-75261C7A69C5}"/>
              </a:ext>
            </a:extLst>
          </p:cNvPr>
          <p:cNvGrpSpPr/>
          <p:nvPr/>
        </p:nvGrpSpPr>
        <p:grpSpPr>
          <a:xfrm>
            <a:off x="4491487" y="5080040"/>
            <a:ext cx="6254750" cy="1359932"/>
            <a:chOff x="1524000" y="5193268"/>
            <a:chExt cx="6254750" cy="1359932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6C071FB0-5822-42EF-9C03-B4093D992D97}"/>
                </a:ext>
              </a:extLst>
            </p:cNvPr>
            <p:cNvSpPr txBox="1"/>
            <p:nvPr/>
          </p:nvSpPr>
          <p:spPr>
            <a:xfrm>
              <a:off x="3746500" y="5620434"/>
              <a:ext cx="1320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Substitution</a:t>
              </a:r>
              <a:endParaRPr lang="en-US" sz="1400" dirty="0"/>
            </a:p>
          </p:txBody>
        </p: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11CEAA59-1C48-475B-8E0D-4B8FC5041042}"/>
                </a:ext>
              </a:extLst>
            </p:cNvPr>
            <p:cNvCxnSpPr/>
            <p:nvPr/>
          </p:nvCxnSpPr>
          <p:spPr>
            <a:xfrm flipV="1">
              <a:off x="4667250" y="5562389"/>
              <a:ext cx="0" cy="353410"/>
            </a:xfrm>
            <a:prstGeom prst="straightConnector1">
              <a:avLst/>
            </a:prstGeom>
            <a:ln>
              <a:solidFill>
                <a:srgbClr val="0B8EB8"/>
              </a:solidFill>
              <a:tailEnd type="triangl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1A70B1A2-FAE4-462D-9493-0ADDC4054C8C}"/>
                </a:ext>
              </a:extLst>
            </p:cNvPr>
            <p:cNvCxnSpPr/>
            <p:nvPr/>
          </p:nvCxnSpPr>
          <p:spPr>
            <a:xfrm flipH="1">
              <a:off x="3352800" y="5915799"/>
              <a:ext cx="2628900" cy="0"/>
            </a:xfrm>
            <a:prstGeom prst="straightConnector1">
              <a:avLst/>
            </a:prstGeom>
            <a:ln>
              <a:solidFill>
                <a:srgbClr val="0B8EB8"/>
              </a:solidFill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4E833321-0282-4994-9466-A192078131B2}"/>
                </a:ext>
              </a:extLst>
            </p:cNvPr>
            <p:cNvCxnSpPr/>
            <p:nvPr/>
          </p:nvCxnSpPr>
          <p:spPr>
            <a:xfrm flipV="1">
              <a:off x="3352800" y="5915799"/>
              <a:ext cx="0" cy="240268"/>
            </a:xfrm>
            <a:prstGeom prst="straightConnector1">
              <a:avLst/>
            </a:prstGeom>
            <a:ln>
              <a:solidFill>
                <a:srgbClr val="0B8EB8"/>
              </a:solidFill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C40E4038-6EB6-47D9-B0BF-CE0E130C16EA}"/>
                </a:ext>
              </a:extLst>
            </p:cNvPr>
            <p:cNvCxnSpPr/>
            <p:nvPr/>
          </p:nvCxnSpPr>
          <p:spPr>
            <a:xfrm flipV="1">
              <a:off x="5981700" y="5915799"/>
              <a:ext cx="0" cy="240268"/>
            </a:xfrm>
            <a:prstGeom prst="straightConnector1">
              <a:avLst/>
            </a:prstGeom>
            <a:ln>
              <a:solidFill>
                <a:srgbClr val="0B8EB8"/>
              </a:solidFill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855DF94C-C72E-4CAE-A7D2-75C3A7E4CF7C}"/>
                </a:ext>
              </a:extLst>
            </p:cNvPr>
            <p:cNvSpPr txBox="1"/>
            <p:nvPr/>
          </p:nvSpPr>
          <p:spPr>
            <a:xfrm>
              <a:off x="3124200" y="5193268"/>
              <a:ext cx="3048000" cy="369332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Aggregate commodity output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D8DEF85A-1D07-4E33-A9BE-8B6B2D06D776}"/>
                </a:ext>
              </a:extLst>
            </p:cNvPr>
            <p:cNvSpPr txBox="1"/>
            <p:nvPr/>
          </p:nvSpPr>
          <p:spPr>
            <a:xfrm>
              <a:off x="1524000" y="6183868"/>
              <a:ext cx="2819400" cy="369332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Main activity: Leather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25AA3EF4-FF0B-466E-AE14-0B31E2D6B029}"/>
                </a:ext>
              </a:extLst>
            </p:cNvPr>
            <p:cNvSpPr txBox="1"/>
            <p:nvPr/>
          </p:nvSpPr>
          <p:spPr>
            <a:xfrm>
              <a:off x="4959350" y="6183868"/>
              <a:ext cx="2819400" cy="369332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Second activity: Livestock</a:t>
              </a: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6B6B5CBE-20EB-477D-B64B-42A799558097}"/>
              </a:ext>
            </a:extLst>
          </p:cNvPr>
          <p:cNvGrpSpPr/>
          <p:nvPr/>
        </p:nvGrpSpPr>
        <p:grpSpPr>
          <a:xfrm>
            <a:off x="3653287" y="1057506"/>
            <a:ext cx="7835900" cy="2200388"/>
            <a:chOff x="685800" y="930466"/>
            <a:chExt cx="7835900" cy="2200388"/>
          </a:xfrm>
        </p:grpSpPr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61452F85-9E90-44C2-9899-C4CA91EDF3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8350" y="3128666"/>
              <a:ext cx="7753350" cy="2188"/>
            </a:xfrm>
            <a:prstGeom prst="straightConnector1">
              <a:avLst/>
            </a:prstGeom>
            <a:ln w="19050">
              <a:solidFill>
                <a:srgbClr val="5C8E3A"/>
              </a:solidFill>
              <a:prstDash val="dash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CB415954-90F6-42E5-BC1A-AF6F21A26B4C}"/>
                </a:ext>
              </a:extLst>
            </p:cNvPr>
            <p:cNvCxnSpPr/>
            <p:nvPr/>
          </p:nvCxnSpPr>
          <p:spPr>
            <a:xfrm>
              <a:off x="768350" y="1452265"/>
              <a:ext cx="0" cy="1675978"/>
            </a:xfrm>
            <a:prstGeom prst="straightConnector1">
              <a:avLst/>
            </a:prstGeom>
            <a:ln w="19050">
              <a:solidFill>
                <a:srgbClr val="5C8E3A"/>
              </a:solidFill>
              <a:prstDash val="dash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5BCC56AE-1665-465E-9F06-14B064AA220A}"/>
                </a:ext>
              </a:extLst>
            </p:cNvPr>
            <p:cNvCxnSpPr>
              <a:cxnSpLocks/>
            </p:cNvCxnSpPr>
            <p:nvPr/>
          </p:nvCxnSpPr>
          <p:spPr>
            <a:xfrm>
              <a:off x="8508234" y="1445062"/>
              <a:ext cx="13466" cy="1670168"/>
            </a:xfrm>
            <a:prstGeom prst="straightConnector1">
              <a:avLst/>
            </a:prstGeom>
            <a:ln w="19050">
              <a:solidFill>
                <a:srgbClr val="5C8E3A"/>
              </a:solidFill>
              <a:prstDash val="dash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1F909CEF-C3DB-4854-8129-5FAF60B61259}"/>
                </a:ext>
              </a:extLst>
            </p:cNvPr>
            <p:cNvSpPr txBox="1"/>
            <p:nvPr/>
          </p:nvSpPr>
          <p:spPr>
            <a:xfrm>
              <a:off x="685800" y="930466"/>
              <a:ext cx="23495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5C8E3A"/>
                  </a:solidFill>
                </a:rPr>
                <a:t>SUPERMARKET</a:t>
              </a: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4BA3033F-1C6A-4BE9-B001-BC65E91238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2000" y="1445063"/>
              <a:ext cx="7759700" cy="21899"/>
            </a:xfrm>
            <a:prstGeom prst="straightConnector1">
              <a:avLst/>
            </a:prstGeom>
            <a:ln w="19050">
              <a:solidFill>
                <a:srgbClr val="5C8E3A"/>
              </a:solidFill>
              <a:prstDash val="dash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704F2B75-E779-466F-9421-D315B682DDCD}"/>
              </a:ext>
            </a:extLst>
          </p:cNvPr>
          <p:cNvCxnSpPr/>
          <p:nvPr/>
        </p:nvCxnSpPr>
        <p:spPr>
          <a:xfrm flipV="1">
            <a:off x="6320287" y="6451640"/>
            <a:ext cx="0" cy="277209"/>
          </a:xfrm>
          <a:prstGeom prst="straightConnector1">
            <a:avLst/>
          </a:prstGeom>
          <a:ln>
            <a:solidFill>
              <a:srgbClr val="0B8EB8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6F3A73E4-DF3D-493A-B421-DD91413CE4E5}"/>
              </a:ext>
            </a:extLst>
          </p:cNvPr>
          <p:cNvCxnSpPr/>
          <p:nvPr/>
        </p:nvCxnSpPr>
        <p:spPr>
          <a:xfrm flipV="1">
            <a:off x="8957469" y="6451640"/>
            <a:ext cx="0" cy="277209"/>
          </a:xfrm>
          <a:prstGeom prst="straightConnector1">
            <a:avLst/>
          </a:prstGeom>
          <a:ln>
            <a:solidFill>
              <a:srgbClr val="0B8EB8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95D94EF4-8BE4-46EE-8347-48C1DC235F84}"/>
              </a:ext>
            </a:extLst>
          </p:cNvPr>
          <p:cNvGrpSpPr/>
          <p:nvPr/>
        </p:nvGrpSpPr>
        <p:grpSpPr>
          <a:xfrm>
            <a:off x="4364487" y="3065710"/>
            <a:ext cx="6451600" cy="2014330"/>
            <a:chOff x="1397000" y="2866935"/>
            <a:chExt cx="6451600" cy="2014330"/>
          </a:xfrm>
        </p:grpSpPr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AC1BB9D7-42AD-4533-B97C-7B5537CA6DCF}"/>
                </a:ext>
              </a:extLst>
            </p:cNvPr>
            <p:cNvCxnSpPr>
              <a:stCxn id="214" idx="0"/>
              <a:endCxn id="234" idx="2"/>
            </p:cNvCxnSpPr>
            <p:nvPr/>
          </p:nvCxnSpPr>
          <p:spPr>
            <a:xfrm flipH="1" flipV="1">
              <a:off x="4645025" y="2866935"/>
              <a:ext cx="3175" cy="790665"/>
            </a:xfrm>
            <a:prstGeom prst="straightConnector1">
              <a:avLst/>
            </a:prstGeom>
            <a:ln>
              <a:solidFill>
                <a:srgbClr val="FFB300"/>
              </a:solidFill>
              <a:tailEnd type="triangl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80346858-8A17-45DF-ABFA-1E31085DE05C}"/>
                </a:ext>
              </a:extLst>
            </p:cNvPr>
            <p:cNvGrpSpPr/>
            <p:nvPr/>
          </p:nvGrpSpPr>
          <p:grpSpPr>
            <a:xfrm>
              <a:off x="1397000" y="3149767"/>
              <a:ext cx="6451600" cy="1731498"/>
              <a:chOff x="1397000" y="3225967"/>
              <a:chExt cx="6451600" cy="1731498"/>
            </a:xfrm>
          </p:grpSpPr>
          <p:cxnSp>
            <p:nvCxnSpPr>
              <p:cNvPr id="210" name="Straight Arrow Connector 209">
                <a:extLst>
                  <a:ext uri="{FF2B5EF4-FFF2-40B4-BE49-F238E27FC236}">
                    <a16:creationId xmlns:a16="http://schemas.microsoft.com/office/drawing/2014/main" id="{1FE60EE8-0FC9-496E-A630-43B293044F40}"/>
                  </a:ext>
                </a:extLst>
              </p:cNvPr>
              <p:cNvCxnSpPr/>
              <p:nvPr/>
            </p:nvCxnSpPr>
            <p:spPr>
              <a:xfrm flipH="1" flipV="1">
                <a:off x="4647372" y="4571999"/>
                <a:ext cx="2209800" cy="1"/>
              </a:xfrm>
              <a:prstGeom prst="straightConnector1">
                <a:avLst/>
              </a:prstGeom>
              <a:ln>
                <a:solidFill>
                  <a:srgbClr val="FFB300"/>
                </a:solidFill>
                <a:tailEnd type="none" w="lg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BF10E076-3D78-4311-8B29-2CD5C19847AD}"/>
                  </a:ext>
                </a:extLst>
              </p:cNvPr>
              <p:cNvGrpSpPr/>
              <p:nvPr/>
            </p:nvGrpSpPr>
            <p:grpSpPr>
              <a:xfrm>
                <a:off x="1397000" y="3225967"/>
                <a:ext cx="6451600" cy="1731498"/>
                <a:chOff x="1397000" y="3237635"/>
                <a:chExt cx="6451600" cy="1731498"/>
              </a:xfrm>
            </p:grpSpPr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2B16B749-EDAD-447B-B158-C912DC91F9EF}"/>
                    </a:ext>
                  </a:extLst>
                </p:cNvPr>
                <p:cNvSpPr txBox="1"/>
                <p:nvPr/>
              </p:nvSpPr>
              <p:spPr>
                <a:xfrm>
                  <a:off x="3765550" y="3237635"/>
                  <a:ext cx="19050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Substitution</a:t>
                  </a:r>
                  <a:endParaRPr lang="en-US" sz="1400" dirty="0"/>
                </a:p>
              </p:txBody>
            </p:sp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D5E32C9C-3F8D-48BB-B450-74A62B9B984B}"/>
                    </a:ext>
                  </a:extLst>
                </p:cNvPr>
                <p:cNvSpPr txBox="1"/>
                <p:nvPr/>
              </p:nvSpPr>
              <p:spPr>
                <a:xfrm>
                  <a:off x="1397000" y="3745468"/>
                  <a:ext cx="1981200" cy="369332"/>
                </a:xfrm>
                <a:prstGeom prst="rect">
                  <a:avLst/>
                </a:prstGeom>
                <a:solidFill>
                  <a:srgbClr val="FFB300"/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Imports</a:t>
                  </a:r>
                </a:p>
              </p:txBody>
            </p:sp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201BF5C6-6620-4A4C-83D3-682AEFEF1A0A}"/>
                    </a:ext>
                  </a:extLst>
                </p:cNvPr>
                <p:cNvSpPr txBox="1"/>
                <p:nvPr/>
              </p:nvSpPr>
              <p:spPr>
                <a:xfrm>
                  <a:off x="3657600" y="3745468"/>
                  <a:ext cx="1981200" cy="369332"/>
                </a:xfrm>
                <a:prstGeom prst="rect">
                  <a:avLst/>
                </a:prstGeom>
                <a:solidFill>
                  <a:srgbClr val="FFB300"/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Domestic sales</a:t>
                  </a:r>
                </a:p>
              </p:txBody>
            </p:sp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03B499D1-C6C8-4F1F-981E-B2F1373D4E4F}"/>
                    </a:ext>
                  </a:extLst>
                </p:cNvPr>
                <p:cNvSpPr txBox="1"/>
                <p:nvPr/>
              </p:nvSpPr>
              <p:spPr>
                <a:xfrm>
                  <a:off x="5867400" y="3745468"/>
                  <a:ext cx="1981200" cy="369332"/>
                </a:xfrm>
                <a:prstGeom prst="rect">
                  <a:avLst/>
                </a:prstGeom>
                <a:solidFill>
                  <a:srgbClr val="FFB300"/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Exports</a:t>
                  </a:r>
                </a:p>
              </p:txBody>
            </p:sp>
            <p:cxnSp>
              <p:nvCxnSpPr>
                <p:cNvPr id="216" name="Straight Arrow Connector 215">
                  <a:extLst>
                    <a:ext uri="{FF2B5EF4-FFF2-40B4-BE49-F238E27FC236}">
                      <a16:creationId xmlns:a16="http://schemas.microsoft.com/office/drawing/2014/main" id="{DCC59038-947D-4AD7-A0C4-8BA93D5CE108}"/>
                    </a:ext>
                  </a:extLst>
                </p:cNvPr>
                <p:cNvCxnSpPr>
                  <a:cxnSpLocks/>
                  <a:stCxn id="196" idx="0"/>
                  <a:endCxn id="214" idx="2"/>
                </p:cNvCxnSpPr>
                <p:nvPr/>
              </p:nvCxnSpPr>
              <p:spPr>
                <a:xfrm flipV="1">
                  <a:off x="4648200" y="4114800"/>
                  <a:ext cx="0" cy="854333"/>
                </a:xfrm>
                <a:prstGeom prst="straightConnector1">
                  <a:avLst/>
                </a:prstGeom>
                <a:ln>
                  <a:solidFill>
                    <a:srgbClr val="FFB300"/>
                  </a:solidFill>
                  <a:tailEnd type="triangl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Arrow Connector 216">
                  <a:extLst>
                    <a:ext uri="{FF2B5EF4-FFF2-40B4-BE49-F238E27FC236}">
                      <a16:creationId xmlns:a16="http://schemas.microsoft.com/office/drawing/2014/main" id="{C961A086-BF50-4F46-B21F-ABF3057B25B9}"/>
                    </a:ext>
                  </a:extLst>
                </p:cNvPr>
                <p:cNvCxnSpPr/>
                <p:nvPr/>
              </p:nvCxnSpPr>
              <p:spPr>
                <a:xfrm flipH="1" flipV="1">
                  <a:off x="6844748" y="4114800"/>
                  <a:ext cx="9525" cy="457200"/>
                </a:xfrm>
                <a:prstGeom prst="straightConnector1">
                  <a:avLst/>
                </a:prstGeom>
                <a:ln>
                  <a:solidFill>
                    <a:srgbClr val="FFB300"/>
                  </a:solidFill>
                  <a:tailEnd type="triangl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Arrow Connector 217">
                  <a:extLst>
                    <a:ext uri="{FF2B5EF4-FFF2-40B4-BE49-F238E27FC236}">
                      <a16:creationId xmlns:a16="http://schemas.microsoft.com/office/drawing/2014/main" id="{0506067F-9CFC-4E4C-803A-3117DB6F0B48}"/>
                    </a:ext>
                  </a:extLst>
                </p:cNvPr>
                <p:cNvCxnSpPr/>
                <p:nvPr/>
              </p:nvCxnSpPr>
              <p:spPr>
                <a:xfrm flipV="1">
                  <a:off x="2387600" y="3537803"/>
                  <a:ext cx="0" cy="212130"/>
                </a:xfrm>
                <a:prstGeom prst="straightConnector1">
                  <a:avLst/>
                </a:prstGeom>
                <a:ln>
                  <a:solidFill>
                    <a:srgbClr val="FFB300"/>
                  </a:solidFill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Arrow Connector 218">
                  <a:extLst>
                    <a:ext uri="{FF2B5EF4-FFF2-40B4-BE49-F238E27FC236}">
                      <a16:creationId xmlns:a16="http://schemas.microsoft.com/office/drawing/2014/main" id="{DD6E1B97-3E06-479B-87F8-437D819B38F6}"/>
                    </a:ext>
                  </a:extLst>
                </p:cNvPr>
                <p:cNvCxnSpPr/>
                <p:nvPr/>
              </p:nvCxnSpPr>
              <p:spPr>
                <a:xfrm flipH="1">
                  <a:off x="2387600" y="3521333"/>
                  <a:ext cx="2257425" cy="0"/>
                </a:xfrm>
                <a:prstGeom prst="straightConnector1">
                  <a:avLst/>
                </a:prstGeom>
                <a:ln>
                  <a:solidFill>
                    <a:srgbClr val="FFB300"/>
                  </a:solidFill>
                  <a:tailEnd type="none" w="lg" len="med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85F63AF0-3F31-4B93-BA14-1663F3374A3B}"/>
                    </a:ext>
                  </a:extLst>
                </p:cNvPr>
                <p:cNvSpPr txBox="1"/>
                <p:nvPr/>
              </p:nvSpPr>
              <p:spPr>
                <a:xfrm>
                  <a:off x="4615312" y="4334768"/>
                  <a:ext cx="19050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Substitution</a:t>
                  </a:r>
                </a:p>
              </p:txBody>
            </p:sp>
          </p:grp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EE82B844-3F5F-4FF0-A249-8DD1CA51D8BB}"/>
              </a:ext>
            </a:extLst>
          </p:cNvPr>
          <p:cNvSpPr txBox="1"/>
          <p:nvPr/>
        </p:nvSpPr>
        <p:spPr>
          <a:xfrm>
            <a:off x="7723637" y="3261594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Export supply function</a:t>
            </a:r>
            <a:endParaRPr lang="en-US" dirty="0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ED35EB11-0C65-463C-87AF-6F3BD8312467}"/>
              </a:ext>
            </a:extLst>
          </p:cNvPr>
          <p:cNvSpPr txBox="1"/>
          <p:nvPr/>
        </p:nvSpPr>
        <p:spPr>
          <a:xfrm>
            <a:off x="4612137" y="2690249"/>
            <a:ext cx="174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Total supply</a:t>
            </a:r>
            <a:endParaRPr lang="en-US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B3A030BC-49AA-4008-9A7B-87A115443A36}"/>
              </a:ext>
            </a:extLst>
          </p:cNvPr>
          <p:cNvSpPr txBox="1"/>
          <p:nvPr/>
        </p:nvSpPr>
        <p:spPr>
          <a:xfrm>
            <a:off x="9260337" y="2505583"/>
            <a:ext cx="174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 demand</a:t>
            </a:r>
            <a:endParaRPr lang="en-US" dirty="0"/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644FD1C5-4CFC-4F11-94BA-6C6610B564D2}"/>
              </a:ext>
            </a:extLst>
          </p:cNvPr>
          <p:cNvGrpSpPr/>
          <p:nvPr/>
        </p:nvGrpSpPr>
        <p:grpSpPr>
          <a:xfrm>
            <a:off x="3958087" y="1727240"/>
            <a:ext cx="8117630" cy="1338470"/>
            <a:chOff x="990600" y="1551591"/>
            <a:chExt cx="8117630" cy="1338470"/>
          </a:xfrm>
          <a:effectLst/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2DF06DDC-E9AC-4283-A333-D4B0080FC052}"/>
                </a:ext>
              </a:extLst>
            </p:cNvPr>
            <p:cNvSpPr txBox="1"/>
            <p:nvPr/>
          </p:nvSpPr>
          <p:spPr>
            <a:xfrm>
              <a:off x="1746517" y="2015130"/>
              <a:ext cx="17462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 substitution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F38377AA-352B-4E13-9CF4-B60282A0797B}"/>
                </a:ext>
              </a:extLst>
            </p:cNvPr>
            <p:cNvSpPr txBox="1"/>
            <p:nvPr/>
          </p:nvSpPr>
          <p:spPr>
            <a:xfrm>
              <a:off x="3654425" y="2017141"/>
              <a:ext cx="17462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 substitution</a:t>
              </a:r>
              <a:endParaRPr lang="en-US" sz="1600" dirty="0"/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7615B8C8-8000-4CBB-B3A4-00F1F1D99BE4}"/>
                </a:ext>
              </a:extLst>
            </p:cNvPr>
            <p:cNvSpPr txBox="1"/>
            <p:nvPr/>
          </p:nvSpPr>
          <p:spPr>
            <a:xfrm>
              <a:off x="5569932" y="2018189"/>
              <a:ext cx="17462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 substitution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49DF4651-4CDF-4F58-AC67-A35CA5A57148}"/>
                </a:ext>
              </a:extLst>
            </p:cNvPr>
            <p:cNvSpPr txBox="1"/>
            <p:nvPr/>
          </p:nvSpPr>
          <p:spPr>
            <a:xfrm>
              <a:off x="7361980" y="2015642"/>
              <a:ext cx="17462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 substitution</a:t>
              </a:r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018DEE28-1715-4587-810B-D77C23FFC05B}"/>
                </a:ext>
              </a:extLst>
            </p:cNvPr>
            <p:cNvGrpSpPr/>
            <p:nvPr/>
          </p:nvGrpSpPr>
          <p:grpSpPr>
            <a:xfrm>
              <a:off x="990600" y="1551591"/>
              <a:ext cx="7232650" cy="1338470"/>
              <a:chOff x="990600" y="1600200"/>
              <a:chExt cx="7232650" cy="1338470"/>
            </a:xfrm>
          </p:grpSpPr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94A2717B-4B22-4201-9ECD-2B7BEB0CDD55}"/>
                  </a:ext>
                </a:extLst>
              </p:cNvPr>
              <p:cNvSpPr txBox="1"/>
              <p:nvPr/>
            </p:nvSpPr>
            <p:spPr>
              <a:xfrm>
                <a:off x="990600" y="1600200"/>
                <a:ext cx="1676400" cy="369332"/>
              </a:xfrm>
              <a:prstGeom prst="rect">
                <a:avLst/>
              </a:prstGeom>
              <a:solidFill>
                <a:srgbClr val="5C8E3A"/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Households</a:t>
                </a:r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40B9CD5F-C08A-4330-BE4B-1EDC9C823C83}"/>
                  </a:ext>
                </a:extLst>
              </p:cNvPr>
              <p:cNvSpPr txBox="1"/>
              <p:nvPr/>
            </p:nvSpPr>
            <p:spPr>
              <a:xfrm>
                <a:off x="2851150" y="1600200"/>
                <a:ext cx="1676400" cy="369332"/>
              </a:xfrm>
              <a:prstGeom prst="rect">
                <a:avLst/>
              </a:prstGeom>
              <a:solidFill>
                <a:srgbClr val="5C8E3A"/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Government</a:t>
                </a:r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408D5577-930C-4481-AA9A-0AC0A67592D7}"/>
                  </a:ext>
                </a:extLst>
              </p:cNvPr>
              <p:cNvSpPr txBox="1"/>
              <p:nvPr/>
            </p:nvSpPr>
            <p:spPr>
              <a:xfrm>
                <a:off x="4718050" y="1600200"/>
                <a:ext cx="1676400" cy="369332"/>
              </a:xfrm>
              <a:prstGeom prst="rect">
                <a:avLst/>
              </a:prstGeom>
              <a:solidFill>
                <a:srgbClr val="5C8E3A"/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Investment</a:t>
                </a:r>
              </a:p>
            </p:txBody>
          </p: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30184AC5-A55C-4032-A827-12E672D9678E}"/>
                  </a:ext>
                </a:extLst>
              </p:cNvPr>
              <p:cNvSpPr txBox="1"/>
              <p:nvPr/>
            </p:nvSpPr>
            <p:spPr>
              <a:xfrm>
                <a:off x="6546850" y="1600200"/>
                <a:ext cx="1676400" cy="369332"/>
              </a:xfrm>
              <a:prstGeom prst="rect">
                <a:avLst/>
              </a:prstGeom>
              <a:solidFill>
                <a:srgbClr val="C34E2D"/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Intermediates</a:t>
                </a: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968A6EF1-34C1-4D3B-8BE4-B6F2377F7569}"/>
                  </a:ext>
                </a:extLst>
              </p:cNvPr>
              <p:cNvSpPr txBox="1"/>
              <p:nvPr/>
            </p:nvSpPr>
            <p:spPr>
              <a:xfrm>
                <a:off x="3473450" y="2569338"/>
                <a:ext cx="2343150" cy="369332"/>
              </a:xfrm>
              <a:prstGeom prst="rect">
                <a:avLst/>
              </a:prstGeom>
              <a:solidFill>
                <a:srgbClr val="5C8E3A"/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Composite commodity</a:t>
                </a:r>
              </a:p>
            </p:txBody>
          </p:sp>
          <p:cxnSp>
            <p:nvCxnSpPr>
              <p:cNvPr id="235" name="Straight Arrow Connector 234">
                <a:extLst>
                  <a:ext uri="{FF2B5EF4-FFF2-40B4-BE49-F238E27FC236}">
                    <a16:creationId xmlns:a16="http://schemas.microsoft.com/office/drawing/2014/main" id="{B1F99087-C59A-426F-A032-D34B6923A558}"/>
                  </a:ext>
                </a:extLst>
              </p:cNvPr>
              <p:cNvCxnSpPr/>
              <p:nvPr/>
            </p:nvCxnSpPr>
            <p:spPr>
              <a:xfrm flipV="1">
                <a:off x="1765300" y="1969533"/>
                <a:ext cx="0" cy="363149"/>
              </a:xfrm>
              <a:prstGeom prst="straightConnector1">
                <a:avLst/>
              </a:prstGeom>
              <a:ln>
                <a:solidFill>
                  <a:srgbClr val="5C8E3A"/>
                </a:solidFill>
                <a:tailEnd type="triangle" w="lg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Arrow Connector 235">
                <a:extLst>
                  <a:ext uri="{FF2B5EF4-FFF2-40B4-BE49-F238E27FC236}">
                    <a16:creationId xmlns:a16="http://schemas.microsoft.com/office/drawing/2014/main" id="{5DF558A3-8BB4-4CAA-A61F-221D869C9208}"/>
                  </a:ext>
                </a:extLst>
              </p:cNvPr>
              <p:cNvCxnSpPr/>
              <p:nvPr/>
            </p:nvCxnSpPr>
            <p:spPr>
              <a:xfrm flipV="1">
                <a:off x="3689350" y="1969533"/>
                <a:ext cx="0" cy="363149"/>
              </a:xfrm>
              <a:prstGeom prst="straightConnector1">
                <a:avLst/>
              </a:prstGeom>
              <a:ln>
                <a:solidFill>
                  <a:srgbClr val="5C8E3A"/>
                </a:solidFill>
                <a:tailEnd type="triangle" w="lg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Arrow Connector 236">
                <a:extLst>
                  <a:ext uri="{FF2B5EF4-FFF2-40B4-BE49-F238E27FC236}">
                    <a16:creationId xmlns:a16="http://schemas.microsoft.com/office/drawing/2014/main" id="{08456C97-2F9B-498D-9712-067204C62CE8}"/>
                  </a:ext>
                </a:extLst>
              </p:cNvPr>
              <p:cNvCxnSpPr/>
              <p:nvPr/>
            </p:nvCxnSpPr>
            <p:spPr>
              <a:xfrm flipV="1">
                <a:off x="5619750" y="1966922"/>
                <a:ext cx="0" cy="363149"/>
              </a:xfrm>
              <a:prstGeom prst="straightConnector1">
                <a:avLst/>
              </a:prstGeom>
              <a:ln>
                <a:solidFill>
                  <a:srgbClr val="5C8E3A"/>
                </a:solidFill>
                <a:tailEnd type="triangle" w="lg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Arrow Connector 237">
                <a:extLst>
                  <a:ext uri="{FF2B5EF4-FFF2-40B4-BE49-F238E27FC236}">
                    <a16:creationId xmlns:a16="http://schemas.microsoft.com/office/drawing/2014/main" id="{6C143696-F15D-41AA-97E9-DB6A0A257C11}"/>
                  </a:ext>
                </a:extLst>
              </p:cNvPr>
              <p:cNvCxnSpPr/>
              <p:nvPr/>
            </p:nvCxnSpPr>
            <p:spPr>
              <a:xfrm flipV="1">
                <a:off x="7385050" y="1969533"/>
                <a:ext cx="0" cy="363149"/>
              </a:xfrm>
              <a:prstGeom prst="straightConnector1">
                <a:avLst/>
              </a:prstGeom>
              <a:ln>
                <a:solidFill>
                  <a:srgbClr val="5C8E3A"/>
                </a:solidFill>
                <a:tailEnd type="triangle" w="lg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Arrow Connector 238">
                <a:extLst>
                  <a:ext uri="{FF2B5EF4-FFF2-40B4-BE49-F238E27FC236}">
                    <a16:creationId xmlns:a16="http://schemas.microsoft.com/office/drawing/2014/main" id="{75357ABD-09EA-4377-8C1E-3664A8D905C6}"/>
                  </a:ext>
                </a:extLst>
              </p:cNvPr>
              <p:cNvCxnSpPr/>
              <p:nvPr/>
            </p:nvCxnSpPr>
            <p:spPr>
              <a:xfrm flipH="1">
                <a:off x="1765300" y="2332682"/>
                <a:ext cx="5619750" cy="1"/>
              </a:xfrm>
              <a:prstGeom prst="straightConnector1">
                <a:avLst/>
              </a:prstGeom>
              <a:ln>
                <a:solidFill>
                  <a:srgbClr val="5C8E3A"/>
                </a:solidFill>
                <a:tailEnd type="none" w="lg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372E568F-5D33-4758-8000-FB36477205E5}"/>
                  </a:ext>
                </a:extLst>
              </p:cNvPr>
              <p:cNvCxnSpPr/>
              <p:nvPr/>
            </p:nvCxnSpPr>
            <p:spPr>
              <a:xfrm flipV="1">
                <a:off x="4645025" y="2334322"/>
                <a:ext cx="0" cy="241642"/>
              </a:xfrm>
              <a:prstGeom prst="straightConnector1">
                <a:avLst/>
              </a:prstGeom>
              <a:ln>
                <a:solidFill>
                  <a:srgbClr val="5C8E3A"/>
                </a:solidFill>
                <a:tailEnd type="none" w="lg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2" name="Rectangle 251">
            <a:extLst>
              <a:ext uri="{FF2B5EF4-FFF2-40B4-BE49-F238E27FC236}">
                <a16:creationId xmlns:a16="http://schemas.microsoft.com/office/drawing/2014/main" id="{0D230F3A-404F-468C-ABEE-596CF4476ED2}"/>
              </a:ext>
            </a:extLst>
          </p:cNvPr>
          <p:cNvSpPr/>
          <p:nvPr/>
        </p:nvSpPr>
        <p:spPr>
          <a:xfrm>
            <a:off x="708821" y="2069895"/>
            <a:ext cx="399205" cy="238125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7" name="Table 114">
            <a:extLst>
              <a:ext uri="{FF2B5EF4-FFF2-40B4-BE49-F238E27FC236}">
                <a16:creationId xmlns:a16="http://schemas.microsoft.com/office/drawing/2014/main" id="{CDC73638-970D-4752-928C-959B8DBE7AC2}"/>
              </a:ext>
            </a:extLst>
          </p:cNvPr>
          <p:cNvGraphicFramePr>
            <a:graphicFrameLocks noGrp="1"/>
          </p:cNvGraphicFramePr>
          <p:nvPr/>
        </p:nvGraphicFramePr>
        <p:xfrm>
          <a:off x="310197" y="1582546"/>
          <a:ext cx="2799776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68">
                  <a:extLst>
                    <a:ext uri="{9D8B030D-6E8A-4147-A177-3AD203B41FA5}">
                      <a16:colId xmlns:a16="http://schemas.microsoft.com/office/drawing/2014/main" val="3066416653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390178515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723883678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44517278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3058675632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479483401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1893929709"/>
                    </a:ext>
                  </a:extLst>
                </a:gridCol>
              </a:tblGrid>
              <a:tr h="239425"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169226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68128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97440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459157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614760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64448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01164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25E6D280-812D-423A-B7A8-96B72B1DB0A2}"/>
              </a:ext>
            </a:extLst>
          </p:cNvPr>
          <p:cNvSpPr txBox="1"/>
          <p:nvPr/>
        </p:nvSpPr>
        <p:spPr>
          <a:xfrm>
            <a:off x="9139687" y="322503"/>
            <a:ext cx="2887101" cy="923330"/>
          </a:xfrm>
          <a:prstGeom prst="rect">
            <a:avLst/>
          </a:prstGeom>
          <a:noFill/>
          <a:ln w="12700">
            <a:solidFill>
              <a:srgbClr val="5C8E3A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5C8E3A"/>
                </a:solidFill>
              </a:rPr>
              <a:t>Product market closure</a:t>
            </a:r>
          </a:p>
          <a:p>
            <a:r>
              <a:rPr lang="en-US" dirty="0">
                <a:solidFill>
                  <a:srgbClr val="5C8E3A"/>
                </a:solidFill>
              </a:rPr>
              <a:t>Demand &amp; supply balance maintained via price changes</a:t>
            </a:r>
          </a:p>
        </p:txBody>
      </p:sp>
    </p:spTree>
    <p:extLst>
      <p:ext uri="{BB962C8B-B14F-4D97-AF65-F5344CB8AC3E}">
        <p14:creationId xmlns:p14="http://schemas.microsoft.com/office/powerpoint/2010/main" val="355828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0" animBg="1"/>
      <p:bldP spid="246" grpId="0" animBg="1"/>
      <p:bldP spid="246" grpId="1" animBg="1"/>
      <p:bldP spid="244" grpId="0" animBg="1"/>
      <p:bldP spid="244" grpId="1" animBg="1"/>
      <p:bldP spid="245" grpId="0" animBg="1"/>
      <p:bldP spid="243" grpId="0" animBg="1"/>
      <p:bldP spid="242" grpId="0" animBg="1"/>
      <p:bldP spid="242" grpId="1" animBg="1"/>
      <p:bldP spid="129" grpId="0" animBg="1"/>
      <p:bldP spid="241" grpId="0" animBg="1"/>
      <p:bldP spid="183" grpId="0"/>
      <p:bldP spid="183" grpId="1"/>
      <p:bldP spid="189" grpId="0"/>
      <p:bldP spid="221" grpId="0"/>
      <p:bldP spid="221" grpId="1"/>
      <p:bldP spid="222" grpId="0"/>
      <p:bldP spid="222" grpId="1"/>
      <p:bldP spid="223" grpId="0"/>
      <p:bldP spid="223" grpId="1"/>
      <p:bldP spid="252" grpId="0" animBg="1"/>
      <p:bldP spid="252" grpId="1" animBg="1"/>
      <p:bldP spid="25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FEF6-EE37-4C1D-A2AC-2663DAE9C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Chains</a:t>
            </a:r>
            <a:r>
              <a:rPr lang="en-US" b="0" dirty="0"/>
              <a:t>  |  Summary</a:t>
            </a:r>
            <a:endParaRPr lang="en-US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4BEE9B1-5BC2-4BDE-8859-7EC8E2115043}"/>
              </a:ext>
            </a:extLst>
          </p:cNvPr>
          <p:cNvSpPr/>
          <p:nvPr/>
        </p:nvSpPr>
        <p:spPr>
          <a:xfrm>
            <a:off x="10399599" y="766168"/>
            <a:ext cx="399205" cy="238125"/>
          </a:xfrm>
          <a:prstGeom prst="rect">
            <a:avLst/>
          </a:prstGeom>
          <a:solidFill>
            <a:srgbClr val="5C8E3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AF63A5D7-4A33-44AE-A67C-AD866A53B7FE}"/>
              </a:ext>
            </a:extLst>
          </p:cNvPr>
          <p:cNvSpPr/>
          <p:nvPr/>
        </p:nvSpPr>
        <p:spPr>
          <a:xfrm>
            <a:off x="9598570" y="1500324"/>
            <a:ext cx="399205" cy="238125"/>
          </a:xfrm>
          <a:prstGeom prst="rect">
            <a:avLst/>
          </a:prstGeom>
          <a:solidFill>
            <a:srgbClr val="FF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01D1B3FB-211E-441A-8C54-778F62EC7FCC}"/>
              </a:ext>
            </a:extLst>
          </p:cNvPr>
          <p:cNvSpPr/>
          <p:nvPr/>
        </p:nvSpPr>
        <p:spPr>
          <a:xfrm>
            <a:off x="9598571" y="523696"/>
            <a:ext cx="399205" cy="238125"/>
          </a:xfrm>
          <a:prstGeom prst="rect">
            <a:avLst/>
          </a:prstGeom>
          <a:solidFill>
            <a:srgbClr val="0B8E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B5C48C53-E0AB-45E0-827D-35BB4E127D3B}"/>
              </a:ext>
            </a:extLst>
          </p:cNvPr>
          <p:cNvSpPr/>
          <p:nvPr/>
        </p:nvSpPr>
        <p:spPr>
          <a:xfrm>
            <a:off x="9199366" y="1747306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0BF10376-77FA-441E-B57F-EBB1DCA59F1D}"/>
              </a:ext>
            </a:extLst>
          </p:cNvPr>
          <p:cNvSpPr/>
          <p:nvPr/>
        </p:nvSpPr>
        <p:spPr>
          <a:xfrm>
            <a:off x="9199367" y="765901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E62AA441-DE78-475D-A142-66DB2B208CD2}"/>
              </a:ext>
            </a:extLst>
          </p:cNvPr>
          <p:cNvSpPr/>
          <p:nvPr/>
        </p:nvSpPr>
        <p:spPr>
          <a:xfrm>
            <a:off x="9199367" y="1010836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518A3522-F380-4819-86EB-F6D4884410BB}"/>
              </a:ext>
            </a:extLst>
          </p:cNvPr>
          <p:cNvSpPr txBox="1"/>
          <p:nvPr/>
        </p:nvSpPr>
        <p:spPr>
          <a:xfrm>
            <a:off x="7329575" y="609859"/>
            <a:ext cx="146694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200" b="1" dirty="0"/>
              <a:t>A</a:t>
            </a:r>
            <a:r>
              <a:rPr lang="en-US" sz="1200" dirty="0"/>
              <a:t>	= Activities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C	</a:t>
            </a:r>
            <a:r>
              <a:rPr lang="en-US" sz="1200" dirty="0"/>
              <a:t>= Commodities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F	</a:t>
            </a:r>
            <a:r>
              <a:rPr lang="en-US" sz="1200" dirty="0"/>
              <a:t>= Factors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D	</a:t>
            </a:r>
            <a:r>
              <a:rPr lang="en-US" sz="1200" dirty="0"/>
              <a:t>= Final demand</a:t>
            </a:r>
            <a:endParaRPr lang="en-US" sz="800" dirty="0"/>
          </a:p>
          <a:p>
            <a:pPr>
              <a:tabLst>
                <a:tab pos="285750" algn="l"/>
              </a:tabLst>
            </a:pPr>
            <a:r>
              <a:rPr lang="en-US" sz="1200" b="1" dirty="0"/>
              <a:t>W</a:t>
            </a:r>
            <a:r>
              <a:rPr lang="en-US" sz="1200" dirty="0"/>
              <a:t>	= Rest of world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3A25C86-35A7-4EEA-AC0D-B6ADBD727F3D}"/>
              </a:ext>
            </a:extLst>
          </p:cNvPr>
          <p:cNvSpPr/>
          <p:nvPr/>
        </p:nvSpPr>
        <p:spPr>
          <a:xfrm>
            <a:off x="10803972" y="772711"/>
            <a:ext cx="399205" cy="238125"/>
          </a:xfrm>
          <a:prstGeom prst="rect">
            <a:avLst/>
          </a:prstGeom>
          <a:solidFill>
            <a:srgbClr val="FF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8" name="Table 114">
            <a:extLst>
              <a:ext uri="{FF2B5EF4-FFF2-40B4-BE49-F238E27FC236}">
                <a16:creationId xmlns:a16="http://schemas.microsoft.com/office/drawing/2014/main" id="{E28AA19C-B9F8-4605-AEEE-E723448F909A}"/>
              </a:ext>
            </a:extLst>
          </p:cNvPr>
          <p:cNvGraphicFramePr>
            <a:graphicFrameLocks noGrp="1"/>
          </p:cNvGraphicFramePr>
          <p:nvPr/>
        </p:nvGraphicFramePr>
        <p:xfrm>
          <a:off x="8799107" y="278551"/>
          <a:ext cx="2799776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68">
                  <a:extLst>
                    <a:ext uri="{9D8B030D-6E8A-4147-A177-3AD203B41FA5}">
                      <a16:colId xmlns:a16="http://schemas.microsoft.com/office/drawing/2014/main" val="3066416653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390178515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723883678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44517278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3058675632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479483401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1893929709"/>
                    </a:ext>
                  </a:extLst>
                </a:gridCol>
              </a:tblGrid>
              <a:tr h="239425"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169226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68128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97440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459157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614760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64448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011649"/>
                  </a:ext>
                </a:extLst>
              </a:tr>
            </a:tbl>
          </a:graphicData>
        </a:graphic>
      </p:graphicFrame>
      <p:grpSp>
        <p:nvGrpSpPr>
          <p:cNvPr id="286" name="Group 285">
            <a:extLst>
              <a:ext uri="{FF2B5EF4-FFF2-40B4-BE49-F238E27FC236}">
                <a16:creationId xmlns:a16="http://schemas.microsoft.com/office/drawing/2014/main" id="{71DEB9B4-08C5-4358-8764-182E5B6B6EB0}"/>
              </a:ext>
            </a:extLst>
          </p:cNvPr>
          <p:cNvGrpSpPr/>
          <p:nvPr/>
        </p:nvGrpSpPr>
        <p:grpSpPr>
          <a:xfrm>
            <a:off x="356941" y="2294435"/>
            <a:ext cx="11250808" cy="4434739"/>
            <a:chOff x="312021" y="2105715"/>
            <a:chExt cx="11250808" cy="4434739"/>
          </a:xfrm>
        </p:grpSpPr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E32C8120-7C7E-4630-AC1F-F7D9DD8764B9}"/>
                </a:ext>
              </a:extLst>
            </p:cNvPr>
            <p:cNvGrpSpPr/>
            <p:nvPr/>
          </p:nvGrpSpPr>
          <p:grpSpPr>
            <a:xfrm>
              <a:off x="312021" y="2105715"/>
              <a:ext cx="11250808" cy="4434739"/>
              <a:chOff x="312021" y="2105715"/>
              <a:chExt cx="11250808" cy="4434739"/>
            </a:xfrm>
          </p:grpSpPr>
          <p:grpSp>
            <p:nvGrpSpPr>
              <p:cNvPr id="247" name="Group 246">
                <a:extLst>
                  <a:ext uri="{FF2B5EF4-FFF2-40B4-BE49-F238E27FC236}">
                    <a16:creationId xmlns:a16="http://schemas.microsoft.com/office/drawing/2014/main" id="{B7972162-D5E8-46D0-ADBF-68D45AE5CE7E}"/>
                  </a:ext>
                </a:extLst>
              </p:cNvPr>
              <p:cNvGrpSpPr/>
              <p:nvPr/>
            </p:nvGrpSpPr>
            <p:grpSpPr>
              <a:xfrm>
                <a:off x="312021" y="2105715"/>
                <a:ext cx="11250808" cy="4434739"/>
                <a:chOff x="368359" y="2045044"/>
                <a:chExt cx="11250808" cy="4434739"/>
              </a:xfrm>
            </p:grpSpPr>
            <p:grpSp>
              <p:nvGrpSpPr>
                <p:cNvPr id="243" name="Group 242">
                  <a:extLst>
                    <a:ext uri="{FF2B5EF4-FFF2-40B4-BE49-F238E27FC236}">
                      <a16:creationId xmlns:a16="http://schemas.microsoft.com/office/drawing/2014/main" id="{AA508845-A810-435E-9723-04104FE2DD30}"/>
                    </a:ext>
                  </a:extLst>
                </p:cNvPr>
                <p:cNvGrpSpPr/>
                <p:nvPr/>
              </p:nvGrpSpPr>
              <p:grpSpPr>
                <a:xfrm>
                  <a:off x="368360" y="2047483"/>
                  <a:ext cx="11250152" cy="4432300"/>
                  <a:chOff x="407363" y="1527445"/>
                  <a:chExt cx="11250152" cy="4432300"/>
                </a:xfrm>
              </p:grpSpPr>
              <p:sp>
                <p:nvSpPr>
                  <p:cNvPr id="240" name="Rectangle 239">
                    <a:extLst>
                      <a:ext uri="{FF2B5EF4-FFF2-40B4-BE49-F238E27FC236}">
                        <a16:creationId xmlns:a16="http://schemas.microsoft.com/office/drawing/2014/main" id="{5B6D721A-04AB-4E6D-A304-20EF5E00059A}"/>
                      </a:ext>
                    </a:extLst>
                  </p:cNvPr>
                  <p:cNvSpPr/>
                  <p:nvPr/>
                </p:nvSpPr>
                <p:spPr>
                  <a:xfrm>
                    <a:off x="4906650" y="1530903"/>
                    <a:ext cx="1665591" cy="4428840"/>
                  </a:xfrm>
                  <a:prstGeom prst="rect">
                    <a:avLst/>
                  </a:prstGeom>
                  <a:solidFill>
                    <a:srgbClr val="0B8EB8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5" name="Rectangle 234">
                    <a:extLst>
                      <a:ext uri="{FF2B5EF4-FFF2-40B4-BE49-F238E27FC236}">
                        <a16:creationId xmlns:a16="http://schemas.microsoft.com/office/drawing/2014/main" id="{AA573F11-04FE-408D-AFDC-1CDB2614AAC4}"/>
                      </a:ext>
                    </a:extLst>
                  </p:cNvPr>
                  <p:cNvSpPr/>
                  <p:nvPr/>
                </p:nvSpPr>
                <p:spPr>
                  <a:xfrm>
                    <a:off x="3667040" y="1535097"/>
                    <a:ext cx="1239609" cy="2733701"/>
                  </a:xfrm>
                  <a:prstGeom prst="rect">
                    <a:avLst/>
                  </a:prstGeom>
                  <a:solidFill>
                    <a:srgbClr val="C34E2D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2" name="Rectangle 241">
                    <a:extLst>
                      <a:ext uri="{FF2B5EF4-FFF2-40B4-BE49-F238E27FC236}">
                        <a16:creationId xmlns:a16="http://schemas.microsoft.com/office/drawing/2014/main" id="{E6755AE4-7BA5-4462-888F-A0DEE9EBBC36}"/>
                      </a:ext>
                    </a:extLst>
                  </p:cNvPr>
                  <p:cNvSpPr/>
                  <p:nvPr/>
                </p:nvSpPr>
                <p:spPr>
                  <a:xfrm>
                    <a:off x="8471320" y="1527445"/>
                    <a:ext cx="3186195" cy="4431194"/>
                  </a:xfrm>
                  <a:prstGeom prst="rect">
                    <a:avLst/>
                  </a:prstGeom>
                  <a:solidFill>
                    <a:srgbClr val="5C8E3A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1" name="Rectangle 240">
                    <a:extLst>
                      <a:ext uri="{FF2B5EF4-FFF2-40B4-BE49-F238E27FC236}">
                        <a16:creationId xmlns:a16="http://schemas.microsoft.com/office/drawing/2014/main" id="{A097853F-5F2D-46FA-B567-DE1F707A083F}"/>
                      </a:ext>
                    </a:extLst>
                  </p:cNvPr>
                  <p:cNvSpPr/>
                  <p:nvPr/>
                </p:nvSpPr>
                <p:spPr>
                  <a:xfrm>
                    <a:off x="6575041" y="1530384"/>
                    <a:ext cx="1896279" cy="4422877"/>
                  </a:xfrm>
                  <a:prstGeom prst="rect">
                    <a:avLst/>
                  </a:prstGeom>
                  <a:solidFill>
                    <a:srgbClr val="FFB300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9" name="Rectangle 238">
                    <a:extLst>
                      <a:ext uri="{FF2B5EF4-FFF2-40B4-BE49-F238E27FC236}">
                        <a16:creationId xmlns:a16="http://schemas.microsoft.com/office/drawing/2014/main" id="{10362B0B-8810-450A-B02B-E98E51B7D14D}"/>
                      </a:ext>
                    </a:extLst>
                  </p:cNvPr>
                  <p:cNvSpPr/>
                  <p:nvPr/>
                </p:nvSpPr>
                <p:spPr>
                  <a:xfrm>
                    <a:off x="3667041" y="4268798"/>
                    <a:ext cx="1239610" cy="1690945"/>
                  </a:xfrm>
                  <a:prstGeom prst="rect">
                    <a:avLst/>
                  </a:prstGeom>
                  <a:solidFill>
                    <a:srgbClr val="0B8EB8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4" name="Rectangle 233">
                    <a:extLst>
                      <a:ext uri="{FF2B5EF4-FFF2-40B4-BE49-F238E27FC236}">
                        <a16:creationId xmlns:a16="http://schemas.microsoft.com/office/drawing/2014/main" id="{8146C176-A1DA-401B-AE68-C1FF74D3D5F6}"/>
                      </a:ext>
                    </a:extLst>
                  </p:cNvPr>
                  <p:cNvSpPr/>
                  <p:nvPr/>
                </p:nvSpPr>
                <p:spPr>
                  <a:xfrm>
                    <a:off x="407363" y="1535096"/>
                    <a:ext cx="3260456" cy="4424649"/>
                  </a:xfrm>
                  <a:prstGeom prst="rect">
                    <a:avLst/>
                  </a:prstGeom>
                  <a:solidFill>
                    <a:srgbClr val="C34E2D">
                      <a:alpha val="2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4E714D1E-DCCF-4DF3-8E79-3B4A09A6BA6C}"/>
                      </a:ext>
                    </a:extLst>
                  </p:cNvPr>
                  <p:cNvSpPr txBox="1"/>
                  <p:nvPr/>
                </p:nvSpPr>
                <p:spPr>
                  <a:xfrm>
                    <a:off x="584963" y="2303875"/>
                    <a:ext cx="933975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Labor</a:t>
                    </a:r>
                  </a:p>
                </p:txBody>
              </p:sp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157A67C3-EFF8-4336-B27F-48855C96B70D}"/>
                      </a:ext>
                    </a:extLst>
                  </p:cNvPr>
                  <p:cNvSpPr txBox="1"/>
                  <p:nvPr/>
                </p:nvSpPr>
                <p:spPr>
                  <a:xfrm>
                    <a:off x="584963" y="2825720"/>
                    <a:ext cx="933976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Land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D9AD3D5-99BD-43DA-8FC1-0B4339D2DBF4}"/>
                      </a:ext>
                    </a:extLst>
                  </p:cNvPr>
                  <p:cNvSpPr txBox="1"/>
                  <p:nvPr/>
                </p:nvSpPr>
                <p:spPr>
                  <a:xfrm>
                    <a:off x="584963" y="3353199"/>
                    <a:ext cx="933976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Capital</a:t>
                    </a: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0773D84B-0911-434C-AE86-EF7D34DC5EB0}"/>
                      </a:ext>
                    </a:extLst>
                  </p:cNvPr>
                  <p:cNvSpPr txBox="1"/>
                  <p:nvPr/>
                </p:nvSpPr>
                <p:spPr>
                  <a:xfrm>
                    <a:off x="1881062" y="2825720"/>
                    <a:ext cx="1224792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Value-added</a:t>
                    </a:r>
                  </a:p>
                </p:txBody>
              </p:sp>
              <p:cxnSp>
                <p:nvCxnSpPr>
                  <p:cNvPr id="7" name="Straight Arrow Connector 6">
                    <a:extLst>
                      <a:ext uri="{FF2B5EF4-FFF2-40B4-BE49-F238E27FC236}">
                        <a16:creationId xmlns:a16="http://schemas.microsoft.com/office/drawing/2014/main" id="{3B56D52B-1B2C-46F8-9650-773EC55D8DB6}"/>
                      </a:ext>
                    </a:extLst>
                  </p:cNvPr>
                  <p:cNvCxnSpPr>
                    <a:cxnSpLocks/>
                    <a:stCxn id="13" idx="3"/>
                    <a:endCxn id="6" idx="1"/>
                  </p:cNvCxnSpPr>
                  <p:nvPr/>
                </p:nvCxnSpPr>
                <p:spPr>
                  <a:xfrm>
                    <a:off x="1518939" y="2979609"/>
                    <a:ext cx="362123" cy="0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Straight Arrow Connector 7">
                    <a:extLst>
                      <a:ext uri="{FF2B5EF4-FFF2-40B4-BE49-F238E27FC236}">
                        <a16:creationId xmlns:a16="http://schemas.microsoft.com/office/drawing/2014/main" id="{DD1BC8AA-254A-4629-BF77-D8A8F36169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657355" y="2457763"/>
                    <a:ext cx="1" cy="1049324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Straight Arrow Connector 8">
                    <a:extLst>
                      <a:ext uri="{FF2B5EF4-FFF2-40B4-BE49-F238E27FC236}">
                        <a16:creationId xmlns:a16="http://schemas.microsoft.com/office/drawing/2014/main" id="{77840C03-048A-4E16-A6E2-AD1461F9040C}"/>
                      </a:ext>
                    </a:extLst>
                  </p:cNvPr>
                  <p:cNvCxnSpPr>
                    <a:cxnSpLocks/>
                    <a:stCxn id="12" idx="3"/>
                  </p:cNvCxnSpPr>
                  <p:nvPr/>
                </p:nvCxnSpPr>
                <p:spPr>
                  <a:xfrm>
                    <a:off x="1518938" y="2457764"/>
                    <a:ext cx="131427" cy="0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" name="Straight Arrow Connector 9">
                    <a:extLst>
                      <a:ext uri="{FF2B5EF4-FFF2-40B4-BE49-F238E27FC236}">
                        <a16:creationId xmlns:a16="http://schemas.microsoft.com/office/drawing/2014/main" id="{FBA0890D-CE95-425F-893F-771972BAE00C}"/>
                      </a:ext>
                    </a:extLst>
                  </p:cNvPr>
                  <p:cNvCxnSpPr>
                    <a:cxnSpLocks/>
                    <a:stCxn id="14" idx="3"/>
                  </p:cNvCxnSpPr>
                  <p:nvPr/>
                </p:nvCxnSpPr>
                <p:spPr>
                  <a:xfrm>
                    <a:off x="1518939" y="3507088"/>
                    <a:ext cx="131426" cy="1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E4B757AA-E16E-4D26-8A86-EB88AE2B9078}"/>
                      </a:ext>
                    </a:extLst>
                  </p:cNvPr>
                  <p:cNvSpPr txBox="1"/>
                  <p:nvPr/>
                </p:nvSpPr>
                <p:spPr>
                  <a:xfrm>
                    <a:off x="584963" y="4009346"/>
                    <a:ext cx="933975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Input 1</a:t>
                    </a:r>
                  </a:p>
                </p:txBody>
              </p: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39B9EDBA-CD86-4361-9243-D50D24C867F5}"/>
                      </a:ext>
                    </a:extLst>
                  </p:cNvPr>
                  <p:cNvSpPr txBox="1"/>
                  <p:nvPr/>
                </p:nvSpPr>
                <p:spPr>
                  <a:xfrm>
                    <a:off x="584963" y="4531191"/>
                    <a:ext cx="933976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Input 2</a:t>
                    </a: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731F684B-DB15-4C10-A16D-BD27181280F5}"/>
                      </a:ext>
                    </a:extLst>
                  </p:cNvPr>
                  <p:cNvSpPr txBox="1"/>
                  <p:nvPr/>
                </p:nvSpPr>
                <p:spPr>
                  <a:xfrm>
                    <a:off x="584963" y="5058670"/>
                    <a:ext cx="933976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Input N</a:t>
                    </a:r>
                  </a:p>
                </p:txBody>
              </p: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1A33BDC0-2F0E-44E4-8A55-707DED1482FD}"/>
                      </a:ext>
                    </a:extLst>
                  </p:cNvPr>
                  <p:cNvSpPr txBox="1"/>
                  <p:nvPr/>
                </p:nvSpPr>
                <p:spPr>
                  <a:xfrm>
                    <a:off x="1881061" y="4531191"/>
                    <a:ext cx="1224793" cy="307777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Intermediates</a:t>
                    </a:r>
                  </a:p>
                </p:txBody>
              </p:sp>
              <p:cxnSp>
                <p:nvCxnSpPr>
                  <p:cNvPr id="57" name="Straight Arrow Connector 56">
                    <a:extLst>
                      <a:ext uri="{FF2B5EF4-FFF2-40B4-BE49-F238E27FC236}">
                        <a16:creationId xmlns:a16="http://schemas.microsoft.com/office/drawing/2014/main" id="{B18C8A55-46F1-4F4D-B67F-A00F78EFA529}"/>
                      </a:ext>
                    </a:extLst>
                  </p:cNvPr>
                  <p:cNvCxnSpPr>
                    <a:cxnSpLocks/>
                    <a:stCxn id="54" idx="3"/>
                    <a:endCxn id="56" idx="1"/>
                  </p:cNvCxnSpPr>
                  <p:nvPr/>
                </p:nvCxnSpPr>
                <p:spPr>
                  <a:xfrm>
                    <a:off x="1518939" y="4685080"/>
                    <a:ext cx="362122" cy="0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A31C3577-E240-4BC0-829B-86483FF961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657355" y="4163234"/>
                    <a:ext cx="1" cy="1049324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Arrow Connector 58">
                    <a:extLst>
                      <a:ext uri="{FF2B5EF4-FFF2-40B4-BE49-F238E27FC236}">
                        <a16:creationId xmlns:a16="http://schemas.microsoft.com/office/drawing/2014/main" id="{C76DD15E-B9EA-4D64-B810-CAA6733655ED}"/>
                      </a:ext>
                    </a:extLst>
                  </p:cNvPr>
                  <p:cNvCxnSpPr>
                    <a:cxnSpLocks/>
                    <a:stCxn id="53" idx="3"/>
                  </p:cNvCxnSpPr>
                  <p:nvPr/>
                </p:nvCxnSpPr>
                <p:spPr>
                  <a:xfrm>
                    <a:off x="1518938" y="4163235"/>
                    <a:ext cx="131427" cy="0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Arrow Connector 59">
                    <a:extLst>
                      <a:ext uri="{FF2B5EF4-FFF2-40B4-BE49-F238E27FC236}">
                        <a16:creationId xmlns:a16="http://schemas.microsoft.com/office/drawing/2014/main" id="{52A651F7-F29B-4EE3-86C1-34CFF4D09F91}"/>
                      </a:ext>
                    </a:extLst>
                  </p:cNvPr>
                  <p:cNvCxnSpPr>
                    <a:cxnSpLocks/>
                    <a:stCxn id="55" idx="3"/>
                  </p:cNvCxnSpPr>
                  <p:nvPr/>
                </p:nvCxnSpPr>
                <p:spPr>
                  <a:xfrm>
                    <a:off x="1518939" y="5212559"/>
                    <a:ext cx="131426" cy="1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B1D67E7F-E9B8-4281-AF74-3319BCEA6C4E}"/>
                      </a:ext>
                    </a:extLst>
                  </p:cNvPr>
                  <p:cNvSpPr txBox="1"/>
                  <p:nvPr/>
                </p:nvSpPr>
                <p:spPr>
                  <a:xfrm>
                    <a:off x="4335754" y="4489726"/>
                    <a:ext cx="1271306" cy="307777"/>
                  </a:xfrm>
                  <a:prstGeom prst="rect">
                    <a:avLst/>
                  </a:prstGeom>
                  <a:solidFill>
                    <a:srgbClr val="0B8EB8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Main output</a:t>
                    </a:r>
                  </a:p>
                </p:txBody>
              </p:sp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28DA3FD9-3932-4CC5-AB53-0F6818BDA9E6}"/>
                      </a:ext>
                    </a:extLst>
                  </p:cNvPr>
                  <p:cNvSpPr txBox="1"/>
                  <p:nvPr/>
                </p:nvSpPr>
                <p:spPr>
                  <a:xfrm>
                    <a:off x="4335754" y="5480642"/>
                    <a:ext cx="1284006" cy="307777"/>
                  </a:xfrm>
                  <a:prstGeom prst="rect">
                    <a:avLst/>
                  </a:prstGeom>
                  <a:solidFill>
                    <a:srgbClr val="0B8EB8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Others’ output</a:t>
                    </a:r>
                  </a:p>
                </p:txBody>
              </p:sp>
              <p:cxnSp>
                <p:nvCxnSpPr>
                  <p:cNvPr id="78" name="Straight Arrow Connector 77">
                    <a:extLst>
                      <a:ext uri="{FF2B5EF4-FFF2-40B4-BE49-F238E27FC236}">
                        <a16:creationId xmlns:a16="http://schemas.microsoft.com/office/drawing/2014/main" id="{C17DF16E-B977-4657-AE50-1B4AAB24FEB8}"/>
                      </a:ext>
                    </a:extLst>
                  </p:cNvPr>
                  <p:cNvCxnSpPr>
                    <a:cxnSpLocks/>
                    <a:endCxn id="96" idx="1"/>
                  </p:cNvCxnSpPr>
                  <p:nvPr/>
                </p:nvCxnSpPr>
                <p:spPr>
                  <a:xfrm>
                    <a:off x="3236096" y="3790141"/>
                    <a:ext cx="268571" cy="0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Arrow Connector 78">
                    <a:extLst>
                      <a:ext uri="{FF2B5EF4-FFF2-40B4-BE49-F238E27FC236}">
                        <a16:creationId xmlns:a16="http://schemas.microsoft.com/office/drawing/2014/main" id="{EEF2CA0E-BA63-4178-91EC-5ED97AF988AB}"/>
                      </a:ext>
                    </a:extLst>
                  </p:cNvPr>
                  <p:cNvCxnSpPr>
                    <a:cxnSpLocks/>
                    <a:stCxn id="56" idx="3"/>
                  </p:cNvCxnSpPr>
                  <p:nvPr/>
                </p:nvCxnSpPr>
                <p:spPr>
                  <a:xfrm>
                    <a:off x="3105854" y="4685080"/>
                    <a:ext cx="138201" cy="0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Arrow Connector 79">
                    <a:extLst>
                      <a:ext uri="{FF2B5EF4-FFF2-40B4-BE49-F238E27FC236}">
                        <a16:creationId xmlns:a16="http://schemas.microsoft.com/office/drawing/2014/main" id="{F570BD83-CC20-429B-B0FD-5D3AEC353B36}"/>
                      </a:ext>
                    </a:extLst>
                  </p:cNvPr>
                  <p:cNvCxnSpPr>
                    <a:cxnSpLocks/>
                    <a:stCxn id="6" idx="3"/>
                  </p:cNvCxnSpPr>
                  <p:nvPr/>
                </p:nvCxnSpPr>
                <p:spPr>
                  <a:xfrm>
                    <a:off x="3105854" y="2979609"/>
                    <a:ext cx="134221" cy="0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Arrow Connector 80">
                    <a:extLst>
                      <a:ext uri="{FF2B5EF4-FFF2-40B4-BE49-F238E27FC236}">
                        <a16:creationId xmlns:a16="http://schemas.microsoft.com/office/drawing/2014/main" id="{47A8513A-B892-4E87-B317-694DF84602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40075" y="2981016"/>
                    <a:ext cx="0" cy="1704063"/>
                  </a:xfrm>
                  <a:prstGeom prst="straightConnector1">
                    <a:avLst/>
                  </a:prstGeom>
                  <a:ln w="6350">
                    <a:solidFill>
                      <a:srgbClr val="C34E2D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478AF273-B5C7-4B60-B3BF-98295D4C45F4}"/>
                      </a:ext>
                    </a:extLst>
                  </p:cNvPr>
                  <p:cNvSpPr txBox="1"/>
                  <p:nvPr/>
                </p:nvSpPr>
                <p:spPr>
                  <a:xfrm>
                    <a:off x="3504667" y="3528531"/>
                    <a:ext cx="1160028" cy="523220"/>
                  </a:xfrm>
                  <a:prstGeom prst="rect">
                    <a:avLst/>
                  </a:prstGeom>
                  <a:solidFill>
                    <a:srgbClr val="C34E2D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Activity output</a:t>
                    </a:r>
                  </a:p>
                </p:txBody>
              </p:sp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BD90A2C0-D615-432D-AD28-4272B7ACD7D2}"/>
                      </a:ext>
                    </a:extLst>
                  </p:cNvPr>
                  <p:cNvSpPr txBox="1"/>
                  <p:nvPr/>
                </p:nvSpPr>
                <p:spPr>
                  <a:xfrm>
                    <a:off x="4335754" y="4993785"/>
                    <a:ext cx="1271306" cy="307777"/>
                  </a:xfrm>
                  <a:prstGeom prst="rect">
                    <a:avLst/>
                  </a:prstGeom>
                  <a:solidFill>
                    <a:srgbClr val="0B8EB8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By-product</a:t>
                    </a:r>
                  </a:p>
                </p:txBody>
              </p:sp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F71FD18A-8D15-4DDF-B82B-909EA02C08C7}"/>
                      </a:ext>
                    </a:extLst>
                  </p:cNvPr>
                  <p:cNvSpPr txBox="1"/>
                  <p:nvPr/>
                </p:nvSpPr>
                <p:spPr>
                  <a:xfrm>
                    <a:off x="5252599" y="3528531"/>
                    <a:ext cx="1224792" cy="523220"/>
                  </a:xfrm>
                  <a:prstGeom prst="rect">
                    <a:avLst/>
                  </a:prstGeom>
                  <a:solidFill>
                    <a:srgbClr val="0B8EB8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Commodity output</a:t>
                    </a:r>
                  </a:p>
                </p:txBody>
              </p:sp>
              <p:sp>
                <p:nvSpPr>
                  <p:cNvPr id="119" name="TextBox 118">
                    <a:extLst>
                      <a:ext uri="{FF2B5EF4-FFF2-40B4-BE49-F238E27FC236}">
                        <a16:creationId xmlns:a16="http://schemas.microsoft.com/office/drawing/2014/main" id="{1100DC80-3634-44BC-9CD5-A14EE39D13B8}"/>
                      </a:ext>
                    </a:extLst>
                  </p:cNvPr>
                  <p:cNvSpPr txBox="1"/>
                  <p:nvPr/>
                </p:nvSpPr>
                <p:spPr>
                  <a:xfrm>
                    <a:off x="6914954" y="2743278"/>
                    <a:ext cx="1185891" cy="307777"/>
                  </a:xfrm>
                  <a:prstGeom prst="rect">
                    <a:avLst/>
                  </a:prstGeom>
                  <a:solidFill>
                    <a:srgbClr val="FFB300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Imports</a:t>
                    </a:r>
                  </a:p>
                </p:txBody>
              </p:sp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5DC8C36B-DB41-471F-B788-27414771B9A8}"/>
                      </a:ext>
                    </a:extLst>
                  </p:cNvPr>
                  <p:cNvSpPr txBox="1"/>
                  <p:nvPr/>
                </p:nvSpPr>
                <p:spPr>
                  <a:xfrm>
                    <a:off x="6914954" y="3524147"/>
                    <a:ext cx="1185894" cy="523220"/>
                  </a:xfrm>
                  <a:prstGeom prst="rect">
                    <a:avLst/>
                  </a:prstGeom>
                  <a:solidFill>
                    <a:srgbClr val="FFB300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Domestic sales</a:t>
                    </a:r>
                  </a:p>
                </p:txBody>
              </p:sp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43A23D06-DB12-48E9-88FB-36F4BEEA9221}"/>
                      </a:ext>
                    </a:extLst>
                  </p:cNvPr>
                  <p:cNvSpPr txBox="1"/>
                  <p:nvPr/>
                </p:nvSpPr>
                <p:spPr>
                  <a:xfrm>
                    <a:off x="6914954" y="4531124"/>
                    <a:ext cx="1185893" cy="307777"/>
                  </a:xfrm>
                  <a:prstGeom prst="rect">
                    <a:avLst/>
                  </a:prstGeom>
                  <a:solidFill>
                    <a:srgbClr val="FFB300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Exports</a:t>
                    </a:r>
                  </a:p>
                </p:txBody>
              </p:sp>
              <p:cxnSp>
                <p:nvCxnSpPr>
                  <p:cNvPr id="122" name="Straight Arrow Connector 121">
                    <a:extLst>
                      <a:ext uri="{FF2B5EF4-FFF2-40B4-BE49-F238E27FC236}">
                        <a16:creationId xmlns:a16="http://schemas.microsoft.com/office/drawing/2014/main" id="{70CF1D44-CC77-41DC-A375-6D7585759D13}"/>
                      </a:ext>
                    </a:extLst>
                  </p:cNvPr>
                  <p:cNvCxnSpPr>
                    <a:cxnSpLocks/>
                    <a:stCxn id="112" idx="3"/>
                    <a:endCxn id="120" idx="1"/>
                  </p:cNvCxnSpPr>
                  <p:nvPr/>
                </p:nvCxnSpPr>
                <p:spPr>
                  <a:xfrm flipV="1">
                    <a:off x="6477391" y="3785757"/>
                    <a:ext cx="437563" cy="4384"/>
                  </a:xfrm>
                  <a:prstGeom prst="straightConnector1">
                    <a:avLst/>
                  </a:prstGeom>
                  <a:ln>
                    <a:solidFill>
                      <a:srgbClr val="FFB300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Arrow Connector 123">
                    <a:extLst>
                      <a:ext uri="{FF2B5EF4-FFF2-40B4-BE49-F238E27FC236}">
                        <a16:creationId xmlns:a16="http://schemas.microsoft.com/office/drawing/2014/main" id="{AD27ADEE-8E65-4E9F-9A28-F498797DAD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67722" y="3790141"/>
                    <a:ext cx="0" cy="894872"/>
                  </a:xfrm>
                  <a:prstGeom prst="straightConnector1">
                    <a:avLst/>
                  </a:prstGeom>
                  <a:ln>
                    <a:solidFill>
                      <a:srgbClr val="FFB300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Straight Arrow Connector 132">
                    <a:extLst>
                      <a:ext uri="{FF2B5EF4-FFF2-40B4-BE49-F238E27FC236}">
                        <a16:creationId xmlns:a16="http://schemas.microsoft.com/office/drawing/2014/main" id="{9683A1B4-2900-4D58-A69D-8F75A97FF1CE}"/>
                      </a:ext>
                    </a:extLst>
                  </p:cNvPr>
                  <p:cNvCxnSpPr>
                    <a:cxnSpLocks/>
                    <a:endCxn id="121" idx="1"/>
                  </p:cNvCxnSpPr>
                  <p:nvPr/>
                </p:nvCxnSpPr>
                <p:spPr>
                  <a:xfrm>
                    <a:off x="6667722" y="4685013"/>
                    <a:ext cx="247232" cy="0"/>
                  </a:xfrm>
                  <a:prstGeom prst="straightConnector1">
                    <a:avLst/>
                  </a:prstGeom>
                  <a:ln>
                    <a:solidFill>
                      <a:srgbClr val="FFB300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Arrow Connector 135">
                    <a:extLst>
                      <a:ext uri="{FF2B5EF4-FFF2-40B4-BE49-F238E27FC236}">
                        <a16:creationId xmlns:a16="http://schemas.microsoft.com/office/drawing/2014/main" id="{2B7DAE6A-9E06-49C4-9BD7-AA77E803217F}"/>
                      </a:ext>
                    </a:extLst>
                  </p:cNvPr>
                  <p:cNvCxnSpPr>
                    <a:cxnSpLocks/>
                    <a:stCxn id="120" idx="3"/>
                    <a:endCxn id="149" idx="1"/>
                  </p:cNvCxnSpPr>
                  <p:nvPr/>
                </p:nvCxnSpPr>
                <p:spPr>
                  <a:xfrm>
                    <a:off x="8100848" y="3785757"/>
                    <a:ext cx="518805" cy="5963"/>
                  </a:xfrm>
                  <a:prstGeom prst="straightConnector1">
                    <a:avLst/>
                  </a:prstGeom>
                  <a:ln>
                    <a:solidFill>
                      <a:srgbClr val="FFB300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Arrow Connector 136">
                    <a:extLst>
                      <a:ext uri="{FF2B5EF4-FFF2-40B4-BE49-F238E27FC236}">
                        <a16:creationId xmlns:a16="http://schemas.microsoft.com/office/drawing/2014/main" id="{80C935DF-7166-44BC-A2DD-97435B8798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48084" y="2897167"/>
                    <a:ext cx="0" cy="888591"/>
                  </a:xfrm>
                  <a:prstGeom prst="straightConnector1">
                    <a:avLst/>
                  </a:prstGeom>
                  <a:ln>
                    <a:solidFill>
                      <a:srgbClr val="FFB300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Straight Arrow Connector 137">
                    <a:extLst>
                      <a:ext uri="{FF2B5EF4-FFF2-40B4-BE49-F238E27FC236}">
                        <a16:creationId xmlns:a16="http://schemas.microsoft.com/office/drawing/2014/main" id="{6AC1FD04-B640-4366-8A0C-68E7028530BE}"/>
                      </a:ext>
                    </a:extLst>
                  </p:cNvPr>
                  <p:cNvCxnSpPr>
                    <a:cxnSpLocks/>
                    <a:stCxn id="119" idx="3"/>
                  </p:cNvCxnSpPr>
                  <p:nvPr/>
                </p:nvCxnSpPr>
                <p:spPr>
                  <a:xfrm>
                    <a:off x="8100845" y="2897167"/>
                    <a:ext cx="247239" cy="0"/>
                  </a:xfrm>
                  <a:prstGeom prst="straightConnector1">
                    <a:avLst/>
                  </a:prstGeom>
                  <a:ln>
                    <a:solidFill>
                      <a:srgbClr val="FFB300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56" name="Group 155">
                    <a:extLst>
                      <a:ext uri="{FF2B5EF4-FFF2-40B4-BE49-F238E27FC236}">
                        <a16:creationId xmlns:a16="http://schemas.microsoft.com/office/drawing/2014/main" id="{1B50D070-F8AB-4A23-96A5-03400876F42A}"/>
                      </a:ext>
                    </a:extLst>
                  </p:cNvPr>
                  <p:cNvGrpSpPr/>
                  <p:nvPr/>
                </p:nvGrpSpPr>
                <p:grpSpPr>
                  <a:xfrm>
                    <a:off x="10211557" y="3119843"/>
                    <a:ext cx="1265149" cy="1855503"/>
                    <a:chOff x="10340073" y="2040651"/>
                    <a:chExt cx="1265149" cy="1855503"/>
                  </a:xfrm>
                </p:grpSpPr>
                <p:sp>
                  <p:nvSpPr>
                    <p:cNvPr id="145" name="TextBox 144">
                      <a:extLst>
                        <a:ext uri="{FF2B5EF4-FFF2-40B4-BE49-F238E27FC236}">
                          <a16:creationId xmlns:a16="http://schemas.microsoft.com/office/drawing/2014/main" id="{BAD35236-2768-423A-80C3-2B29F3784E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40077" y="2040651"/>
                      <a:ext cx="1265145" cy="307777"/>
                    </a:xfrm>
                    <a:prstGeom prst="rect">
                      <a:avLst/>
                    </a:prstGeom>
                    <a:solidFill>
                      <a:srgbClr val="5C8E3A"/>
                    </a:solidFill>
                    <a:ln>
                      <a:noFill/>
                    </a:ln>
                    <a:effectLst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Households</a:t>
                      </a:r>
                    </a:p>
                  </p:txBody>
                </p:sp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7F895AE2-F0CB-440B-9237-C343534D5E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40076" y="2558639"/>
                      <a:ext cx="1265145" cy="307777"/>
                    </a:xfrm>
                    <a:prstGeom prst="rect">
                      <a:avLst/>
                    </a:prstGeom>
                    <a:solidFill>
                      <a:srgbClr val="5C8E3A"/>
                    </a:solidFill>
                    <a:ln>
                      <a:noFill/>
                    </a:ln>
                    <a:effectLst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Government</a:t>
                      </a:r>
                    </a:p>
                  </p:txBody>
                </p:sp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41153C1B-9F94-48E3-9F6D-C69E0B452B9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40076" y="3087811"/>
                      <a:ext cx="1265145" cy="307777"/>
                    </a:xfrm>
                    <a:prstGeom prst="rect">
                      <a:avLst/>
                    </a:prstGeom>
                    <a:solidFill>
                      <a:srgbClr val="5C8E3A"/>
                    </a:solidFill>
                    <a:ln>
                      <a:noFill/>
                    </a:ln>
                    <a:effectLst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Investment</a:t>
                      </a:r>
                    </a:p>
                  </p:txBody>
                </p:sp>
                <p:sp>
                  <p:nvSpPr>
                    <p:cNvPr id="148" name="TextBox 147">
                      <a:extLst>
                        <a:ext uri="{FF2B5EF4-FFF2-40B4-BE49-F238E27FC236}">
                          <a16:creationId xmlns:a16="http://schemas.microsoft.com/office/drawing/2014/main" id="{DCE69A4F-D366-4993-B3FE-B80EB0598B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40073" y="3588377"/>
                      <a:ext cx="1265148" cy="307777"/>
                    </a:xfrm>
                    <a:prstGeom prst="rect">
                      <a:avLst/>
                    </a:prstGeom>
                    <a:solidFill>
                      <a:srgbClr val="C34E2D"/>
                    </a:solidFill>
                    <a:ln>
                      <a:noFill/>
                    </a:ln>
                    <a:effectLst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Intermediate</a:t>
                      </a:r>
                    </a:p>
                  </p:txBody>
                </p:sp>
              </p:grp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B175448E-E75D-476A-A084-F79C3AF593A2}"/>
                      </a:ext>
                    </a:extLst>
                  </p:cNvPr>
                  <p:cNvSpPr txBox="1"/>
                  <p:nvPr/>
                </p:nvSpPr>
                <p:spPr>
                  <a:xfrm>
                    <a:off x="8619653" y="3530110"/>
                    <a:ext cx="1116816" cy="523220"/>
                  </a:xfrm>
                  <a:prstGeom prst="rect">
                    <a:avLst/>
                  </a:prstGeom>
                  <a:solidFill>
                    <a:srgbClr val="5C8E3A"/>
                  </a:solidFill>
                  <a:ln>
                    <a:noFill/>
                  </a:ln>
                  <a:effectLst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solidFill>
                          <a:schemeClr val="bg1"/>
                        </a:solidFill>
                      </a:rPr>
                      <a:t>Composite supply</a:t>
                    </a:r>
                  </a:p>
                </p:txBody>
              </p:sp>
              <p:cxnSp>
                <p:nvCxnSpPr>
                  <p:cNvPr id="150" name="Straight Arrow Connector 149">
                    <a:extLst>
                      <a:ext uri="{FF2B5EF4-FFF2-40B4-BE49-F238E27FC236}">
                        <a16:creationId xmlns:a16="http://schemas.microsoft.com/office/drawing/2014/main" id="{7E54331A-4B89-4DAC-A082-575B0F9ACA0D}"/>
                      </a:ext>
                    </a:extLst>
                  </p:cNvPr>
                  <p:cNvCxnSpPr>
                    <a:cxnSpLocks/>
                    <a:endCxn id="145" idx="1"/>
                  </p:cNvCxnSpPr>
                  <p:nvPr/>
                </p:nvCxnSpPr>
                <p:spPr>
                  <a:xfrm>
                    <a:off x="9931917" y="3273732"/>
                    <a:ext cx="279644" cy="0"/>
                  </a:xfrm>
                  <a:prstGeom prst="straightConnector1">
                    <a:avLst/>
                  </a:prstGeom>
                  <a:ln>
                    <a:solidFill>
                      <a:srgbClr val="5C8E3A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Straight Arrow Connector 153">
                    <a:extLst>
                      <a:ext uri="{FF2B5EF4-FFF2-40B4-BE49-F238E27FC236}">
                        <a16:creationId xmlns:a16="http://schemas.microsoft.com/office/drawing/2014/main" id="{433C9D70-EC59-4647-A811-59DC880E0C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931917" y="3273732"/>
                    <a:ext cx="0" cy="1547724"/>
                  </a:xfrm>
                  <a:prstGeom prst="straightConnector1">
                    <a:avLst/>
                  </a:prstGeom>
                  <a:ln>
                    <a:solidFill>
                      <a:srgbClr val="5C8E3A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Arrow Connector 158">
                    <a:extLst>
                      <a:ext uri="{FF2B5EF4-FFF2-40B4-BE49-F238E27FC236}">
                        <a16:creationId xmlns:a16="http://schemas.microsoft.com/office/drawing/2014/main" id="{55DA61D7-CC7C-470A-A840-D680BF708668}"/>
                      </a:ext>
                    </a:extLst>
                  </p:cNvPr>
                  <p:cNvCxnSpPr>
                    <a:cxnSpLocks/>
                    <a:stCxn id="149" idx="3"/>
                    <a:endCxn id="146" idx="1"/>
                  </p:cNvCxnSpPr>
                  <p:nvPr/>
                </p:nvCxnSpPr>
                <p:spPr>
                  <a:xfrm>
                    <a:off x="9736469" y="3791720"/>
                    <a:ext cx="475091" cy="0"/>
                  </a:xfrm>
                  <a:prstGeom prst="straightConnector1">
                    <a:avLst/>
                  </a:prstGeom>
                  <a:ln>
                    <a:solidFill>
                      <a:srgbClr val="5C8E3A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Arrow Connector 160">
                    <a:extLst>
                      <a:ext uri="{FF2B5EF4-FFF2-40B4-BE49-F238E27FC236}">
                        <a16:creationId xmlns:a16="http://schemas.microsoft.com/office/drawing/2014/main" id="{10AE8973-9E0F-4E9B-B853-147CEC44C86B}"/>
                      </a:ext>
                    </a:extLst>
                  </p:cNvPr>
                  <p:cNvCxnSpPr>
                    <a:cxnSpLocks/>
                    <a:endCxn id="147" idx="1"/>
                  </p:cNvCxnSpPr>
                  <p:nvPr/>
                </p:nvCxnSpPr>
                <p:spPr>
                  <a:xfrm>
                    <a:off x="9931917" y="4320892"/>
                    <a:ext cx="279643" cy="0"/>
                  </a:xfrm>
                  <a:prstGeom prst="straightConnector1">
                    <a:avLst/>
                  </a:prstGeom>
                  <a:ln>
                    <a:solidFill>
                      <a:srgbClr val="5C8E3A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Arrow Connector 163">
                    <a:extLst>
                      <a:ext uri="{FF2B5EF4-FFF2-40B4-BE49-F238E27FC236}">
                        <a16:creationId xmlns:a16="http://schemas.microsoft.com/office/drawing/2014/main" id="{DB1BD60F-9A2E-4B53-A21F-1339BEE6272C}"/>
                      </a:ext>
                    </a:extLst>
                  </p:cNvPr>
                  <p:cNvCxnSpPr>
                    <a:cxnSpLocks/>
                    <a:endCxn id="148" idx="1"/>
                  </p:cNvCxnSpPr>
                  <p:nvPr/>
                </p:nvCxnSpPr>
                <p:spPr>
                  <a:xfrm>
                    <a:off x="9931917" y="4821456"/>
                    <a:ext cx="279640" cy="2"/>
                  </a:xfrm>
                  <a:prstGeom prst="straightConnector1">
                    <a:avLst/>
                  </a:prstGeom>
                  <a:ln>
                    <a:solidFill>
                      <a:srgbClr val="5C8E3A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Straight Arrow Connector 174">
                    <a:extLst>
                      <a:ext uri="{FF2B5EF4-FFF2-40B4-BE49-F238E27FC236}">
                        <a16:creationId xmlns:a16="http://schemas.microsoft.com/office/drawing/2014/main" id="{052E3451-493E-4C60-B9C0-FAE8C43104FB}"/>
                      </a:ext>
                    </a:extLst>
                  </p:cNvPr>
                  <p:cNvCxnSpPr>
                    <a:cxnSpLocks/>
                    <a:stCxn id="96" idx="2"/>
                  </p:cNvCxnSpPr>
                  <p:nvPr/>
                </p:nvCxnSpPr>
                <p:spPr>
                  <a:xfrm>
                    <a:off x="4084681" y="4051751"/>
                    <a:ext cx="0" cy="1095923"/>
                  </a:xfrm>
                  <a:prstGeom prst="straightConnector1">
                    <a:avLst/>
                  </a:prstGeom>
                  <a:ln>
                    <a:solidFill>
                      <a:srgbClr val="0B8EB8"/>
                    </a:solidFill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Straight Arrow Connector 178">
                    <a:extLst>
                      <a:ext uri="{FF2B5EF4-FFF2-40B4-BE49-F238E27FC236}">
                        <a16:creationId xmlns:a16="http://schemas.microsoft.com/office/drawing/2014/main" id="{2118BE79-389E-4DED-87BB-119DF6BBAC52}"/>
                      </a:ext>
                    </a:extLst>
                  </p:cNvPr>
                  <p:cNvCxnSpPr>
                    <a:cxnSpLocks/>
                    <a:stCxn id="112" idx="2"/>
                  </p:cNvCxnSpPr>
                  <p:nvPr/>
                </p:nvCxnSpPr>
                <p:spPr>
                  <a:xfrm>
                    <a:off x="5864995" y="4051751"/>
                    <a:ext cx="0" cy="1582780"/>
                  </a:xfrm>
                  <a:prstGeom prst="straightConnector1">
                    <a:avLst/>
                  </a:prstGeom>
                  <a:ln>
                    <a:solidFill>
                      <a:srgbClr val="0B8EB8"/>
                    </a:solidFill>
                    <a:headEnd type="triangle"/>
                    <a:tailEnd type="none" w="lg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6" name="Straight Arrow Connector 185">
                    <a:extLst>
                      <a:ext uri="{FF2B5EF4-FFF2-40B4-BE49-F238E27FC236}">
                        <a16:creationId xmlns:a16="http://schemas.microsoft.com/office/drawing/2014/main" id="{F2D81390-EAF9-4927-8C8E-7493F9FADBCC}"/>
                      </a:ext>
                    </a:extLst>
                  </p:cNvPr>
                  <p:cNvCxnSpPr>
                    <a:cxnSpLocks/>
                    <a:endCxn id="76" idx="1"/>
                  </p:cNvCxnSpPr>
                  <p:nvPr/>
                </p:nvCxnSpPr>
                <p:spPr>
                  <a:xfrm>
                    <a:off x="4084681" y="4643615"/>
                    <a:ext cx="251073" cy="0"/>
                  </a:xfrm>
                  <a:prstGeom prst="straightConnector1">
                    <a:avLst/>
                  </a:prstGeom>
                  <a:ln>
                    <a:solidFill>
                      <a:srgbClr val="0B8EB8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Straight Arrow Connector 188">
                    <a:extLst>
                      <a:ext uri="{FF2B5EF4-FFF2-40B4-BE49-F238E27FC236}">
                        <a16:creationId xmlns:a16="http://schemas.microsoft.com/office/drawing/2014/main" id="{7979E175-8C22-4A99-B57C-C6C5D5A11575}"/>
                      </a:ext>
                    </a:extLst>
                  </p:cNvPr>
                  <p:cNvCxnSpPr>
                    <a:cxnSpLocks/>
                    <a:endCxn id="111" idx="1"/>
                  </p:cNvCxnSpPr>
                  <p:nvPr/>
                </p:nvCxnSpPr>
                <p:spPr>
                  <a:xfrm>
                    <a:off x="4084681" y="5147674"/>
                    <a:ext cx="251073" cy="0"/>
                  </a:xfrm>
                  <a:prstGeom prst="straightConnector1">
                    <a:avLst/>
                  </a:prstGeom>
                  <a:ln>
                    <a:solidFill>
                      <a:srgbClr val="0B8EB8"/>
                    </a:solidFill>
                    <a:tailEnd type="triangl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3" name="Straight Arrow Connector 192">
                    <a:extLst>
                      <a:ext uri="{FF2B5EF4-FFF2-40B4-BE49-F238E27FC236}">
                        <a16:creationId xmlns:a16="http://schemas.microsoft.com/office/drawing/2014/main" id="{00E9041E-ADBE-4C14-BE6C-D281359BB1CE}"/>
                      </a:ext>
                    </a:extLst>
                  </p:cNvPr>
                  <p:cNvCxnSpPr>
                    <a:cxnSpLocks/>
                    <a:stCxn id="76" idx="3"/>
                  </p:cNvCxnSpPr>
                  <p:nvPr/>
                </p:nvCxnSpPr>
                <p:spPr>
                  <a:xfrm>
                    <a:off x="5607060" y="4643615"/>
                    <a:ext cx="257935" cy="0"/>
                  </a:xfrm>
                  <a:prstGeom prst="straightConnector1">
                    <a:avLst/>
                  </a:prstGeom>
                  <a:ln>
                    <a:solidFill>
                      <a:srgbClr val="0B8EB8"/>
                    </a:solidFill>
                    <a:tailEnd type="non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Straight Arrow Connector 195">
                    <a:extLst>
                      <a:ext uri="{FF2B5EF4-FFF2-40B4-BE49-F238E27FC236}">
                        <a16:creationId xmlns:a16="http://schemas.microsoft.com/office/drawing/2014/main" id="{402B9D73-676E-4818-84C0-E438F3B3E7D6}"/>
                      </a:ext>
                    </a:extLst>
                  </p:cNvPr>
                  <p:cNvCxnSpPr>
                    <a:cxnSpLocks/>
                    <a:stCxn id="77" idx="3"/>
                  </p:cNvCxnSpPr>
                  <p:nvPr/>
                </p:nvCxnSpPr>
                <p:spPr>
                  <a:xfrm>
                    <a:off x="5619760" y="5634531"/>
                    <a:ext cx="245235" cy="0"/>
                  </a:xfrm>
                  <a:prstGeom prst="straightConnector1">
                    <a:avLst/>
                  </a:prstGeom>
                  <a:ln>
                    <a:solidFill>
                      <a:srgbClr val="0B8EB8"/>
                    </a:solidFill>
                    <a:tailEnd type="none" w="med" len="med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4" name="TextBox 243">
                  <a:extLst>
                    <a:ext uri="{FF2B5EF4-FFF2-40B4-BE49-F238E27FC236}">
                      <a16:creationId xmlns:a16="http://schemas.microsoft.com/office/drawing/2014/main" id="{61FE36F6-6B96-407D-A997-584F83630876}"/>
                    </a:ext>
                  </a:extLst>
                </p:cNvPr>
                <p:cNvSpPr txBox="1"/>
                <p:nvPr/>
              </p:nvSpPr>
              <p:spPr>
                <a:xfrm>
                  <a:off x="368359" y="2050941"/>
                  <a:ext cx="4481587" cy="8694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C34E2D"/>
                      </a:solidFill>
                    </a:rPr>
                    <a:t>Factory</a:t>
                  </a:r>
                </a:p>
                <a:p>
                  <a:pPr algn="ctr"/>
                  <a:r>
                    <a:rPr lang="en-US" sz="1050" dirty="0">
                      <a:solidFill>
                        <a:srgbClr val="C34E2D"/>
                      </a:solidFill>
                    </a:rPr>
                    <a:t>Activities combine factor and intermediate inputs to produce activity output</a:t>
                  </a:r>
                </a:p>
                <a:p>
                  <a:pPr algn="ctr"/>
                  <a:endParaRPr lang="en-US" sz="2000" b="1" dirty="0">
                    <a:solidFill>
                      <a:srgbClr val="C34E2D"/>
                    </a:solidFill>
                  </a:endParaRPr>
                </a:p>
              </p:txBody>
            </p:sp>
            <p:sp>
              <p:nvSpPr>
                <p:cNvPr id="245" name="TextBox 244">
                  <a:extLst>
                    <a:ext uri="{FF2B5EF4-FFF2-40B4-BE49-F238E27FC236}">
                      <a16:creationId xmlns:a16="http://schemas.microsoft.com/office/drawing/2014/main" id="{5B7E090A-468F-4CE8-83BF-8AA71D83C7DA}"/>
                    </a:ext>
                  </a:extLst>
                </p:cNvPr>
                <p:cNvSpPr txBox="1"/>
                <p:nvPr/>
              </p:nvSpPr>
              <p:spPr>
                <a:xfrm>
                  <a:off x="4857397" y="2050423"/>
                  <a:ext cx="1662792" cy="1192634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0B8EB8"/>
                      </a:solidFill>
                    </a:rPr>
                    <a:t>Warehouse</a:t>
                  </a:r>
                </a:p>
                <a:p>
                  <a:pPr algn="ctr"/>
                  <a:r>
                    <a:rPr lang="en-US" sz="1050" dirty="0">
                      <a:solidFill>
                        <a:srgbClr val="0B8EB8"/>
                      </a:solidFill>
                    </a:rPr>
                    <a:t>Warehouse sorts outputs from activities into bundles of like commodities</a:t>
                  </a:r>
                </a:p>
                <a:p>
                  <a:pPr algn="ctr"/>
                  <a:endParaRPr lang="en-US" sz="2000" b="1" dirty="0">
                    <a:solidFill>
                      <a:srgbClr val="0B8EB8"/>
                    </a:solidFill>
                  </a:endParaRPr>
                </a:p>
              </p:txBody>
            </p:sp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4697BB9B-6C8B-4B74-A131-95471D62476D}"/>
                    </a:ext>
                  </a:extLst>
                </p:cNvPr>
                <p:cNvSpPr txBox="1"/>
                <p:nvPr/>
              </p:nvSpPr>
              <p:spPr>
                <a:xfrm>
                  <a:off x="8432974" y="2045044"/>
                  <a:ext cx="3186193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5C8E3A"/>
                      </a:solidFill>
                    </a:rPr>
                    <a:t>Supermarket</a:t>
                  </a:r>
                </a:p>
                <a:p>
                  <a:pPr algn="ctr"/>
                  <a:r>
                    <a:rPr lang="en-US" sz="1050" dirty="0">
                      <a:solidFill>
                        <a:srgbClr val="5C8E3A"/>
                      </a:solidFill>
                    </a:rPr>
                    <a:t>Composite supply is either sold to final demanders or to producers as inputs </a:t>
                  </a:r>
                </a:p>
              </p:txBody>
            </p:sp>
          </p:grpSp>
          <p:cxnSp>
            <p:nvCxnSpPr>
              <p:cNvPr id="248" name="Straight Arrow Connector 247">
                <a:extLst>
                  <a:ext uri="{FF2B5EF4-FFF2-40B4-BE49-F238E27FC236}">
                    <a16:creationId xmlns:a16="http://schemas.microsoft.com/office/drawing/2014/main" id="{65963B1A-F53C-4139-A21E-49453C96FCC2}"/>
                  </a:ext>
                </a:extLst>
              </p:cNvPr>
              <p:cNvCxnSpPr>
                <a:cxnSpLocks/>
                <a:stCxn id="148" idx="2"/>
              </p:cNvCxnSpPr>
              <p:nvPr/>
            </p:nvCxnSpPr>
            <p:spPr>
              <a:xfrm>
                <a:off x="10748790" y="5556055"/>
                <a:ext cx="0" cy="446050"/>
              </a:xfrm>
              <a:prstGeom prst="straightConnector1">
                <a:avLst/>
              </a:prstGeom>
              <a:ln>
                <a:solidFill>
                  <a:srgbClr val="C34E2D"/>
                </a:solidFill>
                <a:prstDash val="dash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5AEB9D50-F96A-42D2-9521-D2EFA6FBE0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60088" y="6002105"/>
                <a:ext cx="388702" cy="0"/>
              </a:xfrm>
              <a:prstGeom prst="straightConnector1">
                <a:avLst/>
              </a:prstGeom>
              <a:ln>
                <a:solidFill>
                  <a:srgbClr val="C34E2D"/>
                </a:solidFill>
                <a:prstDash val="dash"/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9D85E666-1FD6-4377-A1BD-1A363D0FA799}"/>
                  </a:ext>
                </a:extLst>
              </p:cNvPr>
              <p:cNvSpPr txBox="1"/>
              <p:nvPr/>
            </p:nvSpPr>
            <p:spPr>
              <a:xfrm>
                <a:off x="1494572" y="3514586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34E2D"/>
                    </a:solidFill>
                  </a:rPr>
                  <a:t>×</a:t>
                </a: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4C8C2E3D-7143-4C62-BF7C-B4656E2CA75E}"/>
                  </a:ext>
                </a:extLst>
              </p:cNvPr>
              <p:cNvSpPr txBox="1"/>
              <p:nvPr/>
            </p:nvSpPr>
            <p:spPr>
              <a:xfrm>
                <a:off x="5509131" y="5532101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B8EB8"/>
                    </a:solidFill>
                  </a:rPr>
                  <a:t>×</a:t>
                </a:r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CF42E3E1-D298-4DCC-BFAB-50286A6BD67E}"/>
                  </a:ext>
                </a:extLst>
              </p:cNvPr>
              <p:cNvSpPr txBox="1"/>
              <p:nvPr/>
            </p:nvSpPr>
            <p:spPr>
              <a:xfrm>
                <a:off x="6518317" y="4664583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FFB300"/>
                    </a:solidFill>
                  </a:rPr>
                  <a:t>×</a:t>
                </a:r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EC9C3298-6C97-4FFF-B953-AB72CFA51D9C}"/>
                  </a:ext>
                </a:extLst>
              </p:cNvPr>
              <p:cNvSpPr txBox="1"/>
              <p:nvPr/>
            </p:nvSpPr>
            <p:spPr>
              <a:xfrm>
                <a:off x="7967610" y="3718464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FFB300"/>
                    </a:solidFill>
                  </a:rPr>
                  <a:t>×</a:t>
                </a:r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83C46CEE-8286-4C7D-A349-81A3DEE68498}"/>
                  </a:ext>
                </a:extLst>
              </p:cNvPr>
              <p:cNvSpPr txBox="1"/>
              <p:nvPr/>
            </p:nvSpPr>
            <p:spPr>
              <a:xfrm>
                <a:off x="1484425" y="5259909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34E2D"/>
                    </a:solidFill>
                  </a:rPr>
                  <a:t>=</a:t>
                </a:r>
              </a:p>
            </p:txBody>
          </p: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5FBE2A2B-A4CF-4011-9EAB-4253C1AADE08}"/>
                  </a:ext>
                </a:extLst>
              </p:cNvPr>
              <p:cNvSpPr txBox="1"/>
              <p:nvPr/>
            </p:nvSpPr>
            <p:spPr>
              <a:xfrm>
                <a:off x="3108648" y="4305331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34E2D"/>
                    </a:solidFill>
                  </a:rPr>
                  <a:t>=</a:t>
                </a:r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6878DC74-4729-4B3B-8B53-AC3333C42C80}"/>
                  </a:ext>
                </a:extLst>
              </p:cNvPr>
              <p:cNvSpPr txBox="1"/>
              <p:nvPr/>
            </p:nvSpPr>
            <p:spPr>
              <a:xfrm>
                <a:off x="3892777" y="5281323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B8EB8"/>
                    </a:solidFill>
                  </a:rPr>
                  <a:t>=</a:t>
                </a: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5D165739-32C7-416D-B476-6EAD206353C2}"/>
                  </a:ext>
                </a:extLst>
              </p:cNvPr>
              <p:cNvSpPr txBox="1"/>
              <p:nvPr/>
            </p:nvSpPr>
            <p:spPr>
              <a:xfrm>
                <a:off x="9783386" y="3800662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5C8E3A"/>
                    </a:solidFill>
                  </a:rPr>
                  <a:t>=</a:t>
                </a:r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E5102FDD-DDD6-4D90-96C7-1661F999F1E8}"/>
                  </a:ext>
                </a:extLst>
              </p:cNvPr>
              <p:cNvSpPr txBox="1"/>
              <p:nvPr/>
            </p:nvSpPr>
            <p:spPr>
              <a:xfrm>
                <a:off x="9783386" y="4316341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5C8E3A"/>
                    </a:solidFill>
                  </a:rPr>
                  <a:t>=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AAD2323D-6D9A-4D15-88F9-E994D3D0ADFF}"/>
                  </a:ext>
                </a:extLst>
              </p:cNvPr>
              <p:cNvSpPr txBox="1"/>
              <p:nvPr/>
            </p:nvSpPr>
            <p:spPr>
              <a:xfrm>
                <a:off x="9798716" y="4836798"/>
                <a:ext cx="355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5C8E3A"/>
                    </a:solidFill>
                  </a:rPr>
                  <a:t>=</a:t>
                </a: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C1F46828-87BF-49AD-8B39-0314F0AF7635}"/>
                  </a:ext>
                </a:extLst>
              </p:cNvPr>
              <p:cNvSpPr txBox="1"/>
              <p:nvPr/>
            </p:nvSpPr>
            <p:spPr>
              <a:xfrm>
                <a:off x="1794070" y="5895789"/>
                <a:ext cx="1764427" cy="5539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r>
                  <a:rPr lang="en-US" sz="1400" b="1" dirty="0">
                    <a:solidFill>
                      <a:srgbClr val="C34E2D"/>
                    </a:solidFill>
                  </a:rPr>
                  <a:t>× </a:t>
                </a:r>
                <a:r>
                  <a:rPr lang="en-US" sz="1100" dirty="0">
                    <a:solidFill>
                      <a:srgbClr val="C34E2D"/>
                    </a:solidFill>
                  </a:rPr>
                  <a:t>Price-driven substitution</a:t>
                </a:r>
                <a:r>
                  <a:rPr lang="en-US" sz="1600" b="1" dirty="0">
                    <a:solidFill>
                      <a:srgbClr val="C34E2D"/>
                    </a:solidFill>
                  </a:rPr>
                  <a:t>  </a:t>
                </a:r>
                <a:endParaRPr lang="en-US" sz="1400" b="1" dirty="0">
                  <a:solidFill>
                    <a:srgbClr val="C34E2D"/>
                  </a:solidFill>
                </a:endParaRPr>
              </a:p>
              <a:p>
                <a:r>
                  <a:rPr lang="en-US" sz="1400" b="1" dirty="0">
                    <a:solidFill>
                      <a:srgbClr val="C34E2D"/>
                    </a:solidFill>
                  </a:rPr>
                  <a:t>= </a:t>
                </a:r>
                <a:r>
                  <a:rPr lang="en-US" sz="1100" dirty="0">
                    <a:solidFill>
                      <a:srgbClr val="C34E2D"/>
                    </a:solidFill>
                  </a:rPr>
                  <a:t>No substitution</a:t>
                </a:r>
                <a:endParaRPr lang="en-US" sz="1400" dirty="0">
                  <a:solidFill>
                    <a:srgbClr val="C34E2D"/>
                  </a:solidFill>
                </a:endParaRPr>
              </a:p>
            </p:txBody>
          </p:sp>
        </p:grp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F83F3962-A5BD-4EED-AA22-4798282F244A}"/>
                </a:ext>
              </a:extLst>
            </p:cNvPr>
            <p:cNvSpPr txBox="1"/>
            <p:nvPr/>
          </p:nvSpPr>
          <p:spPr>
            <a:xfrm>
              <a:off x="6491346" y="2121614"/>
              <a:ext cx="1880433" cy="119263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C000"/>
                  </a:solidFill>
                </a:rPr>
                <a:t>Trade</a:t>
              </a:r>
            </a:p>
            <a:p>
              <a:pPr algn="ctr"/>
              <a:r>
                <a:rPr lang="en-US" sz="1050" dirty="0">
                  <a:solidFill>
                    <a:srgbClr val="FFC000"/>
                  </a:solidFill>
                </a:rPr>
                <a:t>Commodity output is traded in export or domestic markets – latter is combined with imports</a:t>
              </a:r>
            </a:p>
            <a:p>
              <a:pPr algn="ctr"/>
              <a:endParaRPr lang="en-US" sz="2000" b="1" dirty="0">
                <a:solidFill>
                  <a:srgbClr val="FFC000"/>
                </a:solidFill>
              </a:endParaRPr>
            </a:p>
          </p:txBody>
        </p:sp>
      </p:grpSp>
      <p:sp>
        <p:nvSpPr>
          <p:cNvPr id="288" name="TextBox 287">
            <a:extLst>
              <a:ext uri="{FF2B5EF4-FFF2-40B4-BE49-F238E27FC236}">
                <a16:creationId xmlns:a16="http://schemas.microsoft.com/office/drawing/2014/main" id="{AB5600EB-1C72-4DBB-ACFD-3F4AE2B8DE9A}"/>
              </a:ext>
            </a:extLst>
          </p:cNvPr>
          <p:cNvSpPr txBox="1"/>
          <p:nvPr/>
        </p:nvSpPr>
        <p:spPr>
          <a:xfrm>
            <a:off x="145465" y="873402"/>
            <a:ext cx="5223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Equilibrium:</a:t>
            </a:r>
            <a:r>
              <a:rPr lang="en-US" sz="1400" dirty="0"/>
              <a:t> Total commodity supply must equal total demand </a:t>
            </a:r>
          </a:p>
          <a:p>
            <a:r>
              <a:rPr lang="en-US" sz="1400" dirty="0"/>
              <a:t>	 (mediated by prices changes)</a:t>
            </a:r>
          </a:p>
        </p:txBody>
      </p:sp>
    </p:spTree>
    <p:extLst>
      <p:ext uri="{BB962C8B-B14F-4D97-AF65-F5344CB8AC3E}">
        <p14:creationId xmlns:p14="http://schemas.microsoft.com/office/powerpoint/2010/main" val="13509557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29FFF2A-3DF6-1E5D-8A69-65B2DB565BD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58999" y="2253935"/>
            <a:ext cx="11248095" cy="44687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A6FEF6-EE37-4C1D-A2AC-2663DAE9C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Chains </a:t>
            </a:r>
            <a:r>
              <a:rPr lang="en-US" b="0" dirty="0"/>
              <a:t> |  Summary</a:t>
            </a:r>
            <a:endParaRPr lang="en-US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4BEE9B1-5BC2-4BDE-8859-7EC8E2115043}"/>
              </a:ext>
            </a:extLst>
          </p:cNvPr>
          <p:cNvSpPr/>
          <p:nvPr/>
        </p:nvSpPr>
        <p:spPr>
          <a:xfrm>
            <a:off x="10399599" y="766168"/>
            <a:ext cx="399205" cy="238125"/>
          </a:xfrm>
          <a:prstGeom prst="rect">
            <a:avLst/>
          </a:prstGeom>
          <a:solidFill>
            <a:srgbClr val="5C8E3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AF63A5D7-4A33-44AE-A67C-AD866A53B7FE}"/>
              </a:ext>
            </a:extLst>
          </p:cNvPr>
          <p:cNvSpPr/>
          <p:nvPr/>
        </p:nvSpPr>
        <p:spPr>
          <a:xfrm>
            <a:off x="9598570" y="1500324"/>
            <a:ext cx="399205" cy="238125"/>
          </a:xfrm>
          <a:prstGeom prst="rect">
            <a:avLst/>
          </a:prstGeom>
          <a:solidFill>
            <a:srgbClr val="FF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01D1B3FB-211E-441A-8C54-778F62EC7FCC}"/>
              </a:ext>
            </a:extLst>
          </p:cNvPr>
          <p:cNvSpPr/>
          <p:nvPr/>
        </p:nvSpPr>
        <p:spPr>
          <a:xfrm>
            <a:off x="9598571" y="523696"/>
            <a:ext cx="399205" cy="238125"/>
          </a:xfrm>
          <a:prstGeom prst="rect">
            <a:avLst/>
          </a:prstGeom>
          <a:solidFill>
            <a:srgbClr val="0B8E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B5C48C53-E0AB-45E0-827D-35BB4E127D3B}"/>
              </a:ext>
            </a:extLst>
          </p:cNvPr>
          <p:cNvSpPr/>
          <p:nvPr/>
        </p:nvSpPr>
        <p:spPr>
          <a:xfrm>
            <a:off x="9199366" y="1747306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0BF10376-77FA-441E-B57F-EBB1DCA59F1D}"/>
              </a:ext>
            </a:extLst>
          </p:cNvPr>
          <p:cNvSpPr/>
          <p:nvPr/>
        </p:nvSpPr>
        <p:spPr>
          <a:xfrm>
            <a:off x="9199367" y="765901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E62AA441-DE78-475D-A142-66DB2B208CD2}"/>
              </a:ext>
            </a:extLst>
          </p:cNvPr>
          <p:cNvSpPr/>
          <p:nvPr/>
        </p:nvSpPr>
        <p:spPr>
          <a:xfrm>
            <a:off x="9199367" y="1010836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518A3522-F380-4819-86EB-F6D4884410BB}"/>
              </a:ext>
            </a:extLst>
          </p:cNvPr>
          <p:cNvSpPr txBox="1"/>
          <p:nvPr/>
        </p:nvSpPr>
        <p:spPr>
          <a:xfrm>
            <a:off x="7329575" y="609859"/>
            <a:ext cx="146694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200" b="1" dirty="0"/>
              <a:t>A</a:t>
            </a:r>
            <a:r>
              <a:rPr lang="en-US" sz="1200" dirty="0"/>
              <a:t>	= Activities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C	</a:t>
            </a:r>
            <a:r>
              <a:rPr lang="en-US" sz="1200" dirty="0"/>
              <a:t>= Commodities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F	</a:t>
            </a:r>
            <a:r>
              <a:rPr lang="en-US" sz="1200" dirty="0"/>
              <a:t>= Factors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D	</a:t>
            </a:r>
            <a:r>
              <a:rPr lang="en-US" sz="1200" dirty="0"/>
              <a:t>= Final demand</a:t>
            </a:r>
            <a:endParaRPr lang="en-US" sz="800" dirty="0"/>
          </a:p>
          <a:p>
            <a:pPr>
              <a:tabLst>
                <a:tab pos="285750" algn="l"/>
              </a:tabLst>
            </a:pPr>
            <a:r>
              <a:rPr lang="en-US" sz="1200" b="1" dirty="0"/>
              <a:t>W</a:t>
            </a:r>
            <a:r>
              <a:rPr lang="en-US" sz="1200" dirty="0"/>
              <a:t>	= Rest of world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3A25C86-35A7-4EEA-AC0D-B6ADBD727F3D}"/>
              </a:ext>
            </a:extLst>
          </p:cNvPr>
          <p:cNvSpPr/>
          <p:nvPr/>
        </p:nvSpPr>
        <p:spPr>
          <a:xfrm>
            <a:off x="10803972" y="772711"/>
            <a:ext cx="399205" cy="238125"/>
          </a:xfrm>
          <a:prstGeom prst="rect">
            <a:avLst/>
          </a:prstGeom>
          <a:solidFill>
            <a:srgbClr val="FF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8" name="Table 114">
            <a:extLst>
              <a:ext uri="{FF2B5EF4-FFF2-40B4-BE49-F238E27FC236}">
                <a16:creationId xmlns:a16="http://schemas.microsoft.com/office/drawing/2014/main" id="{E28AA19C-B9F8-4605-AEEE-E723448F909A}"/>
              </a:ext>
            </a:extLst>
          </p:cNvPr>
          <p:cNvGraphicFramePr>
            <a:graphicFrameLocks noGrp="1"/>
          </p:cNvGraphicFramePr>
          <p:nvPr/>
        </p:nvGraphicFramePr>
        <p:xfrm>
          <a:off x="8799107" y="278551"/>
          <a:ext cx="2799776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68">
                  <a:extLst>
                    <a:ext uri="{9D8B030D-6E8A-4147-A177-3AD203B41FA5}">
                      <a16:colId xmlns:a16="http://schemas.microsoft.com/office/drawing/2014/main" val="3066416653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390178515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723883678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44517278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3058675632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479483401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1893929709"/>
                    </a:ext>
                  </a:extLst>
                </a:gridCol>
              </a:tblGrid>
              <a:tr h="239425"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169226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68128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97440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459157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614760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64448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011649"/>
                  </a:ext>
                </a:extLst>
              </a:tr>
            </a:tbl>
          </a:graphicData>
        </a:graphic>
      </p:graphicFrame>
      <p:sp>
        <p:nvSpPr>
          <p:cNvPr id="288" name="TextBox 287">
            <a:extLst>
              <a:ext uri="{FF2B5EF4-FFF2-40B4-BE49-F238E27FC236}">
                <a16:creationId xmlns:a16="http://schemas.microsoft.com/office/drawing/2014/main" id="{AB5600EB-1C72-4DBB-ACFD-3F4AE2B8DE9A}"/>
              </a:ext>
            </a:extLst>
          </p:cNvPr>
          <p:cNvSpPr txBox="1"/>
          <p:nvPr/>
        </p:nvSpPr>
        <p:spPr>
          <a:xfrm>
            <a:off x="145465" y="873402"/>
            <a:ext cx="5223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Equilibrium:</a:t>
            </a:r>
            <a:r>
              <a:rPr lang="en-US" sz="1400" dirty="0"/>
              <a:t> Total commodity supply must equal total demand </a:t>
            </a:r>
          </a:p>
          <a:p>
            <a:r>
              <a:rPr lang="en-US" sz="1400" dirty="0"/>
              <a:t>	 (mediated by prices changes)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DF058-A471-0DB1-EB73-95E22061EED3}"/>
              </a:ext>
            </a:extLst>
          </p:cNvPr>
          <p:cNvSpPr txBox="1"/>
          <p:nvPr/>
        </p:nvSpPr>
        <p:spPr>
          <a:xfrm>
            <a:off x="409371" y="2438045"/>
            <a:ext cx="1296199" cy="646331"/>
          </a:xfrm>
          <a:prstGeom prst="rect">
            <a:avLst/>
          </a:prstGeom>
          <a:solidFill>
            <a:srgbClr val="C34E2D"/>
          </a:solidFill>
          <a:effectLst>
            <a:outerShdw blurRad="63500" sx="110000" sy="110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QF QFS WF WFDIST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DF93D2-44F2-62B4-7D80-0C9D5CB34F9F}"/>
              </a:ext>
            </a:extLst>
          </p:cNvPr>
          <p:cNvSpPr txBox="1"/>
          <p:nvPr/>
        </p:nvSpPr>
        <p:spPr>
          <a:xfrm>
            <a:off x="1879172" y="3226700"/>
            <a:ext cx="1136477" cy="369332"/>
          </a:xfrm>
          <a:prstGeom prst="rect">
            <a:avLst/>
          </a:prstGeom>
          <a:solidFill>
            <a:srgbClr val="C34E2D"/>
          </a:solidFill>
          <a:effectLst>
            <a:outerShdw blurRad="63500" sx="110000" sy="110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PVA QVA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42C49A-DC54-3790-88D8-A074B1137010}"/>
              </a:ext>
            </a:extLst>
          </p:cNvPr>
          <p:cNvSpPr txBox="1"/>
          <p:nvPr/>
        </p:nvSpPr>
        <p:spPr>
          <a:xfrm>
            <a:off x="3608471" y="3931256"/>
            <a:ext cx="829965" cy="369332"/>
          </a:xfrm>
          <a:prstGeom prst="rect">
            <a:avLst/>
          </a:prstGeom>
          <a:solidFill>
            <a:srgbClr val="C34E2D"/>
          </a:solidFill>
          <a:effectLst>
            <a:outerShdw blurRad="63500" sx="110000" sy="110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PA QA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07AF3-6F2C-C9FE-F275-3040D046E3BD}"/>
              </a:ext>
            </a:extLst>
          </p:cNvPr>
          <p:cNvSpPr txBox="1"/>
          <p:nvPr/>
        </p:nvSpPr>
        <p:spPr>
          <a:xfrm>
            <a:off x="5369391" y="3941530"/>
            <a:ext cx="877297" cy="369332"/>
          </a:xfrm>
          <a:prstGeom prst="rect">
            <a:avLst/>
          </a:prstGeom>
          <a:solidFill>
            <a:srgbClr val="0B8EB8"/>
          </a:solidFill>
          <a:effectLst>
            <a:outerShdw blurRad="63500" sx="110000" sy="110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PX QX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254E4B-6885-0D5E-2EE0-76AEC9954D13}"/>
              </a:ext>
            </a:extLst>
          </p:cNvPr>
          <p:cNvSpPr txBox="1"/>
          <p:nvPr/>
        </p:nvSpPr>
        <p:spPr>
          <a:xfrm>
            <a:off x="2708668" y="5984598"/>
            <a:ext cx="1425252" cy="369332"/>
          </a:xfrm>
          <a:prstGeom prst="rect">
            <a:avLst/>
          </a:prstGeom>
          <a:solidFill>
            <a:srgbClr val="0B8EB8"/>
          </a:solidFill>
          <a:effectLst>
            <a:outerShdw blurRad="63500" sx="110000" sy="110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PXAC QXAC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4FC7E-69F3-8C21-1440-16ECA227E9BE}"/>
              </a:ext>
            </a:extLst>
          </p:cNvPr>
          <p:cNvSpPr txBox="1"/>
          <p:nvPr/>
        </p:nvSpPr>
        <p:spPr>
          <a:xfrm>
            <a:off x="6957396" y="3149511"/>
            <a:ext cx="974251" cy="369332"/>
          </a:xfrm>
          <a:prstGeom prst="rect">
            <a:avLst/>
          </a:prstGeom>
          <a:solidFill>
            <a:srgbClr val="FFC000"/>
          </a:solidFill>
          <a:effectLst>
            <a:outerShdw blurRad="63500" sx="110000" sy="110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PM QM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3FC51C-74B4-C35F-70B1-AFB3F6B60EEA}"/>
              </a:ext>
            </a:extLst>
          </p:cNvPr>
          <p:cNvSpPr txBox="1"/>
          <p:nvPr/>
        </p:nvSpPr>
        <p:spPr>
          <a:xfrm>
            <a:off x="6977944" y="4923512"/>
            <a:ext cx="974251" cy="369332"/>
          </a:xfrm>
          <a:prstGeom prst="rect">
            <a:avLst/>
          </a:prstGeom>
          <a:solidFill>
            <a:srgbClr val="FFC000"/>
          </a:solidFill>
          <a:effectLst>
            <a:outerShdw blurRad="63500" sx="110000" sy="110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PE QE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B7363C-EC79-70A2-FB9F-A9306254B657}"/>
              </a:ext>
            </a:extLst>
          </p:cNvPr>
          <p:cNvSpPr txBox="1"/>
          <p:nvPr/>
        </p:nvSpPr>
        <p:spPr>
          <a:xfrm>
            <a:off x="6707923" y="3961812"/>
            <a:ext cx="1514294" cy="369332"/>
          </a:xfrm>
          <a:prstGeom prst="rect">
            <a:avLst/>
          </a:prstGeom>
          <a:solidFill>
            <a:srgbClr val="FFC000"/>
          </a:solidFill>
          <a:effectLst>
            <a:outerShdw blurRad="63500" sx="110000" sy="110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PDS PDD QD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B22628-3F30-EDCE-F603-B7F1A3F97095}"/>
              </a:ext>
            </a:extLst>
          </p:cNvPr>
          <p:cNvSpPr txBox="1"/>
          <p:nvPr/>
        </p:nvSpPr>
        <p:spPr>
          <a:xfrm>
            <a:off x="8683452" y="3920982"/>
            <a:ext cx="877297" cy="369332"/>
          </a:xfrm>
          <a:prstGeom prst="rect">
            <a:avLst/>
          </a:prstGeom>
          <a:solidFill>
            <a:srgbClr val="5C8E3A"/>
          </a:solidFill>
          <a:effectLst>
            <a:outerShdw blurRad="63500" sx="110000" sy="110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PQ QQ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DC8C6E-CC30-46C0-C100-A5D6B1EAD5AF}"/>
              </a:ext>
            </a:extLst>
          </p:cNvPr>
          <p:cNvSpPr txBox="1"/>
          <p:nvPr/>
        </p:nvSpPr>
        <p:spPr>
          <a:xfrm>
            <a:off x="11308629" y="3821902"/>
            <a:ext cx="551713" cy="369332"/>
          </a:xfrm>
          <a:prstGeom prst="rect">
            <a:avLst/>
          </a:prstGeom>
          <a:solidFill>
            <a:srgbClr val="5C8E3A"/>
          </a:solidFill>
          <a:effectLst>
            <a:outerShdw blurRad="63500" sx="110000" sy="110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QH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DE81D2-DF4D-9DE0-E45C-033EF38E2ED8}"/>
              </a:ext>
            </a:extLst>
          </p:cNvPr>
          <p:cNvSpPr txBox="1"/>
          <p:nvPr/>
        </p:nvSpPr>
        <p:spPr>
          <a:xfrm>
            <a:off x="11323026" y="4372232"/>
            <a:ext cx="551713" cy="369332"/>
          </a:xfrm>
          <a:prstGeom prst="rect">
            <a:avLst/>
          </a:prstGeom>
          <a:solidFill>
            <a:srgbClr val="5C8E3A"/>
          </a:solidFill>
          <a:effectLst>
            <a:outerShdw blurRad="63500" sx="110000" sy="110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QG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976858-95E1-36D1-D451-34876416BB73}"/>
              </a:ext>
            </a:extLst>
          </p:cNvPr>
          <p:cNvSpPr txBox="1"/>
          <p:nvPr/>
        </p:nvSpPr>
        <p:spPr>
          <a:xfrm>
            <a:off x="11331237" y="4902964"/>
            <a:ext cx="709016" cy="369332"/>
          </a:xfrm>
          <a:prstGeom prst="rect">
            <a:avLst/>
          </a:prstGeom>
          <a:solidFill>
            <a:srgbClr val="5C8E3A"/>
          </a:solidFill>
          <a:effectLst>
            <a:outerShdw blurRad="63500" sx="110000" sy="110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QINV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A4A16C-1CAC-ED00-23E6-D4BC5D46D468}"/>
              </a:ext>
            </a:extLst>
          </p:cNvPr>
          <p:cNvSpPr txBox="1"/>
          <p:nvPr/>
        </p:nvSpPr>
        <p:spPr>
          <a:xfrm>
            <a:off x="11331237" y="5404097"/>
            <a:ext cx="709016" cy="369332"/>
          </a:xfrm>
          <a:prstGeom prst="rect">
            <a:avLst/>
          </a:prstGeom>
          <a:solidFill>
            <a:srgbClr val="C34E2D"/>
          </a:solidFill>
          <a:effectLst>
            <a:outerShdw blurRad="63500" sx="110000" sy="110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QINT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F08542-CE6D-1FB9-E45E-AFCC8B42B7C8}"/>
              </a:ext>
            </a:extLst>
          </p:cNvPr>
          <p:cNvSpPr txBox="1"/>
          <p:nvPr/>
        </p:nvSpPr>
        <p:spPr>
          <a:xfrm>
            <a:off x="2024009" y="4680186"/>
            <a:ext cx="846804" cy="646331"/>
          </a:xfrm>
          <a:prstGeom prst="rect">
            <a:avLst/>
          </a:prstGeom>
          <a:solidFill>
            <a:srgbClr val="C34E2D"/>
          </a:solidFill>
          <a:effectLst>
            <a:outerShdw blurRad="63500" sx="110000" sy="110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PINTA QINTA</a:t>
            </a:r>
          </a:p>
        </p:txBody>
      </p:sp>
    </p:spTree>
    <p:extLst>
      <p:ext uri="{BB962C8B-B14F-4D97-AF65-F5344CB8AC3E}">
        <p14:creationId xmlns:p14="http://schemas.microsoft.com/office/powerpoint/2010/main" val="17071679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able 114">
            <a:extLst>
              <a:ext uri="{FF2B5EF4-FFF2-40B4-BE49-F238E27FC236}">
                <a16:creationId xmlns:a16="http://schemas.microsoft.com/office/drawing/2014/main" id="{0622C729-B425-43DB-B45E-5FCC6300FBAD}"/>
              </a:ext>
            </a:extLst>
          </p:cNvPr>
          <p:cNvGraphicFramePr>
            <a:graphicFrameLocks noGrp="1"/>
          </p:cNvGraphicFramePr>
          <p:nvPr/>
        </p:nvGraphicFramePr>
        <p:xfrm>
          <a:off x="8799107" y="278551"/>
          <a:ext cx="2799776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68">
                  <a:extLst>
                    <a:ext uri="{9D8B030D-6E8A-4147-A177-3AD203B41FA5}">
                      <a16:colId xmlns:a16="http://schemas.microsoft.com/office/drawing/2014/main" val="3066416653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390178515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723883678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244517278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3058675632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479483401"/>
                    </a:ext>
                  </a:extLst>
                </a:gridCol>
                <a:gridCol w="399968">
                  <a:extLst>
                    <a:ext uri="{9D8B030D-6E8A-4147-A177-3AD203B41FA5}">
                      <a16:colId xmlns:a16="http://schemas.microsoft.com/office/drawing/2014/main" val="1893929709"/>
                    </a:ext>
                  </a:extLst>
                </a:gridCol>
              </a:tblGrid>
              <a:tr h="239425"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169226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68128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97440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459157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614760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64448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01164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05BE30B-A759-4C10-A90C-C51BF94A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Markets  </a:t>
            </a:r>
            <a:r>
              <a:rPr lang="en-US" b="0" dirty="0"/>
              <a:t>|  Closure 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1B1A35-4D26-42F8-966F-0CAA2FC540C7}"/>
              </a:ext>
            </a:extLst>
          </p:cNvPr>
          <p:cNvSpPr txBox="1"/>
          <p:nvPr/>
        </p:nvSpPr>
        <p:spPr>
          <a:xfrm>
            <a:off x="145464" y="873402"/>
            <a:ext cx="5865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Equilibrium:</a:t>
            </a:r>
            <a:r>
              <a:rPr lang="en-US" sz="1400" dirty="0"/>
              <a:t> Total factor supply must equal sum of sectoral factor demand 	(determined by “closure rules”)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783C6D-EA49-4A08-B379-98771266D7EE}"/>
              </a:ext>
            </a:extLst>
          </p:cNvPr>
          <p:cNvSpPr/>
          <p:nvPr/>
        </p:nvSpPr>
        <p:spPr>
          <a:xfrm>
            <a:off x="9199367" y="1010836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0B3809-156C-4C6B-8AE9-79E704AD90C2}"/>
              </a:ext>
            </a:extLst>
          </p:cNvPr>
          <p:cNvSpPr txBox="1"/>
          <p:nvPr/>
        </p:nvSpPr>
        <p:spPr>
          <a:xfrm>
            <a:off x="7329575" y="609859"/>
            <a:ext cx="146694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200" b="1" dirty="0"/>
              <a:t>A</a:t>
            </a:r>
            <a:r>
              <a:rPr lang="en-US" sz="1200" dirty="0"/>
              <a:t>	= Activities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C	</a:t>
            </a:r>
            <a:r>
              <a:rPr lang="en-US" sz="1200" dirty="0"/>
              <a:t>= Commodities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F	</a:t>
            </a:r>
            <a:r>
              <a:rPr lang="en-US" sz="1200" dirty="0"/>
              <a:t>= Factors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D	</a:t>
            </a:r>
            <a:r>
              <a:rPr lang="en-US" sz="1200" dirty="0"/>
              <a:t>= Final demand</a:t>
            </a:r>
            <a:endParaRPr lang="en-US" sz="800" dirty="0"/>
          </a:p>
          <a:p>
            <a:pPr>
              <a:tabLst>
                <a:tab pos="285750" algn="l"/>
              </a:tabLst>
            </a:pPr>
            <a:r>
              <a:rPr lang="en-US" sz="1200" b="1" dirty="0"/>
              <a:t>W</a:t>
            </a:r>
            <a:r>
              <a:rPr lang="en-US" sz="1200" dirty="0"/>
              <a:t>	= Rest of world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A84EACA-6A04-42F7-B960-D89E61EAFA88}"/>
              </a:ext>
            </a:extLst>
          </p:cNvPr>
          <p:cNvSpPr/>
          <p:nvPr/>
        </p:nvSpPr>
        <p:spPr>
          <a:xfrm>
            <a:off x="4873335" y="2066354"/>
            <a:ext cx="3260456" cy="2092217"/>
          </a:xfrm>
          <a:prstGeom prst="rect">
            <a:avLst/>
          </a:prstGeom>
          <a:solidFill>
            <a:srgbClr val="C34E2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FF1569-A58C-4BD9-8167-8466F1D8D0AA}"/>
              </a:ext>
            </a:extLst>
          </p:cNvPr>
          <p:cNvSpPr txBox="1"/>
          <p:nvPr/>
        </p:nvSpPr>
        <p:spPr>
          <a:xfrm>
            <a:off x="5050935" y="2668076"/>
            <a:ext cx="933975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Labor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A761718-4C25-4CEE-B815-E4A1D5BA67C0}"/>
              </a:ext>
            </a:extLst>
          </p:cNvPr>
          <p:cNvSpPr txBox="1"/>
          <p:nvPr/>
        </p:nvSpPr>
        <p:spPr>
          <a:xfrm>
            <a:off x="5050935" y="3189921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Land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6C0EEE-E3CD-4ED1-A0F3-6CB8D1316813}"/>
              </a:ext>
            </a:extLst>
          </p:cNvPr>
          <p:cNvSpPr txBox="1"/>
          <p:nvPr/>
        </p:nvSpPr>
        <p:spPr>
          <a:xfrm>
            <a:off x="5050935" y="3717400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Capital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9C0AE4-6DF5-40FB-A02D-3D9B33D05C2F}"/>
              </a:ext>
            </a:extLst>
          </p:cNvPr>
          <p:cNvSpPr txBox="1"/>
          <p:nvPr/>
        </p:nvSpPr>
        <p:spPr>
          <a:xfrm>
            <a:off x="6347034" y="3189921"/>
            <a:ext cx="1224792" cy="307777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Value-added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D35E542-73DA-4096-AFB6-1257329E4CB8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>
            <a:off x="5984911" y="3343810"/>
            <a:ext cx="362123" cy="0"/>
          </a:xfrm>
          <a:prstGeom prst="straightConnector1">
            <a:avLst/>
          </a:prstGeom>
          <a:ln w="6350">
            <a:solidFill>
              <a:srgbClr val="E49F8C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885697F-F838-4E7E-B511-D1E450B44517}"/>
              </a:ext>
            </a:extLst>
          </p:cNvPr>
          <p:cNvCxnSpPr>
            <a:cxnSpLocks/>
          </p:cNvCxnSpPr>
          <p:nvPr/>
        </p:nvCxnSpPr>
        <p:spPr>
          <a:xfrm flipV="1">
            <a:off x="6123327" y="2821964"/>
            <a:ext cx="1" cy="1049324"/>
          </a:xfrm>
          <a:prstGeom prst="straightConnector1">
            <a:avLst/>
          </a:prstGeom>
          <a:ln w="6350">
            <a:solidFill>
              <a:srgbClr val="E49F8C"/>
            </a:solidFill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2C04002-FED6-45EE-AD3F-320C11C30FF9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5984910" y="2821965"/>
            <a:ext cx="131427" cy="0"/>
          </a:xfrm>
          <a:prstGeom prst="straightConnector1">
            <a:avLst/>
          </a:prstGeom>
          <a:ln w="6350">
            <a:solidFill>
              <a:srgbClr val="E49F8C"/>
            </a:solidFill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6C6DCE6-CD8E-447B-B349-1A8208887669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5984911" y="3871289"/>
            <a:ext cx="131426" cy="1"/>
          </a:xfrm>
          <a:prstGeom prst="straightConnector1">
            <a:avLst/>
          </a:prstGeom>
          <a:ln w="6350">
            <a:solidFill>
              <a:srgbClr val="E49F8C"/>
            </a:solidFill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110546E-2EBD-4634-879A-FBB39B4D014A}"/>
              </a:ext>
            </a:extLst>
          </p:cNvPr>
          <p:cNvSpPr txBox="1"/>
          <p:nvPr/>
        </p:nvSpPr>
        <p:spPr>
          <a:xfrm>
            <a:off x="4869723" y="2066354"/>
            <a:ext cx="326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34E2D"/>
                </a:solidFill>
              </a:rPr>
              <a:t>Factory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99440D-4535-4400-84C5-2C33620301AC}"/>
              </a:ext>
            </a:extLst>
          </p:cNvPr>
          <p:cNvSpPr txBox="1"/>
          <p:nvPr/>
        </p:nvSpPr>
        <p:spPr>
          <a:xfrm>
            <a:off x="6055885" y="3298078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9F8C"/>
                </a:solidFill>
              </a:rPr>
              <a:t>×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CEA60E-2F8A-4A19-802F-8E218DBDF96B}"/>
              </a:ext>
            </a:extLst>
          </p:cNvPr>
          <p:cNvSpPr txBox="1"/>
          <p:nvPr/>
        </p:nvSpPr>
        <p:spPr>
          <a:xfrm>
            <a:off x="6418234" y="3640336"/>
            <a:ext cx="1764427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400" b="1" dirty="0">
                <a:solidFill>
                  <a:srgbClr val="E49F8C"/>
                </a:solidFill>
              </a:rPr>
              <a:t>× </a:t>
            </a:r>
            <a:r>
              <a:rPr lang="en-US" sz="1100" dirty="0">
                <a:solidFill>
                  <a:srgbClr val="E49F8C"/>
                </a:solidFill>
              </a:rPr>
              <a:t>Price-driven substitution</a:t>
            </a:r>
            <a:r>
              <a:rPr lang="en-US" sz="1600" b="1" dirty="0">
                <a:solidFill>
                  <a:srgbClr val="E49F8C"/>
                </a:solidFill>
              </a:rPr>
              <a:t>  </a:t>
            </a:r>
            <a:endParaRPr lang="en-US" sz="1400" b="1" dirty="0">
              <a:solidFill>
                <a:srgbClr val="E49F8C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93DDA54-7B34-46EB-97C0-8D0CEBDE006B}"/>
              </a:ext>
            </a:extLst>
          </p:cNvPr>
          <p:cNvSpPr txBox="1"/>
          <p:nvPr/>
        </p:nvSpPr>
        <p:spPr>
          <a:xfrm>
            <a:off x="8196982" y="2746178"/>
            <a:ext cx="1652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600" b="1" dirty="0">
                <a:solidFill>
                  <a:srgbClr val="C34E2D"/>
                </a:solidFill>
              </a:rPr>
              <a:t>Fix one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C34E2D"/>
                </a:solidFill>
              </a:rPr>
              <a:t>Economywide wage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C34E2D"/>
                </a:solidFill>
              </a:rPr>
              <a:t>Total factor supply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13F999C-FD6E-4B4D-B53E-FB6D0874161D}"/>
              </a:ext>
            </a:extLst>
          </p:cNvPr>
          <p:cNvSpPr/>
          <p:nvPr/>
        </p:nvSpPr>
        <p:spPr>
          <a:xfrm>
            <a:off x="3541018" y="2067756"/>
            <a:ext cx="1294833" cy="2092217"/>
          </a:xfrm>
          <a:prstGeom prst="rect">
            <a:avLst/>
          </a:prstGeom>
          <a:solidFill>
            <a:srgbClr val="C34E2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64F486F-B706-435B-84D7-231A2040A8F5}"/>
              </a:ext>
            </a:extLst>
          </p:cNvPr>
          <p:cNvSpPr txBox="1"/>
          <p:nvPr/>
        </p:nvSpPr>
        <p:spPr>
          <a:xfrm>
            <a:off x="3718618" y="2673936"/>
            <a:ext cx="933975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Labor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9C5CD3A-16AA-48F4-A643-4855FA535D5D}"/>
              </a:ext>
            </a:extLst>
          </p:cNvPr>
          <p:cNvSpPr txBox="1"/>
          <p:nvPr/>
        </p:nvSpPr>
        <p:spPr>
          <a:xfrm>
            <a:off x="3718618" y="3195781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Land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E9A5284-EC2B-4A91-9803-70757F08CA17}"/>
              </a:ext>
            </a:extLst>
          </p:cNvPr>
          <p:cNvSpPr txBox="1"/>
          <p:nvPr/>
        </p:nvSpPr>
        <p:spPr>
          <a:xfrm>
            <a:off x="3718618" y="3723260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Capital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385B07C-B9FA-4F96-A331-3BC7BFBD5693}"/>
              </a:ext>
            </a:extLst>
          </p:cNvPr>
          <p:cNvSpPr/>
          <p:nvPr/>
        </p:nvSpPr>
        <p:spPr>
          <a:xfrm>
            <a:off x="2204243" y="2066354"/>
            <a:ext cx="1294833" cy="2098525"/>
          </a:xfrm>
          <a:prstGeom prst="rect">
            <a:avLst/>
          </a:prstGeom>
          <a:solidFill>
            <a:srgbClr val="C34E2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A8EE3C6-B6CB-4569-A50B-85E8656A1090}"/>
              </a:ext>
            </a:extLst>
          </p:cNvPr>
          <p:cNvSpPr txBox="1"/>
          <p:nvPr/>
        </p:nvSpPr>
        <p:spPr>
          <a:xfrm>
            <a:off x="2381843" y="2672534"/>
            <a:ext cx="933975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Labor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0D9AA19-5E2A-4A34-BC6F-6376D5C6D35D}"/>
              </a:ext>
            </a:extLst>
          </p:cNvPr>
          <p:cNvSpPr txBox="1"/>
          <p:nvPr/>
        </p:nvSpPr>
        <p:spPr>
          <a:xfrm>
            <a:off x="2381843" y="3194379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Land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8588F31-9B25-4AC2-B288-18871C48F209}"/>
              </a:ext>
            </a:extLst>
          </p:cNvPr>
          <p:cNvSpPr txBox="1"/>
          <p:nvPr/>
        </p:nvSpPr>
        <p:spPr>
          <a:xfrm>
            <a:off x="2381843" y="3721858"/>
            <a:ext cx="933976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Capital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B6EBFB0-9BEC-44A6-87E9-BED76EB75627}"/>
              </a:ext>
            </a:extLst>
          </p:cNvPr>
          <p:cNvSpPr txBox="1"/>
          <p:nvPr/>
        </p:nvSpPr>
        <p:spPr>
          <a:xfrm>
            <a:off x="3342288" y="2637298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4C6CD10-078C-462D-BAEB-4AB153EE5634}"/>
              </a:ext>
            </a:extLst>
          </p:cNvPr>
          <p:cNvSpPr txBox="1"/>
          <p:nvPr/>
        </p:nvSpPr>
        <p:spPr>
          <a:xfrm>
            <a:off x="4680326" y="2654786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506BDB9-5354-4B23-A12E-0FB5892C8BEE}"/>
              </a:ext>
            </a:extLst>
          </p:cNvPr>
          <p:cNvSpPr txBox="1"/>
          <p:nvPr/>
        </p:nvSpPr>
        <p:spPr>
          <a:xfrm>
            <a:off x="3341803" y="3157412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5EB9BD3-83AF-467D-91E8-12038E5D5DFE}"/>
              </a:ext>
            </a:extLst>
          </p:cNvPr>
          <p:cNvSpPr txBox="1"/>
          <p:nvPr/>
        </p:nvSpPr>
        <p:spPr>
          <a:xfrm>
            <a:off x="4679841" y="3174900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0448D39-26F6-490A-979A-45092B637B05}"/>
              </a:ext>
            </a:extLst>
          </p:cNvPr>
          <p:cNvSpPr txBox="1"/>
          <p:nvPr/>
        </p:nvSpPr>
        <p:spPr>
          <a:xfrm>
            <a:off x="3338513" y="3686147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52F344C-6302-4D05-B015-B4B315526A89}"/>
              </a:ext>
            </a:extLst>
          </p:cNvPr>
          <p:cNvSpPr txBox="1"/>
          <p:nvPr/>
        </p:nvSpPr>
        <p:spPr>
          <a:xfrm>
            <a:off x="4676551" y="3703635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+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8083AF9-3DE3-44A2-BC00-DA3656DC5A9D}"/>
              </a:ext>
            </a:extLst>
          </p:cNvPr>
          <p:cNvSpPr txBox="1"/>
          <p:nvPr/>
        </p:nvSpPr>
        <p:spPr>
          <a:xfrm>
            <a:off x="560504" y="2672534"/>
            <a:ext cx="1420829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Workforce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A5CC286-46E0-4A47-A1E8-65A49C7B49CD}"/>
              </a:ext>
            </a:extLst>
          </p:cNvPr>
          <p:cNvSpPr txBox="1"/>
          <p:nvPr/>
        </p:nvSpPr>
        <p:spPr>
          <a:xfrm>
            <a:off x="560504" y="3194379"/>
            <a:ext cx="1420829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Land availability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44C954D-FE68-47E0-881A-7A0417BF58EF}"/>
              </a:ext>
            </a:extLst>
          </p:cNvPr>
          <p:cNvSpPr txBox="1"/>
          <p:nvPr/>
        </p:nvSpPr>
        <p:spPr>
          <a:xfrm>
            <a:off x="560504" y="3721858"/>
            <a:ext cx="1420829" cy="307777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Capital supply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60C91DD-AA11-4E7E-9EC3-D9295C7F558F}"/>
              </a:ext>
            </a:extLst>
          </p:cNvPr>
          <p:cNvSpPr txBox="1"/>
          <p:nvPr/>
        </p:nvSpPr>
        <p:spPr>
          <a:xfrm>
            <a:off x="2007802" y="2637298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=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11B3B5A-C48F-4EC2-80A6-15A3CA6DF1BB}"/>
              </a:ext>
            </a:extLst>
          </p:cNvPr>
          <p:cNvSpPr txBox="1"/>
          <p:nvPr/>
        </p:nvSpPr>
        <p:spPr>
          <a:xfrm>
            <a:off x="2007317" y="3157412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=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36844E9-A404-4C95-BB96-3BC650B864D1}"/>
              </a:ext>
            </a:extLst>
          </p:cNvPr>
          <p:cNvSpPr txBox="1"/>
          <p:nvPr/>
        </p:nvSpPr>
        <p:spPr>
          <a:xfrm>
            <a:off x="2004027" y="3686147"/>
            <a:ext cx="355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=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3E475AC5-D501-468C-8267-56DDCE15EE28}"/>
              </a:ext>
            </a:extLst>
          </p:cNvPr>
          <p:cNvGrpSpPr/>
          <p:nvPr/>
        </p:nvGrpSpPr>
        <p:grpSpPr>
          <a:xfrm>
            <a:off x="2733792" y="4489789"/>
            <a:ext cx="9607057" cy="2126165"/>
            <a:chOff x="908637" y="391127"/>
            <a:chExt cx="14166230" cy="2922936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6379AC46-1E18-4C07-A70B-F07BA8AE4933}"/>
                </a:ext>
              </a:extLst>
            </p:cNvPr>
            <p:cNvGrpSpPr/>
            <p:nvPr/>
          </p:nvGrpSpPr>
          <p:grpSpPr>
            <a:xfrm>
              <a:off x="908637" y="391127"/>
              <a:ext cx="6703074" cy="2903826"/>
              <a:chOff x="1533712" y="3745468"/>
              <a:chExt cx="6703074" cy="2903826"/>
            </a:xfrm>
          </p:grpSpPr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59AEFFA4-6575-425C-871A-234EC9BF9827}"/>
                  </a:ext>
                </a:extLst>
              </p:cNvPr>
              <p:cNvGrpSpPr/>
              <p:nvPr/>
            </p:nvGrpSpPr>
            <p:grpSpPr>
              <a:xfrm>
                <a:off x="4948405" y="3745468"/>
                <a:ext cx="3288381" cy="2903826"/>
                <a:chOff x="1172349" y="2746321"/>
                <a:chExt cx="3288381" cy="2903826"/>
              </a:xfrm>
            </p:grpSpPr>
            <p:cxnSp>
              <p:nvCxnSpPr>
                <p:cNvPr id="175" name="Straight Arrow Connector 174">
                  <a:extLst>
                    <a:ext uri="{FF2B5EF4-FFF2-40B4-BE49-F238E27FC236}">
                      <a16:creationId xmlns:a16="http://schemas.microsoft.com/office/drawing/2014/main" id="{017854CA-2EAD-47F7-8C7D-D74AA2E24F61}"/>
                    </a:ext>
                  </a:extLst>
                </p:cNvPr>
                <p:cNvCxnSpPr/>
                <p:nvPr/>
              </p:nvCxnSpPr>
              <p:spPr>
                <a:xfrm flipV="1">
                  <a:off x="1740239" y="2746321"/>
                  <a:ext cx="0" cy="2438400"/>
                </a:xfrm>
                <a:prstGeom prst="straightConnector1">
                  <a:avLst/>
                </a:prstGeom>
                <a:ln w="22225">
                  <a:solidFill>
                    <a:srgbClr val="54544B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>
                  <a:extLst>
                    <a:ext uri="{FF2B5EF4-FFF2-40B4-BE49-F238E27FC236}">
                      <a16:creationId xmlns:a16="http://schemas.microsoft.com/office/drawing/2014/main" id="{27D00C65-B4BF-42A3-9F9A-1112D0F46EE1}"/>
                    </a:ext>
                  </a:extLst>
                </p:cNvPr>
                <p:cNvCxnSpPr/>
                <p:nvPr/>
              </p:nvCxnSpPr>
              <p:spPr>
                <a:xfrm>
                  <a:off x="1740239" y="5184721"/>
                  <a:ext cx="2720491" cy="0"/>
                </a:xfrm>
                <a:prstGeom prst="straightConnector1">
                  <a:avLst/>
                </a:prstGeom>
                <a:ln w="22225">
                  <a:solidFill>
                    <a:srgbClr val="54544B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BA2E9A26-7131-4963-ABEC-AB6FC46F9CAF}"/>
                    </a:ext>
                  </a:extLst>
                </p:cNvPr>
                <p:cNvSpPr txBox="1"/>
                <p:nvPr/>
              </p:nvSpPr>
              <p:spPr>
                <a:xfrm>
                  <a:off x="1172349" y="2782676"/>
                  <a:ext cx="635371" cy="2402044"/>
                </a:xfrm>
                <a:prstGeom prst="rect">
                  <a:avLst/>
                </a:prstGeom>
                <a:noFill/>
              </p:spPr>
              <p:txBody>
                <a:bodyPr vert="vert270"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54544B"/>
                      </a:solidFill>
                    </a:rPr>
                    <a:t>Wages</a:t>
                  </a:r>
                </a:p>
              </p:txBody>
            </p:sp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23E32086-7ACF-4910-B5A0-434FD4A7E65A}"/>
                    </a:ext>
                  </a:extLst>
                </p:cNvPr>
                <p:cNvSpPr txBox="1"/>
                <p:nvPr/>
              </p:nvSpPr>
              <p:spPr>
                <a:xfrm>
                  <a:off x="1680864" y="5184721"/>
                  <a:ext cx="2703666" cy="465426"/>
                </a:xfrm>
                <a:prstGeom prst="rect">
                  <a:avLst/>
                </a:prstGeom>
                <a:noFill/>
              </p:spPr>
              <p:txBody>
                <a:bodyPr vert="horz"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54544B"/>
                      </a:solidFill>
                    </a:rPr>
                    <a:t>Employment</a:t>
                  </a:r>
                </a:p>
              </p:txBody>
            </p:sp>
          </p:grp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BC6A28D1-6AC8-4030-AFEE-9A98E120468C}"/>
                  </a:ext>
                </a:extLst>
              </p:cNvPr>
              <p:cNvCxnSpPr/>
              <p:nvPr/>
            </p:nvCxnSpPr>
            <p:spPr>
              <a:xfrm flipH="1" flipV="1">
                <a:off x="6703236" y="4223216"/>
                <a:ext cx="8544" cy="1938754"/>
              </a:xfrm>
              <a:prstGeom prst="line">
                <a:avLst/>
              </a:prstGeom>
              <a:ln w="15875">
                <a:solidFill>
                  <a:srgbClr val="C34E2D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" name="TextBox 8">
                <a:extLst>
                  <a:ext uri="{FF2B5EF4-FFF2-40B4-BE49-F238E27FC236}">
                    <a16:creationId xmlns:a16="http://schemas.microsoft.com/office/drawing/2014/main" id="{D1D37C25-0141-47B4-9E37-C45A5EC7D6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3712" y="4785408"/>
                <a:ext cx="3200400" cy="8039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US" sz="1600" b="1" dirty="0">
                    <a:latin typeface="Calibri" pitchFamily="34" charset="0"/>
                  </a:rPr>
                  <a:t>Option 1</a:t>
                </a:r>
              </a:p>
              <a:p>
                <a:pPr algn="r"/>
                <a:r>
                  <a:rPr lang="en-US" sz="1600" dirty="0">
                    <a:latin typeface="Calibri" pitchFamily="34" charset="0"/>
                  </a:rPr>
                  <a:t>Full employment</a:t>
                </a:r>
              </a:p>
            </p:txBody>
          </p:sp>
        </p:grp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9C396538-FD5F-4CC5-A21D-9B50FA0D94A5}"/>
                </a:ext>
              </a:extLst>
            </p:cNvPr>
            <p:cNvCxnSpPr/>
            <p:nvPr/>
          </p:nvCxnSpPr>
          <p:spPr>
            <a:xfrm flipH="1" flipV="1">
              <a:off x="5239961" y="1451465"/>
              <a:ext cx="1385984" cy="1165180"/>
            </a:xfrm>
            <a:prstGeom prst="line">
              <a:avLst/>
            </a:prstGeom>
            <a:ln w="15875">
              <a:solidFill>
                <a:srgbClr val="C34E2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5D45CD31-4D9F-403A-B23E-DF092D245DC9}"/>
                </a:ext>
              </a:extLst>
            </p:cNvPr>
            <p:cNvCxnSpPr/>
            <p:nvPr/>
          </p:nvCxnSpPr>
          <p:spPr>
            <a:xfrm flipH="1" flipV="1">
              <a:off x="5468561" y="1021275"/>
              <a:ext cx="1385984" cy="1165180"/>
            </a:xfrm>
            <a:prstGeom prst="line">
              <a:avLst/>
            </a:prstGeom>
            <a:ln w="15875">
              <a:solidFill>
                <a:srgbClr val="0B8EB8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BC4A25D8-82C0-4435-A866-15663B39AEC2}"/>
                </a:ext>
              </a:extLst>
            </p:cNvPr>
            <p:cNvGrpSpPr/>
            <p:nvPr/>
          </p:nvGrpSpPr>
          <p:grpSpPr>
            <a:xfrm>
              <a:off x="8221312" y="410237"/>
              <a:ext cx="6853555" cy="2903826"/>
              <a:chOff x="4883987" y="3745468"/>
              <a:chExt cx="6853555" cy="2903826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E14CA3FC-2E9D-4791-BB18-49E5027651E1}"/>
                  </a:ext>
                </a:extLst>
              </p:cNvPr>
              <p:cNvGrpSpPr/>
              <p:nvPr/>
            </p:nvGrpSpPr>
            <p:grpSpPr>
              <a:xfrm>
                <a:off x="4883987" y="3745468"/>
                <a:ext cx="3352799" cy="2903826"/>
                <a:chOff x="1107931" y="2746321"/>
                <a:chExt cx="3352799" cy="2903826"/>
              </a:xfrm>
            </p:grpSpPr>
            <p:cxnSp>
              <p:nvCxnSpPr>
                <p:cNvPr id="168" name="Straight Arrow Connector 167">
                  <a:extLst>
                    <a:ext uri="{FF2B5EF4-FFF2-40B4-BE49-F238E27FC236}">
                      <a16:creationId xmlns:a16="http://schemas.microsoft.com/office/drawing/2014/main" id="{A6E3A00A-F1C1-4912-876A-71B63C9013B4}"/>
                    </a:ext>
                  </a:extLst>
                </p:cNvPr>
                <p:cNvCxnSpPr/>
                <p:nvPr/>
              </p:nvCxnSpPr>
              <p:spPr>
                <a:xfrm flipV="1">
                  <a:off x="1740239" y="2746321"/>
                  <a:ext cx="0" cy="2438400"/>
                </a:xfrm>
                <a:prstGeom prst="straightConnector1">
                  <a:avLst/>
                </a:prstGeom>
                <a:ln w="22225">
                  <a:solidFill>
                    <a:srgbClr val="54544B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Arrow Connector 168">
                  <a:extLst>
                    <a:ext uri="{FF2B5EF4-FFF2-40B4-BE49-F238E27FC236}">
                      <a16:creationId xmlns:a16="http://schemas.microsoft.com/office/drawing/2014/main" id="{A5A057E8-0200-47EC-806C-BA7792B82DCC}"/>
                    </a:ext>
                  </a:extLst>
                </p:cNvPr>
                <p:cNvCxnSpPr/>
                <p:nvPr/>
              </p:nvCxnSpPr>
              <p:spPr>
                <a:xfrm>
                  <a:off x="1740239" y="5184721"/>
                  <a:ext cx="2720491" cy="0"/>
                </a:xfrm>
                <a:prstGeom prst="straightConnector1">
                  <a:avLst/>
                </a:prstGeom>
                <a:ln w="22225">
                  <a:solidFill>
                    <a:srgbClr val="54544B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1AA3D68-7994-4F8A-B7CD-5536D171F534}"/>
                    </a:ext>
                  </a:extLst>
                </p:cNvPr>
                <p:cNvSpPr txBox="1"/>
                <p:nvPr/>
              </p:nvSpPr>
              <p:spPr>
                <a:xfrm>
                  <a:off x="1107931" y="2776230"/>
                  <a:ext cx="635371" cy="2402045"/>
                </a:xfrm>
                <a:prstGeom prst="rect">
                  <a:avLst/>
                </a:prstGeom>
                <a:noFill/>
              </p:spPr>
              <p:txBody>
                <a:bodyPr vert="vert270"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54544B"/>
                      </a:solidFill>
                    </a:rPr>
                    <a:t>Wages</a:t>
                  </a:r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50A2DDF-2A86-4305-A984-C15CEEC782FD}"/>
                    </a:ext>
                  </a:extLst>
                </p:cNvPr>
                <p:cNvSpPr txBox="1"/>
                <p:nvPr/>
              </p:nvSpPr>
              <p:spPr>
                <a:xfrm>
                  <a:off x="2128766" y="5184721"/>
                  <a:ext cx="2255764" cy="465426"/>
                </a:xfrm>
                <a:prstGeom prst="rect">
                  <a:avLst/>
                </a:prstGeom>
                <a:noFill/>
              </p:spPr>
              <p:txBody>
                <a:bodyPr vert="horz" wrap="square" rtlCol="0">
                  <a:spAutoFit/>
                </a:bodyPr>
                <a:lstStyle/>
                <a:p>
                  <a:pPr algn="r"/>
                  <a:r>
                    <a:rPr lang="en-US" sz="1600" dirty="0">
                      <a:solidFill>
                        <a:srgbClr val="54544B"/>
                      </a:solidFill>
                    </a:rPr>
                    <a:t>Employment</a:t>
                  </a:r>
                </a:p>
              </p:txBody>
            </p:sp>
          </p:grp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BBE10830-BA49-4E41-A402-DF5E2D74A291}"/>
                  </a:ext>
                </a:extLst>
              </p:cNvPr>
              <p:cNvCxnSpPr/>
              <p:nvPr/>
            </p:nvCxnSpPr>
            <p:spPr>
              <a:xfrm flipH="1">
                <a:off x="5516296" y="5214491"/>
                <a:ext cx="2644290" cy="1"/>
              </a:xfrm>
              <a:prstGeom prst="line">
                <a:avLst/>
              </a:prstGeom>
              <a:ln w="15875">
                <a:solidFill>
                  <a:srgbClr val="C34E2D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TextBox 8">
                <a:extLst>
                  <a:ext uri="{FF2B5EF4-FFF2-40B4-BE49-F238E27FC236}">
                    <a16:creationId xmlns:a16="http://schemas.microsoft.com/office/drawing/2014/main" id="{92639434-1BB1-429E-B813-8CF2840464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37142" y="4766298"/>
                <a:ext cx="3200400" cy="8039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 b="1" dirty="0">
                    <a:latin typeface="Calibri" pitchFamily="34" charset="0"/>
                  </a:rPr>
                  <a:t>Option 2</a:t>
                </a:r>
              </a:p>
              <a:p>
                <a:r>
                  <a:rPr lang="en-US" sz="1600" dirty="0">
                    <a:latin typeface="Calibri" pitchFamily="34" charset="0"/>
                  </a:rPr>
                  <a:t>Unemployment</a:t>
                </a:r>
              </a:p>
            </p:txBody>
          </p:sp>
        </p:grp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73BC0EE0-1431-4466-91F4-3631AC6CCD11}"/>
                </a:ext>
              </a:extLst>
            </p:cNvPr>
            <p:cNvCxnSpPr/>
            <p:nvPr/>
          </p:nvCxnSpPr>
          <p:spPr>
            <a:xfrm flipH="1" flipV="1">
              <a:off x="9627811" y="1531482"/>
              <a:ext cx="1385984" cy="1165180"/>
            </a:xfrm>
            <a:prstGeom prst="line">
              <a:avLst/>
            </a:prstGeom>
            <a:ln w="15875">
              <a:solidFill>
                <a:srgbClr val="C34E2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495592FE-9FFA-48A0-979D-6D84AACB3113}"/>
                </a:ext>
              </a:extLst>
            </p:cNvPr>
            <p:cNvCxnSpPr/>
            <p:nvPr/>
          </p:nvCxnSpPr>
          <p:spPr>
            <a:xfrm flipH="1" flipV="1">
              <a:off x="9856411" y="1101292"/>
              <a:ext cx="1385984" cy="1165180"/>
            </a:xfrm>
            <a:prstGeom prst="line">
              <a:avLst/>
            </a:prstGeom>
            <a:ln w="15875">
              <a:solidFill>
                <a:srgbClr val="0B8EB8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B7603FD-DD8D-C8CE-357F-8B62F3001D09}"/>
              </a:ext>
            </a:extLst>
          </p:cNvPr>
          <p:cNvSpPr txBox="1"/>
          <p:nvPr/>
        </p:nvSpPr>
        <p:spPr>
          <a:xfrm>
            <a:off x="516659" y="4432319"/>
            <a:ext cx="2915905" cy="923330"/>
          </a:xfrm>
          <a:prstGeom prst="rect">
            <a:avLst/>
          </a:prstGeom>
          <a:noFill/>
          <a:ln w="12700">
            <a:solidFill>
              <a:srgbClr val="C34E2D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34E2D"/>
                </a:solidFill>
              </a:rPr>
              <a:t>Factor market closure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34E2D"/>
                </a:solidFill>
              </a:rPr>
              <a:t>Adjust total factor supply?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34E2D"/>
                </a:solidFill>
              </a:rPr>
              <a:t>Adjust wages?</a:t>
            </a:r>
          </a:p>
        </p:txBody>
      </p:sp>
    </p:spTree>
    <p:extLst>
      <p:ext uri="{BB962C8B-B14F-4D97-AF65-F5344CB8AC3E}">
        <p14:creationId xmlns:p14="http://schemas.microsoft.com/office/powerpoint/2010/main" val="2988566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36">
            <a:extLst>
              <a:ext uri="{FF2B5EF4-FFF2-40B4-BE49-F238E27FC236}">
                <a16:creationId xmlns:a16="http://schemas.microsoft.com/office/drawing/2014/main" id="{9294CB34-EDB3-4D55-8BF3-DB0069243091}"/>
              </a:ext>
            </a:extLst>
          </p:cNvPr>
          <p:cNvSpPr/>
          <p:nvPr/>
        </p:nvSpPr>
        <p:spPr>
          <a:xfrm>
            <a:off x="10282594" y="1422149"/>
            <a:ext cx="1848451" cy="527393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65E4EE-D5A7-4A7F-B991-169C672E4119}"/>
              </a:ext>
            </a:extLst>
          </p:cNvPr>
          <p:cNvSpPr txBox="1"/>
          <p:nvPr/>
        </p:nvSpPr>
        <p:spPr>
          <a:xfrm>
            <a:off x="325437" y="3833111"/>
            <a:ext cx="279977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400" b="1" dirty="0"/>
              <a:t>A</a:t>
            </a:r>
            <a:r>
              <a:rPr lang="en-US" sz="1400" dirty="0"/>
              <a:t>	= Activities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C	</a:t>
            </a:r>
            <a:r>
              <a:rPr lang="en-US" sz="1400" dirty="0"/>
              <a:t>= Commodities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F	</a:t>
            </a:r>
            <a:r>
              <a:rPr lang="en-US" sz="1400" dirty="0"/>
              <a:t>= Factors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H	</a:t>
            </a:r>
            <a:r>
              <a:rPr lang="en-US" sz="1400" dirty="0"/>
              <a:t>= Households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G	</a:t>
            </a:r>
            <a:r>
              <a:rPr lang="en-US" sz="1400" dirty="0"/>
              <a:t>= Government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I	</a:t>
            </a:r>
            <a:r>
              <a:rPr lang="en-US" sz="1400" dirty="0"/>
              <a:t>= Investment</a:t>
            </a:r>
          </a:p>
          <a:p>
            <a:pPr>
              <a:tabLst>
                <a:tab pos="285750" algn="l"/>
              </a:tabLst>
            </a:pPr>
            <a:r>
              <a:rPr lang="en-US" sz="1400" b="1" dirty="0"/>
              <a:t>W</a:t>
            </a:r>
            <a:r>
              <a:rPr lang="en-US" sz="1400" dirty="0"/>
              <a:t>	= Rest of world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579BD-EA04-40C6-B8F3-B16544C95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Institutions  </a:t>
            </a:r>
            <a:r>
              <a:rPr lang="en-US" b="0" dirty="0"/>
              <a:t>|  Incomes &amp; Spending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EB57F6-1C59-4FB4-BAF5-EC37AF22AF56}"/>
              </a:ext>
            </a:extLst>
          </p:cNvPr>
          <p:cNvSpPr/>
          <p:nvPr/>
        </p:nvSpPr>
        <p:spPr>
          <a:xfrm>
            <a:off x="1919442" y="2075899"/>
            <a:ext cx="399205" cy="238125"/>
          </a:xfrm>
          <a:prstGeom prst="rect">
            <a:avLst/>
          </a:prstGeom>
          <a:solidFill>
            <a:srgbClr val="5C8E3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97CA05-19E7-49A7-BE12-81AC27565893}"/>
              </a:ext>
            </a:extLst>
          </p:cNvPr>
          <p:cNvSpPr/>
          <p:nvPr/>
        </p:nvSpPr>
        <p:spPr>
          <a:xfrm>
            <a:off x="3125210" y="2061687"/>
            <a:ext cx="399205" cy="238125"/>
          </a:xfrm>
          <a:prstGeom prst="rect">
            <a:avLst/>
          </a:prstGeom>
          <a:solidFill>
            <a:srgbClr val="FF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F6B642-59B7-4C2E-A065-568BECCCFA17}"/>
              </a:ext>
            </a:extLst>
          </p:cNvPr>
          <p:cNvSpPr/>
          <p:nvPr/>
        </p:nvSpPr>
        <p:spPr>
          <a:xfrm>
            <a:off x="1109660" y="3295967"/>
            <a:ext cx="399205" cy="238125"/>
          </a:xfrm>
          <a:prstGeom prst="rect">
            <a:avLst/>
          </a:prstGeom>
          <a:solidFill>
            <a:srgbClr val="FF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3FC825-2467-4747-AD89-27084D1AA829}"/>
              </a:ext>
            </a:extLst>
          </p:cNvPr>
          <p:cNvSpPr/>
          <p:nvPr/>
        </p:nvSpPr>
        <p:spPr>
          <a:xfrm>
            <a:off x="1109661" y="1826532"/>
            <a:ext cx="399205" cy="238125"/>
          </a:xfrm>
          <a:prstGeom prst="rect">
            <a:avLst/>
          </a:prstGeom>
          <a:solidFill>
            <a:srgbClr val="0B8E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3E31EF-0461-41FD-83DE-05A011872197}"/>
              </a:ext>
            </a:extLst>
          </p:cNvPr>
          <p:cNvSpPr/>
          <p:nvPr/>
        </p:nvSpPr>
        <p:spPr>
          <a:xfrm>
            <a:off x="716276" y="3538981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D82747-BD10-4EE9-8D93-7DBACC2382A1}"/>
              </a:ext>
            </a:extLst>
          </p:cNvPr>
          <p:cNvSpPr/>
          <p:nvPr/>
        </p:nvSpPr>
        <p:spPr>
          <a:xfrm>
            <a:off x="710457" y="2069896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D01698-7A72-4A17-98B2-6BA28FABAF94}"/>
              </a:ext>
            </a:extLst>
          </p:cNvPr>
          <p:cNvSpPr/>
          <p:nvPr/>
        </p:nvSpPr>
        <p:spPr>
          <a:xfrm>
            <a:off x="710457" y="2314831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7C0D85-9B9B-45FA-9CEF-279CBDA99DC1}"/>
              </a:ext>
            </a:extLst>
          </p:cNvPr>
          <p:cNvSpPr txBox="1"/>
          <p:nvPr/>
        </p:nvSpPr>
        <p:spPr>
          <a:xfrm>
            <a:off x="310197" y="1202770"/>
            <a:ext cx="265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Basic SAM layout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A6366A-D10E-4694-B088-2FD577FB9955}"/>
              </a:ext>
            </a:extLst>
          </p:cNvPr>
          <p:cNvSpPr/>
          <p:nvPr/>
        </p:nvSpPr>
        <p:spPr>
          <a:xfrm>
            <a:off x="2326949" y="2075899"/>
            <a:ext cx="399205" cy="238125"/>
          </a:xfrm>
          <a:prstGeom prst="rect">
            <a:avLst/>
          </a:prstGeom>
          <a:solidFill>
            <a:srgbClr val="5C8E3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E82E85-B12E-4898-A096-DF9037463E86}"/>
              </a:ext>
            </a:extLst>
          </p:cNvPr>
          <p:cNvSpPr/>
          <p:nvPr/>
        </p:nvSpPr>
        <p:spPr>
          <a:xfrm>
            <a:off x="2718906" y="2069896"/>
            <a:ext cx="399205" cy="238125"/>
          </a:xfrm>
          <a:prstGeom prst="rect">
            <a:avLst/>
          </a:prstGeom>
          <a:solidFill>
            <a:srgbClr val="5C8E3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FA742F-3731-4436-B2D8-AC50D1295118}"/>
              </a:ext>
            </a:extLst>
          </p:cNvPr>
          <p:cNvSpPr/>
          <p:nvPr/>
        </p:nvSpPr>
        <p:spPr>
          <a:xfrm>
            <a:off x="1916269" y="2560113"/>
            <a:ext cx="399205" cy="23812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8ADF70-7716-4827-A6E8-C04CCE19576D}"/>
              </a:ext>
            </a:extLst>
          </p:cNvPr>
          <p:cNvSpPr/>
          <p:nvPr/>
        </p:nvSpPr>
        <p:spPr>
          <a:xfrm>
            <a:off x="1915635" y="2559846"/>
            <a:ext cx="399205" cy="23812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B0B43F-C3D7-4993-B4F9-1989C5051D41}"/>
              </a:ext>
            </a:extLst>
          </p:cNvPr>
          <p:cNvSpPr/>
          <p:nvPr/>
        </p:nvSpPr>
        <p:spPr>
          <a:xfrm>
            <a:off x="2322246" y="2559846"/>
            <a:ext cx="399205" cy="23812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10D430-4FAF-4B79-A920-1D01ADDF227A}"/>
              </a:ext>
            </a:extLst>
          </p:cNvPr>
          <p:cNvSpPr/>
          <p:nvPr/>
        </p:nvSpPr>
        <p:spPr>
          <a:xfrm>
            <a:off x="2318792" y="2566563"/>
            <a:ext cx="399205" cy="23812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26C8BF-19F2-4940-B273-C331B4B38F28}"/>
              </a:ext>
            </a:extLst>
          </p:cNvPr>
          <p:cNvSpPr/>
          <p:nvPr/>
        </p:nvSpPr>
        <p:spPr>
          <a:xfrm>
            <a:off x="3124330" y="2559845"/>
            <a:ext cx="399205" cy="23812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9D7C8D-B6DA-44E4-8C78-73E69FD8E86A}"/>
              </a:ext>
            </a:extLst>
          </p:cNvPr>
          <p:cNvSpPr/>
          <p:nvPr/>
        </p:nvSpPr>
        <p:spPr>
          <a:xfrm>
            <a:off x="3126732" y="2558834"/>
            <a:ext cx="399205" cy="23812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E27112F-9BA6-4A77-9993-13E714AAE962}"/>
              </a:ext>
            </a:extLst>
          </p:cNvPr>
          <p:cNvSpPr/>
          <p:nvPr/>
        </p:nvSpPr>
        <p:spPr>
          <a:xfrm>
            <a:off x="1919868" y="2806552"/>
            <a:ext cx="399205" cy="23812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968793-AFE9-4D30-9605-9B39DF096B5C}"/>
              </a:ext>
            </a:extLst>
          </p:cNvPr>
          <p:cNvSpPr/>
          <p:nvPr/>
        </p:nvSpPr>
        <p:spPr>
          <a:xfrm>
            <a:off x="1921754" y="2801448"/>
            <a:ext cx="399205" cy="23812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8F19BF7-CD09-4EEC-8A1B-4AF28A12CC3E}"/>
              </a:ext>
            </a:extLst>
          </p:cNvPr>
          <p:cNvSpPr/>
          <p:nvPr/>
        </p:nvSpPr>
        <p:spPr>
          <a:xfrm>
            <a:off x="1517780" y="2562351"/>
            <a:ext cx="399205" cy="238125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6B2288-9C6E-4B46-A151-18F8F7D95966}"/>
              </a:ext>
            </a:extLst>
          </p:cNvPr>
          <p:cNvSpPr/>
          <p:nvPr/>
        </p:nvSpPr>
        <p:spPr>
          <a:xfrm>
            <a:off x="1920778" y="2073125"/>
            <a:ext cx="399205" cy="238125"/>
          </a:xfrm>
          <a:prstGeom prst="rect">
            <a:avLst/>
          </a:prstGeom>
          <a:solidFill>
            <a:srgbClr val="5C8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7C9C1F4-824B-4251-8533-CDEE8FB09EDA}"/>
              </a:ext>
            </a:extLst>
          </p:cNvPr>
          <p:cNvGrpSpPr/>
          <p:nvPr/>
        </p:nvGrpSpPr>
        <p:grpSpPr>
          <a:xfrm>
            <a:off x="3998442" y="1428380"/>
            <a:ext cx="2494714" cy="2637461"/>
            <a:chOff x="6521713" y="1180068"/>
            <a:chExt cx="2494714" cy="2637461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92586C7-0500-439C-B929-ECF361660737}"/>
                </a:ext>
              </a:extLst>
            </p:cNvPr>
            <p:cNvSpPr txBox="1"/>
            <p:nvPr/>
          </p:nvSpPr>
          <p:spPr>
            <a:xfrm>
              <a:off x="7009827" y="1180068"/>
              <a:ext cx="2006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Households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11A369A-A39E-4AD2-B7A8-E2D08EA6538C}"/>
                </a:ext>
              </a:extLst>
            </p:cNvPr>
            <p:cNvSpPr txBox="1"/>
            <p:nvPr/>
          </p:nvSpPr>
          <p:spPr>
            <a:xfrm>
              <a:off x="7193977" y="1879991"/>
              <a:ext cx="1676400" cy="369332"/>
            </a:xfrm>
            <a:prstGeom prst="rect">
              <a:avLst/>
            </a:prstGeom>
            <a:solidFill>
              <a:srgbClr val="C34E2D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Factor earnings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3DD446D-A6E6-4E21-9095-89C186A24173}"/>
                </a:ext>
              </a:extLst>
            </p:cNvPr>
            <p:cNvSpPr txBox="1"/>
            <p:nvPr/>
          </p:nvSpPr>
          <p:spPr>
            <a:xfrm>
              <a:off x="7193977" y="2633410"/>
              <a:ext cx="1676400" cy="36933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Transfers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652EEF-D6EC-41C0-A0CE-2F2B5A9BF37A}"/>
                </a:ext>
              </a:extLst>
            </p:cNvPr>
            <p:cNvSpPr txBox="1"/>
            <p:nvPr/>
          </p:nvSpPr>
          <p:spPr>
            <a:xfrm>
              <a:off x="7193977" y="3372074"/>
              <a:ext cx="1676400" cy="36933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Remittances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737D1BE-F58D-45B6-B966-C7E109DE2A46}"/>
                </a:ext>
              </a:extLst>
            </p:cNvPr>
            <p:cNvSpPr txBox="1"/>
            <p:nvPr/>
          </p:nvSpPr>
          <p:spPr>
            <a:xfrm>
              <a:off x="7568627" y="2249227"/>
              <a:ext cx="88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BE3AF1-32A7-4E89-B4C8-90808004C712}"/>
                </a:ext>
              </a:extLst>
            </p:cNvPr>
            <p:cNvSpPr txBox="1"/>
            <p:nvPr/>
          </p:nvSpPr>
          <p:spPr>
            <a:xfrm>
              <a:off x="7568627" y="3002742"/>
              <a:ext cx="88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BE824E1-3AF8-468A-93D6-32049D295D2B}"/>
                </a:ext>
              </a:extLst>
            </p:cNvPr>
            <p:cNvSpPr txBox="1"/>
            <p:nvPr/>
          </p:nvSpPr>
          <p:spPr>
            <a:xfrm rot="16200000">
              <a:off x="5718468" y="2611602"/>
              <a:ext cx="2006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Total income</a:t>
              </a:r>
            </a:p>
          </p:txBody>
        </p:sp>
        <p:sp>
          <p:nvSpPr>
            <p:cNvPr id="49" name="Left Bracket 48">
              <a:extLst>
                <a:ext uri="{FF2B5EF4-FFF2-40B4-BE49-F238E27FC236}">
                  <a16:creationId xmlns:a16="http://schemas.microsoft.com/office/drawing/2014/main" id="{74B7096D-5322-4FF6-8492-8CCEE2BBB256}"/>
                </a:ext>
              </a:extLst>
            </p:cNvPr>
            <p:cNvSpPr/>
            <p:nvPr/>
          </p:nvSpPr>
          <p:spPr>
            <a:xfrm>
              <a:off x="6925048" y="1810950"/>
              <a:ext cx="120650" cy="2006579"/>
            </a:xfrm>
            <a:prstGeom prst="leftBracke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B1C9FE9-7EA6-46B6-9754-95A13578A1C8}"/>
              </a:ext>
            </a:extLst>
          </p:cNvPr>
          <p:cNvGrpSpPr/>
          <p:nvPr/>
        </p:nvGrpSpPr>
        <p:grpSpPr>
          <a:xfrm>
            <a:off x="4003513" y="4026877"/>
            <a:ext cx="2343593" cy="2528422"/>
            <a:chOff x="6526784" y="3778565"/>
            <a:chExt cx="2343593" cy="252842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5704D42-5479-4A79-BE03-E4128A05E9AF}"/>
                </a:ext>
              </a:extLst>
            </p:cNvPr>
            <p:cNvSpPr txBox="1"/>
            <p:nvPr/>
          </p:nvSpPr>
          <p:spPr>
            <a:xfrm>
              <a:off x="7193977" y="4365506"/>
              <a:ext cx="1676400" cy="369332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Consumption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0692474-BA3D-4EAF-90B7-40C6B4B46D18}"/>
                </a:ext>
              </a:extLst>
            </p:cNvPr>
            <p:cNvSpPr txBox="1"/>
            <p:nvPr/>
          </p:nvSpPr>
          <p:spPr>
            <a:xfrm>
              <a:off x="7193977" y="5857685"/>
              <a:ext cx="1676400" cy="36933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Savings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1EA247E-97D6-4E66-84DE-15C89D47A144}"/>
                </a:ext>
              </a:extLst>
            </p:cNvPr>
            <p:cNvSpPr txBox="1"/>
            <p:nvPr/>
          </p:nvSpPr>
          <p:spPr>
            <a:xfrm>
              <a:off x="7193977" y="5119021"/>
              <a:ext cx="1676400" cy="36933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Direct taxes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AD03B1A-356C-48EE-82C8-84DB4DDC4A92}"/>
                </a:ext>
              </a:extLst>
            </p:cNvPr>
            <p:cNvSpPr txBox="1"/>
            <p:nvPr/>
          </p:nvSpPr>
          <p:spPr>
            <a:xfrm>
              <a:off x="7568627" y="4736989"/>
              <a:ext cx="88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C07AA07-CE0D-4451-BF64-2D432EF3F85F}"/>
                </a:ext>
              </a:extLst>
            </p:cNvPr>
            <p:cNvSpPr txBox="1"/>
            <p:nvPr/>
          </p:nvSpPr>
          <p:spPr>
            <a:xfrm>
              <a:off x="7568627" y="5490504"/>
              <a:ext cx="88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13E7F99-0D4E-49BA-BA52-523BC3384E92}"/>
                </a:ext>
              </a:extLst>
            </p:cNvPr>
            <p:cNvSpPr txBox="1"/>
            <p:nvPr/>
          </p:nvSpPr>
          <p:spPr>
            <a:xfrm>
              <a:off x="7569525" y="3778565"/>
              <a:ext cx="889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=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1776E71-899E-45FD-BA57-02C2081CC3BA}"/>
                </a:ext>
              </a:extLst>
            </p:cNvPr>
            <p:cNvSpPr txBox="1"/>
            <p:nvPr/>
          </p:nvSpPr>
          <p:spPr>
            <a:xfrm rot="16200000">
              <a:off x="5723539" y="5103632"/>
              <a:ext cx="2006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Total spending</a:t>
              </a:r>
            </a:p>
          </p:txBody>
        </p:sp>
        <p:sp>
          <p:nvSpPr>
            <p:cNvPr id="50" name="Left Bracket 49">
              <a:extLst>
                <a:ext uri="{FF2B5EF4-FFF2-40B4-BE49-F238E27FC236}">
                  <a16:creationId xmlns:a16="http://schemas.microsoft.com/office/drawing/2014/main" id="{EAF8422E-0167-4589-A607-F6E4C1732B51}"/>
                </a:ext>
              </a:extLst>
            </p:cNvPr>
            <p:cNvSpPr/>
            <p:nvPr/>
          </p:nvSpPr>
          <p:spPr>
            <a:xfrm>
              <a:off x="6921823" y="4294714"/>
              <a:ext cx="120650" cy="2006579"/>
            </a:xfrm>
            <a:prstGeom prst="leftBracke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871F71A0-5E5C-4F35-9EF2-6643C26990E4}"/>
              </a:ext>
            </a:extLst>
          </p:cNvPr>
          <p:cNvSpPr/>
          <p:nvPr/>
        </p:nvSpPr>
        <p:spPr>
          <a:xfrm>
            <a:off x="1517780" y="2558259"/>
            <a:ext cx="399205" cy="238125"/>
          </a:xfrm>
          <a:prstGeom prst="rect">
            <a:avLst/>
          </a:prstGeom>
          <a:solidFill>
            <a:srgbClr val="C34E2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B65693D-CAAF-4347-A2F6-19F1F0035B8A}"/>
              </a:ext>
            </a:extLst>
          </p:cNvPr>
          <p:cNvSpPr/>
          <p:nvPr/>
        </p:nvSpPr>
        <p:spPr>
          <a:xfrm>
            <a:off x="1919003" y="3048129"/>
            <a:ext cx="399205" cy="23812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9D142E4-ACA2-4B61-A3C8-23146AB1A823}"/>
              </a:ext>
            </a:extLst>
          </p:cNvPr>
          <p:cNvSpPr/>
          <p:nvPr/>
        </p:nvSpPr>
        <p:spPr>
          <a:xfrm>
            <a:off x="1918064" y="3049340"/>
            <a:ext cx="399205" cy="23812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728AD01-AC5E-4159-A785-A524EB57A257}"/>
              </a:ext>
            </a:extLst>
          </p:cNvPr>
          <p:cNvGrpSpPr/>
          <p:nvPr/>
        </p:nvGrpSpPr>
        <p:grpSpPr>
          <a:xfrm>
            <a:off x="4571804" y="1387061"/>
            <a:ext cx="3855051" cy="5273939"/>
            <a:chOff x="6215494" y="1267188"/>
            <a:chExt cx="3855051" cy="5273939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2D71229-171A-4AD2-813A-DE2293824850}"/>
                </a:ext>
              </a:extLst>
            </p:cNvPr>
            <p:cNvSpPr/>
            <p:nvPr/>
          </p:nvSpPr>
          <p:spPr>
            <a:xfrm>
              <a:off x="6215494" y="1267188"/>
              <a:ext cx="1848451" cy="5273939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46B68D4-AADD-41A9-B40B-FBED751AEB63}"/>
                </a:ext>
              </a:extLst>
            </p:cNvPr>
            <p:cNvSpPr txBox="1"/>
            <p:nvPr/>
          </p:nvSpPr>
          <p:spPr>
            <a:xfrm>
              <a:off x="8063945" y="1308506"/>
              <a:ext cx="2006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Government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C96F2DC-4201-42FF-B06F-8981DF1C4076}"/>
                </a:ext>
              </a:extLst>
            </p:cNvPr>
            <p:cNvSpPr txBox="1"/>
            <p:nvPr/>
          </p:nvSpPr>
          <p:spPr>
            <a:xfrm>
              <a:off x="8229045" y="2008430"/>
              <a:ext cx="1676400" cy="36933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Direct taxes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B1F18F8-CB7F-4AC2-A6B8-1142D7BE7FA6}"/>
                </a:ext>
              </a:extLst>
            </p:cNvPr>
            <p:cNvSpPr txBox="1"/>
            <p:nvPr/>
          </p:nvSpPr>
          <p:spPr>
            <a:xfrm>
              <a:off x="8229045" y="2758013"/>
              <a:ext cx="1676400" cy="36933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Indirect taxes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D2C7BBE-3585-4DF5-B46D-04EA6017A3D8}"/>
                </a:ext>
              </a:extLst>
            </p:cNvPr>
            <p:cNvSpPr txBox="1"/>
            <p:nvPr/>
          </p:nvSpPr>
          <p:spPr>
            <a:xfrm>
              <a:off x="8229045" y="3500513"/>
              <a:ext cx="1676400" cy="36933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Grants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8BE9384-C3B1-4010-8E35-197C56A9FC16}"/>
                </a:ext>
              </a:extLst>
            </p:cNvPr>
            <p:cNvSpPr txBox="1"/>
            <p:nvPr/>
          </p:nvSpPr>
          <p:spPr>
            <a:xfrm>
              <a:off x="8622745" y="2381897"/>
              <a:ext cx="88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3C4D993-02A4-4048-98E9-0F49CDDD0B0B}"/>
                </a:ext>
              </a:extLst>
            </p:cNvPr>
            <p:cNvSpPr txBox="1"/>
            <p:nvPr/>
          </p:nvSpPr>
          <p:spPr>
            <a:xfrm>
              <a:off x="8635264" y="3131181"/>
              <a:ext cx="88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646AD308-9165-4EA2-8B4E-EFCEEF0A49E2}"/>
              </a:ext>
            </a:extLst>
          </p:cNvPr>
          <p:cNvSpPr/>
          <p:nvPr/>
        </p:nvSpPr>
        <p:spPr>
          <a:xfrm>
            <a:off x="1116105" y="2804862"/>
            <a:ext cx="399205" cy="23812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90B159E-F6C4-40D8-A02E-F520072E94E1}"/>
              </a:ext>
            </a:extLst>
          </p:cNvPr>
          <p:cNvSpPr/>
          <p:nvPr/>
        </p:nvSpPr>
        <p:spPr>
          <a:xfrm>
            <a:off x="1111617" y="2804863"/>
            <a:ext cx="399205" cy="23812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A2D615D-41C3-4CF9-859C-8F8FE7C042CC}"/>
              </a:ext>
            </a:extLst>
          </p:cNvPr>
          <p:cNvGrpSpPr/>
          <p:nvPr/>
        </p:nvGrpSpPr>
        <p:grpSpPr>
          <a:xfrm>
            <a:off x="6585355" y="4017801"/>
            <a:ext cx="1690692" cy="2439159"/>
            <a:chOff x="8229045" y="3910386"/>
            <a:chExt cx="1690692" cy="2439159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A17FBD3-2095-4C51-82C7-3E19E658D5BF}"/>
                </a:ext>
              </a:extLst>
            </p:cNvPr>
            <p:cNvSpPr txBox="1"/>
            <p:nvPr/>
          </p:nvSpPr>
          <p:spPr>
            <a:xfrm>
              <a:off x="8635264" y="3910386"/>
              <a:ext cx="889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=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A7B15B3-D6AD-42B4-A870-5F971021CE2A}"/>
                </a:ext>
              </a:extLst>
            </p:cNvPr>
            <p:cNvSpPr txBox="1"/>
            <p:nvPr/>
          </p:nvSpPr>
          <p:spPr>
            <a:xfrm>
              <a:off x="8229045" y="4503341"/>
              <a:ext cx="1676400" cy="369332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Consumption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0DCB984-2D96-40EF-82C5-2772A23ECC86}"/>
                </a:ext>
              </a:extLst>
            </p:cNvPr>
            <p:cNvSpPr txBox="1"/>
            <p:nvPr/>
          </p:nvSpPr>
          <p:spPr>
            <a:xfrm>
              <a:off x="8243337" y="5241777"/>
              <a:ext cx="1676400" cy="36933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Transfers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20170A2-8EFF-40FE-8031-A34B944FAF1D}"/>
                </a:ext>
              </a:extLst>
            </p:cNvPr>
            <p:cNvSpPr txBox="1"/>
            <p:nvPr/>
          </p:nvSpPr>
          <p:spPr>
            <a:xfrm>
              <a:off x="8243337" y="5980213"/>
              <a:ext cx="1676400" cy="36933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Savings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A22F7BF-24D6-4DEE-9E7F-FD4F52B4FAFA}"/>
                </a:ext>
              </a:extLst>
            </p:cNvPr>
            <p:cNvSpPr txBox="1"/>
            <p:nvPr/>
          </p:nvSpPr>
          <p:spPr>
            <a:xfrm>
              <a:off x="8635264" y="4863277"/>
              <a:ext cx="88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9AFD21E-1996-493F-BB26-6252C3DB260F}"/>
                </a:ext>
              </a:extLst>
            </p:cNvPr>
            <p:cNvSpPr txBox="1"/>
            <p:nvPr/>
          </p:nvSpPr>
          <p:spPr>
            <a:xfrm>
              <a:off x="8635264" y="5616792"/>
              <a:ext cx="88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E4BC84E3-5A1C-46B1-B9AE-E35F83E8843B}"/>
              </a:ext>
            </a:extLst>
          </p:cNvPr>
          <p:cNvSpPr/>
          <p:nvPr/>
        </p:nvSpPr>
        <p:spPr>
          <a:xfrm>
            <a:off x="2318365" y="2072227"/>
            <a:ext cx="399205" cy="238125"/>
          </a:xfrm>
          <a:prstGeom prst="rect">
            <a:avLst/>
          </a:prstGeom>
          <a:solidFill>
            <a:srgbClr val="5C8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6716C2D-AACC-48AC-B0BF-A2EF6630B64B}"/>
              </a:ext>
            </a:extLst>
          </p:cNvPr>
          <p:cNvSpPr/>
          <p:nvPr/>
        </p:nvSpPr>
        <p:spPr>
          <a:xfrm>
            <a:off x="3126731" y="2804688"/>
            <a:ext cx="399205" cy="23812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86E42ED-B020-42D5-AAA3-17D2A72BA675}"/>
              </a:ext>
            </a:extLst>
          </p:cNvPr>
          <p:cNvSpPr/>
          <p:nvPr/>
        </p:nvSpPr>
        <p:spPr>
          <a:xfrm>
            <a:off x="3126586" y="2806137"/>
            <a:ext cx="399205" cy="23812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BD61D49-81F0-4D83-A7A0-A271E7579767}"/>
              </a:ext>
            </a:extLst>
          </p:cNvPr>
          <p:cNvSpPr/>
          <p:nvPr/>
        </p:nvSpPr>
        <p:spPr>
          <a:xfrm>
            <a:off x="2324810" y="3048671"/>
            <a:ext cx="399205" cy="23812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E40AAA9-A1FF-4E19-BE05-FA8ADBAA8F3B}"/>
              </a:ext>
            </a:extLst>
          </p:cNvPr>
          <p:cNvSpPr/>
          <p:nvPr/>
        </p:nvSpPr>
        <p:spPr>
          <a:xfrm>
            <a:off x="2323486" y="3050658"/>
            <a:ext cx="399205" cy="23812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AD60040-B64A-4F34-BC1F-DCF58E4EA614}"/>
              </a:ext>
            </a:extLst>
          </p:cNvPr>
          <p:cNvSpPr/>
          <p:nvPr/>
        </p:nvSpPr>
        <p:spPr>
          <a:xfrm>
            <a:off x="3122605" y="3052512"/>
            <a:ext cx="399205" cy="238125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228EE5D-338B-4230-ACFD-4D7F05FD09A1}"/>
              </a:ext>
            </a:extLst>
          </p:cNvPr>
          <p:cNvSpPr/>
          <p:nvPr/>
        </p:nvSpPr>
        <p:spPr>
          <a:xfrm>
            <a:off x="3124457" y="3052429"/>
            <a:ext cx="399205" cy="23812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910F769-B3B8-4136-9FBA-063B6F57C51D}"/>
              </a:ext>
            </a:extLst>
          </p:cNvPr>
          <p:cNvGrpSpPr/>
          <p:nvPr/>
        </p:nvGrpSpPr>
        <p:grpSpPr>
          <a:xfrm>
            <a:off x="8506707" y="4026877"/>
            <a:ext cx="1676400" cy="943815"/>
            <a:chOff x="8563857" y="4026877"/>
            <a:chExt cx="1676400" cy="94381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05BD439-ACBD-48ED-93C0-20FD79EB9720}"/>
                </a:ext>
              </a:extLst>
            </p:cNvPr>
            <p:cNvSpPr txBox="1"/>
            <p:nvPr/>
          </p:nvSpPr>
          <p:spPr>
            <a:xfrm>
              <a:off x="8563857" y="4601360"/>
              <a:ext cx="1676400" cy="369332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Investment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5FCB579-7E13-428D-BC3D-8C4872E77F49}"/>
                </a:ext>
              </a:extLst>
            </p:cNvPr>
            <p:cNvSpPr txBox="1"/>
            <p:nvPr/>
          </p:nvSpPr>
          <p:spPr>
            <a:xfrm>
              <a:off x="8957557" y="4026877"/>
              <a:ext cx="889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=</a:t>
              </a:r>
            </a:p>
          </p:txBody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EC228781-6B36-4204-B470-48970A670C3D}"/>
              </a:ext>
            </a:extLst>
          </p:cNvPr>
          <p:cNvSpPr/>
          <p:nvPr/>
        </p:nvSpPr>
        <p:spPr>
          <a:xfrm>
            <a:off x="6493156" y="1389907"/>
            <a:ext cx="1848451" cy="527393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549A75DC-3968-4F3C-8DAF-7F40E3349623}"/>
              </a:ext>
            </a:extLst>
          </p:cNvPr>
          <p:cNvGrpSpPr/>
          <p:nvPr/>
        </p:nvGrpSpPr>
        <p:grpSpPr>
          <a:xfrm>
            <a:off x="8341607" y="1431225"/>
            <a:ext cx="2006600" cy="2561339"/>
            <a:chOff x="8341607" y="1431225"/>
            <a:chExt cx="2006600" cy="2561339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7879466-1C12-4EC7-B287-F63064931575}"/>
                </a:ext>
              </a:extLst>
            </p:cNvPr>
            <p:cNvSpPr txBox="1"/>
            <p:nvPr/>
          </p:nvSpPr>
          <p:spPr>
            <a:xfrm>
              <a:off x="8341607" y="1431225"/>
              <a:ext cx="2006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Investment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DCCC072-7D05-415B-BA42-B04DF32A98CB}"/>
                </a:ext>
              </a:extLst>
            </p:cNvPr>
            <p:cNvSpPr txBox="1"/>
            <p:nvPr/>
          </p:nvSpPr>
          <p:spPr>
            <a:xfrm>
              <a:off x="8506707" y="2131149"/>
              <a:ext cx="1676400" cy="36933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Private savings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2AFA173-41C5-49C3-B25D-27FACA8BF259}"/>
                </a:ext>
              </a:extLst>
            </p:cNvPr>
            <p:cNvSpPr txBox="1"/>
            <p:nvPr/>
          </p:nvSpPr>
          <p:spPr>
            <a:xfrm>
              <a:off x="8506707" y="2880732"/>
              <a:ext cx="1676400" cy="36933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Public savings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E4A1B39-B2C0-442A-AE52-6EB5F8AF8688}"/>
                </a:ext>
              </a:extLst>
            </p:cNvPr>
            <p:cNvSpPr txBox="1"/>
            <p:nvPr/>
          </p:nvSpPr>
          <p:spPr>
            <a:xfrm>
              <a:off x="8506707" y="3623232"/>
              <a:ext cx="1676400" cy="36933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Foreign savings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F057F43-1D6B-4750-A9C2-6BD2AA092267}"/>
                </a:ext>
              </a:extLst>
            </p:cNvPr>
            <p:cNvSpPr txBox="1"/>
            <p:nvPr/>
          </p:nvSpPr>
          <p:spPr>
            <a:xfrm>
              <a:off x="8900407" y="2504616"/>
              <a:ext cx="88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0CA1ABF-5E19-4050-B3A3-BBDBBFC85B69}"/>
                </a:ext>
              </a:extLst>
            </p:cNvPr>
            <p:cNvSpPr txBox="1"/>
            <p:nvPr/>
          </p:nvSpPr>
          <p:spPr>
            <a:xfrm>
              <a:off x="8912926" y="3253900"/>
              <a:ext cx="88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77AB002-1EAE-4B1E-AEEC-C7114D273BAF}"/>
              </a:ext>
            </a:extLst>
          </p:cNvPr>
          <p:cNvSpPr/>
          <p:nvPr/>
        </p:nvSpPr>
        <p:spPr>
          <a:xfrm>
            <a:off x="2729222" y="2074018"/>
            <a:ext cx="399205" cy="238125"/>
          </a:xfrm>
          <a:prstGeom prst="rect">
            <a:avLst/>
          </a:prstGeom>
          <a:solidFill>
            <a:srgbClr val="5C8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9F41613-DE18-4717-BE36-1D9397DC8F75}"/>
              </a:ext>
            </a:extLst>
          </p:cNvPr>
          <p:cNvGrpSpPr/>
          <p:nvPr/>
        </p:nvGrpSpPr>
        <p:grpSpPr>
          <a:xfrm>
            <a:off x="10229375" y="1422149"/>
            <a:ext cx="2006600" cy="3548543"/>
            <a:chOff x="12118697" y="1428379"/>
            <a:chExt cx="2006600" cy="3548543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48CD8574-4796-452C-879F-FED33B657346}"/>
                </a:ext>
              </a:extLst>
            </p:cNvPr>
            <p:cNvGrpSpPr/>
            <p:nvPr/>
          </p:nvGrpSpPr>
          <p:grpSpPr>
            <a:xfrm>
              <a:off x="12283797" y="4033107"/>
              <a:ext cx="1676400" cy="943815"/>
              <a:chOff x="8563857" y="4026877"/>
              <a:chExt cx="1676400" cy="943815"/>
            </a:xfrm>
          </p:grpSpPr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01CCF82-B33E-4675-A1D7-7C9986E70F9B}"/>
                  </a:ext>
                </a:extLst>
              </p:cNvPr>
              <p:cNvSpPr txBox="1"/>
              <p:nvPr/>
            </p:nvSpPr>
            <p:spPr>
              <a:xfrm>
                <a:off x="8563857" y="4601360"/>
                <a:ext cx="1676400" cy="369332"/>
              </a:xfrm>
              <a:prstGeom prst="rect">
                <a:avLst/>
              </a:prstGeom>
              <a:solidFill>
                <a:srgbClr val="FFB300"/>
              </a:solidFill>
              <a:ln>
                <a:noFill/>
              </a:ln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Imports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8CC501F-ADFA-4BA5-96EC-DC991882CEAD}"/>
                  </a:ext>
                </a:extLst>
              </p:cNvPr>
              <p:cNvSpPr txBox="1"/>
              <p:nvPr/>
            </p:nvSpPr>
            <p:spPr>
              <a:xfrm>
                <a:off x="8957557" y="4026877"/>
                <a:ext cx="889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=</a:t>
                </a: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6B96164-CC5B-4B37-86FF-F6C384F04B59}"/>
                </a:ext>
              </a:extLst>
            </p:cNvPr>
            <p:cNvSpPr txBox="1"/>
            <p:nvPr/>
          </p:nvSpPr>
          <p:spPr>
            <a:xfrm>
              <a:off x="12118697" y="1428379"/>
              <a:ext cx="2006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World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6AEE94D-B0FA-4FBA-BEF8-1B40D073E5CA}"/>
                </a:ext>
              </a:extLst>
            </p:cNvPr>
            <p:cNvSpPr txBox="1"/>
            <p:nvPr/>
          </p:nvSpPr>
          <p:spPr>
            <a:xfrm>
              <a:off x="12283797" y="2128303"/>
              <a:ext cx="1676400" cy="369332"/>
            </a:xfrm>
            <a:prstGeom prst="rect">
              <a:avLst/>
            </a:prstGeom>
            <a:solidFill>
              <a:srgbClr val="FFB30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Exports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F2FA92F-EC83-4561-AE4D-EB87F485E81C}"/>
                </a:ext>
              </a:extLst>
            </p:cNvPr>
            <p:cNvSpPr txBox="1"/>
            <p:nvPr/>
          </p:nvSpPr>
          <p:spPr>
            <a:xfrm>
              <a:off x="12283797" y="2877886"/>
              <a:ext cx="1676400" cy="36933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Grants + Remit.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4B6186D-5C3B-445C-9D56-CC97FD5F726A}"/>
                </a:ext>
              </a:extLst>
            </p:cNvPr>
            <p:cNvSpPr txBox="1"/>
            <p:nvPr/>
          </p:nvSpPr>
          <p:spPr>
            <a:xfrm>
              <a:off x="12283797" y="3620386"/>
              <a:ext cx="1676400" cy="36933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Foreign savings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7DC94FE-5248-4737-AF18-5BBF9A1790A0}"/>
                </a:ext>
              </a:extLst>
            </p:cNvPr>
            <p:cNvSpPr txBox="1"/>
            <p:nvPr/>
          </p:nvSpPr>
          <p:spPr>
            <a:xfrm>
              <a:off x="12677497" y="2501770"/>
              <a:ext cx="88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70AD0586-A2ED-4F82-A4FF-3BFB033377A5}"/>
                </a:ext>
              </a:extLst>
            </p:cNvPr>
            <p:cNvSpPr txBox="1"/>
            <p:nvPr/>
          </p:nvSpPr>
          <p:spPr>
            <a:xfrm>
              <a:off x="12690016" y="3251054"/>
              <a:ext cx="88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</p:grp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26D82B3-CA65-431D-A565-15CE7BC00706}"/>
              </a:ext>
            </a:extLst>
          </p:cNvPr>
          <p:cNvSpPr/>
          <p:nvPr/>
        </p:nvSpPr>
        <p:spPr>
          <a:xfrm>
            <a:off x="1122495" y="3295634"/>
            <a:ext cx="399205" cy="238125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49592BD-45A7-4FAB-8C5A-715E279EE449}"/>
              </a:ext>
            </a:extLst>
          </p:cNvPr>
          <p:cNvSpPr/>
          <p:nvPr/>
        </p:nvSpPr>
        <p:spPr>
          <a:xfrm>
            <a:off x="3122211" y="2081460"/>
            <a:ext cx="399205" cy="238125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14">
            <a:extLst>
              <a:ext uri="{FF2B5EF4-FFF2-40B4-BE49-F238E27FC236}">
                <a16:creationId xmlns:a16="http://schemas.microsoft.com/office/drawing/2014/main" id="{426A0632-4C69-4295-A68D-56BFA407142F}"/>
              </a:ext>
            </a:extLst>
          </p:cNvPr>
          <p:cNvGraphicFramePr>
            <a:graphicFrameLocks noGrp="1"/>
          </p:cNvGraphicFramePr>
          <p:nvPr/>
        </p:nvGraphicFramePr>
        <p:xfrm>
          <a:off x="310197" y="1582546"/>
          <a:ext cx="3616641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1849">
                  <a:extLst>
                    <a:ext uri="{9D8B030D-6E8A-4147-A177-3AD203B41FA5}">
                      <a16:colId xmlns:a16="http://schemas.microsoft.com/office/drawing/2014/main" val="3066416653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2390178515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2723883678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244517278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3058675632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1778176030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4111222252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479483401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1893929709"/>
                    </a:ext>
                  </a:extLst>
                </a:gridCol>
              </a:tblGrid>
              <a:tr h="239425"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169226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68128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97440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459157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614760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443015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840230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64448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011649"/>
                  </a:ext>
                </a:extLst>
              </a:tr>
            </a:tbl>
          </a:graphicData>
        </a:graphic>
      </p:graphicFrame>
      <p:sp>
        <p:nvSpPr>
          <p:cNvPr id="106" name="Rectangle 105">
            <a:extLst>
              <a:ext uri="{FF2B5EF4-FFF2-40B4-BE49-F238E27FC236}">
                <a16:creationId xmlns:a16="http://schemas.microsoft.com/office/drawing/2014/main" id="{41961637-4DA3-455F-9D06-9C16A0419BB2}"/>
              </a:ext>
            </a:extLst>
          </p:cNvPr>
          <p:cNvSpPr/>
          <p:nvPr/>
        </p:nvSpPr>
        <p:spPr>
          <a:xfrm>
            <a:off x="8394049" y="1355594"/>
            <a:ext cx="1848451" cy="527393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2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137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8" grpId="0" animBg="1"/>
      <p:bldP spid="39" grpId="0" animBg="1"/>
      <p:bldP spid="39" grpId="1" animBg="1"/>
      <p:bldP spid="40" grpId="0" animBg="1"/>
      <p:bldP spid="41" grpId="0" animBg="1"/>
      <p:bldP spid="41" grpId="1" animBg="1"/>
      <p:bldP spid="42" grpId="0" animBg="1"/>
      <p:bldP spid="43" grpId="0" animBg="1"/>
      <p:bldP spid="43" grpId="1" animBg="1"/>
      <p:bldP spid="44" grpId="0" animBg="1"/>
      <p:bldP spid="44" grpId="1" animBg="1"/>
      <p:bldP spid="44" grpId="2" animBg="1"/>
      <p:bldP spid="54" grpId="0" animBg="1"/>
      <p:bldP spid="55" grpId="0" animBg="1"/>
      <p:bldP spid="55" grpId="1" animBg="1"/>
      <p:bldP spid="56" grpId="0" animBg="1"/>
      <p:bldP spid="66" grpId="0" animBg="1"/>
      <p:bldP spid="67" grpId="0" animBg="1"/>
      <p:bldP spid="67" grpId="1" animBg="1"/>
      <p:bldP spid="73" grpId="0" animBg="1"/>
      <p:bldP spid="73" grpId="1" animBg="1"/>
      <p:bldP spid="76" grpId="0" animBg="1"/>
      <p:bldP spid="77" grpId="0" animBg="1"/>
      <p:bldP spid="77" grpId="1" animBg="1"/>
      <p:bldP spid="78" grpId="0" animBg="1"/>
      <p:bldP spid="79" grpId="0" animBg="1"/>
      <p:bldP spid="79" grpId="1" animBg="1"/>
      <p:bldP spid="80" grpId="0" animBg="1"/>
      <p:bldP spid="81" grpId="0" animBg="1"/>
      <p:bldP spid="81" grpId="1" animBg="1"/>
      <p:bldP spid="85" grpId="0" animBg="1"/>
      <p:bldP spid="85" grpId="1" animBg="1"/>
      <p:bldP spid="85" grpId="2" animBg="1"/>
      <p:bldP spid="101" grpId="0" animBg="1"/>
      <p:bldP spid="101" grpId="1" animBg="1"/>
      <p:bldP spid="119" grpId="0" animBg="1"/>
      <p:bldP spid="119" grpId="1" animBg="1"/>
      <p:bldP spid="120" grpId="0" animBg="1"/>
      <p:bldP spid="120" grpId="1" animBg="1"/>
      <p:bldP spid="106" grpId="0" animBg="1"/>
      <p:bldP spid="106" grpId="1" animBg="1"/>
      <p:bldP spid="106" grpId="2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 114">
            <a:extLst>
              <a:ext uri="{FF2B5EF4-FFF2-40B4-BE49-F238E27FC236}">
                <a16:creationId xmlns:a16="http://schemas.microsoft.com/office/drawing/2014/main" id="{1109643C-8965-48AA-801E-825AEFB3FC83}"/>
              </a:ext>
            </a:extLst>
          </p:cNvPr>
          <p:cNvGraphicFramePr>
            <a:graphicFrameLocks noGrp="1"/>
          </p:cNvGraphicFramePr>
          <p:nvPr/>
        </p:nvGraphicFramePr>
        <p:xfrm>
          <a:off x="7989851" y="278551"/>
          <a:ext cx="3616641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1849">
                  <a:extLst>
                    <a:ext uri="{9D8B030D-6E8A-4147-A177-3AD203B41FA5}">
                      <a16:colId xmlns:a16="http://schemas.microsoft.com/office/drawing/2014/main" val="3066416653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2390178515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2723883678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244517278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3058675632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1778176030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4111222252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479483401"/>
                    </a:ext>
                  </a:extLst>
                </a:gridCol>
                <a:gridCol w="401849">
                  <a:extLst>
                    <a:ext uri="{9D8B030D-6E8A-4147-A177-3AD203B41FA5}">
                      <a16:colId xmlns:a16="http://schemas.microsoft.com/office/drawing/2014/main" val="1893929709"/>
                    </a:ext>
                  </a:extLst>
                </a:gridCol>
              </a:tblGrid>
              <a:tr h="239425"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169226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68128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97440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459157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614760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443015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840230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644482"/>
                  </a:ext>
                </a:extLst>
              </a:tr>
              <a:tr h="23942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01164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78CD3E9-0BC7-4896-B330-D78F09447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1" y="128826"/>
            <a:ext cx="6783284" cy="828743"/>
          </a:xfrm>
        </p:spPr>
        <p:txBody>
          <a:bodyPr>
            <a:normAutofit/>
          </a:bodyPr>
          <a:lstStyle/>
          <a:p>
            <a:r>
              <a:rPr lang="en-US" dirty="0"/>
              <a:t>Macroeconomy  </a:t>
            </a:r>
            <a:r>
              <a:rPr lang="en-US" b="0" dirty="0"/>
              <a:t>|  Closure 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08F275-134A-48F4-ADE7-7C3AA9D975FD}"/>
              </a:ext>
            </a:extLst>
          </p:cNvPr>
          <p:cNvSpPr txBox="1"/>
          <p:nvPr/>
        </p:nvSpPr>
        <p:spPr>
          <a:xfrm>
            <a:off x="6538334" y="730649"/>
            <a:ext cx="14515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200" b="1" dirty="0"/>
              <a:t>A</a:t>
            </a:r>
            <a:r>
              <a:rPr lang="en-US" sz="1200" dirty="0"/>
              <a:t>	= Activities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C	</a:t>
            </a:r>
            <a:r>
              <a:rPr lang="en-US" sz="1200" dirty="0"/>
              <a:t>= Commodities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F	</a:t>
            </a:r>
            <a:r>
              <a:rPr lang="en-US" sz="1200" dirty="0"/>
              <a:t>= Factors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H	</a:t>
            </a:r>
            <a:r>
              <a:rPr lang="en-US" sz="1200" dirty="0"/>
              <a:t>= Households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G	</a:t>
            </a:r>
            <a:r>
              <a:rPr lang="en-US" sz="1200" dirty="0"/>
              <a:t>= Government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I	</a:t>
            </a:r>
            <a:r>
              <a:rPr lang="en-US" sz="1200" dirty="0"/>
              <a:t>= Investment</a:t>
            </a:r>
          </a:p>
          <a:p>
            <a:pPr>
              <a:tabLst>
                <a:tab pos="285750" algn="l"/>
              </a:tabLst>
            </a:pPr>
            <a:r>
              <a:rPr lang="en-US" sz="1200" b="1" dirty="0"/>
              <a:t>W</a:t>
            </a:r>
            <a:r>
              <a:rPr lang="en-US" sz="1200" dirty="0"/>
              <a:t>	= Rest of world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D852A3-7D76-4C0F-A1BE-0AC0CEBAC92A}"/>
              </a:ext>
            </a:extLst>
          </p:cNvPr>
          <p:cNvSpPr/>
          <p:nvPr/>
        </p:nvSpPr>
        <p:spPr>
          <a:xfrm>
            <a:off x="8795898" y="1992247"/>
            <a:ext cx="399205" cy="238125"/>
          </a:xfrm>
          <a:prstGeom prst="rect">
            <a:avLst/>
          </a:prstGeom>
          <a:solidFill>
            <a:srgbClr val="0B8E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3D0254-4CD9-4FEF-9FAE-07DFC39FCDCA}"/>
              </a:ext>
            </a:extLst>
          </p:cNvPr>
          <p:cNvSpPr/>
          <p:nvPr/>
        </p:nvSpPr>
        <p:spPr>
          <a:xfrm>
            <a:off x="9597571" y="1746004"/>
            <a:ext cx="399205" cy="238125"/>
          </a:xfrm>
          <a:prstGeom prst="rect">
            <a:avLst/>
          </a:prstGeom>
          <a:solidFill>
            <a:srgbClr val="5C8E3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61BB37-28BA-4807-A582-F0CC4288A971}"/>
              </a:ext>
            </a:extLst>
          </p:cNvPr>
          <p:cNvSpPr/>
          <p:nvPr/>
        </p:nvSpPr>
        <p:spPr>
          <a:xfrm>
            <a:off x="8795898" y="1494801"/>
            <a:ext cx="399205" cy="238125"/>
          </a:xfrm>
          <a:prstGeom prst="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CF6BDB1-9F3C-49A0-A0A6-0178CC5891B7}"/>
              </a:ext>
            </a:extLst>
          </p:cNvPr>
          <p:cNvSpPr/>
          <p:nvPr/>
        </p:nvSpPr>
        <p:spPr>
          <a:xfrm>
            <a:off x="9598568" y="1494801"/>
            <a:ext cx="399205" cy="238125"/>
          </a:xfrm>
          <a:prstGeom prst="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642E1E3-FC8D-4298-972A-831F7E05BAB0}"/>
              </a:ext>
            </a:extLst>
          </p:cNvPr>
          <p:cNvSpPr/>
          <p:nvPr/>
        </p:nvSpPr>
        <p:spPr>
          <a:xfrm>
            <a:off x="10809898" y="1494801"/>
            <a:ext cx="399205" cy="238125"/>
          </a:xfrm>
          <a:prstGeom prst="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B35AEFC-9D0E-4801-86CB-F29626AEE0C2}"/>
              </a:ext>
            </a:extLst>
          </p:cNvPr>
          <p:cNvSpPr/>
          <p:nvPr/>
        </p:nvSpPr>
        <p:spPr>
          <a:xfrm>
            <a:off x="9997773" y="767614"/>
            <a:ext cx="399205" cy="238125"/>
          </a:xfrm>
          <a:prstGeom prst="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0C23028-B82C-41F0-B8CB-C77A8FD30927}"/>
              </a:ext>
            </a:extLst>
          </p:cNvPr>
          <p:cNvSpPr/>
          <p:nvPr/>
        </p:nvSpPr>
        <p:spPr>
          <a:xfrm>
            <a:off x="10004636" y="1256768"/>
            <a:ext cx="399205" cy="238125"/>
          </a:xfrm>
          <a:prstGeom prst="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FBA733F-A2B3-44AD-A0B7-32E80624939D}"/>
              </a:ext>
            </a:extLst>
          </p:cNvPr>
          <p:cNvSpPr/>
          <p:nvPr/>
        </p:nvSpPr>
        <p:spPr>
          <a:xfrm>
            <a:off x="10008224" y="1749717"/>
            <a:ext cx="399205" cy="238125"/>
          </a:xfrm>
          <a:prstGeom prst="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9D68F9E-153F-4A8C-8475-2B6534DAB25E}"/>
              </a:ext>
            </a:extLst>
          </p:cNvPr>
          <p:cNvSpPr/>
          <p:nvPr/>
        </p:nvSpPr>
        <p:spPr>
          <a:xfrm>
            <a:off x="10809897" y="767614"/>
            <a:ext cx="399205" cy="238125"/>
          </a:xfrm>
          <a:prstGeom prst="rect">
            <a:avLst/>
          </a:prstGeom>
          <a:solidFill>
            <a:srgbClr val="0B8E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462D142-6277-49D7-9019-26263CE2C819}"/>
              </a:ext>
            </a:extLst>
          </p:cNvPr>
          <p:cNvSpPr/>
          <p:nvPr/>
        </p:nvSpPr>
        <p:spPr>
          <a:xfrm>
            <a:off x="10805564" y="1258034"/>
            <a:ext cx="399205" cy="238125"/>
          </a:xfrm>
          <a:prstGeom prst="rect">
            <a:avLst/>
          </a:prstGeom>
          <a:solidFill>
            <a:srgbClr val="0B8E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7032885-ED5A-4656-BA14-30C30865C9A5}"/>
              </a:ext>
            </a:extLst>
          </p:cNvPr>
          <p:cNvSpPr/>
          <p:nvPr/>
        </p:nvSpPr>
        <p:spPr>
          <a:xfrm>
            <a:off x="10805563" y="1745831"/>
            <a:ext cx="399205" cy="238125"/>
          </a:xfrm>
          <a:prstGeom prst="rect">
            <a:avLst/>
          </a:prstGeom>
          <a:solidFill>
            <a:srgbClr val="0B8E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8F407D7-3716-4EDA-BD85-31902551D376}"/>
              </a:ext>
            </a:extLst>
          </p:cNvPr>
          <p:cNvSpPr/>
          <p:nvPr/>
        </p:nvSpPr>
        <p:spPr>
          <a:xfrm>
            <a:off x="10403835" y="767613"/>
            <a:ext cx="399205" cy="238125"/>
          </a:xfrm>
          <a:prstGeom prst="rect">
            <a:avLst/>
          </a:prstGeom>
          <a:solidFill>
            <a:srgbClr val="5C8E3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1F92AEF-1FB7-45BA-BC21-13B3665944E9}"/>
              </a:ext>
            </a:extLst>
          </p:cNvPr>
          <p:cNvGrpSpPr/>
          <p:nvPr/>
        </p:nvGrpSpPr>
        <p:grpSpPr>
          <a:xfrm>
            <a:off x="314010" y="2709878"/>
            <a:ext cx="11679545" cy="3974968"/>
            <a:chOff x="319812" y="2701393"/>
            <a:chExt cx="11679545" cy="397496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F66E5B5C-A879-4D3C-9995-3E254DE3C1F0}"/>
                </a:ext>
              </a:extLst>
            </p:cNvPr>
            <p:cNvGrpSpPr/>
            <p:nvPr/>
          </p:nvGrpSpPr>
          <p:grpSpPr>
            <a:xfrm>
              <a:off x="319812" y="2701393"/>
              <a:ext cx="10640966" cy="3974968"/>
              <a:chOff x="337147" y="2649343"/>
              <a:chExt cx="10640966" cy="3974968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1AC8FD50-0E12-4C95-A509-E6899411BC91}"/>
                  </a:ext>
                </a:extLst>
              </p:cNvPr>
              <p:cNvGrpSpPr/>
              <p:nvPr/>
            </p:nvGrpSpPr>
            <p:grpSpPr>
              <a:xfrm>
                <a:off x="337147" y="2649343"/>
                <a:ext cx="10640966" cy="1214622"/>
                <a:chOff x="457511" y="5261050"/>
                <a:chExt cx="10640966" cy="1214622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2E9C478F-0D6C-40AF-8EA4-71CF48520935}"/>
                    </a:ext>
                  </a:extLst>
                </p:cNvPr>
                <p:cNvSpPr/>
                <p:nvPr/>
              </p:nvSpPr>
              <p:spPr>
                <a:xfrm>
                  <a:off x="457511" y="5261050"/>
                  <a:ext cx="10640966" cy="1214622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E6328CD-C1F9-4CD2-ADC3-7014179B58D9}"/>
                    </a:ext>
                  </a:extLst>
                </p:cNvPr>
                <p:cNvSpPr txBox="1"/>
                <p:nvPr/>
              </p:nvSpPr>
              <p:spPr>
                <a:xfrm>
                  <a:off x="656953" y="5971691"/>
                  <a:ext cx="1350781" cy="338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Direct taxes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E7B6AA5-6A42-48BE-8DD2-5A260A57A454}"/>
                    </a:ext>
                  </a:extLst>
                </p:cNvPr>
                <p:cNvSpPr txBox="1"/>
                <p:nvPr/>
              </p:nvSpPr>
              <p:spPr>
                <a:xfrm>
                  <a:off x="2361711" y="5966546"/>
                  <a:ext cx="1350781" cy="338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Indirect taxes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B22E574-01AD-49FF-8E0F-96AF843729D0}"/>
                    </a:ext>
                  </a:extLst>
                </p:cNvPr>
                <p:cNvSpPr txBox="1"/>
                <p:nvPr/>
              </p:nvSpPr>
              <p:spPr>
                <a:xfrm>
                  <a:off x="4067160" y="5967680"/>
                  <a:ext cx="1350781" cy="338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Grants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51D78B6-01B9-480C-9FE3-92951CA1900B}"/>
                    </a:ext>
                  </a:extLst>
                </p:cNvPr>
                <p:cNvSpPr txBox="1"/>
                <p:nvPr/>
              </p:nvSpPr>
              <p:spPr>
                <a:xfrm>
                  <a:off x="2007043" y="5951157"/>
                  <a:ext cx="3553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1054F3D-E112-41D1-B3CC-D3316740AAEE}"/>
                    </a:ext>
                  </a:extLst>
                </p:cNvPr>
                <p:cNvSpPr txBox="1"/>
                <p:nvPr/>
              </p:nvSpPr>
              <p:spPr>
                <a:xfrm>
                  <a:off x="3712147" y="5945934"/>
                  <a:ext cx="3553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7BED0AE9-4E8A-4F22-8BB3-2B4E828002C2}"/>
                    </a:ext>
                  </a:extLst>
                </p:cNvPr>
                <p:cNvSpPr txBox="1"/>
                <p:nvPr/>
              </p:nvSpPr>
              <p:spPr>
                <a:xfrm>
                  <a:off x="6098670" y="5976712"/>
                  <a:ext cx="1350781" cy="338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Consumption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01B0163-57B3-45AE-B8F3-460C193235A4}"/>
                    </a:ext>
                  </a:extLst>
                </p:cNvPr>
                <p:cNvSpPr txBox="1"/>
                <p:nvPr/>
              </p:nvSpPr>
              <p:spPr>
                <a:xfrm>
                  <a:off x="7803428" y="5971567"/>
                  <a:ext cx="1350781" cy="338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Transfers</a:t>
                  </a: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31D61E79-BBCC-4D6E-84FB-6CC01396D793}"/>
                    </a:ext>
                  </a:extLst>
                </p:cNvPr>
                <p:cNvSpPr txBox="1"/>
                <p:nvPr/>
              </p:nvSpPr>
              <p:spPr>
                <a:xfrm>
                  <a:off x="9508877" y="5972701"/>
                  <a:ext cx="1350781" cy="338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Public saving</a:t>
                  </a: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09898BE-25D1-43FE-8CF1-BC4CFFB01CAE}"/>
                    </a:ext>
                  </a:extLst>
                </p:cNvPr>
                <p:cNvSpPr txBox="1"/>
                <p:nvPr/>
              </p:nvSpPr>
              <p:spPr>
                <a:xfrm>
                  <a:off x="7448760" y="5956178"/>
                  <a:ext cx="3553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EB91354-DA4C-4A45-99C3-8DAA2B0FC132}"/>
                    </a:ext>
                  </a:extLst>
                </p:cNvPr>
                <p:cNvSpPr txBox="1"/>
                <p:nvPr/>
              </p:nvSpPr>
              <p:spPr>
                <a:xfrm>
                  <a:off x="9153864" y="5950955"/>
                  <a:ext cx="3553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+</a:t>
                  </a: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E7BB5E9-1563-4CAB-978B-CC8A207C0ABF}"/>
                    </a:ext>
                  </a:extLst>
                </p:cNvPr>
                <p:cNvSpPr txBox="1"/>
                <p:nvPr/>
              </p:nvSpPr>
              <p:spPr>
                <a:xfrm>
                  <a:off x="5594238" y="5899767"/>
                  <a:ext cx="35535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=</a:t>
                  </a: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68AFBA06-BEBC-49D8-8F36-169999946D45}"/>
                    </a:ext>
                  </a:extLst>
                </p:cNvPr>
                <p:cNvSpPr txBox="1"/>
                <p:nvPr/>
              </p:nvSpPr>
              <p:spPr>
                <a:xfrm>
                  <a:off x="457511" y="5272186"/>
                  <a:ext cx="7481379" cy="8694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Government</a:t>
                  </a:r>
                </a:p>
                <a:p>
                  <a:r>
                    <a:rPr lang="en-US" sz="1050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Recurrent fiscal deficit (savings) equals total revenues (taxes and grants) less total expenditures (consumption and transfers)</a:t>
                  </a:r>
                </a:p>
                <a:p>
                  <a:endParaRPr lang="en-US" sz="2000" b="1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F58FB75C-2070-432D-AD7E-6B6166CA6DA8}"/>
                  </a:ext>
                </a:extLst>
              </p:cNvPr>
              <p:cNvGrpSpPr/>
              <p:nvPr/>
            </p:nvGrpSpPr>
            <p:grpSpPr>
              <a:xfrm>
                <a:off x="337147" y="4029516"/>
                <a:ext cx="8897860" cy="1214622"/>
                <a:chOff x="457511" y="5261050"/>
                <a:chExt cx="8897860" cy="1214622"/>
              </a:xfrm>
            </p:grpSpPr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B9252D3F-7EA5-40E0-B390-B5A091855870}"/>
                    </a:ext>
                  </a:extLst>
                </p:cNvPr>
                <p:cNvSpPr/>
                <p:nvPr/>
              </p:nvSpPr>
              <p:spPr>
                <a:xfrm>
                  <a:off x="457511" y="5261050"/>
                  <a:ext cx="8897860" cy="1214622"/>
                </a:xfrm>
                <a:prstGeom prst="rect">
                  <a:avLst/>
                </a:prstGeom>
                <a:solidFill>
                  <a:srgbClr val="0B8EB8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67F2F674-BC50-4E7E-9B29-AF80C9F2BDB4}"/>
                    </a:ext>
                  </a:extLst>
                </p:cNvPr>
                <p:cNvSpPr txBox="1"/>
                <p:nvPr/>
              </p:nvSpPr>
              <p:spPr>
                <a:xfrm>
                  <a:off x="656953" y="5971691"/>
                  <a:ext cx="1350781" cy="338554"/>
                </a:xfrm>
                <a:prstGeom prst="rect">
                  <a:avLst/>
                </a:prstGeom>
                <a:solidFill>
                  <a:srgbClr val="0B8EB8"/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Exports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225506C2-6845-43D0-B89C-90FD77368689}"/>
                    </a:ext>
                  </a:extLst>
                </p:cNvPr>
                <p:cNvSpPr txBox="1"/>
                <p:nvPr/>
              </p:nvSpPr>
              <p:spPr>
                <a:xfrm>
                  <a:off x="2361711" y="5966546"/>
                  <a:ext cx="1350781" cy="338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Grants 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2D427DFD-972A-4EB6-870E-3D818F7AD202}"/>
                    </a:ext>
                  </a:extLst>
                </p:cNvPr>
                <p:cNvSpPr txBox="1"/>
                <p:nvPr/>
              </p:nvSpPr>
              <p:spPr>
                <a:xfrm>
                  <a:off x="4067160" y="5967680"/>
                  <a:ext cx="1350091" cy="338554"/>
                </a:xfrm>
                <a:prstGeom prst="rect">
                  <a:avLst/>
                </a:prstGeom>
                <a:solidFill>
                  <a:srgbClr val="0B8EB8"/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Remittances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DE16E51-BAAC-4118-A86C-95721712339B}"/>
                    </a:ext>
                  </a:extLst>
                </p:cNvPr>
                <p:cNvSpPr txBox="1"/>
                <p:nvPr/>
              </p:nvSpPr>
              <p:spPr>
                <a:xfrm>
                  <a:off x="2007043" y="5951157"/>
                  <a:ext cx="3553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rgbClr val="0B8EB8"/>
                      </a:solidFill>
                    </a:rPr>
                    <a:t>+</a:t>
                  </a: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CADB5A1-5C56-4AD1-81A7-2290CE83DB16}"/>
                    </a:ext>
                  </a:extLst>
                </p:cNvPr>
                <p:cNvSpPr txBox="1"/>
                <p:nvPr/>
              </p:nvSpPr>
              <p:spPr>
                <a:xfrm>
                  <a:off x="3712147" y="5945934"/>
                  <a:ext cx="3553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rgbClr val="0B8EB8"/>
                      </a:solidFill>
                    </a:rPr>
                    <a:t>+</a:t>
                  </a: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03D999A-4EC8-4F01-B12E-5B1EA79089E6}"/>
                    </a:ext>
                  </a:extLst>
                </p:cNvPr>
                <p:cNvSpPr txBox="1"/>
                <p:nvPr/>
              </p:nvSpPr>
              <p:spPr>
                <a:xfrm>
                  <a:off x="5773957" y="5972963"/>
                  <a:ext cx="1392612" cy="338554"/>
                </a:xfrm>
                <a:prstGeom prst="rect">
                  <a:avLst/>
                </a:prstGeom>
                <a:solidFill>
                  <a:srgbClr val="0B8EB8"/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Foreign saving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FAFE25D-FD72-472D-ABE3-32FC4D6F71F0}"/>
                    </a:ext>
                  </a:extLst>
                </p:cNvPr>
                <p:cNvSpPr txBox="1"/>
                <p:nvPr/>
              </p:nvSpPr>
              <p:spPr>
                <a:xfrm>
                  <a:off x="7803428" y="5971567"/>
                  <a:ext cx="1350781" cy="338554"/>
                </a:xfrm>
                <a:prstGeom prst="rect">
                  <a:avLst/>
                </a:prstGeom>
                <a:solidFill>
                  <a:srgbClr val="0B8EB8"/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Imports</a:t>
                  </a: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727B828C-40B4-41A5-9309-4427B8B266C0}"/>
                    </a:ext>
                  </a:extLst>
                </p:cNvPr>
                <p:cNvSpPr txBox="1"/>
                <p:nvPr/>
              </p:nvSpPr>
              <p:spPr>
                <a:xfrm>
                  <a:off x="5416906" y="5952291"/>
                  <a:ext cx="3553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rgbClr val="0B8EB8"/>
                      </a:solidFill>
                    </a:rPr>
                    <a:t>+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BF50ACC1-0E37-4952-9583-CEE1ADF2B99D}"/>
                    </a:ext>
                  </a:extLst>
                </p:cNvPr>
                <p:cNvSpPr txBox="1"/>
                <p:nvPr/>
              </p:nvSpPr>
              <p:spPr>
                <a:xfrm>
                  <a:off x="7303064" y="5906124"/>
                  <a:ext cx="35535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B8EB8"/>
                      </a:solidFill>
                    </a:rPr>
                    <a:t>=</a:t>
                  </a: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CDEDA687-04E7-48A7-8934-DDD9C45EBA4A}"/>
                    </a:ext>
                  </a:extLst>
                </p:cNvPr>
                <p:cNvSpPr txBox="1"/>
                <p:nvPr/>
              </p:nvSpPr>
              <p:spPr>
                <a:xfrm>
                  <a:off x="457511" y="5272186"/>
                  <a:ext cx="8897860" cy="8694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rgbClr val="0B8EB8"/>
                      </a:solidFill>
                    </a:rPr>
                    <a:t>Current account</a:t>
                  </a:r>
                </a:p>
                <a:p>
                  <a:r>
                    <a:rPr lang="en-US" sz="1050" dirty="0">
                      <a:solidFill>
                        <a:srgbClr val="0B8EB8"/>
                      </a:solidFill>
                    </a:rPr>
                    <a:t>Total inflow of foreign exchange (exports, grants and remittances) must equal total outflows (imports)</a:t>
                  </a:r>
                </a:p>
                <a:p>
                  <a:endParaRPr lang="en-US" sz="2000" b="1" dirty="0">
                    <a:solidFill>
                      <a:srgbClr val="0B8EB8"/>
                    </a:solidFill>
                  </a:endParaRPr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E4B5C588-E983-40E6-929E-ECEE668196A9}"/>
                  </a:ext>
                </a:extLst>
              </p:cNvPr>
              <p:cNvGrpSpPr/>
              <p:nvPr/>
            </p:nvGrpSpPr>
            <p:grpSpPr>
              <a:xfrm>
                <a:off x="337147" y="5409689"/>
                <a:ext cx="7481379" cy="1214622"/>
                <a:chOff x="457511" y="5261050"/>
                <a:chExt cx="7481379" cy="1214622"/>
              </a:xfrm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D58388E8-09E4-499C-BFA6-4CA358A06D59}"/>
                    </a:ext>
                  </a:extLst>
                </p:cNvPr>
                <p:cNvSpPr/>
                <p:nvPr/>
              </p:nvSpPr>
              <p:spPr>
                <a:xfrm>
                  <a:off x="457511" y="5261050"/>
                  <a:ext cx="7160066" cy="1214622"/>
                </a:xfrm>
                <a:prstGeom prst="rect">
                  <a:avLst/>
                </a:prstGeom>
                <a:solidFill>
                  <a:srgbClr val="5C8E3A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18574CF6-925B-4F96-AB82-34C5B7CDFBEC}"/>
                    </a:ext>
                  </a:extLst>
                </p:cNvPr>
                <p:cNvSpPr txBox="1"/>
                <p:nvPr/>
              </p:nvSpPr>
              <p:spPr>
                <a:xfrm>
                  <a:off x="656953" y="5971691"/>
                  <a:ext cx="1350781" cy="338554"/>
                </a:xfrm>
                <a:prstGeom prst="rect">
                  <a:avLst/>
                </a:prstGeom>
                <a:solidFill>
                  <a:srgbClr val="5C8E3A"/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Private saving</a:t>
                  </a:r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5AB46292-2F97-497C-832A-171DD5D27684}"/>
                    </a:ext>
                  </a:extLst>
                </p:cNvPr>
                <p:cNvSpPr txBox="1"/>
                <p:nvPr/>
              </p:nvSpPr>
              <p:spPr>
                <a:xfrm>
                  <a:off x="2361711" y="5966546"/>
                  <a:ext cx="1350781" cy="33855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Public saving</a:t>
                  </a: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5FA2557-05B4-49A3-9665-BC2654D3A4A6}"/>
                    </a:ext>
                  </a:extLst>
                </p:cNvPr>
                <p:cNvSpPr txBox="1"/>
                <p:nvPr/>
              </p:nvSpPr>
              <p:spPr>
                <a:xfrm>
                  <a:off x="4067160" y="5967680"/>
                  <a:ext cx="1378005" cy="338554"/>
                </a:xfrm>
                <a:prstGeom prst="rect">
                  <a:avLst/>
                </a:prstGeom>
                <a:solidFill>
                  <a:srgbClr val="0B8EB8"/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Foreign saving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10F41A5E-8686-4501-8250-370CDCEAB4BE}"/>
                    </a:ext>
                  </a:extLst>
                </p:cNvPr>
                <p:cNvSpPr txBox="1"/>
                <p:nvPr/>
              </p:nvSpPr>
              <p:spPr>
                <a:xfrm>
                  <a:off x="2007043" y="5951157"/>
                  <a:ext cx="3553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rgbClr val="5C8E3A"/>
                      </a:solidFill>
                    </a:rPr>
                    <a:t>+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DC2BBE67-8DCC-4933-B109-3E296A6710A5}"/>
                    </a:ext>
                  </a:extLst>
                </p:cNvPr>
                <p:cNvSpPr txBox="1"/>
                <p:nvPr/>
              </p:nvSpPr>
              <p:spPr>
                <a:xfrm>
                  <a:off x="3712147" y="5945934"/>
                  <a:ext cx="3553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rgbClr val="5C8E3A"/>
                      </a:solidFill>
                    </a:rPr>
                    <a:t>+</a:t>
                  </a: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722A7D8-78FE-4B22-A591-B1B98AB38DFE}"/>
                    </a:ext>
                  </a:extLst>
                </p:cNvPr>
                <p:cNvSpPr txBox="1"/>
                <p:nvPr/>
              </p:nvSpPr>
              <p:spPr>
                <a:xfrm>
                  <a:off x="6098670" y="5976712"/>
                  <a:ext cx="1350781" cy="338554"/>
                </a:xfrm>
                <a:prstGeom prst="rect">
                  <a:avLst/>
                </a:prstGeom>
                <a:solidFill>
                  <a:srgbClr val="5C8E3A"/>
                </a:solidFill>
                <a:ln>
                  <a:noFill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Investment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6DEAE49B-C8EC-4083-ABCB-BFDBA322A05B}"/>
                    </a:ext>
                  </a:extLst>
                </p:cNvPr>
                <p:cNvSpPr txBox="1"/>
                <p:nvPr/>
              </p:nvSpPr>
              <p:spPr>
                <a:xfrm>
                  <a:off x="5594238" y="5899767"/>
                  <a:ext cx="35535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5C8E3A"/>
                      </a:solidFill>
                    </a:rPr>
                    <a:t>=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F3F8FF4-921B-4746-97D9-99BD8AFA6E69}"/>
                    </a:ext>
                  </a:extLst>
                </p:cNvPr>
                <p:cNvSpPr txBox="1"/>
                <p:nvPr/>
              </p:nvSpPr>
              <p:spPr>
                <a:xfrm>
                  <a:off x="457511" y="5272186"/>
                  <a:ext cx="7481379" cy="8694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rgbClr val="5C8E3A"/>
                      </a:solidFill>
                    </a:rPr>
                    <a:t>Savings – Investment </a:t>
                  </a:r>
                </a:p>
                <a:p>
                  <a:r>
                    <a:rPr lang="en-US" sz="1050" dirty="0">
                      <a:solidFill>
                        <a:srgbClr val="5C8E3A"/>
                      </a:solidFill>
                    </a:rPr>
                    <a:t>Total supply of loanable funds (savings) must equal total investment demand</a:t>
                  </a:r>
                </a:p>
                <a:p>
                  <a:endParaRPr lang="en-US" sz="2000" b="1" dirty="0">
                    <a:solidFill>
                      <a:srgbClr val="5C8E3A"/>
                    </a:solidFill>
                  </a:endParaRPr>
                </a:p>
              </p:txBody>
            </p:sp>
          </p:grp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99E7A99-FEAD-45E5-8237-970ECC6DBAC1}"/>
                </a:ext>
              </a:extLst>
            </p:cNvPr>
            <p:cNvSpPr txBox="1"/>
            <p:nvPr/>
          </p:nvSpPr>
          <p:spPr>
            <a:xfrm>
              <a:off x="10960778" y="2873301"/>
              <a:ext cx="1038579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285750" algn="l"/>
                </a:tabLst>
              </a:pPr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</a:rPr>
                <a:t>Fix two</a:t>
              </a:r>
            </a:p>
            <a:p>
              <a:pPr>
                <a:tabLst>
                  <a:tab pos="285750" algn="l"/>
                </a:tabLst>
              </a:pPr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Tax rates</a:t>
              </a:r>
            </a:p>
            <a:p>
              <a:pPr>
                <a:tabLst>
                  <a:tab pos="285750" algn="l"/>
                </a:tabLst>
              </a:pPr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Consumption</a:t>
              </a:r>
            </a:p>
            <a:p>
              <a:pPr>
                <a:tabLst>
                  <a:tab pos="285750" algn="l"/>
                </a:tabLst>
              </a:pPr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Public savings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A5564F3-BD65-4025-A4E6-9E7666E088D7}"/>
                </a:ext>
              </a:extLst>
            </p:cNvPr>
            <p:cNvSpPr txBox="1"/>
            <p:nvPr/>
          </p:nvSpPr>
          <p:spPr>
            <a:xfrm>
              <a:off x="9209683" y="4316082"/>
              <a:ext cx="11872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285750" algn="l"/>
                </a:tabLst>
              </a:pPr>
              <a:r>
                <a:rPr lang="en-US" sz="1600" b="1" dirty="0">
                  <a:solidFill>
                    <a:srgbClr val="0B8EB8"/>
                  </a:solidFill>
                </a:rPr>
                <a:t>Fix one</a:t>
              </a:r>
            </a:p>
            <a:p>
              <a:pPr>
                <a:tabLst>
                  <a:tab pos="285750" algn="l"/>
                </a:tabLst>
              </a:pPr>
              <a:r>
                <a:rPr lang="en-US" sz="1200" dirty="0">
                  <a:solidFill>
                    <a:srgbClr val="0B8EB8"/>
                  </a:solidFill>
                </a:rPr>
                <a:t>Exchange rate</a:t>
              </a:r>
            </a:p>
            <a:p>
              <a:pPr>
                <a:tabLst>
                  <a:tab pos="285750" algn="l"/>
                </a:tabLst>
              </a:pPr>
              <a:r>
                <a:rPr lang="en-US" sz="1200" dirty="0">
                  <a:solidFill>
                    <a:srgbClr val="0B8EB8"/>
                  </a:solidFill>
                </a:rPr>
                <a:t>Foreign savings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51D2FD4-5DCE-4663-9349-BD2CBE78DFB9}"/>
                </a:ext>
              </a:extLst>
            </p:cNvPr>
            <p:cNvSpPr txBox="1"/>
            <p:nvPr/>
          </p:nvSpPr>
          <p:spPr>
            <a:xfrm>
              <a:off x="7479878" y="5715107"/>
              <a:ext cx="222872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285750" algn="l"/>
                </a:tabLst>
              </a:pPr>
              <a:r>
                <a:rPr lang="en-US" sz="1600" b="1" dirty="0">
                  <a:solidFill>
                    <a:srgbClr val="5C8E3A"/>
                  </a:solidFill>
                </a:rPr>
                <a:t>Fix one</a:t>
              </a:r>
            </a:p>
            <a:p>
              <a:pPr>
                <a:tabLst>
                  <a:tab pos="285750" algn="l"/>
                </a:tabLst>
              </a:pPr>
              <a:r>
                <a:rPr lang="en-US" sz="1200" dirty="0">
                  <a:solidFill>
                    <a:srgbClr val="5C8E3A"/>
                  </a:solidFill>
                </a:rPr>
                <a:t>Private savings rates</a:t>
              </a:r>
            </a:p>
            <a:p>
              <a:pPr>
                <a:tabLst>
                  <a:tab pos="285750" algn="l"/>
                </a:tabLst>
              </a:pPr>
              <a:r>
                <a:rPr lang="en-US" sz="1200" dirty="0">
                  <a:solidFill>
                    <a:srgbClr val="5C8E3A"/>
                  </a:solidFill>
                </a:rPr>
                <a:t>Investment</a:t>
              </a: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E40C40B2-72A7-4904-BB76-95CCA39862B3}"/>
              </a:ext>
            </a:extLst>
          </p:cNvPr>
          <p:cNvSpPr txBox="1"/>
          <p:nvPr/>
        </p:nvSpPr>
        <p:spPr>
          <a:xfrm>
            <a:off x="145465" y="873402"/>
            <a:ext cx="466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Equilibrium:</a:t>
            </a:r>
            <a:r>
              <a:rPr lang="en-US" sz="1400" dirty="0"/>
              <a:t> Total receipts must equal total expenditures </a:t>
            </a:r>
          </a:p>
          <a:p>
            <a:r>
              <a:rPr lang="en-US" sz="1400" dirty="0"/>
              <a:t>	(determined by “closure rules”)</a:t>
            </a:r>
          </a:p>
        </p:txBody>
      </p:sp>
    </p:spTree>
    <p:extLst>
      <p:ext uri="{BB962C8B-B14F-4D97-AF65-F5344CB8AC3E}">
        <p14:creationId xmlns:p14="http://schemas.microsoft.com/office/powerpoint/2010/main" val="37045152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3C00-CBE9-4EBE-8178-FCACF7CAA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CGE Model  </a:t>
            </a:r>
            <a:r>
              <a:rPr lang="en-US" b="0" dirty="0"/>
              <a:t>|  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0C74C-2EAA-449D-B2DC-A05A7D503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Capture all economic linkages </a:t>
            </a:r>
            <a:r>
              <a:rPr lang="en-US" dirty="0"/>
              <a:t>(based on the SAMs)</a:t>
            </a:r>
          </a:p>
          <a:p>
            <a:endParaRPr lang="en-US" sz="1000" dirty="0"/>
          </a:p>
          <a:p>
            <a:r>
              <a:rPr lang="en-US" b="1" dirty="0"/>
              <a:t>Drop the assumption that resources are unconstrained </a:t>
            </a:r>
            <a:r>
              <a:rPr lang="en-US" dirty="0"/>
              <a:t>(i.e., fixed prices, as in multiplier models)</a:t>
            </a:r>
          </a:p>
          <a:p>
            <a:pPr lvl="1"/>
            <a:r>
              <a:rPr lang="en-US" dirty="0"/>
              <a:t>Product prices</a:t>
            </a:r>
          </a:p>
          <a:p>
            <a:pPr lvl="1"/>
            <a:r>
              <a:rPr lang="en-US" dirty="0"/>
              <a:t>Factor prices (labor wages, land rents, capital profits)</a:t>
            </a:r>
          </a:p>
          <a:p>
            <a:pPr lvl="1"/>
            <a:r>
              <a:rPr lang="en-US" dirty="0"/>
              <a:t>Exchange rate </a:t>
            </a:r>
          </a:p>
          <a:p>
            <a:pPr lvl="1"/>
            <a:endParaRPr lang="en-US" sz="1050" dirty="0"/>
          </a:p>
          <a:p>
            <a:r>
              <a:rPr lang="en-US" b="1" dirty="0"/>
              <a:t>Maintain macroeconomic &amp; resource balances </a:t>
            </a:r>
            <a:r>
              <a:rPr lang="en-US" dirty="0"/>
              <a:t>(no “free lunch”)</a:t>
            </a:r>
          </a:p>
          <a:p>
            <a:pPr lvl="1"/>
            <a:r>
              <a:rPr lang="en-US" dirty="0"/>
              <a:t>Government fiscal accounts</a:t>
            </a:r>
          </a:p>
          <a:p>
            <a:pPr lvl="1"/>
            <a:r>
              <a:rPr lang="en-US" dirty="0"/>
              <a:t>Investment &amp; savings</a:t>
            </a:r>
          </a:p>
          <a:p>
            <a:pPr lvl="1"/>
            <a:r>
              <a:rPr lang="en-US" dirty="0"/>
              <a:t>Current account / balance of payments</a:t>
            </a:r>
          </a:p>
          <a:p>
            <a:pPr lvl="1"/>
            <a:r>
              <a:rPr lang="en-US" dirty="0"/>
              <a:t>Factor markets</a:t>
            </a:r>
          </a:p>
          <a:p>
            <a:pPr lvl="1"/>
            <a:endParaRPr lang="en-US" sz="1100" dirty="0"/>
          </a:p>
          <a:p>
            <a:r>
              <a:rPr lang="en-US" b="1" dirty="0"/>
              <a:t>Provides a consistent framework for tracking economywide impacts</a:t>
            </a:r>
          </a:p>
          <a:p>
            <a:pPr lvl="1"/>
            <a:r>
              <a:rPr lang="en-US" dirty="0"/>
              <a:t>Macro-accounting principles are respected (e.g., receipts must equal payments)</a:t>
            </a:r>
          </a:p>
          <a:p>
            <a:pPr lvl="1"/>
            <a:r>
              <a:rPr lang="en-US" dirty="0"/>
              <a:t>Macro and micro feedbacks are tracked (e.g., sectors, workers, households)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7049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720A-9E29-FFEA-1A0A-9C2DC4EA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CGE Model  </a:t>
            </a:r>
            <a:r>
              <a:rPr lang="en-US" b="0" dirty="0"/>
              <a:t>|  Other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F2938-4A2B-D57D-A62C-5DB0F67DA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027" y="1138051"/>
            <a:ext cx="9094971" cy="5303846"/>
          </a:xfrm>
        </p:spPr>
        <p:txBody>
          <a:bodyPr>
            <a:normAutofit/>
          </a:bodyPr>
          <a:lstStyle/>
          <a:p>
            <a:r>
              <a:rPr lang="en-US" sz="2400" b="1" dirty="0"/>
              <a:t>Enterprises</a:t>
            </a:r>
          </a:p>
          <a:p>
            <a:pPr lvl="1"/>
            <a:r>
              <a:rPr lang="en-US" sz="2200" dirty="0"/>
              <a:t>Receive some factor incomes (usually capital)</a:t>
            </a:r>
          </a:p>
          <a:p>
            <a:pPr lvl="1"/>
            <a:r>
              <a:rPr lang="en-US" sz="2200" dirty="0"/>
              <a:t>Pay taxes (corporate), save, remit</a:t>
            </a:r>
          </a:p>
          <a:p>
            <a:pPr lvl="1"/>
            <a:r>
              <a:rPr lang="en-US" sz="2200" dirty="0"/>
              <a:t>Pay whatever is left to households (i.e., indirect capital payments)</a:t>
            </a:r>
          </a:p>
          <a:p>
            <a:endParaRPr lang="en-US" sz="1200" dirty="0"/>
          </a:p>
          <a:p>
            <a:r>
              <a:rPr lang="en-US" sz="2400" b="1" dirty="0"/>
              <a:t>Taxes</a:t>
            </a:r>
          </a:p>
          <a:p>
            <a:pPr lvl="1"/>
            <a:r>
              <a:rPr lang="en-US" sz="2200" dirty="0"/>
              <a:t>Indirect: Producer taxes, sales taxes, factor taxes, and export taxes</a:t>
            </a:r>
          </a:p>
          <a:p>
            <a:pPr lvl="1"/>
            <a:r>
              <a:rPr lang="en-US" sz="2200" dirty="0"/>
              <a:t>Direct: Personal income taxes, corporate taxes</a:t>
            </a:r>
          </a:p>
          <a:p>
            <a:pPr lvl="1"/>
            <a:r>
              <a:rPr lang="en-US" sz="2200" dirty="0"/>
              <a:t>Tax changes can be proportional or point changes</a:t>
            </a:r>
          </a:p>
          <a:p>
            <a:endParaRPr lang="en-US" sz="1050" dirty="0"/>
          </a:p>
          <a:p>
            <a:r>
              <a:rPr lang="en-US" sz="2400" b="1" dirty="0"/>
              <a:t>Change in stocks or inventories</a:t>
            </a:r>
          </a:p>
          <a:p>
            <a:pPr lvl="1"/>
            <a:r>
              <a:rPr lang="en-US" sz="2200" dirty="0"/>
              <a:t>Residual investment (drawing down or increasing inventories)</a:t>
            </a:r>
          </a:p>
          <a:p>
            <a:pPr lvl="1"/>
            <a:r>
              <a:rPr lang="en-US" sz="2200" dirty="0"/>
              <a:t>No behavior or effect on savings-investment closure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677507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6A95B-6BD3-1D9A-3B2E-57A7B1CE3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CGE Model  </a:t>
            </a:r>
            <a:r>
              <a:rPr lang="en-US" b="0" dirty="0"/>
              <a:t>| 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68612-6B7B-9F05-C775-4951B65EC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11" y="1251066"/>
            <a:ext cx="10728562" cy="4101769"/>
          </a:xfrm>
        </p:spPr>
        <p:txBody>
          <a:bodyPr>
            <a:normAutofit/>
          </a:bodyPr>
          <a:lstStyle/>
          <a:p>
            <a:r>
              <a:rPr lang="en-US" sz="2400" b="1" dirty="0"/>
              <a:t>Attach values to the model’s variables and parameters</a:t>
            </a:r>
          </a:p>
          <a:p>
            <a:endParaRPr lang="en-US" sz="2400" dirty="0"/>
          </a:p>
          <a:p>
            <a:r>
              <a:rPr lang="en-US" sz="2400" b="1" dirty="0"/>
              <a:t>Most data comes directly from the SAM</a:t>
            </a:r>
          </a:p>
          <a:p>
            <a:pPr lvl="1"/>
            <a:r>
              <a:rPr lang="en-US" sz="2200" dirty="0"/>
              <a:t>Usually assume that prices are equal to one – so quantities are equal to SAM values</a:t>
            </a:r>
          </a:p>
          <a:p>
            <a:endParaRPr lang="en-US" sz="2400" dirty="0"/>
          </a:p>
          <a:p>
            <a:r>
              <a:rPr lang="en-US" sz="2400" b="1" dirty="0"/>
              <a:t>But some data must come from external sources</a:t>
            </a:r>
          </a:p>
          <a:p>
            <a:pPr lvl="1"/>
            <a:r>
              <a:rPr lang="en-US" sz="2200" dirty="0"/>
              <a:t>Employment numbers (QF and QFS) – non-unitary wages (WF and WFDIST)</a:t>
            </a:r>
          </a:p>
          <a:p>
            <a:pPr lvl="1"/>
            <a:r>
              <a:rPr lang="en-US" sz="2200" dirty="0"/>
              <a:t>Household income elasticities for each commodity (budget surveys?)</a:t>
            </a:r>
          </a:p>
          <a:p>
            <a:pPr lvl="1"/>
            <a:r>
              <a:rPr lang="en-US" sz="2200" dirty="0"/>
              <a:t>Factor and trade substitution elasticities  (GTAP?)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958950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3DC7-DA25-3A40-6AC6-827ED311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6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Microsoft-Excel® Interface</a:t>
            </a:r>
            <a:endParaRPr lang="en-US" dirty="0"/>
          </a:p>
        </p:txBody>
      </p:sp>
      <p:pic>
        <p:nvPicPr>
          <p:cNvPr id="9" name="Picture 8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43BDDE39-D38B-8049-B7C6-B366FF0D6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2126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5DF78-F374-EC75-EA48-C88B065E6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5348895-E753-B63A-EBFA-829E274CE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948" y="1086522"/>
            <a:ext cx="5921052" cy="57714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2E0B6-E12F-8E8C-7757-75AC9F79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DB780-8F45-BB6B-CD16-8CFC9C3FC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625" y="1168872"/>
            <a:ext cx="5766144" cy="5560301"/>
          </a:xfrm>
        </p:spPr>
        <p:txBody>
          <a:bodyPr>
            <a:normAutofit/>
          </a:bodyPr>
          <a:lstStyle/>
          <a:p>
            <a:r>
              <a:rPr lang="en-US" sz="2400" b="1" dirty="0"/>
              <a:t>IFPRI’s standard static model</a:t>
            </a:r>
          </a:p>
          <a:p>
            <a:endParaRPr lang="en-US" sz="900" dirty="0"/>
          </a:p>
          <a:p>
            <a:r>
              <a:rPr lang="en-US" sz="2400" b="1" dirty="0"/>
              <a:t>Nexus SAM</a:t>
            </a:r>
          </a:p>
          <a:p>
            <a:pPr lvl="1"/>
            <a:r>
              <a:rPr lang="en-US" sz="2200" dirty="0"/>
              <a:t>90 activities &amp; 90 commodities</a:t>
            </a:r>
          </a:p>
          <a:p>
            <a:pPr lvl="1"/>
            <a:r>
              <a:rPr lang="en-US" sz="2200" dirty="0"/>
              <a:t>13 factors of production</a:t>
            </a:r>
          </a:p>
          <a:p>
            <a:pPr lvl="1"/>
            <a:r>
              <a:rPr lang="en-US" sz="2200" dirty="0"/>
              <a:t>15 household groups</a:t>
            </a:r>
          </a:p>
          <a:p>
            <a:endParaRPr lang="en-US" sz="900" dirty="0"/>
          </a:p>
          <a:p>
            <a:r>
              <a:rPr lang="en-US" sz="2400" b="1" dirty="0"/>
              <a:t>National data file sheets</a:t>
            </a:r>
          </a:p>
          <a:p>
            <a:pPr lvl="1">
              <a:tabLst>
                <a:tab pos="2227263" algn="l"/>
              </a:tabLst>
            </a:pPr>
            <a:r>
              <a:rPr lang="en-US" sz="2200" dirty="0"/>
              <a:t>SAM	social accounting matrix</a:t>
            </a:r>
          </a:p>
          <a:p>
            <a:pPr lvl="1">
              <a:tabLst>
                <a:tab pos="2227263" algn="l"/>
              </a:tabLst>
            </a:pPr>
            <a:r>
              <a:rPr lang="en-US" sz="2200" dirty="0"/>
              <a:t>Control	data scaling, exchange rate</a:t>
            </a:r>
          </a:p>
          <a:p>
            <a:pPr lvl="1">
              <a:tabLst>
                <a:tab pos="2227263" algn="l"/>
              </a:tabLst>
            </a:pPr>
            <a:r>
              <a:rPr lang="en-US" sz="2200" dirty="0"/>
              <a:t>Demand	income elasticities	</a:t>
            </a:r>
          </a:p>
          <a:p>
            <a:pPr lvl="1">
              <a:tabLst>
                <a:tab pos="2227263" algn="l"/>
              </a:tabLst>
            </a:pPr>
            <a:r>
              <a:rPr lang="en-US" sz="2200" dirty="0"/>
              <a:t>Elasticities	trade/production elasticities</a:t>
            </a:r>
          </a:p>
          <a:p>
            <a:pPr lvl="1">
              <a:tabLst>
                <a:tab pos="2227263" algn="l"/>
              </a:tabLst>
            </a:pPr>
            <a:r>
              <a:rPr lang="en-US" sz="2200" dirty="0"/>
              <a:t>Factors	wages, employment</a:t>
            </a:r>
          </a:p>
          <a:p>
            <a:pPr lvl="1">
              <a:tabLst>
                <a:tab pos="2227263" algn="l"/>
              </a:tabLst>
            </a:pPr>
            <a:r>
              <a:rPr lang="en-US" sz="2200" dirty="0"/>
              <a:t>Households	population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367B3A-9BD5-CD5A-A97B-0191EDE94E3E}"/>
              </a:ext>
            </a:extLst>
          </p:cNvPr>
          <p:cNvSpPr txBox="1"/>
          <p:nvPr/>
        </p:nvSpPr>
        <p:spPr>
          <a:xfrm>
            <a:off x="9541610" y="722990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rgbClr val="54544B"/>
                </a:solidFill>
              </a:rPr>
              <a:t>basemod.xlsx  </a:t>
            </a:r>
            <a:r>
              <a:rPr lang="en-US" sz="1200" dirty="0">
                <a:solidFill>
                  <a:srgbClr val="54544B"/>
                </a:solidFill>
              </a:rPr>
              <a:t>|  Notes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5899D7-3239-ABB1-0E0D-347312DC4DB0}"/>
              </a:ext>
            </a:extLst>
          </p:cNvPr>
          <p:cNvSpPr/>
          <p:nvPr/>
        </p:nvSpPr>
        <p:spPr>
          <a:xfrm>
            <a:off x="6890378" y="6562164"/>
            <a:ext cx="4243787" cy="295835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573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90">
            <a:extLst>
              <a:ext uri="{FF2B5EF4-FFF2-40B4-BE49-F238E27FC236}">
                <a16:creationId xmlns:a16="http://schemas.microsoft.com/office/drawing/2014/main" id="{B97AB10F-A296-1A15-2350-78627FA05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4" y="2634010"/>
            <a:ext cx="4930586" cy="4223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76FC88-9489-B929-D7E2-AA4921D7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Model</a:t>
            </a:r>
            <a:r>
              <a:rPr lang="en-US" baseline="-25000" dirty="0"/>
              <a:t>  </a:t>
            </a:r>
            <a:r>
              <a:rPr lang="en-US" b="0" baseline="-25000" dirty="0"/>
              <a:t>(using GAMS Studio)</a:t>
            </a:r>
          </a:p>
        </p:txBody>
      </p:sp>
      <p:sp>
        <p:nvSpPr>
          <p:cNvPr id="33" name="Text Box 5">
            <a:extLst>
              <a:ext uri="{FF2B5EF4-FFF2-40B4-BE49-F238E27FC236}">
                <a16:creationId xmlns:a16="http://schemas.microsoft.com/office/drawing/2014/main" id="{EF3E803C-0A09-2D05-A45D-4113439E5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1598" y="3061019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Data 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basemod.xlsx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Text Box 12">
            <a:extLst>
              <a:ext uri="{FF2B5EF4-FFF2-40B4-BE49-F238E27FC236}">
                <a16:creationId xmlns:a16="http://schemas.microsoft.com/office/drawing/2014/main" id="{3702F62D-8BC5-6E5F-30CA-9698E5327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572" y="1909267"/>
            <a:ext cx="2068604" cy="507831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Control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0control.gms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AA1D696-343F-F4DB-4A53-EB7B165376FE}"/>
              </a:ext>
            </a:extLst>
          </p:cNvPr>
          <p:cNvSpPr/>
          <p:nvPr/>
        </p:nvSpPr>
        <p:spPr>
          <a:xfrm>
            <a:off x="1231587" y="2933176"/>
            <a:ext cx="260018" cy="2556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7DC43A1-05CC-03DD-4B15-791A260DBC3A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3430202" y="3314935"/>
            <a:ext cx="355361" cy="0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3BCD840-4D50-740C-7052-64DD0477EEF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949874" y="3574407"/>
            <a:ext cx="0" cy="535105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B894FB6-40B7-8A9C-10FC-05C945F1D364}"/>
              </a:ext>
            </a:extLst>
          </p:cNvPr>
          <p:cNvSpPr txBox="1"/>
          <p:nvPr/>
        </p:nvSpPr>
        <p:spPr>
          <a:xfrm>
            <a:off x="1006236" y="2917887"/>
            <a:ext cx="71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DCA54B15-1B70-A4CA-FA32-56395EC72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572" y="3066576"/>
            <a:ext cx="2068604" cy="507831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Model Code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1model.gms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87CBCD74-A849-1959-6A27-3AFDE619F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572" y="4237355"/>
            <a:ext cx="2068604" cy="507831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Simulation Code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2simulation_static.gms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CDB25D-62F9-D2C0-EB9B-8543FF784B4E}"/>
              </a:ext>
            </a:extLst>
          </p:cNvPr>
          <p:cNvSpPr txBox="1"/>
          <p:nvPr/>
        </p:nvSpPr>
        <p:spPr>
          <a:xfrm>
            <a:off x="5496562" y="4138185"/>
            <a:ext cx="71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BA23BFD-973B-C876-C0BA-0930D66C705B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4949874" y="4745186"/>
            <a:ext cx="0" cy="591344"/>
          </a:xfrm>
          <a:prstGeom prst="straightConnector1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 Box 5">
            <a:extLst>
              <a:ext uri="{FF2B5EF4-FFF2-40B4-BE49-F238E27FC236}">
                <a16:creationId xmlns:a16="http://schemas.microsoft.com/office/drawing/2014/main" id="{6833F9F6-492A-231F-428F-BE0BD2630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572" y="5408134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Results File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statrep.xlsx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AB55AB5-3CDE-F837-B657-E31BC0D9C12A}"/>
              </a:ext>
            </a:extLst>
          </p:cNvPr>
          <p:cNvSpPr/>
          <p:nvPr/>
        </p:nvSpPr>
        <p:spPr>
          <a:xfrm>
            <a:off x="3785561" y="5280291"/>
            <a:ext cx="260018" cy="2556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F8F53F-521F-CE94-B6DB-2E638F9FF3F5}"/>
              </a:ext>
            </a:extLst>
          </p:cNvPr>
          <p:cNvSpPr txBox="1"/>
          <p:nvPr/>
        </p:nvSpPr>
        <p:spPr>
          <a:xfrm>
            <a:off x="3560210" y="5265002"/>
            <a:ext cx="71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C0B0DF7-C34F-8A80-1392-BECADCDCA80D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949874" y="2417098"/>
            <a:ext cx="0" cy="516078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Picture 98">
            <a:extLst>
              <a:ext uri="{FF2B5EF4-FFF2-40B4-BE49-F238E27FC236}">
                <a16:creationId xmlns:a16="http://schemas.microsoft.com/office/drawing/2014/main" id="{84A72562-43E6-EAEC-0C8E-38F32D4F8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226" y="692462"/>
            <a:ext cx="3223257" cy="8164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986AF586-F55F-B95A-F89F-FE9C6418F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918" y="1739662"/>
            <a:ext cx="1990702" cy="69872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2" name="Rectangle 101">
            <a:extLst>
              <a:ext uri="{FF2B5EF4-FFF2-40B4-BE49-F238E27FC236}">
                <a16:creationId xmlns:a16="http://schemas.microsoft.com/office/drawing/2014/main" id="{C13DCE14-8FB2-CE5A-C493-4E6DE8606E7F}"/>
              </a:ext>
            </a:extLst>
          </p:cNvPr>
          <p:cNvSpPr/>
          <p:nvPr/>
        </p:nvSpPr>
        <p:spPr>
          <a:xfrm>
            <a:off x="9240819" y="4240281"/>
            <a:ext cx="2799434" cy="772784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54544B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86F7657-FE59-D515-BBE6-0B8DC652EA16}"/>
              </a:ext>
            </a:extLst>
          </p:cNvPr>
          <p:cNvSpPr/>
          <p:nvPr/>
        </p:nvSpPr>
        <p:spPr>
          <a:xfrm>
            <a:off x="9226858" y="5162748"/>
            <a:ext cx="1659881" cy="646381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54544B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CAE9759-6042-F153-FC8C-035046425953}"/>
              </a:ext>
            </a:extLst>
          </p:cNvPr>
          <p:cNvCxnSpPr>
            <a:cxnSpLocks/>
          </p:cNvCxnSpPr>
          <p:nvPr/>
        </p:nvCxnSpPr>
        <p:spPr>
          <a:xfrm>
            <a:off x="9404538" y="1508939"/>
            <a:ext cx="0" cy="2529483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3BBE141-5FE4-F1E7-EDD2-3039ED74F0D0}"/>
              </a:ext>
            </a:extLst>
          </p:cNvPr>
          <p:cNvCxnSpPr>
            <a:cxnSpLocks/>
          </p:cNvCxnSpPr>
          <p:nvPr/>
        </p:nvCxnSpPr>
        <p:spPr>
          <a:xfrm>
            <a:off x="10374519" y="2461060"/>
            <a:ext cx="0" cy="2623760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5">
            <a:extLst>
              <a:ext uri="{FF2B5EF4-FFF2-40B4-BE49-F238E27FC236}">
                <a16:creationId xmlns:a16="http://schemas.microsoft.com/office/drawing/2014/main" id="{EA039D0A-DA37-95E0-E182-24E86BA97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740" y="4237355"/>
            <a:ext cx="2068604" cy="50783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</a:rPr>
              <a:t>Simulation Data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statsim.xlsx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E0CF2C-5AF0-0537-419B-FD305559CC26}"/>
              </a:ext>
            </a:extLst>
          </p:cNvPr>
          <p:cNvSpPr/>
          <p:nvPr/>
        </p:nvSpPr>
        <p:spPr>
          <a:xfrm>
            <a:off x="1227729" y="4109512"/>
            <a:ext cx="260018" cy="25568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E994D60-C275-D603-7B85-921E099F5981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426344" y="4491271"/>
            <a:ext cx="355361" cy="0"/>
          </a:xfrm>
          <a:prstGeom prst="straightConnector1">
            <a:avLst/>
          </a:prstGeom>
          <a:ln w="158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BBAAAAC-8882-4295-FB84-D9BFEB4EDB1F}"/>
              </a:ext>
            </a:extLst>
          </p:cNvPr>
          <p:cNvSpPr txBox="1"/>
          <p:nvPr/>
        </p:nvSpPr>
        <p:spPr>
          <a:xfrm>
            <a:off x="1002378" y="4094223"/>
            <a:ext cx="71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2734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7BFE8A50-FD05-49A4-A919-24F7EB372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048" y="942035"/>
            <a:ext cx="5446952" cy="59159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5982631-8479-E0D3-EBAB-FB9998DF4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2" y="3841805"/>
            <a:ext cx="5990903" cy="18961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B70C97-4287-1380-D99B-DA4843E5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1  </a:t>
            </a:r>
            <a:r>
              <a:rPr lang="en-US" b="0" dirty="0"/>
              <a:t>|  Changing Model Data (Optional)</a:t>
            </a:r>
          </a:p>
        </p:txBody>
      </p:sp>
      <p:grpSp>
        <p:nvGrpSpPr>
          <p:cNvPr id="5" name="Group 13">
            <a:extLst>
              <a:ext uri="{FF2B5EF4-FFF2-40B4-BE49-F238E27FC236}">
                <a16:creationId xmlns:a16="http://schemas.microsoft.com/office/drawing/2014/main" id="{04962D16-E13C-4992-D288-7837CF8D10C3}"/>
              </a:ext>
            </a:extLst>
          </p:cNvPr>
          <p:cNvGrpSpPr>
            <a:grpSpLocks/>
          </p:cNvGrpSpPr>
          <p:nvPr/>
        </p:nvGrpSpPr>
        <p:grpSpPr bwMode="auto">
          <a:xfrm>
            <a:off x="8616609" y="178873"/>
            <a:ext cx="1855872" cy="778696"/>
            <a:chOff x="4667624" y="826673"/>
            <a:chExt cx="1855872" cy="778696"/>
          </a:xfrm>
          <a:effectLst/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B3F8E2C-F32A-98A0-8196-F4B9DFDCE7BF}"/>
                </a:ext>
              </a:extLst>
            </p:cNvPr>
            <p:cNvSpPr txBox="1"/>
            <p:nvPr/>
          </p:nvSpPr>
          <p:spPr>
            <a:xfrm>
              <a:off x="4667624" y="826673"/>
              <a:ext cx="1855872" cy="381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basemod.xlsx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AEEC6F1-96CA-6853-C4F7-52984A3B7C3D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5233834" y="1207673"/>
              <a:ext cx="361726" cy="397696"/>
            </a:xfrm>
            <a:prstGeom prst="straightConnector1">
              <a:avLst/>
            </a:prstGeom>
            <a:ln>
              <a:solidFill>
                <a:srgbClr val="C00000"/>
              </a:solidFill>
              <a:prstDash val="sys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15">
            <a:extLst>
              <a:ext uri="{FF2B5EF4-FFF2-40B4-BE49-F238E27FC236}">
                <a16:creationId xmlns:a16="http://schemas.microsoft.com/office/drawing/2014/main" id="{EDA770F7-0F35-9925-4575-7994CDB2B7EF}"/>
              </a:ext>
            </a:extLst>
          </p:cNvPr>
          <p:cNvGrpSpPr>
            <a:grpSpLocks/>
          </p:cNvGrpSpPr>
          <p:nvPr/>
        </p:nvGrpSpPr>
        <p:grpSpPr bwMode="auto">
          <a:xfrm>
            <a:off x="9182819" y="5875047"/>
            <a:ext cx="1371600" cy="715600"/>
            <a:chOff x="5257800" y="685800"/>
            <a:chExt cx="1371600" cy="715600"/>
          </a:xfrm>
          <a:effectLst/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7F3862-D794-46DC-86AF-57C7F61477F9}"/>
                </a:ext>
              </a:extLst>
            </p:cNvPr>
            <p:cNvSpPr txBox="1"/>
            <p:nvPr/>
          </p:nvSpPr>
          <p:spPr>
            <a:xfrm>
              <a:off x="5257800" y="685800"/>
              <a:ext cx="1371600" cy="381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Elasticities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5360A03-B0DE-06E9-41B1-82787565AFA9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5943600" y="1066800"/>
              <a:ext cx="0" cy="334600"/>
            </a:xfrm>
            <a:prstGeom prst="straightConnector1">
              <a:avLst/>
            </a:prstGeom>
            <a:ln>
              <a:solidFill>
                <a:srgbClr val="C00000"/>
              </a:solidFill>
              <a:prstDash val="sys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A7D9827-254B-B6AA-CBBF-4C07DE6E2A79}"/>
              </a:ext>
            </a:extLst>
          </p:cNvPr>
          <p:cNvSpPr/>
          <p:nvPr/>
        </p:nvSpPr>
        <p:spPr>
          <a:xfrm>
            <a:off x="7057017" y="2362408"/>
            <a:ext cx="5102709" cy="1542616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54544B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820C10-37F1-8252-7C8E-B75D4FD8C869}"/>
              </a:ext>
            </a:extLst>
          </p:cNvPr>
          <p:cNvCxnSpPr>
            <a:cxnSpLocks/>
          </p:cNvCxnSpPr>
          <p:nvPr/>
        </p:nvCxnSpPr>
        <p:spPr>
          <a:xfrm flipV="1">
            <a:off x="6304471" y="3313355"/>
            <a:ext cx="903154" cy="485201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ash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38">
            <a:extLst>
              <a:ext uri="{FF2B5EF4-FFF2-40B4-BE49-F238E27FC236}">
                <a16:creationId xmlns:a16="http://schemas.microsoft.com/office/drawing/2014/main" id="{5515BEBB-50DE-E08E-6EBE-ED66F608FB56}"/>
              </a:ext>
            </a:extLst>
          </p:cNvPr>
          <p:cNvGrpSpPr>
            <a:grpSpLocks/>
          </p:cNvGrpSpPr>
          <p:nvPr/>
        </p:nvGrpSpPr>
        <p:grpSpPr bwMode="auto">
          <a:xfrm>
            <a:off x="4885994" y="1172582"/>
            <a:ext cx="2827239" cy="493014"/>
            <a:chOff x="5410200" y="-378714"/>
            <a:chExt cx="2827239" cy="493014"/>
          </a:xfrm>
          <a:effectLst/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3DFFD2-8697-8B78-B47D-0A71774DDEEC}"/>
                </a:ext>
              </a:extLst>
            </p:cNvPr>
            <p:cNvSpPr txBox="1"/>
            <p:nvPr/>
          </p:nvSpPr>
          <p:spPr>
            <a:xfrm>
              <a:off x="5410200" y="-266700"/>
              <a:ext cx="1676400" cy="381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Save file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9E6A025-454D-6AA5-4BD7-3F3E9367CCFF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7086600" y="-378714"/>
              <a:ext cx="1150839" cy="302514"/>
            </a:xfrm>
            <a:prstGeom prst="straightConnector1">
              <a:avLst/>
            </a:prstGeom>
            <a:ln>
              <a:solidFill>
                <a:srgbClr val="C00000"/>
              </a:solidFill>
              <a:prstDash val="sys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35C45E8-8D6A-3014-DC0F-DED40313CB36}"/>
              </a:ext>
            </a:extLst>
          </p:cNvPr>
          <p:cNvSpPr txBox="1"/>
          <p:nvPr/>
        </p:nvSpPr>
        <p:spPr>
          <a:xfrm>
            <a:off x="4094658" y="6537752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rgbClr val="54544B"/>
                </a:solidFill>
              </a:rPr>
              <a:t>basemod.xlsx  </a:t>
            </a:r>
            <a:r>
              <a:rPr lang="en-US" sz="1200" dirty="0">
                <a:solidFill>
                  <a:srgbClr val="54544B"/>
                </a:solidFill>
              </a:rPr>
              <a:t>|  Elasticities</a:t>
            </a:r>
          </a:p>
        </p:txBody>
      </p:sp>
    </p:spTree>
    <p:extLst>
      <p:ext uri="{BB962C8B-B14F-4D97-AF65-F5344CB8AC3E}">
        <p14:creationId xmlns:p14="http://schemas.microsoft.com/office/powerpoint/2010/main" val="14174814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A3653-768D-EA97-4C0E-5BB3A81B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579F0316-AED8-8C16-B8D8-EE594A005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381" y="1843168"/>
            <a:ext cx="3205335" cy="44461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0BC2C8A-DAF1-4F45-E9CD-56EBB1EAC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4" y="1522412"/>
            <a:ext cx="5894463" cy="53355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B2D967-30A1-B5DA-E32D-830AB8569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2.1  </a:t>
            </a:r>
            <a:r>
              <a:rPr lang="en-US" b="0" dirty="0"/>
              <a:t>|  Designing Simulations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AD0337-42A0-B5D9-F503-7D5F2C86D7CA}"/>
              </a:ext>
            </a:extLst>
          </p:cNvPr>
          <p:cNvSpPr txBox="1"/>
          <p:nvPr/>
        </p:nvSpPr>
        <p:spPr bwMode="auto">
          <a:xfrm>
            <a:off x="2322195" y="3165437"/>
            <a:ext cx="1066800" cy="37941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Name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082659-A0EF-337D-E6C3-76D50BDC457B}"/>
              </a:ext>
            </a:extLst>
          </p:cNvPr>
          <p:cNvCxnSpPr>
            <a:stCxn id="7" idx="0"/>
          </p:cNvCxnSpPr>
          <p:nvPr/>
        </p:nvCxnSpPr>
        <p:spPr bwMode="auto">
          <a:xfrm rot="5400000" flipH="1" flipV="1">
            <a:off x="2665890" y="2974143"/>
            <a:ext cx="379412" cy="3175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ash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6994F14-104D-6F7E-069D-C5BEB69570CF}"/>
              </a:ext>
            </a:extLst>
          </p:cNvPr>
          <p:cNvSpPr txBox="1"/>
          <p:nvPr/>
        </p:nvSpPr>
        <p:spPr bwMode="auto">
          <a:xfrm>
            <a:off x="3160395" y="3698837"/>
            <a:ext cx="1066800" cy="381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Activate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2CA6CB-6943-821E-0092-51F6186BA7B9}"/>
              </a:ext>
            </a:extLst>
          </p:cNvPr>
          <p:cNvCxnSpPr>
            <a:stCxn id="9" idx="0"/>
          </p:cNvCxnSpPr>
          <p:nvPr/>
        </p:nvCxnSpPr>
        <p:spPr bwMode="auto">
          <a:xfrm rot="5400000" flipH="1" flipV="1">
            <a:off x="3236596" y="3241637"/>
            <a:ext cx="914400" cy="3175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ash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9602A42-3A58-6943-9869-548D57DCCEE1}"/>
              </a:ext>
            </a:extLst>
          </p:cNvPr>
          <p:cNvSpPr txBox="1"/>
          <p:nvPr/>
        </p:nvSpPr>
        <p:spPr bwMode="auto">
          <a:xfrm>
            <a:off x="3693795" y="4232237"/>
            <a:ext cx="1447800" cy="3698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Description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997988-AD23-9BC3-4EEC-002590A59B33}"/>
              </a:ext>
            </a:extLst>
          </p:cNvPr>
          <p:cNvCxnSpPr/>
          <p:nvPr/>
        </p:nvCxnSpPr>
        <p:spPr bwMode="auto">
          <a:xfrm rot="5400000" flipH="1" flipV="1">
            <a:off x="3654108" y="3508337"/>
            <a:ext cx="1449388" cy="1587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ash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BF9393D-A75F-F3C1-4C77-B9D80CB121B5}"/>
              </a:ext>
            </a:extLst>
          </p:cNvPr>
          <p:cNvSpPr/>
          <p:nvPr/>
        </p:nvSpPr>
        <p:spPr>
          <a:xfrm>
            <a:off x="151747" y="925303"/>
            <a:ext cx="47387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Naming and Activating Simulations</a:t>
            </a:r>
          </a:p>
        </p:txBody>
      </p:sp>
      <p:grpSp>
        <p:nvGrpSpPr>
          <p:cNvPr id="21" name="Group 13">
            <a:extLst>
              <a:ext uri="{FF2B5EF4-FFF2-40B4-BE49-F238E27FC236}">
                <a16:creationId xmlns:a16="http://schemas.microsoft.com/office/drawing/2014/main" id="{4AC4D00E-EB79-3B88-0107-1CC2390BD3E7}"/>
              </a:ext>
            </a:extLst>
          </p:cNvPr>
          <p:cNvGrpSpPr>
            <a:grpSpLocks/>
          </p:cNvGrpSpPr>
          <p:nvPr/>
        </p:nvGrpSpPr>
        <p:grpSpPr bwMode="auto">
          <a:xfrm>
            <a:off x="7256920" y="603266"/>
            <a:ext cx="1855872" cy="789453"/>
            <a:chOff x="4667624" y="826673"/>
            <a:chExt cx="1855872" cy="789453"/>
          </a:xfrm>
          <a:effectLst/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647154-B36B-BA81-9050-EEB9C32A7584}"/>
                </a:ext>
              </a:extLst>
            </p:cNvPr>
            <p:cNvSpPr txBox="1"/>
            <p:nvPr/>
          </p:nvSpPr>
          <p:spPr>
            <a:xfrm>
              <a:off x="4667624" y="826673"/>
              <a:ext cx="1855872" cy="381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statsim.xlsx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18FE6AA-ACE9-A1DE-8DB1-EB6B6D2A0F8A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5595560" y="1207673"/>
              <a:ext cx="0" cy="408453"/>
            </a:xfrm>
            <a:prstGeom prst="straightConnector1">
              <a:avLst/>
            </a:prstGeom>
            <a:ln>
              <a:solidFill>
                <a:srgbClr val="C00000"/>
              </a:solidFill>
              <a:prstDash val="sys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CFB2EB5E-EC2B-0BC3-4673-0CBF0BE077D7}"/>
              </a:ext>
            </a:extLst>
          </p:cNvPr>
          <p:cNvSpPr/>
          <p:nvPr/>
        </p:nvSpPr>
        <p:spPr>
          <a:xfrm>
            <a:off x="6583682" y="2651933"/>
            <a:ext cx="2111874" cy="2946853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54544B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0758AB4-A5AB-A5AF-E8E8-965FE8E15F18}"/>
              </a:ext>
            </a:extLst>
          </p:cNvPr>
          <p:cNvCxnSpPr>
            <a:cxnSpLocks/>
          </p:cNvCxnSpPr>
          <p:nvPr/>
        </p:nvCxnSpPr>
        <p:spPr>
          <a:xfrm>
            <a:off x="5468162" y="2357750"/>
            <a:ext cx="1093696" cy="807687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ash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15">
            <a:extLst>
              <a:ext uri="{FF2B5EF4-FFF2-40B4-BE49-F238E27FC236}">
                <a16:creationId xmlns:a16="http://schemas.microsoft.com/office/drawing/2014/main" id="{7CA78405-4FCF-186E-7DD7-FBF5075FFD1E}"/>
              </a:ext>
            </a:extLst>
          </p:cNvPr>
          <p:cNvGrpSpPr>
            <a:grpSpLocks/>
          </p:cNvGrpSpPr>
          <p:nvPr/>
        </p:nvGrpSpPr>
        <p:grpSpPr bwMode="auto">
          <a:xfrm>
            <a:off x="6676288" y="5870593"/>
            <a:ext cx="849573" cy="715600"/>
            <a:chOff x="5257800" y="685800"/>
            <a:chExt cx="1371600" cy="715600"/>
          </a:xfrm>
          <a:effectLst/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5274911-B96E-3774-6DC2-5EF737C802DC}"/>
                </a:ext>
              </a:extLst>
            </p:cNvPr>
            <p:cNvSpPr txBox="1"/>
            <p:nvPr/>
          </p:nvSpPr>
          <p:spPr>
            <a:xfrm>
              <a:off x="5257800" y="685800"/>
              <a:ext cx="1371600" cy="381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Main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CF5B650-E2DC-35DE-CDB2-C24F74B0505A}"/>
                </a:ext>
              </a:extLst>
            </p:cNvPr>
            <p:cNvCxnSpPr>
              <a:cxnSpLocks/>
              <a:stCxn id="35" idx="2"/>
            </p:cNvCxnSpPr>
            <p:nvPr/>
          </p:nvCxnSpPr>
          <p:spPr>
            <a:xfrm>
              <a:off x="5943600" y="1066800"/>
              <a:ext cx="0" cy="334600"/>
            </a:xfrm>
            <a:prstGeom prst="straightConnector1">
              <a:avLst/>
            </a:prstGeom>
            <a:ln>
              <a:solidFill>
                <a:srgbClr val="C00000"/>
              </a:solidFill>
              <a:prstDash val="sys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1237CD26-48EF-286F-7BEF-66207254D899}"/>
              </a:ext>
            </a:extLst>
          </p:cNvPr>
          <p:cNvSpPr txBox="1"/>
          <p:nvPr/>
        </p:nvSpPr>
        <p:spPr>
          <a:xfrm>
            <a:off x="3594068" y="6560812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rgbClr val="54544B"/>
                </a:solidFill>
              </a:rPr>
              <a:t>statsim.xlsx  </a:t>
            </a:r>
            <a:r>
              <a:rPr lang="en-US" sz="1200" dirty="0">
                <a:solidFill>
                  <a:srgbClr val="54544B"/>
                </a:solidFill>
              </a:rPr>
              <a:t>|  Main</a:t>
            </a:r>
          </a:p>
        </p:txBody>
      </p:sp>
    </p:spTree>
    <p:extLst>
      <p:ext uri="{BB962C8B-B14F-4D97-AF65-F5344CB8AC3E}">
        <p14:creationId xmlns:p14="http://schemas.microsoft.com/office/powerpoint/2010/main" val="29066717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DF42F-EB18-D248-A746-A6C5441BF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679671B8-2DEF-B189-18C6-603E748DF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4" y="1522412"/>
            <a:ext cx="5894463" cy="53355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90C9C1-BB51-18E3-863A-A1857EAC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2.2  </a:t>
            </a:r>
            <a:r>
              <a:rPr lang="en-US" b="0" dirty="0"/>
              <a:t>|  Designing Simulations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AD4F34-813D-BFF6-0FF8-9645C774E9E2}"/>
              </a:ext>
            </a:extLst>
          </p:cNvPr>
          <p:cNvSpPr/>
          <p:nvPr/>
        </p:nvSpPr>
        <p:spPr>
          <a:xfrm>
            <a:off x="151747" y="925303"/>
            <a:ext cx="47387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Selecting Macro and Factor Closures </a:t>
            </a:r>
          </a:p>
        </p:txBody>
      </p:sp>
      <p:grpSp>
        <p:nvGrpSpPr>
          <p:cNvPr id="21" name="Group 13">
            <a:extLst>
              <a:ext uri="{FF2B5EF4-FFF2-40B4-BE49-F238E27FC236}">
                <a16:creationId xmlns:a16="http://schemas.microsoft.com/office/drawing/2014/main" id="{7BC0C312-D036-BD1B-3FAD-45392053168E}"/>
              </a:ext>
            </a:extLst>
          </p:cNvPr>
          <p:cNvGrpSpPr>
            <a:grpSpLocks/>
          </p:cNvGrpSpPr>
          <p:nvPr/>
        </p:nvGrpSpPr>
        <p:grpSpPr bwMode="auto">
          <a:xfrm>
            <a:off x="7429043" y="606407"/>
            <a:ext cx="1478291" cy="789453"/>
            <a:chOff x="4667624" y="826673"/>
            <a:chExt cx="1855872" cy="789453"/>
          </a:xfrm>
          <a:effectLst/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038BCBD-EA53-1135-1758-7EB1682D5E70}"/>
                </a:ext>
              </a:extLst>
            </p:cNvPr>
            <p:cNvSpPr txBox="1"/>
            <p:nvPr/>
          </p:nvSpPr>
          <p:spPr>
            <a:xfrm>
              <a:off x="4667624" y="826673"/>
              <a:ext cx="1855872" cy="381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statsim.xlsx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C3C0BEC-C97A-0076-AE56-3BEE9903E77F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5595560" y="1207673"/>
              <a:ext cx="0" cy="408453"/>
            </a:xfrm>
            <a:prstGeom prst="straightConnector1">
              <a:avLst/>
            </a:prstGeom>
            <a:ln>
              <a:solidFill>
                <a:srgbClr val="C00000"/>
              </a:solidFill>
              <a:prstDash val="sys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139016F2-0221-C8BC-E09B-F543AFA943B8}"/>
              </a:ext>
            </a:extLst>
          </p:cNvPr>
          <p:cNvSpPr/>
          <p:nvPr/>
        </p:nvSpPr>
        <p:spPr>
          <a:xfrm>
            <a:off x="8735211" y="2630418"/>
            <a:ext cx="3001381" cy="2081431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54544B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1D9DB3F-53C6-C6A7-9400-D84B48614F77}"/>
              </a:ext>
            </a:extLst>
          </p:cNvPr>
          <p:cNvCxnSpPr>
            <a:cxnSpLocks/>
          </p:cNvCxnSpPr>
          <p:nvPr/>
        </p:nvCxnSpPr>
        <p:spPr>
          <a:xfrm>
            <a:off x="5497158" y="2630418"/>
            <a:ext cx="3098202" cy="661422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ash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15">
            <a:extLst>
              <a:ext uri="{FF2B5EF4-FFF2-40B4-BE49-F238E27FC236}">
                <a16:creationId xmlns:a16="http://schemas.microsoft.com/office/drawing/2014/main" id="{7C9B50FB-34EE-5808-B928-99C873200462}"/>
              </a:ext>
            </a:extLst>
          </p:cNvPr>
          <p:cNvGrpSpPr>
            <a:grpSpLocks/>
          </p:cNvGrpSpPr>
          <p:nvPr/>
        </p:nvGrpSpPr>
        <p:grpSpPr bwMode="auto">
          <a:xfrm>
            <a:off x="6676288" y="5870593"/>
            <a:ext cx="849573" cy="715600"/>
            <a:chOff x="5257800" y="685800"/>
            <a:chExt cx="1371600" cy="715600"/>
          </a:xfrm>
          <a:effectLst/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1428A7C-59C6-AE3A-17FA-284793ECBA70}"/>
                </a:ext>
              </a:extLst>
            </p:cNvPr>
            <p:cNvSpPr txBox="1"/>
            <p:nvPr/>
          </p:nvSpPr>
          <p:spPr>
            <a:xfrm>
              <a:off x="5257800" y="685800"/>
              <a:ext cx="1371600" cy="381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Main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E83AB30-1BC0-7EE0-23CC-96A220D40717}"/>
                </a:ext>
              </a:extLst>
            </p:cNvPr>
            <p:cNvCxnSpPr>
              <a:cxnSpLocks/>
              <a:stCxn id="35" idx="2"/>
            </p:cNvCxnSpPr>
            <p:nvPr/>
          </p:nvCxnSpPr>
          <p:spPr>
            <a:xfrm>
              <a:off x="5943600" y="1066800"/>
              <a:ext cx="0" cy="334600"/>
            </a:xfrm>
            <a:prstGeom prst="straightConnector1">
              <a:avLst/>
            </a:prstGeom>
            <a:ln>
              <a:solidFill>
                <a:srgbClr val="C00000"/>
              </a:solidFill>
              <a:prstDash val="sys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147F8C85-1158-41E3-E6AF-F65783169FFB}"/>
              </a:ext>
            </a:extLst>
          </p:cNvPr>
          <p:cNvSpPr txBox="1"/>
          <p:nvPr/>
        </p:nvSpPr>
        <p:spPr>
          <a:xfrm>
            <a:off x="3594068" y="6560812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rgbClr val="54544B"/>
                </a:solidFill>
              </a:rPr>
              <a:t>statsim.xlsx  </a:t>
            </a:r>
            <a:r>
              <a:rPr lang="en-US" sz="1200" dirty="0">
                <a:solidFill>
                  <a:srgbClr val="54544B"/>
                </a:solidFill>
              </a:rPr>
              <a:t>|  Main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456C8-2C05-79BB-C50C-C609E4965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240" y="2357750"/>
            <a:ext cx="4149137" cy="32226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5C1B77-993F-8D15-E376-25BE69970C91}"/>
              </a:ext>
            </a:extLst>
          </p:cNvPr>
          <p:cNvSpPr txBox="1"/>
          <p:nvPr/>
        </p:nvSpPr>
        <p:spPr bwMode="auto">
          <a:xfrm>
            <a:off x="782134" y="1754046"/>
            <a:ext cx="18288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Macro closures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24F7BB-98FF-A115-F875-BF172C472466}"/>
              </a:ext>
            </a:extLst>
          </p:cNvPr>
          <p:cNvCxnSpPr>
            <a:cxnSpLocks/>
            <a:stCxn id="14" idx="2"/>
          </p:cNvCxnSpPr>
          <p:nvPr/>
        </p:nvCxnSpPr>
        <p:spPr bwMode="auto">
          <a:xfrm>
            <a:off x="1696534" y="2123378"/>
            <a:ext cx="1298378" cy="907257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ash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D2FF82-3349-B9EF-5D78-47892B30DCB3}"/>
              </a:ext>
            </a:extLst>
          </p:cNvPr>
          <p:cNvSpPr txBox="1"/>
          <p:nvPr/>
        </p:nvSpPr>
        <p:spPr bwMode="auto">
          <a:xfrm>
            <a:off x="875995" y="5814752"/>
            <a:ext cx="18288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Factor closures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C92AD59-9C76-C659-0393-1572CB0EF769}"/>
              </a:ext>
            </a:extLst>
          </p:cNvPr>
          <p:cNvCxnSpPr>
            <a:cxnSpLocks/>
            <a:stCxn id="16" idx="0"/>
          </p:cNvCxnSpPr>
          <p:nvPr/>
        </p:nvCxnSpPr>
        <p:spPr bwMode="auto">
          <a:xfrm flipV="1">
            <a:off x="1790395" y="5168113"/>
            <a:ext cx="1204517" cy="646639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ash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74731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6BAC3-8150-4A30-CAE0-ED8CBD088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5365805-48D4-AA1C-4E96-7A3CAF87F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578" y="2354877"/>
            <a:ext cx="3159057" cy="348031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B3FD45-F88E-5039-2061-FD8A4FCFB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269" y="1196441"/>
            <a:ext cx="7115731" cy="56783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EF9F60-3E76-EAE7-1386-5A9BFE2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2.3  </a:t>
            </a:r>
            <a:r>
              <a:rPr lang="en-US" b="0" dirty="0"/>
              <a:t>|  Designing Simulations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830496-FE09-F121-2354-8262CBE39EE5}"/>
              </a:ext>
            </a:extLst>
          </p:cNvPr>
          <p:cNvSpPr/>
          <p:nvPr/>
        </p:nvSpPr>
        <p:spPr>
          <a:xfrm>
            <a:off x="151747" y="925303"/>
            <a:ext cx="47387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Imposing Shocks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F31811-8F55-F402-C714-1E16D7E1B72E}"/>
              </a:ext>
            </a:extLst>
          </p:cNvPr>
          <p:cNvSpPr/>
          <p:nvPr/>
        </p:nvSpPr>
        <p:spPr>
          <a:xfrm>
            <a:off x="5424682" y="2397587"/>
            <a:ext cx="2374612" cy="2719162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6A9269E-8183-05DD-E89A-3B2D2134FADA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2977062" y="4711849"/>
            <a:ext cx="0" cy="1289839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ash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8F6EAF-2F2A-7AB3-1936-448386706D17}"/>
              </a:ext>
            </a:extLst>
          </p:cNvPr>
          <p:cNvSpPr txBox="1"/>
          <p:nvPr/>
        </p:nvSpPr>
        <p:spPr bwMode="auto">
          <a:xfrm>
            <a:off x="1435759" y="1519389"/>
            <a:ext cx="1600200" cy="37941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Commodity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7F111B-102B-12BB-3272-FD8AE5584135}"/>
              </a:ext>
            </a:extLst>
          </p:cNvPr>
          <p:cNvSpPr txBox="1"/>
          <p:nvPr/>
        </p:nvSpPr>
        <p:spPr bwMode="auto">
          <a:xfrm>
            <a:off x="1739606" y="6001688"/>
            <a:ext cx="2474912" cy="64633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Change from initial parameter value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3F9D6B0-E66C-2E9E-E307-A847CF4AE1F3}"/>
              </a:ext>
            </a:extLst>
          </p:cNvPr>
          <p:cNvCxnSpPr>
            <a:cxnSpLocks/>
          </p:cNvCxnSpPr>
          <p:nvPr/>
        </p:nvCxnSpPr>
        <p:spPr bwMode="auto">
          <a:xfrm>
            <a:off x="4691635" y="3238052"/>
            <a:ext cx="644158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ash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AD74C9A-AE89-DEA2-B3C8-141C0770E049}"/>
              </a:ext>
            </a:extLst>
          </p:cNvPr>
          <p:cNvCxnSpPr>
            <a:cxnSpLocks/>
            <a:stCxn id="28" idx="2"/>
          </p:cNvCxnSpPr>
          <p:nvPr/>
        </p:nvCxnSpPr>
        <p:spPr bwMode="auto">
          <a:xfrm>
            <a:off x="2235859" y="1898802"/>
            <a:ext cx="0" cy="380251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ash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CB8420C-1BD2-CEC3-220F-02231643DA51}"/>
              </a:ext>
            </a:extLst>
          </p:cNvPr>
          <p:cNvSpPr txBox="1"/>
          <p:nvPr/>
        </p:nvSpPr>
        <p:spPr bwMode="auto">
          <a:xfrm>
            <a:off x="347844" y="3572502"/>
            <a:ext cx="16002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Type of shock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83D88F5-1D86-8B95-BA90-DE8ACE0B234E}"/>
              </a:ext>
            </a:extLst>
          </p:cNvPr>
          <p:cNvCxnSpPr>
            <a:cxnSpLocks/>
          </p:cNvCxnSpPr>
          <p:nvPr/>
        </p:nvCxnSpPr>
        <p:spPr>
          <a:xfrm>
            <a:off x="1948044" y="3757168"/>
            <a:ext cx="655307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ash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15">
            <a:extLst>
              <a:ext uri="{FF2B5EF4-FFF2-40B4-BE49-F238E27FC236}">
                <a16:creationId xmlns:a16="http://schemas.microsoft.com/office/drawing/2014/main" id="{9E424854-9C8B-2D04-A334-C100561E5487}"/>
              </a:ext>
            </a:extLst>
          </p:cNvPr>
          <p:cNvGrpSpPr>
            <a:grpSpLocks/>
          </p:cNvGrpSpPr>
          <p:nvPr/>
        </p:nvGrpSpPr>
        <p:grpSpPr bwMode="auto">
          <a:xfrm>
            <a:off x="5927350" y="5883526"/>
            <a:ext cx="1369275" cy="715600"/>
            <a:chOff x="5257800" y="685800"/>
            <a:chExt cx="1371600" cy="715600"/>
          </a:xfrm>
          <a:effectLst/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EB5965-8D6A-F02F-6EA5-3CE102D1BB86}"/>
                </a:ext>
              </a:extLst>
            </p:cNvPr>
            <p:cNvSpPr txBox="1"/>
            <p:nvPr/>
          </p:nvSpPr>
          <p:spPr>
            <a:xfrm>
              <a:off x="5257800" y="685800"/>
              <a:ext cx="1371600" cy="381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S1 sheet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1DE353D-F64A-6C53-685B-858A3F9061AE}"/>
                </a:ext>
              </a:extLst>
            </p:cNvPr>
            <p:cNvCxnSpPr>
              <a:cxnSpLocks/>
              <a:stCxn id="40" idx="2"/>
            </p:cNvCxnSpPr>
            <p:nvPr/>
          </p:nvCxnSpPr>
          <p:spPr>
            <a:xfrm>
              <a:off x="5943600" y="1066800"/>
              <a:ext cx="0" cy="334600"/>
            </a:xfrm>
            <a:prstGeom prst="straightConnector1">
              <a:avLst/>
            </a:prstGeom>
            <a:ln>
              <a:solidFill>
                <a:srgbClr val="C00000"/>
              </a:solidFill>
              <a:prstDash val="sys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13">
            <a:extLst>
              <a:ext uri="{FF2B5EF4-FFF2-40B4-BE49-F238E27FC236}">
                <a16:creationId xmlns:a16="http://schemas.microsoft.com/office/drawing/2014/main" id="{C455DB7E-64D0-D462-450B-D5983301CEBC}"/>
              </a:ext>
            </a:extLst>
          </p:cNvPr>
          <p:cNvGrpSpPr>
            <a:grpSpLocks/>
          </p:cNvGrpSpPr>
          <p:nvPr/>
        </p:nvGrpSpPr>
        <p:grpSpPr bwMode="auto">
          <a:xfrm>
            <a:off x="7296625" y="244856"/>
            <a:ext cx="1478291" cy="865113"/>
            <a:chOff x="4667624" y="826673"/>
            <a:chExt cx="1855872" cy="865113"/>
          </a:xfrm>
          <a:effectLst/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D1BDD16-5AE1-C67D-7205-85F0842F869A}"/>
                </a:ext>
              </a:extLst>
            </p:cNvPr>
            <p:cNvSpPr txBox="1"/>
            <p:nvPr/>
          </p:nvSpPr>
          <p:spPr>
            <a:xfrm>
              <a:off x="4667624" y="826673"/>
              <a:ext cx="1855872" cy="381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statsim.xlsx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C30263D-E0AB-E7E9-B5D0-338CECEDE5D3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4667624" y="1207673"/>
              <a:ext cx="927937" cy="484113"/>
            </a:xfrm>
            <a:prstGeom prst="straightConnector1">
              <a:avLst/>
            </a:prstGeom>
            <a:ln>
              <a:solidFill>
                <a:srgbClr val="C00000"/>
              </a:solidFill>
              <a:prstDash val="sys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5A3F35C-051E-46D2-903A-FD17994549CD}"/>
              </a:ext>
            </a:extLst>
          </p:cNvPr>
          <p:cNvSpPr txBox="1"/>
          <p:nvPr/>
        </p:nvSpPr>
        <p:spPr>
          <a:xfrm>
            <a:off x="9482748" y="895270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rgbClr val="54544B"/>
                </a:solidFill>
              </a:rPr>
              <a:t>statsim.xlsx  </a:t>
            </a:r>
            <a:r>
              <a:rPr lang="en-US" sz="1200" dirty="0">
                <a:solidFill>
                  <a:srgbClr val="54544B"/>
                </a:solidFill>
              </a:rPr>
              <a:t>|  S1</a:t>
            </a:r>
          </a:p>
        </p:txBody>
      </p:sp>
    </p:spTree>
    <p:extLst>
      <p:ext uri="{BB962C8B-B14F-4D97-AF65-F5344CB8AC3E}">
        <p14:creationId xmlns:p14="http://schemas.microsoft.com/office/powerpoint/2010/main" val="29630561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E5F8A-24CF-440F-DA4A-4A30FCA77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67F51AEE-4A64-C6B5-C4B9-1E545B012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315" y="1061772"/>
            <a:ext cx="5443685" cy="57962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DDF175-8D09-E59D-3209-CFF4508A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3  </a:t>
            </a:r>
            <a:r>
              <a:rPr lang="en-US" b="0" dirty="0"/>
              <a:t>|  Reviewing Results</a:t>
            </a:r>
          </a:p>
        </p:txBody>
      </p:sp>
      <p:grpSp>
        <p:nvGrpSpPr>
          <p:cNvPr id="8" name="Group 38">
            <a:extLst>
              <a:ext uri="{FF2B5EF4-FFF2-40B4-BE49-F238E27FC236}">
                <a16:creationId xmlns:a16="http://schemas.microsoft.com/office/drawing/2014/main" id="{F8F94AE7-3884-34D5-E810-49963513305C}"/>
              </a:ext>
            </a:extLst>
          </p:cNvPr>
          <p:cNvGrpSpPr>
            <a:grpSpLocks/>
          </p:cNvGrpSpPr>
          <p:nvPr/>
        </p:nvGrpSpPr>
        <p:grpSpPr bwMode="auto">
          <a:xfrm>
            <a:off x="4099523" y="1089094"/>
            <a:ext cx="3448493" cy="923330"/>
            <a:chOff x="4724400" y="-152400"/>
            <a:chExt cx="3448493" cy="923330"/>
          </a:xfrm>
          <a:effectLst/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7604A0-E097-1D16-1670-7F298E826706}"/>
                </a:ext>
              </a:extLst>
            </p:cNvPr>
            <p:cNvSpPr txBox="1"/>
            <p:nvPr/>
          </p:nvSpPr>
          <p:spPr>
            <a:xfrm>
              <a:off x="4724400" y="-152400"/>
              <a:ext cx="2133600" cy="92333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Automatically saves and closes before reportin</a:t>
              </a:r>
              <a:r>
                <a:rPr lang="en-US" b="1" dirty="0">
                  <a:solidFill>
                    <a:schemeClr val="bg1"/>
                  </a:solidFill>
                </a:rPr>
                <a:t>g results</a:t>
              </a:r>
              <a:endParaRPr lang="en-US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F22BCBA-DE24-7C72-1E3F-AF8657A8674F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6858000" y="34740"/>
              <a:ext cx="1314893" cy="274525"/>
            </a:xfrm>
            <a:prstGeom prst="straightConnector1">
              <a:avLst/>
            </a:prstGeom>
            <a:ln>
              <a:solidFill>
                <a:srgbClr val="C00000"/>
              </a:solidFill>
              <a:prstDash val="sys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F0CCF16-8D6E-9672-0DE9-5D639CB1AAA5}"/>
              </a:ext>
            </a:extLst>
          </p:cNvPr>
          <p:cNvSpPr/>
          <p:nvPr/>
        </p:nvSpPr>
        <p:spPr>
          <a:xfrm>
            <a:off x="7059880" y="2613868"/>
            <a:ext cx="3927596" cy="3335221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0B4BF64-B79D-ED82-F3A4-B61F6A865ACA}"/>
              </a:ext>
            </a:extLst>
          </p:cNvPr>
          <p:cNvCxnSpPr>
            <a:cxnSpLocks/>
          </p:cNvCxnSpPr>
          <p:nvPr/>
        </p:nvCxnSpPr>
        <p:spPr>
          <a:xfrm>
            <a:off x="6320518" y="3000276"/>
            <a:ext cx="551503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D7F5C0-EBB8-4850-EACB-09C9B091A0C8}"/>
              </a:ext>
            </a:extLst>
          </p:cNvPr>
          <p:cNvCxnSpPr>
            <a:cxnSpLocks/>
          </p:cNvCxnSpPr>
          <p:nvPr/>
        </p:nvCxnSpPr>
        <p:spPr>
          <a:xfrm>
            <a:off x="6104428" y="6431878"/>
            <a:ext cx="1167741" cy="109396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sysDash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13">
            <a:extLst>
              <a:ext uri="{FF2B5EF4-FFF2-40B4-BE49-F238E27FC236}">
                <a16:creationId xmlns:a16="http://schemas.microsoft.com/office/drawing/2014/main" id="{D7828674-D384-F804-E298-1108EB48C91B}"/>
              </a:ext>
            </a:extLst>
          </p:cNvPr>
          <p:cNvGrpSpPr>
            <a:grpSpLocks/>
          </p:cNvGrpSpPr>
          <p:nvPr/>
        </p:nvGrpSpPr>
        <p:grpSpPr bwMode="auto">
          <a:xfrm>
            <a:off x="8883596" y="281092"/>
            <a:ext cx="1478291" cy="865113"/>
            <a:chOff x="4667624" y="826673"/>
            <a:chExt cx="1855872" cy="865113"/>
          </a:xfrm>
          <a:effectLst/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3618867-0B5D-BED1-BA44-FC89CC7F9FC1}"/>
                </a:ext>
              </a:extLst>
            </p:cNvPr>
            <p:cNvSpPr txBox="1"/>
            <p:nvPr/>
          </p:nvSpPr>
          <p:spPr>
            <a:xfrm>
              <a:off x="4667624" y="826673"/>
              <a:ext cx="1855872" cy="381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  <a:latin typeface="+mn-lt"/>
                </a:rPr>
                <a:t>statrep.xlsx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9061300-7CA7-D93F-65AB-DE74C923C5E3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4667624" y="1207673"/>
              <a:ext cx="927937" cy="484113"/>
            </a:xfrm>
            <a:prstGeom prst="straightConnector1">
              <a:avLst/>
            </a:prstGeom>
            <a:ln>
              <a:solidFill>
                <a:srgbClr val="C00000"/>
              </a:solidFill>
              <a:prstDash val="sys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8458D73-8939-6721-4B2E-DA5F3743ED26}"/>
              </a:ext>
            </a:extLst>
          </p:cNvPr>
          <p:cNvSpPr/>
          <p:nvPr/>
        </p:nvSpPr>
        <p:spPr>
          <a:xfrm>
            <a:off x="7378691" y="6602499"/>
            <a:ext cx="3927596" cy="239959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54544B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158FBD3-0E31-E6F4-47E2-362146087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2" y="6230011"/>
            <a:ext cx="5778708" cy="3670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20512B9-4442-F6A7-3FD7-05CE09E5F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8528" y="2284590"/>
            <a:ext cx="4441990" cy="366449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7C766E0-DDB8-EFA5-331E-E8D1A6FC5851}"/>
              </a:ext>
            </a:extLst>
          </p:cNvPr>
          <p:cNvSpPr txBox="1"/>
          <p:nvPr/>
        </p:nvSpPr>
        <p:spPr>
          <a:xfrm>
            <a:off x="9541610" y="722990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rgbClr val="54544B"/>
                </a:solidFill>
              </a:rPr>
              <a:t>statrep.xlsx  </a:t>
            </a:r>
            <a:r>
              <a:rPr lang="en-US" sz="1200" dirty="0">
                <a:solidFill>
                  <a:srgbClr val="54544B"/>
                </a:solidFill>
              </a:rPr>
              <a:t>|  Macro</a:t>
            </a:r>
          </a:p>
        </p:txBody>
      </p:sp>
    </p:spTree>
    <p:extLst>
      <p:ext uri="{BB962C8B-B14F-4D97-AF65-F5344CB8AC3E}">
        <p14:creationId xmlns:p14="http://schemas.microsoft.com/office/powerpoint/2010/main" val="36372065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5EC33-0545-B61A-1232-19964E3D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3  </a:t>
            </a:r>
            <a:r>
              <a:rPr lang="en-US" b="0" dirty="0"/>
              <a:t>|  Reviewing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C824BB-AAAF-45EE-94CD-4BCBE6E60A6C}"/>
              </a:ext>
            </a:extLst>
          </p:cNvPr>
          <p:cNvGraphicFramePr>
            <a:graphicFrameLocks/>
          </p:cNvGraphicFramePr>
          <p:nvPr/>
        </p:nvGraphicFramePr>
        <p:xfrm>
          <a:off x="752580" y="1250879"/>
          <a:ext cx="9026121" cy="49752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36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008">
                <a:tc>
                  <a:txBody>
                    <a:bodyPr/>
                    <a:lstStyle/>
                    <a:p>
                      <a:r>
                        <a:rPr lang="en-US" sz="2000" dirty="0"/>
                        <a:t>Worksheet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Tables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008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Base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Initial sectoral production,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trade and tax structure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008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Macro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Macroeconomic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results, including exchange rates and CPI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008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GDP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GDP by expenditure group (nominal and real)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008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Sector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Sectoral GDP at factor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cost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008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Trade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Real value of imports and exports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008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Prices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Producer, market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and world prices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1603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Factors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Total factor supply,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economy-wide returns, total factor incomes, and sectoral factor demand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1603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Households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Institutional incomes, equivalent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variation (welfare), real expenditure by commodity, and institutional tax rates and collections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2589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CF18D-4EC2-AF56-B43A-95D98EF15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 </a:t>
            </a:r>
            <a:r>
              <a:rPr lang="en-US" b="0" dirty="0"/>
              <a:t>|  Some Constraints to Using Interface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2C14C0-7538-0793-894E-967637599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996" y="1281889"/>
            <a:ext cx="10835533" cy="4564107"/>
          </a:xfrm>
        </p:spPr>
        <p:txBody>
          <a:bodyPr>
            <a:normAutofit/>
          </a:bodyPr>
          <a:lstStyle/>
          <a:p>
            <a:r>
              <a:rPr lang="en-US" sz="2400" b="1" dirty="0"/>
              <a:t>To run the interface version of the standard model you need licensed versions of Excel and GAMS (Path)</a:t>
            </a:r>
          </a:p>
          <a:p>
            <a:endParaRPr lang="en-US" sz="2400" dirty="0"/>
          </a:p>
          <a:p>
            <a:r>
              <a:rPr lang="en-US" sz="2400" b="1" dirty="0"/>
              <a:t>You cannot change SAM structure (for this you would need to adapt the interface)</a:t>
            </a:r>
          </a:p>
          <a:p>
            <a:pPr lvl="1"/>
            <a:r>
              <a:rPr lang="en-US" sz="2200" b="1" dirty="0"/>
              <a:t>BUT </a:t>
            </a:r>
            <a:r>
              <a:rPr lang="en-US" sz="2200" dirty="0"/>
              <a:t>you can update the model to a more recent year using the SAM Toolkit</a:t>
            </a:r>
          </a:p>
          <a:p>
            <a:endParaRPr lang="en-US" sz="2400" dirty="0"/>
          </a:p>
          <a:p>
            <a:r>
              <a:rPr lang="en-US" sz="2400" b="1" dirty="0"/>
              <a:t>You cannot add new parameters to the interface</a:t>
            </a:r>
          </a:p>
          <a:p>
            <a:pPr lvl="1"/>
            <a:r>
              <a:rPr lang="en-US" sz="2200" dirty="0"/>
              <a:t>BUT all existing parameters in the standard model can be shocked using the interface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665506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9A81B-C44B-A51C-8DC8-8EFD39BED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378F8-1C70-7036-FC11-C8453BC3F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 </a:t>
            </a:r>
            <a:r>
              <a:rPr lang="en-US" b="0" dirty="0"/>
              <a:t>|  Available Shock Parameters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8995CC6-0DC6-07A9-0D87-E0C2DAE748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60115" y="957569"/>
          <a:ext cx="10096926" cy="5151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3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9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870">
                <a:tc>
                  <a:txBody>
                    <a:bodyPr/>
                    <a:lstStyle/>
                    <a:p>
                      <a:r>
                        <a:rPr lang="en-US" sz="2000" dirty="0"/>
                        <a:t>Category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Parameter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Commodity shocks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pwm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pwe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World import and export prices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te   tm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Export and import taxes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tq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Sales taxes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ice 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icm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icd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Export, import and domestic transaction costs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tax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dirty="0">
                          <a:solidFill>
                            <a:schemeClr val="tx1"/>
                          </a:solidFill>
                        </a:rPr>
                        <a:t>Closure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allow commodity taxes to change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559199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Activity shocks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alphava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TFP (production function shift parameter)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ta   tv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Activity and value-added taxes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fixcap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1" dirty="0">
                          <a:solidFill>
                            <a:schemeClr val="tx1"/>
                          </a:solidFill>
                        </a:rPr>
                        <a:t>Closure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make capital sector-specific and fixed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626695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fixlnd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dirty="0">
                          <a:solidFill>
                            <a:schemeClr val="tx1"/>
                          </a:solidFill>
                        </a:rPr>
                        <a:t>Closure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make land sector-specific and fixed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498983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alphaf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dirty="0">
                          <a:solidFill>
                            <a:schemeClr val="tx1"/>
                          </a:solidFill>
                        </a:rPr>
                        <a:t>Closure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allow factor-specific productivity to change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241195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tax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dirty="0">
                          <a:solidFill>
                            <a:schemeClr val="tx1"/>
                          </a:solidFill>
                        </a:rPr>
                        <a:t>Closure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allow activity taxes to change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11298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Factor shocks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wf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Economywide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(average) factor returns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qfs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Total factor supply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221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3364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A641F-87D2-D6C6-D2C1-58D9029D7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3A86-9CEF-2368-0D5C-E2F38998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 </a:t>
            </a:r>
            <a:r>
              <a:rPr lang="en-US" b="0" dirty="0"/>
              <a:t>|  Available Shock Parameters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4EFCE51-9505-C72E-7572-12DFFB1F4B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60115" y="957569"/>
          <a:ext cx="10096926" cy="5151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3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9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066">
                <a:tc>
                  <a:txBody>
                    <a:bodyPr/>
                    <a:lstStyle/>
                    <a:p>
                      <a:r>
                        <a:rPr lang="en-US" sz="2000" dirty="0"/>
                        <a:t>Category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Parameter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066">
                <a:tc>
                  <a:txBody>
                    <a:bodyPr/>
                    <a:lstStyle/>
                    <a:p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Factor shocks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alphaf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Factor-specific productivity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066"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solidFill>
                            <a:schemeClr val="tx1"/>
                          </a:solidFill>
                        </a:rPr>
                        <a:t>   (continued)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tf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Factor  taxes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066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trtg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Factor transfers to government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066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trtw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Factor transfers to rest of world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066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trfg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Factor transfers from government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366754"/>
                  </a:ext>
                </a:extLst>
              </a:tr>
              <a:tr h="358066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trfw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Factor transfers from rest of world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153110"/>
                  </a:ext>
                </a:extLst>
              </a:tr>
              <a:tr h="358066">
                <a:tc>
                  <a:txBody>
                    <a:bodyPr/>
                    <a:lstStyle/>
                    <a:p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Household and 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pop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Household population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066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  enterprise shocks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mps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Marginal propensity to save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066"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ti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Direct institution taxes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8066"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trtg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Domestic institution transfers to government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8066"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trtw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Domestic institution transfers to rest of world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449295"/>
                  </a:ext>
                </a:extLst>
              </a:tr>
              <a:tr h="358066"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trfg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Domestic institution transfers from government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976118"/>
                  </a:ext>
                </a:extLst>
              </a:tr>
              <a:tr h="358066"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trfw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Domestic institution transfers from rest of world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167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2040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C79A3-B2FF-B11B-D430-0C2B58568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 </a:t>
            </a:r>
            <a:r>
              <a:rPr lang="en-US" b="0" dirty="0"/>
              <a:t>|  Available Shock Parameters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9F50D11-8016-F78A-0DCC-EA9B554241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60115" y="957569"/>
          <a:ext cx="10096926" cy="5882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3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9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772">
                <a:tc>
                  <a:txBody>
                    <a:bodyPr/>
                    <a:lstStyle/>
                    <a:p>
                      <a:r>
                        <a:rPr lang="en-US" sz="2000" dirty="0"/>
                        <a:t>Category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Parameter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r>
                        <a:rPr lang="en-US" sz="1800" b="1" u="none" dirty="0">
                          <a:solidFill>
                            <a:schemeClr val="tx1"/>
                          </a:solidFill>
                        </a:rPr>
                        <a:t>Macroeconomic shocks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exr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Exchange rate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fsav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Foreign savings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iadj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Investment demand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invshr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Investment share of total absorption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mps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Savings rates (all institutions together)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366754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gsav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Government savings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153110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gadj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Government spending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76561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govshr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Government share of total absorption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747666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Export taxes (all commodities)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53814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tm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Import tariffs (all commodities)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485848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tq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Sales taxes (all commodities)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661403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Activity taxes (all activities)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257619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tv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Value-added taxes (all activities)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607650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tf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Factor taxes (all factors)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388032"/>
                  </a:ext>
                </a:extLst>
              </a:tr>
              <a:tr h="345772">
                <a:tc>
                  <a:txBody>
                    <a:bodyPr/>
                    <a:lstStyle/>
                    <a:p>
                      <a:endParaRPr lang="en-US" sz="1800" b="1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Direct taxes (all domestic institutions)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609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59271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3DC7-DA25-3A40-6AC6-827ED311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6  (continued)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Exercises Using the Interface Model</a:t>
            </a:r>
            <a:endParaRPr lang="en-US" dirty="0"/>
          </a:p>
        </p:txBody>
      </p:sp>
      <p:pic>
        <p:nvPicPr>
          <p:cNvPr id="9" name="Picture 8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43BDDE39-D38B-8049-B7C6-B366FF0D6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824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FE27-0C79-4B31-BBE4-63094EA2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  |  </a:t>
            </a:r>
            <a:r>
              <a:rPr lang="en-US" b="0" dirty="0"/>
              <a:t>Foreign Capital Outflows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9ACC8-8700-4C54-BB0E-4DAC8E863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50" y="1025035"/>
            <a:ext cx="11609403" cy="31067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Shock</a:t>
            </a:r>
          </a:p>
          <a:p>
            <a:r>
              <a:rPr lang="en-US" sz="1800" dirty="0"/>
              <a:t>Reduce foreign capital inflows by 50%</a:t>
            </a:r>
            <a:r>
              <a:rPr lang="en-US" sz="1200" dirty="0"/>
              <a:t>   (i.e., -50% foreign savings)</a:t>
            </a:r>
            <a:endParaRPr lang="en-US" dirty="0"/>
          </a:p>
          <a:p>
            <a:pPr marL="0" indent="0">
              <a:buNone/>
            </a:pPr>
            <a:endParaRPr lang="en-US" sz="100" b="1" dirty="0"/>
          </a:p>
          <a:p>
            <a:pPr marL="0" indent="0">
              <a:buNone/>
            </a:pPr>
            <a:r>
              <a:rPr lang="en-US" sz="2400" b="1" dirty="0"/>
              <a:t>Four sets of closures</a:t>
            </a:r>
          </a:p>
          <a:p>
            <a:r>
              <a:rPr lang="en-US" sz="1800" b="1" dirty="0"/>
              <a:t>Sim1</a:t>
            </a:r>
            <a:r>
              <a:rPr lang="en-US" sz="1800" dirty="0"/>
              <a:t>: Full employment, savings-driven investment   	</a:t>
            </a:r>
            <a:r>
              <a:rPr lang="en-US" sz="1200" dirty="0"/>
              <a:t>(fixed savings rates, flexible investment) </a:t>
            </a:r>
            <a:endParaRPr lang="en-US" sz="1800" dirty="0"/>
          </a:p>
          <a:p>
            <a:r>
              <a:rPr lang="en-US" sz="1800" b="1" dirty="0"/>
              <a:t>Sim2</a:t>
            </a:r>
            <a:r>
              <a:rPr lang="en-US" sz="1800" dirty="0"/>
              <a:t>: Full employment, investment-driven savings   	</a:t>
            </a:r>
            <a:r>
              <a:rPr lang="en-US" sz="1200" dirty="0"/>
              <a:t>(fixed investment, flexible savings rates, scaled MPS adjustment)</a:t>
            </a:r>
            <a:endParaRPr lang="en-US" sz="1800" dirty="0"/>
          </a:p>
          <a:p>
            <a:r>
              <a:rPr lang="en-US" sz="1800" b="1" dirty="0"/>
              <a:t>Sim3</a:t>
            </a:r>
            <a:r>
              <a:rPr lang="en-US" sz="1800" dirty="0"/>
              <a:t>: Unemployment, investment-driven savings     	</a:t>
            </a:r>
            <a:r>
              <a:rPr lang="en-US" sz="1200" dirty="0"/>
              <a:t>(fixed wage rate, flexible labor supply , scaled MPS adjustment)</a:t>
            </a:r>
          </a:p>
          <a:p>
            <a:r>
              <a:rPr lang="en-US" sz="1800" b="1" dirty="0"/>
              <a:t>Sim4</a:t>
            </a:r>
            <a:r>
              <a:rPr lang="en-US" sz="1800" dirty="0"/>
              <a:t>: Unemployment, investment-driven savings     	</a:t>
            </a:r>
            <a:r>
              <a:rPr lang="en-US" sz="1200" dirty="0"/>
              <a:t>(fixed wage rate, flexible labor supply , uniform MPS adjustment)</a:t>
            </a:r>
          </a:p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48C28D-DF2A-42ED-AEFA-58FCFE5A5D72}"/>
              </a:ext>
            </a:extLst>
          </p:cNvPr>
          <p:cNvGrpSpPr/>
          <p:nvPr/>
        </p:nvGrpSpPr>
        <p:grpSpPr>
          <a:xfrm>
            <a:off x="430850" y="4120673"/>
            <a:ext cx="8897860" cy="1214622"/>
            <a:chOff x="457511" y="5261050"/>
            <a:chExt cx="8897860" cy="121462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433D4DA-0FAF-4558-914A-018D246C05E8}"/>
                </a:ext>
              </a:extLst>
            </p:cNvPr>
            <p:cNvSpPr/>
            <p:nvPr/>
          </p:nvSpPr>
          <p:spPr>
            <a:xfrm>
              <a:off x="457511" y="5261050"/>
              <a:ext cx="8897860" cy="1214622"/>
            </a:xfrm>
            <a:prstGeom prst="rect">
              <a:avLst/>
            </a:prstGeom>
            <a:solidFill>
              <a:srgbClr val="0B8EB8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DC6173-8F5B-4CAB-86D6-58DABB946860}"/>
                </a:ext>
              </a:extLst>
            </p:cNvPr>
            <p:cNvSpPr txBox="1"/>
            <p:nvPr/>
          </p:nvSpPr>
          <p:spPr>
            <a:xfrm>
              <a:off x="656953" y="5971691"/>
              <a:ext cx="1350781" cy="338554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Exports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2D690E-EACF-4CF3-A088-9AC1CB149394}"/>
                </a:ext>
              </a:extLst>
            </p:cNvPr>
            <p:cNvSpPr txBox="1"/>
            <p:nvPr/>
          </p:nvSpPr>
          <p:spPr>
            <a:xfrm>
              <a:off x="2361711" y="5966546"/>
              <a:ext cx="1350781" cy="338554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Grants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C813336-5502-4FAB-9AFF-BEBE9999311F}"/>
                </a:ext>
              </a:extLst>
            </p:cNvPr>
            <p:cNvSpPr txBox="1"/>
            <p:nvPr/>
          </p:nvSpPr>
          <p:spPr>
            <a:xfrm>
              <a:off x="4067160" y="5967680"/>
              <a:ext cx="1350091" cy="338554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Remittances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DDA97A0-A2DA-4AF1-B125-1EE2968A30BC}"/>
                </a:ext>
              </a:extLst>
            </p:cNvPr>
            <p:cNvSpPr txBox="1"/>
            <p:nvPr/>
          </p:nvSpPr>
          <p:spPr>
            <a:xfrm>
              <a:off x="2007043" y="5951157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B8EB8"/>
                  </a:solidFill>
                </a:rPr>
                <a:t>+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B70F93-1682-4BD3-9DBC-5B8888487D19}"/>
                </a:ext>
              </a:extLst>
            </p:cNvPr>
            <p:cNvSpPr txBox="1"/>
            <p:nvPr/>
          </p:nvSpPr>
          <p:spPr>
            <a:xfrm>
              <a:off x="3712147" y="5945934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B8EB8"/>
                  </a:solidFill>
                </a:rPr>
                <a:t>+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14C25C3-C947-41C2-9B14-816A284D7964}"/>
                </a:ext>
              </a:extLst>
            </p:cNvPr>
            <p:cNvSpPr txBox="1"/>
            <p:nvPr/>
          </p:nvSpPr>
          <p:spPr>
            <a:xfrm>
              <a:off x="5773957" y="5972963"/>
              <a:ext cx="1392612" cy="338554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Foreign saving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EF3DADE-332D-45F1-B3B6-D63249DAEE50}"/>
                </a:ext>
              </a:extLst>
            </p:cNvPr>
            <p:cNvSpPr txBox="1"/>
            <p:nvPr/>
          </p:nvSpPr>
          <p:spPr>
            <a:xfrm>
              <a:off x="7803428" y="5971567"/>
              <a:ext cx="1350781" cy="338554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Imports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BC1C57F-444D-4A92-9D4A-3465958AC5C8}"/>
                </a:ext>
              </a:extLst>
            </p:cNvPr>
            <p:cNvSpPr txBox="1"/>
            <p:nvPr/>
          </p:nvSpPr>
          <p:spPr>
            <a:xfrm>
              <a:off x="5416906" y="5952291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B8EB8"/>
                  </a:solidFill>
                </a:rPr>
                <a:t>+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E54C0EE-0660-4FF2-BFA9-289E8588D905}"/>
                </a:ext>
              </a:extLst>
            </p:cNvPr>
            <p:cNvSpPr txBox="1"/>
            <p:nvPr/>
          </p:nvSpPr>
          <p:spPr>
            <a:xfrm>
              <a:off x="7303064" y="5906124"/>
              <a:ext cx="3553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B8EB8"/>
                  </a:solidFill>
                </a:rPr>
                <a:t>=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BBCB0A9-709E-40EA-9C55-A4BF74706F30}"/>
                </a:ext>
              </a:extLst>
            </p:cNvPr>
            <p:cNvSpPr txBox="1"/>
            <p:nvPr/>
          </p:nvSpPr>
          <p:spPr>
            <a:xfrm>
              <a:off x="457511" y="5272186"/>
              <a:ext cx="8897860" cy="869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B8EB8"/>
                  </a:solidFill>
                </a:rPr>
                <a:t>Current account</a:t>
              </a:r>
            </a:p>
            <a:p>
              <a:r>
                <a:rPr lang="en-US" sz="1050" dirty="0">
                  <a:solidFill>
                    <a:srgbClr val="0B8EB8"/>
                  </a:solidFill>
                </a:rPr>
                <a:t>Total inflow of foreign exchange (exports, grants and remittances) must equal total outflows (imports)</a:t>
              </a:r>
            </a:p>
            <a:p>
              <a:endParaRPr lang="en-US" sz="2000" b="1" dirty="0">
                <a:solidFill>
                  <a:srgbClr val="0B8EB8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F02AFA-35E6-402A-A28F-0BE065A57F60}"/>
              </a:ext>
            </a:extLst>
          </p:cNvPr>
          <p:cNvGrpSpPr/>
          <p:nvPr/>
        </p:nvGrpSpPr>
        <p:grpSpPr>
          <a:xfrm>
            <a:off x="430850" y="5500846"/>
            <a:ext cx="7481379" cy="1214622"/>
            <a:chOff x="457511" y="5261050"/>
            <a:chExt cx="7481379" cy="121462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84AFDC5-237E-4448-A410-C42036989A5F}"/>
                </a:ext>
              </a:extLst>
            </p:cNvPr>
            <p:cNvSpPr/>
            <p:nvPr/>
          </p:nvSpPr>
          <p:spPr>
            <a:xfrm>
              <a:off x="457511" y="5261050"/>
              <a:ext cx="7160066" cy="1214622"/>
            </a:xfrm>
            <a:prstGeom prst="rect">
              <a:avLst/>
            </a:prstGeom>
            <a:solidFill>
              <a:srgbClr val="5C8E3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9BB5657-F45B-4E27-BA7D-B47644243DBF}"/>
                </a:ext>
              </a:extLst>
            </p:cNvPr>
            <p:cNvSpPr txBox="1"/>
            <p:nvPr/>
          </p:nvSpPr>
          <p:spPr>
            <a:xfrm>
              <a:off x="656953" y="5971691"/>
              <a:ext cx="1350781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Private saving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4E21597-F863-4F09-B08D-F3CF3E8EF010}"/>
                </a:ext>
              </a:extLst>
            </p:cNvPr>
            <p:cNvSpPr txBox="1"/>
            <p:nvPr/>
          </p:nvSpPr>
          <p:spPr>
            <a:xfrm>
              <a:off x="2361711" y="5966546"/>
              <a:ext cx="1350781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Public saving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49AD20E-0A50-480A-B576-E960E943CF79}"/>
                </a:ext>
              </a:extLst>
            </p:cNvPr>
            <p:cNvSpPr txBox="1"/>
            <p:nvPr/>
          </p:nvSpPr>
          <p:spPr>
            <a:xfrm>
              <a:off x="4067160" y="5967680"/>
              <a:ext cx="1378005" cy="338554"/>
            </a:xfrm>
            <a:prstGeom prst="rect">
              <a:avLst/>
            </a:prstGeom>
            <a:solidFill>
              <a:srgbClr val="0B8EB8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Foreign saving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B5925A-4419-45C8-97DA-600C961C348E}"/>
                </a:ext>
              </a:extLst>
            </p:cNvPr>
            <p:cNvSpPr txBox="1"/>
            <p:nvPr/>
          </p:nvSpPr>
          <p:spPr>
            <a:xfrm>
              <a:off x="2007043" y="5951157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C8E3A"/>
                  </a:solidFill>
                </a:rPr>
                <a:t>+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9CB9B8-68C2-481F-95E8-18AEA1830945}"/>
                </a:ext>
              </a:extLst>
            </p:cNvPr>
            <p:cNvSpPr txBox="1"/>
            <p:nvPr/>
          </p:nvSpPr>
          <p:spPr>
            <a:xfrm>
              <a:off x="3712147" y="5945934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C8E3A"/>
                  </a:solidFill>
                </a:rPr>
                <a:t>+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F272892-3777-4D04-9367-AFEE7E81F5A5}"/>
                </a:ext>
              </a:extLst>
            </p:cNvPr>
            <p:cNvSpPr txBox="1"/>
            <p:nvPr/>
          </p:nvSpPr>
          <p:spPr>
            <a:xfrm>
              <a:off x="6098670" y="5976712"/>
              <a:ext cx="1350781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Investment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2F1A154-F3D9-4254-BFAD-4DCEE0641BE1}"/>
                </a:ext>
              </a:extLst>
            </p:cNvPr>
            <p:cNvSpPr txBox="1"/>
            <p:nvPr/>
          </p:nvSpPr>
          <p:spPr>
            <a:xfrm>
              <a:off x="5594238" y="5899767"/>
              <a:ext cx="3553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5C8E3A"/>
                  </a:solidFill>
                </a:rPr>
                <a:t>=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34A79B5-8EF5-4858-87C6-C1F987898D13}"/>
                </a:ext>
              </a:extLst>
            </p:cNvPr>
            <p:cNvSpPr txBox="1"/>
            <p:nvPr/>
          </p:nvSpPr>
          <p:spPr>
            <a:xfrm>
              <a:off x="457511" y="5272186"/>
              <a:ext cx="7481379" cy="869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5C8E3A"/>
                  </a:solidFill>
                </a:rPr>
                <a:t>Savings – Investment </a:t>
              </a:r>
            </a:p>
            <a:p>
              <a:r>
                <a:rPr lang="en-US" sz="1050" dirty="0">
                  <a:solidFill>
                    <a:srgbClr val="5C8E3A"/>
                  </a:solidFill>
                </a:rPr>
                <a:t>Total supply of loanable funds (savings) must equal total investment demand</a:t>
              </a:r>
            </a:p>
            <a:p>
              <a:endParaRPr lang="en-US" sz="2000" b="1" dirty="0">
                <a:solidFill>
                  <a:srgbClr val="5C8E3A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619DFCE-66B3-4D5C-8D4C-AC69C65091FB}"/>
              </a:ext>
            </a:extLst>
          </p:cNvPr>
          <p:cNvSpPr txBox="1"/>
          <p:nvPr/>
        </p:nvSpPr>
        <p:spPr>
          <a:xfrm>
            <a:off x="9320721" y="4355189"/>
            <a:ext cx="1187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600" b="1" dirty="0">
                <a:solidFill>
                  <a:srgbClr val="0B8EB8"/>
                </a:solidFill>
              </a:rPr>
              <a:t>Fix one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0B8EB8"/>
                </a:solidFill>
              </a:rPr>
              <a:t>Exchange rate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0B8EB8"/>
                </a:solidFill>
              </a:rPr>
              <a:t>Foreign savings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13044-D054-4531-A070-CAECCBD49F2D}"/>
              </a:ext>
            </a:extLst>
          </p:cNvPr>
          <p:cNvSpPr txBox="1"/>
          <p:nvPr/>
        </p:nvSpPr>
        <p:spPr>
          <a:xfrm>
            <a:off x="7590916" y="5754214"/>
            <a:ext cx="1187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600" b="1" dirty="0">
                <a:solidFill>
                  <a:srgbClr val="5C8E3A"/>
                </a:solidFill>
              </a:rPr>
              <a:t>Fix one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5C8E3A"/>
                </a:solidFill>
              </a:rPr>
              <a:t>Savings rates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5C8E3A"/>
                </a:solidFill>
              </a:rPr>
              <a:t>Investment</a:t>
            </a:r>
          </a:p>
        </p:txBody>
      </p:sp>
    </p:spTree>
    <p:extLst>
      <p:ext uri="{BB962C8B-B14F-4D97-AF65-F5344CB8AC3E}">
        <p14:creationId xmlns:p14="http://schemas.microsoft.com/office/powerpoint/2010/main" val="85920448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CFF7-B33D-4012-BFD6-7EDE91CCB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  </a:t>
            </a:r>
            <a:r>
              <a:rPr lang="en-US" b="0" dirty="0"/>
              <a:t>| 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5DEB5-5AE8-421B-AC4D-6C85290B5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Macro</a:t>
            </a:r>
          </a:p>
          <a:p>
            <a:r>
              <a:rPr lang="en-US" dirty="0"/>
              <a:t>↓Foreign savings = Exchange shortage    →    </a:t>
            </a:r>
            <a:r>
              <a:rPr lang="en-US" dirty="0">
                <a:solidFill>
                  <a:srgbClr val="0B8EB8"/>
                </a:solidFill>
              </a:rPr>
              <a:t>Real exchange rate depreciation</a:t>
            </a:r>
            <a:r>
              <a:rPr lang="en-US" dirty="0"/>
              <a:t>    →    ↑Exports &amp; ↓Imports</a:t>
            </a:r>
          </a:p>
          <a:p>
            <a:r>
              <a:rPr lang="en-US" dirty="0"/>
              <a:t>↓Foreign savings = ↓Loanable funds    →    </a:t>
            </a:r>
            <a:r>
              <a:rPr lang="en-US" dirty="0">
                <a:solidFill>
                  <a:srgbClr val="5C8E3A"/>
                </a:solidFill>
              </a:rPr>
              <a:t>↓Investment   </a:t>
            </a:r>
            <a:r>
              <a:rPr lang="en-US" u="sng" dirty="0">
                <a:solidFill>
                  <a:srgbClr val="5C8E3A"/>
                </a:solidFill>
              </a:rPr>
              <a:t>OR</a:t>
            </a:r>
            <a:r>
              <a:rPr lang="en-US" dirty="0">
                <a:solidFill>
                  <a:srgbClr val="5C8E3A"/>
                </a:solidFill>
              </a:rPr>
              <a:t>   ↑Private savings</a:t>
            </a:r>
          </a:p>
          <a:p>
            <a:pPr marL="0" indent="0">
              <a:buNone/>
            </a:pPr>
            <a:r>
              <a:rPr lang="en-US" dirty="0"/>
              <a:t>							       ↑Private savings    →     ↓Private consumption</a:t>
            </a:r>
          </a:p>
          <a:p>
            <a:pPr marL="0" indent="0">
              <a:buNone/>
            </a:pPr>
            <a:r>
              <a:rPr lang="en-US" b="1" dirty="0"/>
              <a:t>Trade (+ Base)</a:t>
            </a:r>
          </a:p>
          <a:p>
            <a:r>
              <a:rPr lang="en-US" dirty="0"/>
              <a:t>Depreciation  →   ↑Export-oriented products (e.g., textiles)  &amp; ↓Import-intensive products (e.g., machinery)</a:t>
            </a:r>
          </a:p>
          <a:p>
            <a:pPr marL="0" indent="0">
              <a:buNone/>
            </a:pPr>
            <a:r>
              <a:rPr lang="en-US" b="1" dirty="0"/>
              <a:t>Sector</a:t>
            </a:r>
          </a:p>
          <a:p>
            <a:r>
              <a:rPr lang="en-US" dirty="0"/>
              <a:t>↓Investment    →     ↓Construction</a:t>
            </a:r>
          </a:p>
          <a:p>
            <a:r>
              <a:rPr lang="en-US" dirty="0"/>
              <a:t>↓Private consumption     →     ↓Food (e.g., crops, livestock, etc.) </a:t>
            </a:r>
          </a:p>
          <a:p>
            <a:pPr marL="0" indent="0">
              <a:buNone/>
            </a:pPr>
            <a:r>
              <a:rPr lang="en-US" b="1" dirty="0"/>
              <a:t>Factors</a:t>
            </a:r>
          </a:p>
          <a:p>
            <a:r>
              <a:rPr lang="en-US" dirty="0">
                <a:solidFill>
                  <a:srgbClr val="C34E2D"/>
                </a:solidFill>
              </a:rPr>
              <a:t>↓Wages     OR   ↑Employment     </a:t>
            </a:r>
            <a:r>
              <a:rPr lang="en-US" dirty="0"/>
              <a:t>(larger ↓wage with ↓construction, which is capital-intensive)</a:t>
            </a:r>
          </a:p>
          <a:p>
            <a:pPr marL="0" indent="0">
              <a:buNone/>
            </a:pPr>
            <a:r>
              <a:rPr lang="en-US" b="1" dirty="0"/>
              <a:t>Households</a:t>
            </a:r>
          </a:p>
          <a:p>
            <a:r>
              <a:rPr lang="en-US" dirty="0"/>
              <a:t>↓Private consumption    (larger with ↑private savings)</a:t>
            </a:r>
          </a:p>
          <a:p>
            <a:r>
              <a:rPr lang="en-US" dirty="0"/>
              <a:t>Higher income households are worst-affected (less so with uniform savings rate adjustments)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88688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FE27-0C79-4B31-BBE4-63094EA2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6  |  </a:t>
            </a:r>
            <a:r>
              <a:rPr lang="en-US" b="0" dirty="0"/>
              <a:t>Tariff Liberalization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9ACC8-8700-4C54-BB0E-4DAC8E863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50" y="1025035"/>
            <a:ext cx="11491910" cy="2652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Shock</a:t>
            </a:r>
          </a:p>
          <a:p>
            <a:r>
              <a:rPr lang="en-US" sz="1800" dirty="0"/>
              <a:t>Eliminate all tariffs </a:t>
            </a:r>
            <a:r>
              <a:rPr lang="en-US" sz="1200" dirty="0"/>
              <a:t>(i.e., -100%)</a:t>
            </a:r>
            <a:endParaRPr lang="en-US" dirty="0"/>
          </a:p>
          <a:p>
            <a:pPr marL="0" indent="0">
              <a:buNone/>
            </a:pPr>
            <a:endParaRPr lang="en-US" sz="100" b="1" dirty="0"/>
          </a:p>
          <a:p>
            <a:pPr marL="0" indent="0">
              <a:buNone/>
            </a:pPr>
            <a:r>
              <a:rPr lang="en-US" sz="2400" b="1" dirty="0"/>
              <a:t>Two sets of closures</a:t>
            </a:r>
          </a:p>
          <a:p>
            <a:r>
              <a:rPr lang="en-US" sz="1800" b="1" dirty="0"/>
              <a:t>Sim1</a:t>
            </a:r>
            <a:r>
              <a:rPr lang="en-US" sz="1800" dirty="0"/>
              <a:t>: Full employment, savings-driven investment, deficit financed    </a:t>
            </a:r>
            <a:r>
              <a:rPr lang="en-US" sz="1200" dirty="0"/>
              <a:t>(fixed savings rates, flexible investment, flexible government savings) </a:t>
            </a:r>
            <a:endParaRPr lang="en-US" sz="1800" dirty="0"/>
          </a:p>
          <a:p>
            <a:r>
              <a:rPr lang="en-US" sz="1800" b="1" dirty="0"/>
              <a:t>Sim2</a:t>
            </a:r>
            <a:r>
              <a:rPr lang="en-US" sz="1800" dirty="0"/>
              <a:t>: Full employment, savings-driven investment, tax financed          </a:t>
            </a:r>
            <a:r>
              <a:rPr lang="en-US" sz="1200" dirty="0"/>
              <a:t>(fixed savings rates, flexible investment, flexible scaled direct tax rates) </a:t>
            </a:r>
          </a:p>
          <a:p>
            <a:endParaRPr lang="en-US" sz="1800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EA71BDF-55FB-47F7-B149-034A5463F856}"/>
              </a:ext>
            </a:extLst>
          </p:cNvPr>
          <p:cNvGrpSpPr/>
          <p:nvPr/>
        </p:nvGrpSpPr>
        <p:grpSpPr>
          <a:xfrm>
            <a:off x="430850" y="3679751"/>
            <a:ext cx="10640966" cy="1214622"/>
            <a:chOff x="457511" y="5261050"/>
            <a:chExt cx="10640966" cy="1214622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B670847-3347-4E8C-A939-32C3A472DD22}"/>
                </a:ext>
              </a:extLst>
            </p:cNvPr>
            <p:cNvSpPr/>
            <p:nvPr/>
          </p:nvSpPr>
          <p:spPr>
            <a:xfrm>
              <a:off x="457511" y="5261050"/>
              <a:ext cx="10640966" cy="1214622"/>
            </a:xfrm>
            <a:prstGeom prst="rect">
              <a:avLst/>
            </a:prstGeom>
            <a:solidFill>
              <a:schemeClr val="accent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FDDECFE-4C38-4499-A42C-28AC76E6A853}"/>
                </a:ext>
              </a:extLst>
            </p:cNvPr>
            <p:cNvSpPr txBox="1"/>
            <p:nvPr/>
          </p:nvSpPr>
          <p:spPr>
            <a:xfrm>
              <a:off x="656953" y="5971691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Direct taxes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E0E5BB9-BA75-44BD-8A05-31A735A13744}"/>
                </a:ext>
              </a:extLst>
            </p:cNvPr>
            <p:cNvSpPr txBox="1"/>
            <p:nvPr/>
          </p:nvSpPr>
          <p:spPr>
            <a:xfrm>
              <a:off x="2361711" y="5966546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Indirect taxes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4B11CD0-89B0-4AA8-9F70-3C3ED5E2BB99}"/>
                </a:ext>
              </a:extLst>
            </p:cNvPr>
            <p:cNvSpPr txBox="1"/>
            <p:nvPr/>
          </p:nvSpPr>
          <p:spPr>
            <a:xfrm>
              <a:off x="4067160" y="5967680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Grants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0D8128A-A0E6-45DD-B98D-AC84462F55D4}"/>
                </a:ext>
              </a:extLst>
            </p:cNvPr>
            <p:cNvSpPr txBox="1"/>
            <p:nvPr/>
          </p:nvSpPr>
          <p:spPr>
            <a:xfrm>
              <a:off x="2007043" y="5951157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+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1AC5EDD-04D4-4368-95CD-6C7636BF554C}"/>
                </a:ext>
              </a:extLst>
            </p:cNvPr>
            <p:cNvSpPr txBox="1"/>
            <p:nvPr/>
          </p:nvSpPr>
          <p:spPr>
            <a:xfrm>
              <a:off x="3712147" y="5945934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+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144CAD6-163C-41B1-BB5B-351C0508FE4F}"/>
                </a:ext>
              </a:extLst>
            </p:cNvPr>
            <p:cNvSpPr txBox="1"/>
            <p:nvPr/>
          </p:nvSpPr>
          <p:spPr>
            <a:xfrm>
              <a:off x="6098670" y="5976712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Consumption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E57E3FC-CB01-4CC0-811D-291B6B00EEB7}"/>
                </a:ext>
              </a:extLst>
            </p:cNvPr>
            <p:cNvSpPr txBox="1"/>
            <p:nvPr/>
          </p:nvSpPr>
          <p:spPr>
            <a:xfrm>
              <a:off x="7803428" y="5971567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Transfers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C73D5CB-F7CA-48DF-9B04-6AC865065A5E}"/>
                </a:ext>
              </a:extLst>
            </p:cNvPr>
            <p:cNvSpPr txBox="1"/>
            <p:nvPr/>
          </p:nvSpPr>
          <p:spPr>
            <a:xfrm>
              <a:off x="9508877" y="5972701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Public saving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612B54C-A0E7-4D89-9052-2EA5674D0E91}"/>
                </a:ext>
              </a:extLst>
            </p:cNvPr>
            <p:cNvSpPr txBox="1"/>
            <p:nvPr/>
          </p:nvSpPr>
          <p:spPr>
            <a:xfrm>
              <a:off x="7448760" y="5956178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+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6622BCA-A05B-4D64-AC74-14AF914685EB}"/>
                </a:ext>
              </a:extLst>
            </p:cNvPr>
            <p:cNvSpPr txBox="1"/>
            <p:nvPr/>
          </p:nvSpPr>
          <p:spPr>
            <a:xfrm>
              <a:off x="9153864" y="5950955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+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8804195-7EA7-4659-8063-5AD3A2AA5BBE}"/>
                </a:ext>
              </a:extLst>
            </p:cNvPr>
            <p:cNvSpPr txBox="1"/>
            <p:nvPr/>
          </p:nvSpPr>
          <p:spPr>
            <a:xfrm>
              <a:off x="5594238" y="5899767"/>
              <a:ext cx="3553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>
                      <a:lumMod val="75000"/>
                    </a:schemeClr>
                  </a:solidFill>
                </a:rPr>
                <a:t>=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58E90C4-5DAE-4EC8-B153-6988F56259B8}"/>
                </a:ext>
              </a:extLst>
            </p:cNvPr>
            <p:cNvSpPr txBox="1"/>
            <p:nvPr/>
          </p:nvSpPr>
          <p:spPr>
            <a:xfrm>
              <a:off x="457511" y="5272186"/>
              <a:ext cx="7481379" cy="869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Government</a:t>
              </a:r>
            </a:p>
            <a:p>
              <a:r>
                <a:rPr lang="en-US" sz="1050" dirty="0">
                  <a:solidFill>
                    <a:schemeClr val="accent2">
                      <a:lumMod val="75000"/>
                    </a:schemeClr>
                  </a:solidFill>
                </a:rPr>
                <a:t>Recurrent fiscal deficit (savings) equals total revenues (taxes and grants) less total expenditures (consumption and transfers)</a:t>
              </a:r>
            </a:p>
            <a:p>
              <a:endParaRPr lang="en-US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5CCEF2FC-D09F-4F0F-B182-FDD27432D051}"/>
              </a:ext>
            </a:extLst>
          </p:cNvPr>
          <p:cNvSpPr txBox="1"/>
          <p:nvPr/>
        </p:nvSpPr>
        <p:spPr>
          <a:xfrm>
            <a:off x="11071816" y="3851659"/>
            <a:ext cx="103857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Fix two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Tax rates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Consumption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Public savings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8D80860-6712-4C64-B2CC-C14AB5AF9377}"/>
              </a:ext>
            </a:extLst>
          </p:cNvPr>
          <p:cNvGrpSpPr/>
          <p:nvPr/>
        </p:nvGrpSpPr>
        <p:grpSpPr>
          <a:xfrm>
            <a:off x="430850" y="5027098"/>
            <a:ext cx="7481379" cy="1214622"/>
            <a:chOff x="457511" y="5261050"/>
            <a:chExt cx="7481379" cy="1214622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2DC6D5F-F702-4775-A265-D2F81B9DB726}"/>
                </a:ext>
              </a:extLst>
            </p:cNvPr>
            <p:cNvSpPr/>
            <p:nvPr/>
          </p:nvSpPr>
          <p:spPr>
            <a:xfrm>
              <a:off x="457511" y="5261050"/>
              <a:ext cx="7160066" cy="1214622"/>
            </a:xfrm>
            <a:prstGeom prst="rect">
              <a:avLst/>
            </a:prstGeom>
            <a:solidFill>
              <a:srgbClr val="5C8E3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7965B5F-625C-4096-BB06-48BAD7AEDD2A}"/>
                </a:ext>
              </a:extLst>
            </p:cNvPr>
            <p:cNvSpPr txBox="1"/>
            <p:nvPr/>
          </p:nvSpPr>
          <p:spPr>
            <a:xfrm>
              <a:off x="656953" y="5971691"/>
              <a:ext cx="1350781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Private saving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5C53065-2D5B-47ED-949C-80F625DE7BE3}"/>
                </a:ext>
              </a:extLst>
            </p:cNvPr>
            <p:cNvSpPr txBox="1"/>
            <p:nvPr/>
          </p:nvSpPr>
          <p:spPr>
            <a:xfrm>
              <a:off x="2361711" y="5966546"/>
              <a:ext cx="1350781" cy="3385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Public saving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2E485BB-0A7A-4588-9300-565D74ECDD0B}"/>
                </a:ext>
              </a:extLst>
            </p:cNvPr>
            <p:cNvSpPr txBox="1"/>
            <p:nvPr/>
          </p:nvSpPr>
          <p:spPr>
            <a:xfrm>
              <a:off x="4067160" y="5967680"/>
              <a:ext cx="1378005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Foreign saving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97DC34C-3B0A-4EE1-9938-6EEAEAF159B7}"/>
                </a:ext>
              </a:extLst>
            </p:cNvPr>
            <p:cNvSpPr txBox="1"/>
            <p:nvPr/>
          </p:nvSpPr>
          <p:spPr>
            <a:xfrm>
              <a:off x="2007043" y="5951157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C8E3A"/>
                  </a:solidFill>
                </a:rPr>
                <a:t>+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1258F1E-898F-478D-86BA-08A9117D99A2}"/>
                </a:ext>
              </a:extLst>
            </p:cNvPr>
            <p:cNvSpPr txBox="1"/>
            <p:nvPr/>
          </p:nvSpPr>
          <p:spPr>
            <a:xfrm>
              <a:off x="3712147" y="5945934"/>
              <a:ext cx="355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C8E3A"/>
                  </a:solidFill>
                </a:rPr>
                <a:t>+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C8CBB67-1B91-45E9-83A1-8DDF54AAA2BA}"/>
                </a:ext>
              </a:extLst>
            </p:cNvPr>
            <p:cNvSpPr txBox="1"/>
            <p:nvPr/>
          </p:nvSpPr>
          <p:spPr>
            <a:xfrm>
              <a:off x="6098670" y="5976712"/>
              <a:ext cx="1350781" cy="338554"/>
            </a:xfrm>
            <a:prstGeom prst="rect">
              <a:avLst/>
            </a:prstGeom>
            <a:solidFill>
              <a:srgbClr val="5C8E3A"/>
            </a:solidFill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Investment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CFEC5E3-50B9-451D-B3F4-79EEAF02929F}"/>
                </a:ext>
              </a:extLst>
            </p:cNvPr>
            <p:cNvSpPr txBox="1"/>
            <p:nvPr/>
          </p:nvSpPr>
          <p:spPr>
            <a:xfrm>
              <a:off x="5594238" y="5899767"/>
              <a:ext cx="3553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5C8E3A"/>
                  </a:solidFill>
                </a:rPr>
                <a:t>=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2585F80-46C9-4DBC-A714-F25CF5822CA4}"/>
                </a:ext>
              </a:extLst>
            </p:cNvPr>
            <p:cNvSpPr txBox="1"/>
            <p:nvPr/>
          </p:nvSpPr>
          <p:spPr>
            <a:xfrm>
              <a:off x="457511" y="5272186"/>
              <a:ext cx="7481379" cy="869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5C8E3A"/>
                  </a:solidFill>
                </a:rPr>
                <a:t>Savings – Investment </a:t>
              </a:r>
            </a:p>
            <a:p>
              <a:r>
                <a:rPr lang="en-US" sz="1050" dirty="0">
                  <a:solidFill>
                    <a:srgbClr val="5C8E3A"/>
                  </a:solidFill>
                </a:rPr>
                <a:t>Total supply of loanable funds (savings) must equal total investment demand</a:t>
              </a:r>
            </a:p>
            <a:p>
              <a:endParaRPr lang="en-US" sz="2000" b="1" dirty="0">
                <a:solidFill>
                  <a:srgbClr val="5C8E3A"/>
                </a:solidFill>
              </a:endParaRP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9C1ED6E3-F19E-4BD7-AF99-C19C8017C755}"/>
              </a:ext>
            </a:extLst>
          </p:cNvPr>
          <p:cNvSpPr txBox="1"/>
          <p:nvPr/>
        </p:nvSpPr>
        <p:spPr>
          <a:xfrm>
            <a:off x="7590916" y="5280466"/>
            <a:ext cx="1187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85750" algn="l"/>
              </a:tabLst>
            </a:pPr>
            <a:r>
              <a:rPr lang="en-US" sz="1600" b="1" dirty="0">
                <a:solidFill>
                  <a:srgbClr val="5C8E3A"/>
                </a:solidFill>
              </a:rPr>
              <a:t>Fix one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5C8E3A"/>
                </a:solidFill>
              </a:rPr>
              <a:t>Savings rates</a:t>
            </a:r>
          </a:p>
          <a:p>
            <a:pPr>
              <a:tabLst>
                <a:tab pos="285750" algn="l"/>
              </a:tabLst>
            </a:pPr>
            <a:r>
              <a:rPr lang="en-US" sz="1200" dirty="0">
                <a:solidFill>
                  <a:srgbClr val="5C8E3A"/>
                </a:solidFill>
              </a:rPr>
              <a:t>Investment</a:t>
            </a:r>
          </a:p>
        </p:txBody>
      </p:sp>
    </p:spTree>
    <p:extLst>
      <p:ext uri="{BB962C8B-B14F-4D97-AF65-F5344CB8AC3E}">
        <p14:creationId xmlns:p14="http://schemas.microsoft.com/office/powerpoint/2010/main" val="319745402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CFF7-B33D-4012-BFD6-7EDE91CCB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6  </a:t>
            </a:r>
            <a:r>
              <a:rPr lang="en-US" b="0" dirty="0"/>
              <a:t>| 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5DEB5-5AE8-421B-AC4D-6C85290B5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Macro</a:t>
            </a:r>
          </a:p>
          <a:p>
            <a:r>
              <a:rPr lang="en-US" dirty="0"/>
              <a:t>↓Tariffs    →    ↑Imports     →     </a:t>
            </a:r>
            <a:r>
              <a:rPr lang="en-US" dirty="0">
                <a:solidFill>
                  <a:srgbClr val="0B8EB8"/>
                </a:solidFill>
              </a:rPr>
              <a:t>Real exchange rate depreciation</a:t>
            </a:r>
            <a:r>
              <a:rPr lang="en-US" dirty="0"/>
              <a:t>     →  ↑Exports </a:t>
            </a:r>
          </a:p>
          <a:p>
            <a:r>
              <a:rPr lang="en-US" dirty="0"/>
              <a:t>↓Tariffs    →    ↓Consumer prices     →      ↑Private consumption</a:t>
            </a:r>
          </a:p>
          <a:p>
            <a:r>
              <a:rPr lang="en-US" dirty="0"/>
              <a:t>↓Tariffs = Revenue shortfall    →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↓Public savings   OR    ↑Tax rates</a:t>
            </a:r>
          </a:p>
          <a:p>
            <a:pPr marL="0" indent="0">
              <a:buNone/>
            </a:pPr>
            <a:r>
              <a:rPr lang="en-US" dirty="0"/>
              <a:t>				   ↓Public savings    →    </a:t>
            </a:r>
            <a:r>
              <a:rPr lang="en-US" dirty="0">
                <a:solidFill>
                  <a:srgbClr val="5C8E3A"/>
                </a:solidFill>
              </a:rPr>
              <a:t>↓Investment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			            ↑Tax rates    →    Smaller ↑private consumption</a:t>
            </a:r>
          </a:p>
          <a:p>
            <a:pPr marL="0" indent="0">
              <a:buNone/>
            </a:pPr>
            <a:r>
              <a:rPr lang="en-US" b="1" dirty="0"/>
              <a:t>Trade (+ Base)</a:t>
            </a:r>
          </a:p>
          <a:p>
            <a:r>
              <a:rPr lang="en-US" dirty="0"/>
              <a:t>↓Tariffs    →     ↑Import-intensive commodities</a:t>
            </a:r>
          </a:p>
          <a:p>
            <a:pPr marL="0" indent="0">
              <a:buNone/>
            </a:pPr>
            <a:r>
              <a:rPr lang="en-US" b="1" dirty="0"/>
              <a:t>Sector</a:t>
            </a:r>
          </a:p>
          <a:p>
            <a:r>
              <a:rPr lang="en-US" dirty="0"/>
              <a:t>↓Tariffs    →     ↓GDP for import-competing sectors</a:t>
            </a:r>
          </a:p>
          <a:p>
            <a:pPr marL="0" indent="0">
              <a:buNone/>
            </a:pPr>
            <a:r>
              <a:rPr lang="en-US" b="1" dirty="0"/>
              <a:t>Households</a:t>
            </a:r>
          </a:p>
          <a:p>
            <a:r>
              <a:rPr lang="en-US" dirty="0"/>
              <a:t>↑Private consumption    (smaller with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↑private savings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↑Tax rates     </a:t>
            </a:r>
            <a:r>
              <a:rPr lang="en-US" dirty="0"/>
              <a:t>→    ↓Consumption for high-income urban households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36505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2F57-AFEA-4395-796F-DD693E5F0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Exercises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0470A-AE3E-0287-2A7C-9453CCB49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108" y="1230518"/>
            <a:ext cx="8324409" cy="4975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  Flooding the fields</a:t>
            </a:r>
          </a:p>
          <a:p>
            <a:pPr lvl="1"/>
            <a:r>
              <a:rPr lang="en-US" sz="2200" dirty="0"/>
              <a:t>Reduce crop productivity (TFP) by 20%</a:t>
            </a:r>
          </a:p>
          <a:p>
            <a:endParaRPr lang="en-US" sz="100" dirty="0"/>
          </a:p>
          <a:p>
            <a:pPr marL="0" indent="0">
              <a:buNone/>
            </a:pPr>
            <a:r>
              <a:rPr lang="en-US" sz="2400" b="1" dirty="0"/>
              <a:t>2.  Running on empty</a:t>
            </a:r>
          </a:p>
          <a:p>
            <a:pPr lvl="1"/>
            <a:r>
              <a:rPr lang="en-US" sz="2200" dirty="0"/>
              <a:t>Increase world oil (petroleum and fertilizer) prices by 30%</a:t>
            </a:r>
          </a:p>
          <a:p>
            <a:endParaRPr lang="en-US" sz="100" dirty="0"/>
          </a:p>
          <a:p>
            <a:pPr marL="0" indent="0">
              <a:buNone/>
            </a:pPr>
            <a:r>
              <a:rPr lang="en-US" sz="2400" b="1" dirty="0"/>
              <a:t>3.  Lights out</a:t>
            </a:r>
          </a:p>
          <a:p>
            <a:pPr lvl="1"/>
            <a:r>
              <a:rPr lang="en-US" sz="2200" dirty="0"/>
              <a:t>Productivity (TFP) in the electricity sector falls by 20%</a:t>
            </a:r>
          </a:p>
          <a:p>
            <a:endParaRPr lang="en-US" sz="100" dirty="0"/>
          </a:p>
          <a:p>
            <a:pPr marL="0" indent="0">
              <a:buNone/>
            </a:pPr>
            <a:r>
              <a:rPr lang="en-US" sz="2400" b="1" dirty="0"/>
              <a:t>4.  Buck stops here</a:t>
            </a:r>
          </a:p>
          <a:p>
            <a:pPr lvl="1"/>
            <a:r>
              <a:rPr lang="en-US" sz="2200" dirty="0"/>
              <a:t>Halve foreign remittance inflows </a:t>
            </a:r>
          </a:p>
          <a:p>
            <a:endParaRPr lang="en-US" sz="100" dirty="0"/>
          </a:p>
          <a:p>
            <a:pPr marL="0" indent="0">
              <a:buNone/>
            </a:pPr>
            <a:r>
              <a:rPr lang="en-US" sz="2400" b="1" dirty="0"/>
              <a:t>5.  Emperor’s clothes</a:t>
            </a:r>
          </a:p>
          <a:p>
            <a:pPr lvl="1"/>
            <a:r>
              <a:rPr lang="en-US" sz="2200" dirty="0"/>
              <a:t>World prices for textiles and clothing drop 30%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3395002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2F57-AFEA-4395-796F-DD693E5F0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Exercises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0470A-AE3E-0287-2A7C-9453CCB49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108" y="1230518"/>
            <a:ext cx="9875807" cy="4975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6. Saving the planet</a:t>
            </a:r>
          </a:p>
          <a:p>
            <a:pPr lvl="1"/>
            <a:r>
              <a:rPr lang="en-US" sz="2200" dirty="0"/>
              <a:t>Impose a 50% tax (negative subsidy) on fossil fuel-related imports</a:t>
            </a:r>
          </a:p>
          <a:p>
            <a:pPr marL="0" indent="0">
              <a:buNone/>
            </a:pPr>
            <a:endParaRPr lang="en-US" sz="100" dirty="0"/>
          </a:p>
          <a:p>
            <a:pPr marL="0" indent="0">
              <a:buNone/>
            </a:pPr>
            <a:r>
              <a:rPr lang="en-US" sz="2400" b="1" dirty="0"/>
              <a:t>7.  Robin Hood</a:t>
            </a:r>
          </a:p>
          <a:p>
            <a:pPr lvl="1"/>
            <a:r>
              <a:rPr lang="en-US" sz="2200" dirty="0"/>
              <a:t>Double government transfers to poor households (find a way to pay for it)</a:t>
            </a:r>
          </a:p>
          <a:p>
            <a:pPr marL="0" indent="0">
              <a:buNone/>
            </a:pPr>
            <a:endParaRPr lang="en-US" sz="100" dirty="0"/>
          </a:p>
          <a:p>
            <a:pPr marL="0" indent="0">
              <a:buNone/>
            </a:pPr>
            <a:r>
              <a:rPr lang="en-US" sz="2400" b="1" dirty="0"/>
              <a:t>8.  Building bridges</a:t>
            </a:r>
          </a:p>
          <a:p>
            <a:pPr lvl="1"/>
            <a:r>
              <a:rPr lang="en-US" sz="2200" dirty="0"/>
              <a:t>Increase capital investment in trade and transport infrastructure</a:t>
            </a:r>
          </a:p>
          <a:p>
            <a:pPr marL="0" indent="0">
              <a:buNone/>
            </a:pPr>
            <a:endParaRPr lang="en-US" sz="100" dirty="0"/>
          </a:p>
          <a:p>
            <a:pPr marL="0" indent="0">
              <a:buNone/>
            </a:pPr>
            <a:r>
              <a:rPr lang="en-US" sz="2400" b="1" dirty="0"/>
              <a:t>9.  Filling the coffers</a:t>
            </a:r>
          </a:p>
          <a:p>
            <a:pPr lvl="1"/>
            <a:r>
              <a:rPr lang="en-US" sz="2200" dirty="0"/>
              <a:t>Increase government revenues using different instruments</a:t>
            </a:r>
          </a:p>
        </p:txBody>
      </p:sp>
    </p:spTree>
    <p:extLst>
      <p:ext uri="{BB962C8B-B14F-4D97-AF65-F5344CB8AC3E}">
        <p14:creationId xmlns:p14="http://schemas.microsoft.com/office/powerpoint/2010/main" val="311032671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3DC7-DA25-3A40-6AC6-827ED311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7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Extending the Standard Model</a:t>
            </a:r>
            <a:endParaRPr lang="en-US" dirty="0"/>
          </a:p>
        </p:txBody>
      </p:sp>
      <p:pic>
        <p:nvPicPr>
          <p:cNvPr id="9" name="Picture 8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43BDDE39-D38B-8049-B7C6-B366FF0D6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599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3DEEA-7E54-DF11-9542-33C8C070E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0783D-75A7-1A9A-45D0-15BAD5CCE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63" y="1240792"/>
            <a:ext cx="9094971" cy="4707945"/>
          </a:xfrm>
        </p:spPr>
        <p:txBody>
          <a:bodyPr>
            <a:normAutofit/>
          </a:bodyPr>
          <a:lstStyle/>
          <a:p>
            <a:r>
              <a:rPr lang="en-US" sz="2400" b="1" dirty="0"/>
              <a:t>Recursive dynamics</a:t>
            </a:r>
          </a:p>
          <a:p>
            <a:pPr lvl="1"/>
            <a:r>
              <a:rPr lang="en-US" sz="2200" dirty="0"/>
              <a:t>Simple dynamic specification</a:t>
            </a:r>
          </a:p>
          <a:p>
            <a:endParaRPr lang="en-US" sz="1050" dirty="0"/>
          </a:p>
          <a:p>
            <a:r>
              <a:rPr lang="en-US" sz="2400" b="1" dirty="0"/>
              <a:t>Microsimulation</a:t>
            </a:r>
          </a:p>
          <a:p>
            <a:pPr lvl="1"/>
            <a:r>
              <a:rPr lang="en-US" sz="2200" dirty="0"/>
              <a:t>Linking to the household survey</a:t>
            </a:r>
          </a:p>
          <a:p>
            <a:endParaRPr lang="en-US" sz="1050" dirty="0"/>
          </a:p>
          <a:p>
            <a:r>
              <a:rPr lang="en-US" sz="2400" b="1" dirty="0"/>
              <a:t>Additional accounts</a:t>
            </a:r>
          </a:p>
          <a:p>
            <a:pPr lvl="1"/>
            <a:r>
              <a:rPr lang="en-US" sz="2200" dirty="0"/>
              <a:t>Environmental accounts (e.g., natural resources, pollution, etc.)</a:t>
            </a:r>
          </a:p>
          <a:p>
            <a:pPr lvl="1"/>
            <a:r>
              <a:rPr lang="en-US" sz="2200" dirty="0"/>
              <a:t>Financial accounts (i.e., monetary sector variables)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1655138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20661-FECD-024C-398B-BC1BAF3BB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Dynamics  </a:t>
            </a:r>
            <a:r>
              <a:rPr lang="en-US" b="0" dirty="0"/>
              <a:t>|  Counterfactual Analysis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DBCFD3-05FC-3AC2-C0D2-B84E9F47DD09}"/>
              </a:ext>
            </a:extLst>
          </p:cNvPr>
          <p:cNvCxnSpPr>
            <a:cxnSpLocks/>
          </p:cNvCxnSpPr>
          <p:nvPr/>
        </p:nvCxnSpPr>
        <p:spPr>
          <a:xfrm>
            <a:off x="8937931" y="2078619"/>
            <a:ext cx="169545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C50CD9-44F6-C5A2-6D18-ADF9969CA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10" y="1441495"/>
            <a:ext cx="4895320" cy="4835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CGE model is a laboratory for experimenting with different policies and shocks</a:t>
            </a:r>
            <a:r>
              <a:rPr lang="en-US" sz="100" dirty="0"/>
              <a:t>[</a:t>
            </a:r>
            <a:endParaRPr lang="en-US" sz="2000" dirty="0"/>
          </a:p>
          <a:p>
            <a:r>
              <a:rPr lang="en-US" dirty="0"/>
              <a:t>C</a:t>
            </a:r>
            <a:r>
              <a:rPr lang="en-US" sz="2000" dirty="0"/>
              <a:t>ounterfactual analysis measures outcomes with (before) and without (after) shock or intervention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b="1" dirty="0"/>
              <a:t>Can be used as either static or dynamic model</a:t>
            </a:r>
          </a:p>
          <a:p>
            <a:r>
              <a:rPr lang="en-US" sz="2000" dirty="0"/>
              <a:t>Choice depends on the policy or shock being analyzed (e.g., impacts of a rapid onset shock vs. designing long-term investment strategies)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6C37CB-37F8-7BF7-BD07-059586246E1A}"/>
              </a:ext>
            </a:extLst>
          </p:cNvPr>
          <p:cNvCxnSpPr/>
          <p:nvPr/>
        </p:nvCxnSpPr>
        <p:spPr>
          <a:xfrm>
            <a:off x="9976156" y="1510294"/>
            <a:ext cx="66675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89A38A1-9E33-845D-04E1-2C8C7B7FD8EB}"/>
              </a:ext>
            </a:extLst>
          </p:cNvPr>
          <p:cNvSpPr/>
          <p:nvPr/>
        </p:nvSpPr>
        <p:spPr>
          <a:xfrm>
            <a:off x="6026718" y="2011944"/>
            <a:ext cx="2059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 a static model: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AE79CA-44F4-A35B-FE04-C7972F2E76E9}"/>
              </a:ext>
            </a:extLst>
          </p:cNvPr>
          <p:cNvSpPr/>
          <p:nvPr/>
        </p:nvSpPr>
        <p:spPr>
          <a:xfrm>
            <a:off x="5832781" y="4527719"/>
            <a:ext cx="228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 a dynamic model: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23D2E4-BC50-73E2-AF14-24A88936649A}"/>
              </a:ext>
            </a:extLst>
          </p:cNvPr>
          <p:cNvCxnSpPr/>
          <p:nvPr/>
        </p:nvCxnSpPr>
        <p:spPr>
          <a:xfrm>
            <a:off x="8086544" y="3970212"/>
            <a:ext cx="0" cy="1914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7A6F43-12DA-A6DE-3622-519C3D81EA8C}"/>
              </a:ext>
            </a:extLst>
          </p:cNvPr>
          <p:cNvCxnSpPr>
            <a:cxnSpLocks/>
          </p:cNvCxnSpPr>
          <p:nvPr/>
        </p:nvCxnSpPr>
        <p:spPr>
          <a:xfrm flipH="1">
            <a:off x="8086544" y="5884737"/>
            <a:ext cx="26230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D40654-AAFC-B1D5-A54C-57B3282E2C62}"/>
              </a:ext>
            </a:extLst>
          </p:cNvPr>
          <p:cNvCxnSpPr>
            <a:cxnSpLocks/>
          </p:cNvCxnSpPr>
          <p:nvPr/>
        </p:nvCxnSpPr>
        <p:spPr>
          <a:xfrm flipH="1">
            <a:off x="8377057" y="4927474"/>
            <a:ext cx="2256324" cy="619127"/>
          </a:xfrm>
          <a:prstGeom prst="line">
            <a:avLst/>
          </a:prstGeom>
          <a:ln w="1905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B84678-FD0A-F5B6-7F4F-ECF3EE6E9FCD}"/>
              </a:ext>
            </a:extLst>
          </p:cNvPr>
          <p:cNvCxnSpPr>
            <a:cxnSpLocks/>
          </p:cNvCxnSpPr>
          <p:nvPr/>
        </p:nvCxnSpPr>
        <p:spPr>
          <a:xfrm flipH="1">
            <a:off x="8386582" y="4306399"/>
            <a:ext cx="2246799" cy="1247345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457858-0BBE-AD19-F7F6-F0D7C7C2CC29}"/>
              </a:ext>
            </a:extLst>
          </p:cNvPr>
          <p:cNvCxnSpPr>
            <a:cxnSpLocks/>
          </p:cNvCxnSpPr>
          <p:nvPr/>
        </p:nvCxnSpPr>
        <p:spPr>
          <a:xfrm>
            <a:off x="10713245" y="4325449"/>
            <a:ext cx="0" cy="547473"/>
          </a:xfrm>
          <a:prstGeom prst="line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A2BFA85-0E1D-8A1F-867F-F25908263AC8}"/>
              </a:ext>
            </a:extLst>
          </p:cNvPr>
          <p:cNvSpPr txBox="1"/>
          <p:nvPr/>
        </p:nvSpPr>
        <p:spPr>
          <a:xfrm>
            <a:off x="9543319" y="5181536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Without policy</a:t>
            </a: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(baseline)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2C9952-FE10-7252-6C17-AC46A851D0E6}"/>
              </a:ext>
            </a:extLst>
          </p:cNvPr>
          <p:cNvSpPr txBox="1"/>
          <p:nvPr/>
        </p:nvSpPr>
        <p:spPr>
          <a:xfrm>
            <a:off x="9562369" y="4020548"/>
            <a:ext cx="1257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With policy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D1E4BB-A582-D5FC-9289-C26F57B0F612}"/>
              </a:ext>
            </a:extLst>
          </p:cNvPr>
          <p:cNvSpPr txBox="1"/>
          <p:nvPr/>
        </p:nvSpPr>
        <p:spPr>
          <a:xfrm>
            <a:off x="10729548" y="4298250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Impact of policy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FEE3D4-F624-23E0-5872-DAE94D1C6953}"/>
              </a:ext>
            </a:extLst>
          </p:cNvPr>
          <p:cNvSpPr txBox="1"/>
          <p:nvPr/>
        </p:nvSpPr>
        <p:spPr>
          <a:xfrm>
            <a:off x="7861606" y="5969654"/>
            <a:ext cx="1238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Base year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AB0ED0-0506-66A9-799F-C1A55995972F}"/>
              </a:ext>
            </a:extLst>
          </p:cNvPr>
          <p:cNvSpPr txBox="1"/>
          <p:nvPr/>
        </p:nvSpPr>
        <p:spPr>
          <a:xfrm>
            <a:off x="10047319" y="5977093"/>
            <a:ext cx="1238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Final year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6A98E36-2A98-D92F-E965-C74318D0F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594" y="1148195"/>
            <a:ext cx="3336036" cy="214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8151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2A8E9-310C-2BBC-4F09-D3935056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Dynamics  </a:t>
            </a:r>
            <a:r>
              <a:rPr lang="en-US" b="0" dirty="0"/>
              <a:t>| Annual Updates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82214D6-C66D-D39C-4698-348C3ED318F3}"/>
              </a:ext>
            </a:extLst>
          </p:cNvPr>
          <p:cNvGrpSpPr/>
          <p:nvPr/>
        </p:nvGrpSpPr>
        <p:grpSpPr>
          <a:xfrm>
            <a:off x="330511" y="2282724"/>
            <a:ext cx="5366999" cy="4070942"/>
            <a:chOff x="528475" y="981825"/>
            <a:chExt cx="5399903" cy="407094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F9CDBB-8714-EB78-1D33-7DFA50213C65}"/>
                </a:ext>
              </a:extLst>
            </p:cNvPr>
            <p:cNvSpPr/>
            <p:nvPr/>
          </p:nvSpPr>
          <p:spPr>
            <a:xfrm>
              <a:off x="528475" y="981825"/>
              <a:ext cx="5399903" cy="4070942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756D460-3813-BB69-BD90-54783B5A237D}"/>
                </a:ext>
              </a:extLst>
            </p:cNvPr>
            <p:cNvSpPr/>
            <p:nvPr/>
          </p:nvSpPr>
          <p:spPr>
            <a:xfrm>
              <a:off x="528475" y="981825"/>
              <a:ext cx="5399903" cy="409653"/>
            </a:xfrm>
            <a:prstGeom prst="rect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CA00E8-A71A-6AD9-25E3-8867D1ED6921}"/>
                </a:ext>
              </a:extLst>
            </p:cNvPr>
            <p:cNvSpPr txBox="1"/>
            <p:nvPr/>
          </p:nvSpPr>
          <p:spPr>
            <a:xfrm>
              <a:off x="596348" y="1001985"/>
              <a:ext cx="52809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Endogenous Updating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41671A5-769F-9478-AA2A-E62476D89A5B}"/>
              </a:ext>
            </a:extLst>
          </p:cNvPr>
          <p:cNvGrpSpPr/>
          <p:nvPr/>
        </p:nvGrpSpPr>
        <p:grpSpPr>
          <a:xfrm>
            <a:off x="5996664" y="2282724"/>
            <a:ext cx="5839858" cy="4070942"/>
            <a:chOff x="528475" y="981825"/>
            <a:chExt cx="5399903" cy="407094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C10D5B1-08E9-4A01-FAC6-DEDFAA39D7FF}"/>
                </a:ext>
              </a:extLst>
            </p:cNvPr>
            <p:cNvSpPr/>
            <p:nvPr/>
          </p:nvSpPr>
          <p:spPr>
            <a:xfrm>
              <a:off x="528475" y="981825"/>
              <a:ext cx="5399903" cy="4070942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E341AF-3613-EC4A-4C92-4195F1D2805F}"/>
                </a:ext>
              </a:extLst>
            </p:cNvPr>
            <p:cNvSpPr/>
            <p:nvPr/>
          </p:nvSpPr>
          <p:spPr>
            <a:xfrm>
              <a:off x="528475" y="981825"/>
              <a:ext cx="5399903" cy="409653"/>
            </a:xfrm>
            <a:prstGeom prst="rect">
              <a:avLst/>
            </a:prstGeom>
            <a:solidFill>
              <a:schemeClr val="tx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942336-4A2B-DB84-4010-599CE9C5F347}"/>
                </a:ext>
              </a:extLst>
            </p:cNvPr>
            <p:cNvSpPr txBox="1"/>
            <p:nvPr/>
          </p:nvSpPr>
          <p:spPr>
            <a:xfrm>
              <a:off x="596348" y="1001985"/>
              <a:ext cx="52809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Exogenous Updating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5BD4170D-9FE7-31D5-6DD8-C080A7566072}"/>
              </a:ext>
            </a:extLst>
          </p:cNvPr>
          <p:cNvSpPr txBox="1"/>
          <p:nvPr/>
        </p:nvSpPr>
        <p:spPr>
          <a:xfrm>
            <a:off x="330511" y="1080524"/>
            <a:ext cx="8431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CGE model is solved annually with inter-annual updates to key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Endogenous</a:t>
            </a:r>
            <a:r>
              <a:rPr lang="en-US" dirty="0"/>
              <a:t> updates depend on results from previous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Exogenous</a:t>
            </a:r>
            <a:r>
              <a:rPr lang="en-US" dirty="0"/>
              <a:t> updates are fixed over time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F6D53B-F295-2ED9-5660-AA21B969DEA9}"/>
              </a:ext>
            </a:extLst>
          </p:cNvPr>
          <p:cNvSpPr txBox="1"/>
          <p:nvPr/>
        </p:nvSpPr>
        <p:spPr>
          <a:xfrm>
            <a:off x="397970" y="2901062"/>
            <a:ext cx="51261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Capital accumulation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Depends on previous year’s investment levels, which are themselves endogenous (i.e., of national incomes and savings rates)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Capital allocation by 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Depends on past investment allocations and previous year’s relative profits across sectors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7A913C-2424-8D02-B9EF-16EB14034927}"/>
              </a:ext>
            </a:extLst>
          </p:cNvPr>
          <p:cNvSpPr txBox="1"/>
          <p:nvPr/>
        </p:nvSpPr>
        <p:spPr>
          <a:xfrm>
            <a:off x="6096000" y="2915315"/>
            <a:ext cx="56853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Population &amp; labor supply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Rural &amp; urban projections from UNDESA or official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Labor adjusted using labor force survey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Land supply &amp; agric. productivity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FAO or official trends (total cultivated area)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Macroeconomy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Baseline assumes trends from previous decade continues (incl. GDP growth by sector, absorption structure, trade balance, remittances/FDI, etc.)</a:t>
            </a:r>
          </a:p>
        </p:txBody>
      </p:sp>
    </p:spTree>
    <p:extLst>
      <p:ext uri="{BB962C8B-B14F-4D97-AF65-F5344CB8AC3E}">
        <p14:creationId xmlns:p14="http://schemas.microsoft.com/office/powerpoint/2010/main" val="190256449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674F1-4D1A-750C-D3C4-8737588F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Dynamics  </a:t>
            </a:r>
            <a:r>
              <a:rPr lang="en-US" b="0" dirty="0"/>
              <a:t>|  Endogenous Capital Accumulation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3DB49D-95F8-D8E6-413E-D22919595DC9}"/>
              </a:ext>
            </a:extLst>
          </p:cNvPr>
          <p:cNvCxnSpPr/>
          <p:nvPr/>
        </p:nvCxnSpPr>
        <p:spPr>
          <a:xfrm flipH="1">
            <a:off x="4702869" y="4307882"/>
            <a:ext cx="2358218" cy="4923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F825A5C-597C-6D31-D24E-C9808D3680BB}"/>
              </a:ext>
            </a:extLst>
          </p:cNvPr>
          <p:cNvSpPr/>
          <p:nvPr/>
        </p:nvSpPr>
        <p:spPr>
          <a:xfrm>
            <a:off x="5178431" y="4257011"/>
            <a:ext cx="79999" cy="92869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C6E5402-C33A-B0A6-09F5-31055780C5E7}"/>
              </a:ext>
            </a:extLst>
          </p:cNvPr>
          <p:cNvGrpSpPr/>
          <p:nvPr/>
        </p:nvGrpSpPr>
        <p:grpSpPr>
          <a:xfrm>
            <a:off x="1857512" y="1278803"/>
            <a:ext cx="8066983" cy="4770748"/>
            <a:chOff x="274823" y="1213657"/>
            <a:chExt cx="8066983" cy="4770748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8134853-E175-B4D9-53B9-3AC8C5EDAC9D}"/>
                </a:ext>
              </a:extLst>
            </p:cNvPr>
            <p:cNvCxnSpPr/>
            <p:nvPr/>
          </p:nvCxnSpPr>
          <p:spPr>
            <a:xfrm flipV="1">
              <a:off x="4024714" y="2529868"/>
              <a:ext cx="0" cy="379608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94AC400-C337-8784-BB48-95C0EC8DF370}"/>
                </a:ext>
              </a:extLst>
            </p:cNvPr>
            <p:cNvSpPr txBox="1"/>
            <p:nvPr/>
          </p:nvSpPr>
          <p:spPr>
            <a:xfrm>
              <a:off x="4019001" y="3621859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Social transfers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59ABBB-3898-4F29-D98C-30019F4FB502}"/>
                </a:ext>
              </a:extLst>
            </p:cNvPr>
            <p:cNvSpPr txBox="1"/>
            <p:nvPr/>
          </p:nvSpPr>
          <p:spPr>
            <a:xfrm>
              <a:off x="804863" y="5348521"/>
              <a:ext cx="761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Exports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4A587DE-9101-006E-FD73-32CD707CE709}"/>
                </a:ext>
              </a:extLst>
            </p:cNvPr>
            <p:cNvGrpSpPr/>
            <p:nvPr/>
          </p:nvGrpSpPr>
          <p:grpSpPr>
            <a:xfrm>
              <a:off x="1566572" y="1422279"/>
              <a:ext cx="1558637" cy="646331"/>
              <a:chOff x="332509" y="3092335"/>
              <a:chExt cx="1989513" cy="646331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1BC8202-D7A1-67B0-F571-ECDAED1E49A2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59D9129-D00F-6269-30C1-7DE972378D8E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30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Factor Markets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E625F1E-E125-4EBB-DFD6-7B2685D804C9}"/>
                </a:ext>
              </a:extLst>
            </p:cNvPr>
            <p:cNvGrpSpPr/>
            <p:nvPr/>
          </p:nvGrpSpPr>
          <p:grpSpPr>
            <a:xfrm>
              <a:off x="2852650" y="2895367"/>
              <a:ext cx="1558637" cy="369333"/>
              <a:chOff x="332509" y="3092335"/>
              <a:chExt cx="1989513" cy="369333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21F132C-A206-5F95-9A49-2E45C2DD8C8B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F143356-6BBB-4C3E-E54B-ACDAA75271B1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95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Households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1A163D9-8794-7723-BB16-473360D8756D}"/>
                </a:ext>
              </a:extLst>
            </p:cNvPr>
            <p:cNvGrpSpPr/>
            <p:nvPr/>
          </p:nvGrpSpPr>
          <p:grpSpPr>
            <a:xfrm>
              <a:off x="274823" y="2891327"/>
              <a:ext cx="1562884" cy="369333"/>
              <a:chOff x="332509" y="3092335"/>
              <a:chExt cx="1994934" cy="369333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7C0511B-6082-7329-F766-A8376A406C68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1FF777C-54DB-E607-80D6-E664EA1F0A8D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949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Firms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36EB2A4-52DC-D8D6-E632-179CB9A2CEAC}"/>
                </a:ext>
              </a:extLst>
            </p:cNvPr>
            <p:cNvGrpSpPr/>
            <p:nvPr/>
          </p:nvGrpSpPr>
          <p:grpSpPr>
            <a:xfrm>
              <a:off x="6783169" y="2904495"/>
              <a:ext cx="1558637" cy="651480"/>
              <a:chOff x="332509" y="3087186"/>
              <a:chExt cx="1989513" cy="65148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0835AF2-A300-C317-F59E-B30A7E9FC3EA}"/>
                  </a:ext>
                </a:extLst>
              </p:cNvPr>
              <p:cNvSpPr/>
              <p:nvPr/>
            </p:nvSpPr>
            <p:spPr>
              <a:xfrm>
                <a:off x="332509" y="3087186"/>
                <a:ext cx="1989513" cy="651480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1A816CB-8170-B299-D80E-59543268133F}"/>
                  </a:ext>
                </a:extLst>
              </p:cNvPr>
              <p:cNvSpPr txBox="1"/>
              <p:nvPr/>
            </p:nvSpPr>
            <p:spPr>
              <a:xfrm>
                <a:off x="332510" y="3092335"/>
                <a:ext cx="19773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Savings &amp; Investment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F2BBA07-291F-3758-DA58-39808E65EED3}"/>
                </a:ext>
              </a:extLst>
            </p:cNvPr>
            <p:cNvGrpSpPr/>
            <p:nvPr/>
          </p:nvGrpSpPr>
          <p:grpSpPr>
            <a:xfrm>
              <a:off x="4835039" y="2891327"/>
              <a:ext cx="1558637" cy="369333"/>
              <a:chOff x="332509" y="3092335"/>
              <a:chExt cx="1989513" cy="369333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4002F04-E79E-1512-8C49-88D2CFDF2929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A889223-0484-8DBE-00D1-8866949B02D2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9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Government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E507703-1762-2324-60BB-677FBB72BC7A}"/>
                </a:ext>
              </a:extLst>
            </p:cNvPr>
            <p:cNvGrpSpPr/>
            <p:nvPr/>
          </p:nvGrpSpPr>
          <p:grpSpPr>
            <a:xfrm>
              <a:off x="1571066" y="4083373"/>
              <a:ext cx="1558637" cy="646331"/>
              <a:chOff x="332509" y="3092335"/>
              <a:chExt cx="1989513" cy="646331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24AFD4-4773-8668-92A8-C7E5CB8DEC0C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1D786F7-57DC-4FE1-A87C-FAD858E0D979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085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Product Markets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7C7578-1CD5-D8A2-4B44-785D03E4B649}"/>
                </a:ext>
              </a:extLst>
            </p:cNvPr>
            <p:cNvGrpSpPr/>
            <p:nvPr/>
          </p:nvGrpSpPr>
          <p:grpSpPr>
            <a:xfrm>
              <a:off x="1571523" y="5338074"/>
              <a:ext cx="1561272" cy="646331"/>
              <a:chOff x="332509" y="3092335"/>
              <a:chExt cx="1992877" cy="646331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7F322BF9-CCF5-8CDD-1EAF-C58A1C94AEB0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525624A-3FA8-F6EB-E735-C7537A582F54}"/>
                  </a:ext>
                </a:extLst>
              </p:cNvPr>
              <p:cNvSpPr txBox="1"/>
              <p:nvPr/>
            </p:nvSpPr>
            <p:spPr>
              <a:xfrm>
                <a:off x="332510" y="3092335"/>
                <a:ext cx="19928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Foreign Markets</a:t>
                </a:r>
              </a:p>
            </p:txBody>
          </p: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B562A5-427A-F726-DA58-8C9789B9A74E}"/>
                </a:ext>
              </a:extLst>
            </p:cNvPr>
            <p:cNvCxnSpPr>
              <a:cxnSpLocks/>
              <a:stCxn id="70" idx="1"/>
            </p:cNvCxnSpPr>
            <p:nvPr/>
          </p:nvCxnSpPr>
          <p:spPr>
            <a:xfrm flipH="1" flipV="1">
              <a:off x="1054141" y="1745443"/>
              <a:ext cx="512431" cy="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F7E9029-8EDC-8161-CAF6-E6104F37F409}"/>
                </a:ext>
              </a:extLst>
            </p:cNvPr>
            <p:cNvCxnSpPr>
              <a:cxnSpLocks/>
              <a:stCxn id="66" idx="0"/>
            </p:cNvCxnSpPr>
            <p:nvPr/>
          </p:nvCxnSpPr>
          <p:spPr>
            <a:xfrm flipH="1" flipV="1">
              <a:off x="1054141" y="1745444"/>
              <a:ext cx="2124" cy="1145883"/>
            </a:xfrm>
            <a:prstGeom prst="line">
              <a:avLst/>
            </a:prstGeom>
            <a:ln w="12700">
              <a:solidFill>
                <a:srgbClr val="5454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666AC82-26A3-14C9-067E-F1C1B3A1AC8F}"/>
                </a:ext>
              </a:extLst>
            </p:cNvPr>
            <p:cNvCxnSpPr>
              <a:cxnSpLocks/>
              <a:endCxn id="70" idx="3"/>
            </p:cNvCxnSpPr>
            <p:nvPr/>
          </p:nvCxnSpPr>
          <p:spPr>
            <a:xfrm flipH="1">
              <a:off x="3120179" y="1745442"/>
              <a:ext cx="511789" cy="3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93A97CE-CA39-F923-BBEF-88DB65A73BDB}"/>
                </a:ext>
              </a:extLst>
            </p:cNvPr>
            <p:cNvCxnSpPr>
              <a:cxnSpLocks/>
              <a:stCxn id="68" idx="0"/>
            </p:cNvCxnSpPr>
            <p:nvPr/>
          </p:nvCxnSpPr>
          <p:spPr>
            <a:xfrm flipH="1" flipV="1">
              <a:off x="3631968" y="1745443"/>
              <a:ext cx="1" cy="1149924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188A90F-7C37-7907-99F5-4A1C12E3E561}"/>
                </a:ext>
              </a:extLst>
            </p:cNvPr>
            <p:cNvCxnSpPr>
              <a:cxnSpLocks/>
              <a:endCxn id="68" idx="2"/>
            </p:cNvCxnSpPr>
            <p:nvPr/>
          </p:nvCxnSpPr>
          <p:spPr>
            <a:xfrm flipH="1" flipV="1">
              <a:off x="3631969" y="3264699"/>
              <a:ext cx="1" cy="1141846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422F06-BEAE-5776-BADE-01F6B1B7C510}"/>
                </a:ext>
              </a:extLst>
            </p:cNvPr>
            <p:cNvCxnSpPr>
              <a:cxnSpLocks/>
              <a:endCxn id="66" idx="2"/>
            </p:cNvCxnSpPr>
            <p:nvPr/>
          </p:nvCxnSpPr>
          <p:spPr>
            <a:xfrm flipV="1">
              <a:off x="1054143" y="3260659"/>
              <a:ext cx="2122" cy="114588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92EDB3-4286-9348-37FB-26A4A3A7FBF2}"/>
                </a:ext>
              </a:extLst>
            </p:cNvPr>
            <p:cNvCxnSpPr>
              <a:cxnSpLocks/>
              <a:endCxn id="60" idx="3"/>
            </p:cNvCxnSpPr>
            <p:nvPr/>
          </p:nvCxnSpPr>
          <p:spPr>
            <a:xfrm flipH="1">
              <a:off x="3122922" y="4406534"/>
              <a:ext cx="4439566" cy="5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41842A0-D023-D226-6D24-7D79C291D4B0}"/>
                </a:ext>
              </a:extLst>
            </p:cNvPr>
            <p:cNvCxnSpPr>
              <a:cxnSpLocks/>
              <a:stCxn id="60" idx="1"/>
            </p:cNvCxnSpPr>
            <p:nvPr/>
          </p:nvCxnSpPr>
          <p:spPr>
            <a:xfrm flipH="1" flipV="1">
              <a:off x="1056390" y="4406538"/>
              <a:ext cx="514676" cy="1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6D28405-B628-EA69-E13B-D267209A901C}"/>
                </a:ext>
              </a:extLst>
            </p:cNvPr>
            <p:cNvCxnSpPr>
              <a:cxnSpLocks/>
              <a:stCxn id="60" idx="0"/>
            </p:cNvCxnSpPr>
            <p:nvPr/>
          </p:nvCxnSpPr>
          <p:spPr>
            <a:xfrm flipV="1">
              <a:off x="2346994" y="3075990"/>
              <a:ext cx="3389" cy="1007383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B6431C1-999B-2373-5F2F-BC56482D8F5E}"/>
                </a:ext>
              </a:extLst>
            </p:cNvPr>
            <p:cNvCxnSpPr/>
            <p:nvPr/>
          </p:nvCxnSpPr>
          <p:spPr>
            <a:xfrm flipH="1">
              <a:off x="1833461" y="3075989"/>
              <a:ext cx="511841" cy="1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E280B70-2106-F46F-80D5-C609971C7432}"/>
                </a:ext>
              </a:extLst>
            </p:cNvPr>
            <p:cNvSpPr txBox="1"/>
            <p:nvPr/>
          </p:nvSpPr>
          <p:spPr>
            <a:xfrm>
              <a:off x="3047166" y="4411546"/>
              <a:ext cx="11696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Private consumption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B9385F3-4A57-E7A6-0DDE-BE36B5B429F7}"/>
                </a:ext>
              </a:extLst>
            </p:cNvPr>
            <p:cNvSpPr txBox="1"/>
            <p:nvPr/>
          </p:nvSpPr>
          <p:spPr>
            <a:xfrm>
              <a:off x="3125208" y="1222031"/>
              <a:ext cx="742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54544B"/>
                  </a:solidFill>
                </a:rPr>
                <a:t>Wages &amp; rents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6029EE7-9114-D6B1-FCD3-EF8EE0E3953D}"/>
                </a:ext>
              </a:extLst>
            </p:cNvPr>
            <p:cNvSpPr txBox="1"/>
            <p:nvPr/>
          </p:nvSpPr>
          <p:spPr>
            <a:xfrm>
              <a:off x="1095585" y="3395682"/>
              <a:ext cx="126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Intermediate demand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AE99DE4-4E2A-92E0-2085-661FE398B426}"/>
                </a:ext>
              </a:extLst>
            </p:cNvPr>
            <p:cNvCxnSpPr>
              <a:cxnSpLocks/>
              <a:stCxn id="58" idx="0"/>
              <a:endCxn id="60" idx="2"/>
            </p:cNvCxnSpPr>
            <p:nvPr/>
          </p:nvCxnSpPr>
          <p:spPr>
            <a:xfrm flipH="1" flipV="1">
              <a:off x="2346994" y="4729704"/>
              <a:ext cx="5166" cy="608370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65DE22E-6A51-7B1B-49E6-CF6FD62A198F}"/>
                </a:ext>
              </a:extLst>
            </p:cNvPr>
            <p:cNvCxnSpPr/>
            <p:nvPr/>
          </p:nvCxnSpPr>
          <p:spPr>
            <a:xfrm flipV="1">
              <a:off x="822326" y="3265230"/>
              <a:ext cx="734" cy="2404305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8A2E22D-994B-4F0C-7081-C433EC5B66BA}"/>
                </a:ext>
              </a:extLst>
            </p:cNvPr>
            <p:cNvCxnSpPr>
              <a:cxnSpLocks/>
              <a:stCxn id="58" idx="1"/>
            </p:cNvCxnSpPr>
            <p:nvPr/>
          </p:nvCxnSpPr>
          <p:spPr>
            <a:xfrm flipH="1">
              <a:off x="822326" y="5661240"/>
              <a:ext cx="749198" cy="550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E02A4F3-C6DC-49DF-DF15-168870E8EEFE}"/>
                </a:ext>
              </a:extLst>
            </p:cNvPr>
            <p:cNvSpPr txBox="1"/>
            <p:nvPr/>
          </p:nvSpPr>
          <p:spPr>
            <a:xfrm>
              <a:off x="925483" y="4406534"/>
              <a:ext cx="6410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Sales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16B4EC7-175C-604B-C6F7-BFE854D585AD}"/>
                </a:ext>
              </a:extLst>
            </p:cNvPr>
            <p:cNvSpPr txBox="1"/>
            <p:nvPr/>
          </p:nvSpPr>
          <p:spPr>
            <a:xfrm>
              <a:off x="1572738" y="5030860"/>
              <a:ext cx="761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Imports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FD26F00-C873-913B-97B4-B3EA5D9606BA}"/>
                </a:ext>
              </a:extLst>
            </p:cNvPr>
            <p:cNvCxnSpPr>
              <a:cxnSpLocks/>
              <a:endCxn id="62" idx="2"/>
            </p:cNvCxnSpPr>
            <p:nvPr/>
          </p:nvCxnSpPr>
          <p:spPr>
            <a:xfrm flipH="1" flipV="1">
              <a:off x="5614357" y="3260659"/>
              <a:ext cx="1" cy="1146827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077C850-D187-0A52-EF63-7E0C9AC86057}"/>
                </a:ext>
              </a:extLst>
            </p:cNvPr>
            <p:cNvCxnSpPr>
              <a:cxnSpLocks/>
              <a:endCxn id="64" idx="2"/>
            </p:cNvCxnSpPr>
            <p:nvPr/>
          </p:nvCxnSpPr>
          <p:spPr>
            <a:xfrm flipH="1" flipV="1">
              <a:off x="7557730" y="3555975"/>
              <a:ext cx="4757" cy="8455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7C74AFE-F1AA-A6AD-53D8-AD18F6B7DF0F}"/>
                </a:ext>
              </a:extLst>
            </p:cNvPr>
            <p:cNvSpPr txBox="1"/>
            <p:nvPr/>
          </p:nvSpPr>
          <p:spPr>
            <a:xfrm>
              <a:off x="925483" y="1213657"/>
              <a:ext cx="6410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Factor costs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0D76260-10A6-53DF-90CE-7AF9B9417970}"/>
                </a:ext>
              </a:extLst>
            </p:cNvPr>
            <p:cNvSpPr txBox="1"/>
            <p:nvPr/>
          </p:nvSpPr>
          <p:spPr>
            <a:xfrm>
              <a:off x="5025984" y="4417896"/>
              <a:ext cx="11696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Public consumption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E3F4DE6-BBD5-9FC7-B79C-B8E7B2BFE3AA}"/>
                </a:ext>
              </a:extLst>
            </p:cNvPr>
            <p:cNvSpPr txBox="1"/>
            <p:nvPr/>
          </p:nvSpPr>
          <p:spPr>
            <a:xfrm>
              <a:off x="6634163" y="4413135"/>
              <a:ext cx="10013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Investment demand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C0A1AD2-49D7-E216-B6AF-DDA65E1AA012}"/>
                </a:ext>
              </a:extLst>
            </p:cNvPr>
            <p:cNvCxnSpPr/>
            <p:nvPr/>
          </p:nvCxnSpPr>
          <p:spPr>
            <a:xfrm flipH="1">
              <a:off x="3831116" y="1748548"/>
              <a:ext cx="3731370" cy="4986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9EB2266-D85B-A1D9-640C-B79AD1728E4E}"/>
                </a:ext>
              </a:extLst>
            </p:cNvPr>
            <p:cNvCxnSpPr/>
            <p:nvPr/>
          </p:nvCxnSpPr>
          <p:spPr>
            <a:xfrm flipH="1" flipV="1">
              <a:off x="3828341" y="1746786"/>
              <a:ext cx="1" cy="114992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8DB47DB-EAFA-75B9-2D12-8F0DA76D273E}"/>
                </a:ext>
              </a:extLst>
            </p:cNvPr>
            <p:cNvCxnSpPr>
              <a:cxnSpLocks/>
              <a:stCxn id="64" idx="0"/>
            </p:cNvCxnSpPr>
            <p:nvPr/>
          </p:nvCxnSpPr>
          <p:spPr>
            <a:xfrm flipV="1">
              <a:off x="7557730" y="1740897"/>
              <a:ext cx="4756" cy="1168747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C187F63-D628-6F4A-D678-3B5D56692BCB}"/>
                </a:ext>
              </a:extLst>
            </p:cNvPr>
            <p:cNvSpPr txBox="1"/>
            <p:nvPr/>
          </p:nvSpPr>
          <p:spPr>
            <a:xfrm>
              <a:off x="5494193" y="1438300"/>
              <a:ext cx="20682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Domestic private savings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2199956-7C1A-01C1-472F-88E8AD64C081}"/>
                </a:ext>
              </a:extLst>
            </p:cNvPr>
            <p:cNvCxnSpPr/>
            <p:nvPr/>
          </p:nvCxnSpPr>
          <p:spPr>
            <a:xfrm flipH="1">
              <a:off x="4025901" y="2524891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7669AA7-6283-6848-8E1D-D39208DEE4AB}"/>
                </a:ext>
              </a:extLst>
            </p:cNvPr>
            <p:cNvCxnSpPr/>
            <p:nvPr/>
          </p:nvCxnSpPr>
          <p:spPr>
            <a:xfrm flipH="1" flipV="1">
              <a:off x="5351673" y="2525672"/>
              <a:ext cx="2772" cy="36255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E61D750-EDFB-D691-8AAF-58384C70A31F}"/>
                </a:ext>
              </a:extLst>
            </p:cNvPr>
            <p:cNvCxnSpPr/>
            <p:nvPr/>
          </p:nvCxnSpPr>
          <p:spPr>
            <a:xfrm flipH="1" flipV="1">
              <a:off x="5750407" y="2520618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1F0F3AE-373B-D5CA-4C71-22261AEA83E7}"/>
                </a:ext>
              </a:extLst>
            </p:cNvPr>
            <p:cNvCxnSpPr/>
            <p:nvPr/>
          </p:nvCxnSpPr>
          <p:spPr>
            <a:xfrm flipH="1">
              <a:off x="5751446" y="2523329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E6AC72E-0661-0C71-2138-19627A8B82BE}"/>
                </a:ext>
              </a:extLst>
            </p:cNvPr>
            <p:cNvCxnSpPr/>
            <p:nvPr/>
          </p:nvCxnSpPr>
          <p:spPr>
            <a:xfrm flipH="1" flipV="1">
              <a:off x="7072484" y="2530461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5AE7ADE-F3D8-4E3C-8D82-ED8F0DBDEA8C}"/>
                </a:ext>
              </a:extLst>
            </p:cNvPr>
            <p:cNvCxnSpPr/>
            <p:nvPr/>
          </p:nvCxnSpPr>
          <p:spPr>
            <a:xfrm flipH="1" flipV="1">
              <a:off x="5346081" y="3260426"/>
              <a:ext cx="2772" cy="3625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19BAEF1-327E-862A-43C3-48DC87389B71}"/>
                </a:ext>
              </a:extLst>
            </p:cNvPr>
            <p:cNvCxnSpPr/>
            <p:nvPr/>
          </p:nvCxnSpPr>
          <p:spPr>
            <a:xfrm flipH="1" flipV="1">
              <a:off x="4023248" y="3259688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00E00FE-4436-155A-D1DA-3E196AF7BE87}"/>
                </a:ext>
              </a:extLst>
            </p:cNvPr>
            <p:cNvCxnSpPr/>
            <p:nvPr/>
          </p:nvCxnSpPr>
          <p:spPr>
            <a:xfrm flipH="1">
              <a:off x="4025901" y="3623159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54735F5-52DD-7A43-C45A-7A4AB356E8DE}"/>
                </a:ext>
              </a:extLst>
            </p:cNvPr>
            <p:cNvSpPr txBox="1"/>
            <p:nvPr/>
          </p:nvSpPr>
          <p:spPr>
            <a:xfrm>
              <a:off x="5739385" y="2213230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Public savings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0B39DFC-9C68-457F-9F2A-B236FB39D4E0}"/>
                </a:ext>
              </a:extLst>
            </p:cNvPr>
            <p:cNvSpPr txBox="1"/>
            <p:nvPr/>
          </p:nvSpPr>
          <p:spPr>
            <a:xfrm>
              <a:off x="4009508" y="2217090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Direct taxes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0C9EA7D-28DC-53D9-4996-232E55593615}"/>
                </a:ext>
              </a:extLst>
            </p:cNvPr>
            <p:cNvCxnSpPr/>
            <p:nvPr/>
          </p:nvCxnSpPr>
          <p:spPr>
            <a:xfrm flipH="1">
              <a:off x="3122922" y="5656298"/>
              <a:ext cx="4674416" cy="0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D8F13F7-30A4-7BB5-4F55-35F313396D7C}"/>
                </a:ext>
              </a:extLst>
            </p:cNvPr>
            <p:cNvCxnSpPr/>
            <p:nvPr/>
          </p:nvCxnSpPr>
          <p:spPr>
            <a:xfrm flipV="1">
              <a:off x="7795022" y="3555975"/>
              <a:ext cx="2316" cy="210032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4E01032-E7B9-BE4B-E0B8-82D090FFA1F1}"/>
                </a:ext>
              </a:extLst>
            </p:cNvPr>
            <p:cNvSpPr txBox="1"/>
            <p:nvPr/>
          </p:nvSpPr>
          <p:spPr>
            <a:xfrm>
              <a:off x="5144823" y="5338074"/>
              <a:ext cx="26652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Foreign savings or capital inflows</a:t>
              </a:r>
              <a:endParaRPr lang="en-US" dirty="0">
                <a:solidFill>
                  <a:srgbClr val="54544B"/>
                </a:solidFill>
              </a:endParaRP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3BFD32E-270D-6287-F2D0-A9625359419D}"/>
              </a:ext>
            </a:extLst>
          </p:cNvPr>
          <p:cNvCxnSpPr/>
          <p:nvPr/>
        </p:nvCxnSpPr>
        <p:spPr>
          <a:xfrm flipH="1" flipV="1">
            <a:off x="7062144" y="3321562"/>
            <a:ext cx="452" cy="982105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C09E77A-C12E-027B-2D0E-C73776EBCC40}"/>
              </a:ext>
            </a:extLst>
          </p:cNvPr>
          <p:cNvSpPr txBox="1"/>
          <p:nvPr/>
        </p:nvSpPr>
        <p:spPr>
          <a:xfrm>
            <a:off x="5717957" y="4000099"/>
            <a:ext cx="1350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Indirect taxes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08A322C-040C-0DB1-DAF7-39D487CFF5CF}"/>
              </a:ext>
            </a:extLst>
          </p:cNvPr>
          <p:cNvCxnSpPr/>
          <p:nvPr/>
        </p:nvCxnSpPr>
        <p:spPr>
          <a:xfrm flipH="1">
            <a:off x="4857237" y="1555365"/>
            <a:ext cx="496649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AC4D4CD-7C5A-9D3B-2A3B-13B71AAF0A90}"/>
              </a:ext>
            </a:extLst>
          </p:cNvPr>
          <p:cNvCxnSpPr/>
          <p:nvPr/>
        </p:nvCxnSpPr>
        <p:spPr>
          <a:xfrm>
            <a:off x="9823732" y="1555365"/>
            <a:ext cx="0" cy="1427162"/>
          </a:xfrm>
          <a:prstGeom prst="straightConnector1">
            <a:avLst/>
          </a:prstGeom>
          <a:ln w="28575">
            <a:solidFill>
              <a:srgbClr val="C00000"/>
            </a:solidFill>
            <a:tailEnd type="non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Box 47">
            <a:extLst>
              <a:ext uri="{FF2B5EF4-FFF2-40B4-BE49-F238E27FC236}">
                <a16:creationId xmlns:a16="http://schemas.microsoft.com/office/drawing/2014/main" id="{C5785B0F-BA04-80D8-C21C-F5BA7DD88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9232" y="1128087"/>
            <a:ext cx="32131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0"/>
              </a:spcBef>
            </a:pPr>
            <a:r>
              <a:rPr lang="en-US" sz="2000" b="1" dirty="0">
                <a:solidFill>
                  <a:srgbClr val="C00000"/>
                </a:solidFill>
              </a:rPr>
              <a:t>Capital accumulation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76" name="Text Box 47">
            <a:extLst>
              <a:ext uri="{FF2B5EF4-FFF2-40B4-BE49-F238E27FC236}">
                <a16:creationId xmlns:a16="http://schemas.microsoft.com/office/drawing/2014/main" id="{F0967458-6491-A922-68C8-8193C040B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7817" y="2355891"/>
            <a:ext cx="32131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0"/>
              </a:spcBef>
            </a:pPr>
            <a:r>
              <a:rPr lang="en-US" sz="2000" b="1" dirty="0">
                <a:solidFill>
                  <a:srgbClr val="C00000"/>
                </a:solidFill>
              </a:rPr>
              <a:t>Labor supply</a:t>
            </a:r>
            <a:endParaRPr lang="en-US" sz="1600" b="1" dirty="0">
              <a:solidFill>
                <a:srgbClr val="C00000"/>
              </a:solidFill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7DEF119-37B2-AA7D-06C1-1FD0145778E6}"/>
              </a:ext>
            </a:extLst>
          </p:cNvPr>
          <p:cNvCxnSpPr/>
          <p:nvPr/>
        </p:nvCxnSpPr>
        <p:spPr>
          <a:xfrm flipH="1" flipV="1">
            <a:off x="4631858" y="2160324"/>
            <a:ext cx="471488" cy="790297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Box 47">
            <a:extLst>
              <a:ext uri="{FF2B5EF4-FFF2-40B4-BE49-F238E27FC236}">
                <a16:creationId xmlns:a16="http://schemas.microsoft.com/office/drawing/2014/main" id="{2ACE7E7E-80AA-5378-32C8-8CC8869EA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932" y="2240987"/>
            <a:ext cx="1412015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0"/>
              </a:spcBef>
            </a:pPr>
            <a:r>
              <a:rPr lang="en-US" sz="2000" b="1" dirty="0">
                <a:solidFill>
                  <a:srgbClr val="C00000"/>
                </a:solidFill>
              </a:rPr>
              <a:t>TFP growth</a:t>
            </a:r>
            <a:endParaRPr lang="en-US" sz="1600" b="1" dirty="0">
              <a:solidFill>
                <a:srgbClr val="C00000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A20EF6A-D8DB-BDA8-64A7-CCB26E2BFAD1}"/>
              </a:ext>
            </a:extLst>
          </p:cNvPr>
          <p:cNvCxnSpPr/>
          <p:nvPr/>
        </p:nvCxnSpPr>
        <p:spPr>
          <a:xfrm flipV="1">
            <a:off x="2392478" y="2039573"/>
            <a:ext cx="713635" cy="243703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0AD14AE-4AE8-6D74-1919-A46C697E6B98}"/>
              </a:ext>
            </a:extLst>
          </p:cNvPr>
          <p:cNvSpPr txBox="1"/>
          <p:nvPr/>
        </p:nvSpPr>
        <p:spPr>
          <a:xfrm>
            <a:off x="5280227" y="5298630"/>
            <a:ext cx="408285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C00000"/>
                </a:solidFill>
              </a:rPr>
              <a:t>Foreign savings or capital inflows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37DB86D-9A6E-CE11-3B9A-A840760C4C30}"/>
              </a:ext>
            </a:extLst>
          </p:cNvPr>
          <p:cNvSpPr txBox="1"/>
          <p:nvPr/>
        </p:nvSpPr>
        <p:spPr>
          <a:xfrm>
            <a:off x="6158224" y="4521166"/>
            <a:ext cx="2059838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Public Consumption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0E67126-923C-1094-BA16-58F1CFA1EDD0}"/>
              </a:ext>
            </a:extLst>
          </p:cNvPr>
          <p:cNvSpPr txBox="1"/>
          <p:nvPr/>
        </p:nvSpPr>
        <p:spPr>
          <a:xfrm>
            <a:off x="7938609" y="4521166"/>
            <a:ext cx="1423167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Investment demand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95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6" grpId="0"/>
      <p:bldP spid="78" grpId="0"/>
      <p:bldP spid="80" grpId="0" animBg="1"/>
      <p:bldP spid="81" grpId="0" animBg="1"/>
      <p:bldP spid="8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74B26-DB1E-1AD3-3ACD-DCACFDBFF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Microsimulation  </a:t>
            </a:r>
            <a:r>
              <a:rPr lang="en-US" b="0" dirty="0"/>
              <a:t>|  Linking to Survey Households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16178-40C2-12B1-D33B-3394BDAD8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56" y="1253447"/>
            <a:ext cx="11505996" cy="1571946"/>
          </a:xfrm>
        </p:spPr>
        <p:txBody>
          <a:bodyPr>
            <a:normAutofit/>
          </a:bodyPr>
          <a:lstStyle/>
          <a:p>
            <a:r>
              <a:rPr lang="en-US" sz="2400" dirty="0"/>
              <a:t>Each household in the CGE model represents a group of individual households in the household survey (like survey weights)</a:t>
            </a:r>
          </a:p>
          <a:p>
            <a:r>
              <a:rPr lang="en-US" sz="100" dirty="0"/>
              <a:t>[</a:t>
            </a:r>
          </a:p>
          <a:p>
            <a:r>
              <a:rPr lang="en-US" sz="2400" dirty="0"/>
              <a:t>Each CGE household is linked to its corresponding survey households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D8F34-3DA1-0C2B-DF81-2760B2390918}"/>
              </a:ext>
            </a:extLst>
          </p:cNvPr>
          <p:cNvSpPr txBox="1"/>
          <p:nvPr/>
        </p:nvSpPr>
        <p:spPr bwMode="auto">
          <a:xfrm>
            <a:off x="3384005" y="4312928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household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A7B94-2511-74D3-E046-7E45DC7E945D}"/>
              </a:ext>
            </a:extLst>
          </p:cNvPr>
          <p:cNvSpPr txBox="1"/>
          <p:nvPr/>
        </p:nvSpPr>
        <p:spPr bwMode="auto">
          <a:xfrm>
            <a:off x="3384005" y="3121271"/>
            <a:ext cx="2286000" cy="64633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CGE household</a:t>
            </a:r>
          </a:p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RURAL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B2FFE75-2821-E8D0-8DE5-743C7BD5191E}"/>
              </a:ext>
            </a:extLst>
          </p:cNvPr>
          <p:cNvCxnSpPr>
            <a:stCxn id="5" idx="2"/>
            <a:endCxn id="4" idx="0"/>
          </p:cNvCxnSpPr>
          <p:nvPr/>
        </p:nvCxnSpPr>
        <p:spPr bwMode="auto">
          <a:xfrm>
            <a:off x="4527005" y="3767602"/>
            <a:ext cx="0" cy="545326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A0AEE5A-6455-4A19-1F9F-7AD737311041}"/>
              </a:ext>
            </a:extLst>
          </p:cNvPr>
          <p:cNvSpPr txBox="1"/>
          <p:nvPr/>
        </p:nvSpPr>
        <p:spPr bwMode="auto">
          <a:xfrm>
            <a:off x="3384005" y="4782054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</a:t>
            </a:r>
            <a:r>
              <a:rPr lang="en-US" b="1" dirty="0">
                <a:solidFill>
                  <a:schemeClr val="bg1"/>
                </a:solidFill>
              </a:rPr>
              <a:t>household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EEDF30-876E-BC40-1DB4-68364FB933B8}"/>
              </a:ext>
            </a:extLst>
          </p:cNvPr>
          <p:cNvSpPr txBox="1"/>
          <p:nvPr/>
        </p:nvSpPr>
        <p:spPr bwMode="auto">
          <a:xfrm>
            <a:off x="3384005" y="5249983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</a:t>
            </a:r>
            <a:r>
              <a:rPr lang="en-US" b="1" dirty="0">
                <a:solidFill>
                  <a:schemeClr val="bg1"/>
                </a:solidFill>
              </a:rPr>
              <a:t>household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AB557-1DDD-4873-2021-C9399C57AB4D}"/>
              </a:ext>
            </a:extLst>
          </p:cNvPr>
          <p:cNvSpPr txBox="1"/>
          <p:nvPr/>
        </p:nvSpPr>
        <p:spPr bwMode="auto">
          <a:xfrm>
            <a:off x="3384005" y="5717912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</a:t>
            </a:r>
            <a:r>
              <a:rPr lang="en-US" b="1" dirty="0">
                <a:solidFill>
                  <a:schemeClr val="bg1"/>
                </a:solidFill>
              </a:rPr>
              <a:t>household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E80D21-FA3F-9759-6D4C-B186F1B630E5}"/>
              </a:ext>
            </a:extLst>
          </p:cNvPr>
          <p:cNvSpPr txBox="1"/>
          <p:nvPr/>
        </p:nvSpPr>
        <p:spPr bwMode="auto">
          <a:xfrm>
            <a:off x="5948480" y="3121271"/>
            <a:ext cx="2285999" cy="64633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CGE household</a:t>
            </a:r>
          </a:p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Urban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1E12B9-439D-C060-B137-9BD548D261C6}"/>
              </a:ext>
            </a:extLst>
          </p:cNvPr>
          <p:cNvCxnSpPr>
            <a:stCxn id="10" idx="2"/>
            <a:endCxn id="12" idx="0"/>
          </p:cNvCxnSpPr>
          <p:nvPr/>
        </p:nvCxnSpPr>
        <p:spPr bwMode="auto">
          <a:xfrm>
            <a:off x="7091480" y="3767602"/>
            <a:ext cx="0" cy="545325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FEB5AA-466D-A26B-3154-C200FF9F9D24}"/>
              </a:ext>
            </a:extLst>
          </p:cNvPr>
          <p:cNvSpPr txBox="1"/>
          <p:nvPr/>
        </p:nvSpPr>
        <p:spPr bwMode="auto">
          <a:xfrm>
            <a:off x="5948480" y="4312927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household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EF4E5B-8BCE-4F05-E84B-BE09AC0B7BE7}"/>
              </a:ext>
            </a:extLst>
          </p:cNvPr>
          <p:cNvSpPr txBox="1"/>
          <p:nvPr/>
        </p:nvSpPr>
        <p:spPr bwMode="auto">
          <a:xfrm>
            <a:off x="5948480" y="4782053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</a:t>
            </a:r>
            <a:r>
              <a:rPr lang="en-US" b="1" dirty="0">
                <a:solidFill>
                  <a:schemeClr val="bg1"/>
                </a:solidFill>
              </a:rPr>
              <a:t>household 6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4C6677-78E1-74D6-1499-E269225968C2}"/>
              </a:ext>
            </a:extLst>
          </p:cNvPr>
          <p:cNvSpPr txBox="1"/>
          <p:nvPr/>
        </p:nvSpPr>
        <p:spPr bwMode="auto">
          <a:xfrm>
            <a:off x="5948480" y="5249982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</a:t>
            </a:r>
            <a:r>
              <a:rPr lang="en-US" b="1" dirty="0">
                <a:solidFill>
                  <a:schemeClr val="bg1"/>
                </a:solidFill>
              </a:rPr>
              <a:t>household 7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FD5320-4C53-08B9-4606-1D0EB0332721}"/>
              </a:ext>
            </a:extLst>
          </p:cNvPr>
          <p:cNvSpPr txBox="1"/>
          <p:nvPr/>
        </p:nvSpPr>
        <p:spPr bwMode="auto">
          <a:xfrm>
            <a:off x="5948480" y="5717911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Survey </a:t>
            </a:r>
            <a:r>
              <a:rPr lang="en-US" b="1" dirty="0">
                <a:solidFill>
                  <a:schemeClr val="bg1"/>
                </a:solidFill>
              </a:rPr>
              <a:t>household 8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2483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BB5AA-4CE8-1E90-B18A-C3E1985ED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Microsimulation  </a:t>
            </a:r>
            <a:r>
              <a:rPr lang="en-US" b="0" dirty="0"/>
              <a:t>|  Tracking Household Level Outcomes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D099B-1CB8-9ABF-D889-64E39270E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624" y="1295922"/>
            <a:ext cx="5242162" cy="4266156"/>
          </a:xfrm>
        </p:spPr>
        <p:txBody>
          <a:bodyPr>
            <a:normAutofit/>
          </a:bodyPr>
          <a:lstStyle/>
          <a:p>
            <a:r>
              <a:rPr lang="en-US" sz="2400" b="1" dirty="0"/>
              <a:t>Pass down changes in key variables from CGE model to survey</a:t>
            </a:r>
          </a:p>
          <a:p>
            <a:pPr lvl="1"/>
            <a:r>
              <a:rPr lang="en-US" sz="2200" dirty="0"/>
              <a:t>Recalculate per capita expenditures for survey households</a:t>
            </a:r>
          </a:p>
          <a:p>
            <a:endParaRPr lang="en-US" sz="2400" dirty="0"/>
          </a:p>
          <a:p>
            <a:r>
              <a:rPr lang="en-US" sz="2400" b="1" dirty="0"/>
              <a:t>Some microsimulation models estimate who loses or gains a job </a:t>
            </a:r>
          </a:p>
          <a:p>
            <a:pPr lvl="1"/>
            <a:r>
              <a:rPr lang="en-US" sz="2200" dirty="0"/>
              <a:t>e.g., Occupational choice models</a:t>
            </a:r>
          </a:p>
          <a:p>
            <a:pPr lvl="1"/>
            <a:r>
              <a:rPr lang="en-US" sz="2200" dirty="0"/>
              <a:t>Some also pass information back up to the CGE model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981B8-56CA-68A3-0B83-D9DA26517B74}"/>
              </a:ext>
            </a:extLst>
          </p:cNvPr>
          <p:cNvSpPr txBox="1"/>
          <p:nvPr/>
        </p:nvSpPr>
        <p:spPr bwMode="auto">
          <a:xfrm>
            <a:off x="7867653" y="4091690"/>
            <a:ext cx="2286000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Household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59BDD7-1677-8E26-2A28-B2D1EEF4B80F}"/>
              </a:ext>
            </a:extLst>
          </p:cNvPr>
          <p:cNvSpPr txBox="1"/>
          <p:nvPr/>
        </p:nvSpPr>
        <p:spPr bwMode="auto">
          <a:xfrm>
            <a:off x="7867653" y="1844046"/>
            <a:ext cx="2286000" cy="369332"/>
          </a:xfrm>
          <a:prstGeom prst="rect">
            <a:avLst/>
          </a:prstGeom>
          <a:solidFill>
            <a:srgbClr val="C34E2D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CGE model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CD26AD-9E4C-2C0B-9F14-2A7A9F1364E0}"/>
              </a:ext>
            </a:extLst>
          </p:cNvPr>
          <p:cNvCxnSpPr>
            <a:stCxn id="5" idx="2"/>
            <a:endCxn id="4" idx="0"/>
          </p:cNvCxnSpPr>
          <p:nvPr/>
        </p:nvCxnSpPr>
        <p:spPr bwMode="auto">
          <a:xfrm>
            <a:off x="9010653" y="2213378"/>
            <a:ext cx="0" cy="1878312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47">
            <a:extLst>
              <a:ext uri="{FF2B5EF4-FFF2-40B4-BE49-F238E27FC236}">
                <a16:creationId xmlns:a16="http://schemas.microsoft.com/office/drawing/2014/main" id="{6225F0E3-FCEF-2149-CA5A-70685EC30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1216" y="2552369"/>
            <a:ext cx="2372203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r">
              <a:spcBef>
                <a:spcPct val="0"/>
              </a:spcBef>
            </a:pPr>
            <a:r>
              <a:rPr lang="en-US" dirty="0"/>
              <a:t>Employment levels </a:t>
            </a:r>
          </a:p>
          <a:p>
            <a:pPr marL="342900" indent="-342900" algn="r">
              <a:spcBef>
                <a:spcPct val="0"/>
              </a:spcBef>
            </a:pPr>
            <a:r>
              <a:rPr lang="en-US" dirty="0"/>
              <a:t>Factor incomes</a:t>
            </a:r>
          </a:p>
          <a:p>
            <a:pPr marL="342900" indent="-342900" algn="r">
              <a:spcBef>
                <a:spcPct val="0"/>
              </a:spcBef>
            </a:pPr>
            <a:r>
              <a:rPr lang="en-US" sz="1800" dirty="0"/>
              <a:t>Commodity prices</a:t>
            </a:r>
          </a:p>
          <a:p>
            <a:pPr marL="342900" indent="-342900" algn="r">
              <a:spcBef>
                <a:spcPct val="0"/>
              </a:spcBef>
            </a:pPr>
            <a:r>
              <a:rPr lang="en-US" dirty="0"/>
              <a:t>Consumption levels</a:t>
            </a:r>
            <a:endParaRPr lang="en-US" sz="1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B2EDBA-0632-1771-766A-4D02DE8D9332}"/>
              </a:ext>
            </a:extLst>
          </p:cNvPr>
          <p:cNvCxnSpPr>
            <a:cxnSpLocks/>
          </p:cNvCxnSpPr>
          <p:nvPr/>
        </p:nvCxnSpPr>
        <p:spPr bwMode="auto">
          <a:xfrm>
            <a:off x="9205121" y="2213378"/>
            <a:ext cx="0" cy="1878312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prstDash val="dash"/>
            <a:headEnd type="triangle" w="lg" len="med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33458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8D59-C8CA-F643-BEBA-878A747F8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Accounts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DB86C-A941-4778-F6E8-72239876B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108" y="1263720"/>
            <a:ext cx="10859784" cy="4911049"/>
          </a:xfrm>
        </p:spPr>
        <p:txBody>
          <a:bodyPr>
            <a:normAutofit/>
          </a:bodyPr>
          <a:lstStyle/>
          <a:p>
            <a:r>
              <a:rPr lang="en-US" sz="2400" b="1" dirty="0"/>
              <a:t>Natural resource accounts</a:t>
            </a:r>
          </a:p>
          <a:p>
            <a:pPr lvl="1"/>
            <a:r>
              <a:rPr lang="en-US" sz="2200" dirty="0"/>
              <a:t>Water use by industry and household (for water use rights or user fees)</a:t>
            </a:r>
          </a:p>
          <a:p>
            <a:endParaRPr lang="en-US" sz="1000" dirty="0"/>
          </a:p>
          <a:p>
            <a:r>
              <a:rPr lang="en-US" sz="2400" b="1" dirty="0"/>
              <a:t>Environmental accounts</a:t>
            </a:r>
          </a:p>
          <a:p>
            <a:pPr lvl="1"/>
            <a:r>
              <a:rPr lang="en-US" sz="2200" dirty="0"/>
              <a:t>Pollution levels for each industry (for pollution taxes or health feedbacks)</a:t>
            </a:r>
          </a:p>
          <a:p>
            <a:pPr lvl="1"/>
            <a:r>
              <a:rPr lang="en-US" sz="2200" dirty="0"/>
              <a:t>Carbon emissions for each industry and product (for carbon taxes or cap-and-trade schemes)</a:t>
            </a:r>
          </a:p>
          <a:p>
            <a:endParaRPr lang="en-US" sz="1000" dirty="0"/>
          </a:p>
          <a:p>
            <a:r>
              <a:rPr lang="en-US" sz="2400" b="1" dirty="0"/>
              <a:t>Financial accounts</a:t>
            </a:r>
          </a:p>
          <a:p>
            <a:pPr lvl="1"/>
            <a:r>
              <a:rPr lang="en-US" sz="2200" dirty="0"/>
              <a:t>New institutions (banking sector)</a:t>
            </a:r>
          </a:p>
          <a:p>
            <a:pPr lvl="1"/>
            <a:r>
              <a:rPr lang="en-US" sz="2200" dirty="0"/>
              <a:t>Assets and liabilities (investments, money holdings, bonds, loans, etc.)</a:t>
            </a:r>
          </a:p>
          <a:p>
            <a:pPr lvl="1"/>
            <a:r>
              <a:rPr lang="en-US" sz="2200" dirty="0"/>
              <a:t>Allows for CGE models with monetary variables (e.g., money supply,  interest rates, inflation, etc.)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1438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the world with red countries/regions&#10;&#10;Description automatically generated">
            <a:extLst>
              <a:ext uri="{FF2B5EF4-FFF2-40B4-BE49-F238E27FC236}">
                <a16:creationId xmlns:a16="http://schemas.microsoft.com/office/drawing/2014/main" id="{37E41BAD-89D6-B94A-4396-12CC3402D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555" y="280228"/>
            <a:ext cx="5379688" cy="26149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CED518-12A6-CB69-5A6A-F63D4B866950}"/>
              </a:ext>
            </a:extLst>
          </p:cNvPr>
          <p:cNvSpPr txBox="1"/>
          <p:nvPr/>
        </p:nvSpPr>
        <p:spPr>
          <a:xfrm>
            <a:off x="6950961" y="258164"/>
            <a:ext cx="193976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38 countries with RIAPA models</a:t>
            </a:r>
          </a:p>
          <a:p>
            <a:endParaRPr lang="en-US" sz="400" dirty="0">
              <a:solidFill>
                <a:srgbClr val="C00000"/>
              </a:solidFill>
            </a:endParaRPr>
          </a:p>
          <a:p>
            <a:r>
              <a:rPr lang="en-US" sz="1200" dirty="0">
                <a:solidFill>
                  <a:srgbClr val="C00000"/>
                </a:solidFill>
              </a:rPr>
              <a:t>(4 still under development)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253EB4-EE55-6465-2E99-7EFCF92AD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65" y="181018"/>
            <a:ext cx="11877484" cy="672013"/>
          </a:xfrm>
        </p:spPr>
        <p:txBody>
          <a:bodyPr/>
          <a:lstStyle/>
          <a:p>
            <a:r>
              <a:rPr lang="en-US" b="1" dirty="0"/>
              <a:t>RIAPA </a:t>
            </a:r>
            <a:r>
              <a:rPr lang="en-US" dirty="0"/>
              <a:t>| </a:t>
            </a:r>
            <a:r>
              <a:rPr lang="en-US" b="0" dirty="0"/>
              <a:t>Data &amp; Modeling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3131A-44F4-04FE-84F7-EEAA6AFE089A}"/>
              </a:ext>
            </a:extLst>
          </p:cNvPr>
          <p:cNvSpPr txBox="1"/>
          <p:nvPr/>
        </p:nvSpPr>
        <p:spPr>
          <a:xfrm>
            <a:off x="5961550" y="6594910"/>
            <a:ext cx="61885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Source: WB country classification (2019) &amp; poverty (2014); ILO employment (2019); FAO undernourishment (2019); WRI emissions (2019)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76A2A6-0358-C808-A26A-7BF3D813F149}"/>
              </a:ext>
            </a:extLst>
          </p:cNvPr>
          <p:cNvSpPr txBox="1"/>
          <p:nvPr/>
        </p:nvSpPr>
        <p:spPr>
          <a:xfrm>
            <a:off x="10311695" y="5186363"/>
            <a:ext cx="884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Poverty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5A353-BF6E-9474-6E44-1089B408D1BD}"/>
              </a:ext>
            </a:extLst>
          </p:cNvPr>
          <p:cNvSpPr txBox="1"/>
          <p:nvPr/>
        </p:nvSpPr>
        <p:spPr>
          <a:xfrm>
            <a:off x="10311695" y="4462495"/>
            <a:ext cx="1421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Undernourishment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395166-3613-945C-6F78-00A3BA54B0DB}"/>
              </a:ext>
            </a:extLst>
          </p:cNvPr>
          <p:cNvSpPr txBox="1"/>
          <p:nvPr/>
        </p:nvSpPr>
        <p:spPr>
          <a:xfrm>
            <a:off x="10311695" y="3738627"/>
            <a:ext cx="1421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Agric. employment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912BA4-158B-5D1B-4525-3AF046648F99}"/>
              </a:ext>
            </a:extLst>
          </p:cNvPr>
          <p:cNvSpPr txBox="1"/>
          <p:nvPr/>
        </p:nvSpPr>
        <p:spPr>
          <a:xfrm>
            <a:off x="10311695" y="5917280"/>
            <a:ext cx="1421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GHG emissions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0159B6-F99E-91FB-5F7F-C7A19C7C2EE1}"/>
              </a:ext>
            </a:extLst>
          </p:cNvPr>
          <p:cNvSpPr txBox="1"/>
          <p:nvPr/>
        </p:nvSpPr>
        <p:spPr>
          <a:xfrm>
            <a:off x="10335193" y="3047179"/>
            <a:ext cx="1424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Population</a:t>
            </a:r>
          </a:p>
        </p:txBody>
      </p:sp>
      <p:sp>
        <p:nvSpPr>
          <p:cNvPr id="13" name="Partial Circle 12">
            <a:extLst>
              <a:ext uri="{FF2B5EF4-FFF2-40B4-BE49-F238E27FC236}">
                <a16:creationId xmlns:a16="http://schemas.microsoft.com/office/drawing/2014/main" id="{D6A36A7C-535D-93BE-8A8F-E8BDA2BE0044}"/>
              </a:ext>
            </a:extLst>
          </p:cNvPr>
          <p:cNvSpPr/>
          <p:nvPr/>
        </p:nvSpPr>
        <p:spPr>
          <a:xfrm>
            <a:off x="2057140" y="1916070"/>
            <a:ext cx="4567766" cy="4563533"/>
          </a:xfrm>
          <a:prstGeom prst="pie">
            <a:avLst>
              <a:gd name="adj1" fmla="val 25585"/>
              <a:gd name="adj2" fmla="val 5400000"/>
            </a:avLst>
          </a:prstGeom>
          <a:solidFill>
            <a:schemeClr val="accent5">
              <a:lumMod val="50000"/>
              <a:alpha val="60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Partial Circle 13">
            <a:extLst>
              <a:ext uri="{FF2B5EF4-FFF2-40B4-BE49-F238E27FC236}">
                <a16:creationId xmlns:a16="http://schemas.microsoft.com/office/drawing/2014/main" id="{D7B8DAF6-A792-6406-03EE-39128819FB0B}"/>
              </a:ext>
            </a:extLst>
          </p:cNvPr>
          <p:cNvSpPr/>
          <p:nvPr/>
        </p:nvSpPr>
        <p:spPr>
          <a:xfrm>
            <a:off x="2057143" y="1914223"/>
            <a:ext cx="4567766" cy="4563533"/>
          </a:xfrm>
          <a:prstGeom prst="pie">
            <a:avLst>
              <a:gd name="adj1" fmla="val 5407022"/>
              <a:gd name="adj2" fmla="val 10776707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CE1E6D23-8D4E-924E-89DF-3E57C2AB2555}"/>
              </a:ext>
            </a:extLst>
          </p:cNvPr>
          <p:cNvSpPr/>
          <p:nvPr/>
        </p:nvSpPr>
        <p:spPr>
          <a:xfrm>
            <a:off x="2050043" y="1920772"/>
            <a:ext cx="4567766" cy="4563533"/>
          </a:xfrm>
          <a:prstGeom prst="pie">
            <a:avLst>
              <a:gd name="adj1" fmla="val 10810949"/>
              <a:gd name="adj2" fmla="val 12701762"/>
            </a:avLst>
          </a:prstGeom>
          <a:solidFill>
            <a:srgbClr val="C00000">
              <a:alpha val="60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Partial Circle 15">
            <a:extLst>
              <a:ext uri="{FF2B5EF4-FFF2-40B4-BE49-F238E27FC236}">
                <a16:creationId xmlns:a16="http://schemas.microsoft.com/office/drawing/2014/main" id="{A9AEAC51-24F9-013D-4234-94F5B7EF7FC7}"/>
              </a:ext>
            </a:extLst>
          </p:cNvPr>
          <p:cNvSpPr/>
          <p:nvPr/>
        </p:nvSpPr>
        <p:spPr>
          <a:xfrm>
            <a:off x="2055774" y="1920367"/>
            <a:ext cx="4567766" cy="4563533"/>
          </a:xfrm>
          <a:prstGeom prst="pie">
            <a:avLst>
              <a:gd name="adj1" fmla="val 12698363"/>
              <a:gd name="adj2" fmla="val 1621297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Partial Circle 16">
            <a:extLst>
              <a:ext uri="{FF2B5EF4-FFF2-40B4-BE49-F238E27FC236}">
                <a16:creationId xmlns:a16="http://schemas.microsoft.com/office/drawing/2014/main" id="{D5CA6177-715F-4D86-9666-1CE172CDB816}"/>
              </a:ext>
            </a:extLst>
          </p:cNvPr>
          <p:cNvSpPr/>
          <p:nvPr/>
        </p:nvSpPr>
        <p:spPr>
          <a:xfrm>
            <a:off x="2064240" y="1914222"/>
            <a:ext cx="4567766" cy="4563533"/>
          </a:xfrm>
          <a:prstGeom prst="pie">
            <a:avLst>
              <a:gd name="adj1" fmla="val 16186540"/>
              <a:gd name="adj2" fmla="val 25438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Partial Circle 17">
            <a:extLst>
              <a:ext uri="{FF2B5EF4-FFF2-40B4-BE49-F238E27FC236}">
                <a16:creationId xmlns:a16="http://schemas.microsoft.com/office/drawing/2014/main" id="{FCAC5F3F-F0B8-6686-4C6E-5A231B5EE4C7}"/>
              </a:ext>
            </a:extLst>
          </p:cNvPr>
          <p:cNvSpPr/>
          <p:nvPr/>
        </p:nvSpPr>
        <p:spPr>
          <a:xfrm>
            <a:off x="2416975" y="2314006"/>
            <a:ext cx="3822701" cy="3797300"/>
          </a:xfrm>
          <a:prstGeom prst="pie">
            <a:avLst>
              <a:gd name="adj1" fmla="val 258"/>
              <a:gd name="adj2" fmla="val 544305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Partial Circle 18">
            <a:extLst>
              <a:ext uri="{FF2B5EF4-FFF2-40B4-BE49-F238E27FC236}">
                <a16:creationId xmlns:a16="http://schemas.microsoft.com/office/drawing/2014/main" id="{CF3A0342-6ADB-90EC-1F44-780AD6989CC8}"/>
              </a:ext>
            </a:extLst>
          </p:cNvPr>
          <p:cNvSpPr/>
          <p:nvPr/>
        </p:nvSpPr>
        <p:spPr>
          <a:xfrm rot="16200000">
            <a:off x="2433418" y="2306115"/>
            <a:ext cx="3822701" cy="3797300"/>
          </a:xfrm>
          <a:prstGeom prst="pie">
            <a:avLst>
              <a:gd name="adj1" fmla="val 21562309"/>
              <a:gd name="adj2" fmla="val 5391643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1AE9589D-B14B-2E41-1B5A-05392BD8AF01}"/>
              </a:ext>
            </a:extLst>
          </p:cNvPr>
          <p:cNvSpPr/>
          <p:nvPr/>
        </p:nvSpPr>
        <p:spPr>
          <a:xfrm rot="12627013">
            <a:off x="2429676" y="2299188"/>
            <a:ext cx="3822701" cy="3797300"/>
          </a:xfrm>
          <a:prstGeom prst="pie">
            <a:avLst>
              <a:gd name="adj1" fmla="val 64562"/>
              <a:gd name="adj2" fmla="val 357131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63500" dist="127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Partial Circle 20">
            <a:extLst>
              <a:ext uri="{FF2B5EF4-FFF2-40B4-BE49-F238E27FC236}">
                <a16:creationId xmlns:a16="http://schemas.microsoft.com/office/drawing/2014/main" id="{261CDAAA-F36B-B8C9-F385-394F5927CF3C}"/>
              </a:ext>
            </a:extLst>
          </p:cNvPr>
          <p:cNvSpPr/>
          <p:nvPr/>
        </p:nvSpPr>
        <p:spPr>
          <a:xfrm rot="5400000">
            <a:off x="2429675" y="2303423"/>
            <a:ext cx="3822701" cy="3797300"/>
          </a:xfrm>
          <a:prstGeom prst="pie">
            <a:avLst>
              <a:gd name="adj1" fmla="val 258"/>
              <a:gd name="adj2" fmla="val 5399153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127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Partial Circle 21">
            <a:extLst>
              <a:ext uri="{FF2B5EF4-FFF2-40B4-BE49-F238E27FC236}">
                <a16:creationId xmlns:a16="http://schemas.microsoft.com/office/drawing/2014/main" id="{3E51519C-5B85-08E2-31EA-8024CDF69A13}"/>
              </a:ext>
            </a:extLst>
          </p:cNvPr>
          <p:cNvSpPr/>
          <p:nvPr/>
        </p:nvSpPr>
        <p:spPr>
          <a:xfrm rot="8970574">
            <a:off x="2429675" y="2303422"/>
            <a:ext cx="3822701" cy="3797300"/>
          </a:xfrm>
          <a:prstGeom prst="pie">
            <a:avLst>
              <a:gd name="adj1" fmla="val 1832626"/>
              <a:gd name="adj2" fmla="val 3723261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127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8F51D12-160E-2DD5-078C-DA3028064910}"/>
              </a:ext>
            </a:extLst>
          </p:cNvPr>
          <p:cNvCxnSpPr>
            <a:cxnSpLocks/>
          </p:cNvCxnSpPr>
          <p:nvPr/>
        </p:nvCxnSpPr>
        <p:spPr>
          <a:xfrm flipV="1">
            <a:off x="2694817" y="4195718"/>
            <a:ext cx="1646207" cy="96286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D96041B-B4A5-7D59-C5F2-0DF70C4C1C67}"/>
              </a:ext>
            </a:extLst>
          </p:cNvPr>
          <p:cNvCxnSpPr>
            <a:cxnSpLocks/>
          </p:cNvCxnSpPr>
          <p:nvPr/>
        </p:nvCxnSpPr>
        <p:spPr>
          <a:xfrm>
            <a:off x="3392757" y="2555304"/>
            <a:ext cx="948267" cy="164041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0631A93-AA37-6161-A36D-B9F5212E4B8F}"/>
              </a:ext>
            </a:extLst>
          </p:cNvPr>
          <p:cNvCxnSpPr>
            <a:cxnSpLocks/>
          </p:cNvCxnSpPr>
          <p:nvPr/>
        </p:nvCxnSpPr>
        <p:spPr>
          <a:xfrm flipV="1">
            <a:off x="3392757" y="4197838"/>
            <a:ext cx="955367" cy="1638299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C242F6F-0731-C170-A637-81DB0E9C623D}"/>
              </a:ext>
            </a:extLst>
          </p:cNvPr>
          <p:cNvCxnSpPr>
            <a:cxnSpLocks/>
          </p:cNvCxnSpPr>
          <p:nvPr/>
        </p:nvCxnSpPr>
        <p:spPr>
          <a:xfrm flipH="1" flipV="1">
            <a:off x="4348124" y="4197838"/>
            <a:ext cx="920001" cy="1638299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3A96DC-C8F1-9D6F-E7F8-0F744541EE40}"/>
              </a:ext>
            </a:extLst>
          </p:cNvPr>
          <p:cNvCxnSpPr>
            <a:cxnSpLocks/>
          </p:cNvCxnSpPr>
          <p:nvPr/>
        </p:nvCxnSpPr>
        <p:spPr>
          <a:xfrm flipH="1" flipV="1">
            <a:off x="4341024" y="4197838"/>
            <a:ext cx="1634067" cy="939799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94F8C1F-88C6-0EA0-4B99-E5E7C736D0C6}"/>
              </a:ext>
            </a:extLst>
          </p:cNvPr>
          <p:cNvCxnSpPr>
            <a:cxnSpLocks/>
          </p:cNvCxnSpPr>
          <p:nvPr/>
        </p:nvCxnSpPr>
        <p:spPr>
          <a:xfrm flipH="1">
            <a:off x="4333927" y="2555304"/>
            <a:ext cx="934198" cy="164041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0F65D8E-7E11-4DE2-A96C-AE252652F86B}"/>
              </a:ext>
            </a:extLst>
          </p:cNvPr>
          <p:cNvCxnSpPr>
            <a:cxnSpLocks/>
          </p:cNvCxnSpPr>
          <p:nvPr/>
        </p:nvCxnSpPr>
        <p:spPr>
          <a:xfrm flipH="1">
            <a:off x="4348125" y="3160670"/>
            <a:ext cx="1584632" cy="1037167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D3B825F-7166-D429-031F-38AF4E9DD570}"/>
              </a:ext>
            </a:extLst>
          </p:cNvPr>
          <p:cNvGrpSpPr/>
          <p:nvPr/>
        </p:nvGrpSpPr>
        <p:grpSpPr>
          <a:xfrm>
            <a:off x="3480389" y="3313096"/>
            <a:ext cx="1728745" cy="1733086"/>
            <a:chOff x="5194301" y="2501897"/>
            <a:chExt cx="1828800" cy="1828804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1" name="Partial Circle 30">
              <a:extLst>
                <a:ext uri="{FF2B5EF4-FFF2-40B4-BE49-F238E27FC236}">
                  <a16:creationId xmlns:a16="http://schemas.microsoft.com/office/drawing/2014/main" id="{91F3C6D1-BAAB-8E77-3771-1215814413B4}"/>
                </a:ext>
              </a:extLst>
            </p:cNvPr>
            <p:cNvSpPr/>
            <p:nvPr/>
          </p:nvSpPr>
          <p:spPr>
            <a:xfrm>
              <a:off x="5194301" y="2518833"/>
              <a:ext cx="1828800" cy="1811868"/>
            </a:xfrm>
            <a:prstGeom prst="pie">
              <a:avLst>
                <a:gd name="adj1" fmla="val 10782037"/>
                <a:gd name="adj2" fmla="val 834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Partial Circle 31">
              <a:extLst>
                <a:ext uri="{FF2B5EF4-FFF2-40B4-BE49-F238E27FC236}">
                  <a16:creationId xmlns:a16="http://schemas.microsoft.com/office/drawing/2014/main" id="{261763FA-987E-7942-8331-5DDB67D871A3}"/>
                </a:ext>
              </a:extLst>
            </p:cNvPr>
            <p:cNvSpPr/>
            <p:nvPr/>
          </p:nvSpPr>
          <p:spPr>
            <a:xfrm>
              <a:off x="5194301" y="2501897"/>
              <a:ext cx="1828800" cy="1811868"/>
            </a:xfrm>
            <a:prstGeom prst="pie">
              <a:avLst>
                <a:gd name="adj1" fmla="val 53899"/>
                <a:gd name="adj2" fmla="val 1065352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905827F-27C9-4A03-5450-38186033B677}"/>
              </a:ext>
            </a:extLst>
          </p:cNvPr>
          <p:cNvSpPr/>
          <p:nvPr/>
        </p:nvSpPr>
        <p:spPr>
          <a:xfrm rot="2771837">
            <a:off x="3236105" y="2392760"/>
            <a:ext cx="3377313" cy="246527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400" dirty="0">
                <a:ln w="0"/>
                <a:solidFill>
                  <a:schemeClr val="bg1"/>
                </a:solidFill>
              </a:rPr>
              <a:t>Linked Models</a:t>
            </a:r>
            <a:endParaRPr lang="en-US" sz="1400" cap="none" spc="0" dirty="0">
              <a:ln w="0"/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77B58F-9DB4-740D-2D47-A11C0CA727A7}"/>
              </a:ext>
            </a:extLst>
          </p:cNvPr>
          <p:cNvSpPr/>
          <p:nvPr/>
        </p:nvSpPr>
        <p:spPr>
          <a:xfrm rot="19857323">
            <a:off x="2248439" y="2257226"/>
            <a:ext cx="3377313" cy="246527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400" dirty="0">
                <a:ln w="0"/>
                <a:solidFill>
                  <a:schemeClr val="bg1"/>
                </a:solidFill>
              </a:rPr>
              <a:t>Investment Tools</a:t>
            </a:r>
            <a:endParaRPr lang="en-US" sz="1400" cap="none" spc="0" dirty="0">
              <a:ln w="0"/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93CA524-91B4-54B2-A361-708633BF1368}"/>
              </a:ext>
            </a:extLst>
          </p:cNvPr>
          <p:cNvSpPr/>
          <p:nvPr/>
        </p:nvSpPr>
        <p:spPr>
          <a:xfrm rot="17192158">
            <a:off x="1861613" y="2763628"/>
            <a:ext cx="3377313" cy="246527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400" dirty="0">
                <a:ln w="0"/>
                <a:solidFill>
                  <a:schemeClr val="bg1"/>
                </a:solidFill>
              </a:rPr>
              <a:t>Data</a:t>
            </a:r>
            <a:endParaRPr lang="en-US" sz="1400" cap="none" spc="0" dirty="0">
              <a:ln w="0"/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34B636-80C4-D2CA-0B36-6AFD33C920C6}"/>
              </a:ext>
            </a:extLst>
          </p:cNvPr>
          <p:cNvSpPr/>
          <p:nvPr/>
        </p:nvSpPr>
        <p:spPr>
          <a:xfrm rot="18744189">
            <a:off x="3224164" y="3387717"/>
            <a:ext cx="3401194" cy="2654079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400" cap="none" spc="0" dirty="0">
                <a:ln w="0"/>
                <a:solidFill>
                  <a:schemeClr val="bg1"/>
                </a:solidFill>
              </a:rPr>
              <a:t>Social Inclusion Outcomes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35A2E5D-52D1-0063-B281-73B15C07E10C}"/>
              </a:ext>
            </a:extLst>
          </p:cNvPr>
          <p:cNvSpPr/>
          <p:nvPr/>
        </p:nvSpPr>
        <p:spPr>
          <a:xfrm rot="2896504">
            <a:off x="2095010" y="3416686"/>
            <a:ext cx="3401194" cy="2654079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400" cap="none" spc="0" dirty="0">
                <a:ln w="0"/>
                <a:solidFill>
                  <a:schemeClr val="bg1"/>
                </a:solidFill>
              </a:rPr>
              <a:t>Economic Outcomes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D690D-F609-99D0-3327-280E511DF7D4}"/>
              </a:ext>
            </a:extLst>
          </p:cNvPr>
          <p:cNvSpPr/>
          <p:nvPr/>
        </p:nvSpPr>
        <p:spPr>
          <a:xfrm>
            <a:off x="3586863" y="3516498"/>
            <a:ext cx="1487814" cy="1353219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00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Model Inputs</a:t>
            </a:r>
            <a:endParaRPr lang="en-US" sz="1000" cap="none" spc="0" dirty="0">
              <a:ln w="0"/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1DB573-F743-83FE-3B43-3EC044B14BFD}"/>
              </a:ext>
            </a:extLst>
          </p:cNvPr>
          <p:cNvSpPr/>
          <p:nvPr/>
        </p:nvSpPr>
        <p:spPr>
          <a:xfrm>
            <a:off x="3613293" y="3352968"/>
            <a:ext cx="1480211" cy="1560215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000" cap="none" spc="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</a:rPr>
              <a:t>Model Outputs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490007-D173-92AD-6B47-27458502FBB0}"/>
              </a:ext>
            </a:extLst>
          </p:cNvPr>
          <p:cNvSpPr txBox="1"/>
          <p:nvPr/>
        </p:nvSpPr>
        <p:spPr>
          <a:xfrm rot="1340122">
            <a:off x="2513627" y="3617948"/>
            <a:ext cx="1010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Social accounting matrices</a:t>
            </a:r>
            <a:r>
              <a:rPr lang="en-US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(NEXUS)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9526C4-8EBB-DAF9-58A1-85D47A2D0B6C}"/>
              </a:ext>
            </a:extLst>
          </p:cNvPr>
          <p:cNvSpPr txBox="1"/>
          <p:nvPr/>
        </p:nvSpPr>
        <p:spPr>
          <a:xfrm rot="21237696">
            <a:off x="2493834" y="4321619"/>
            <a:ext cx="1008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Agri-food system growth </a:t>
            </a:r>
            <a:r>
              <a:rPr lang="en-US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(AgGDP+)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75D9E7-C85C-3F55-3B2D-A47FC283B77F}"/>
              </a:ext>
            </a:extLst>
          </p:cNvPr>
          <p:cNvSpPr txBox="1"/>
          <p:nvPr/>
        </p:nvSpPr>
        <p:spPr>
          <a:xfrm rot="19259304">
            <a:off x="2859255" y="4958319"/>
            <a:ext cx="1010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Agri-food system jobs </a:t>
            </a:r>
            <a:r>
              <a:rPr lang="en-US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(AgEMP+)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0E8AF5-CE9E-6B7A-10AB-D9671A40BC39}"/>
              </a:ext>
            </a:extLst>
          </p:cNvPr>
          <p:cNvSpPr txBox="1"/>
          <p:nvPr/>
        </p:nvSpPr>
        <p:spPr>
          <a:xfrm rot="17329754">
            <a:off x="3440723" y="5337960"/>
            <a:ext cx="1010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Food system resilience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010FD0-E7DE-41E8-009B-8BC626184EFA}"/>
              </a:ext>
            </a:extLst>
          </p:cNvPr>
          <p:cNvSpPr txBox="1"/>
          <p:nvPr/>
        </p:nvSpPr>
        <p:spPr>
          <a:xfrm rot="4724346">
            <a:off x="4164156" y="5336187"/>
            <a:ext cx="1010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Women’s inclusion</a:t>
            </a:r>
            <a:r>
              <a:rPr lang="en-US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(WIST)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B09641-F61C-BE51-7419-6E3024CFD8BF}"/>
              </a:ext>
            </a:extLst>
          </p:cNvPr>
          <p:cNvSpPr txBox="1"/>
          <p:nvPr/>
        </p:nvSpPr>
        <p:spPr>
          <a:xfrm rot="2734847">
            <a:off x="4896821" y="4908491"/>
            <a:ext cx="746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Hunger &amp; diet quality</a:t>
            </a:r>
            <a:r>
              <a:rPr lang="en-US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</a:t>
            </a:r>
            <a:r>
              <a:rPr lang="en-US" sz="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ReDD</a:t>
            </a:r>
            <a:r>
              <a:rPr lang="en-US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981326-8710-0CA3-4228-DDADBD04FC9E}"/>
              </a:ext>
            </a:extLst>
          </p:cNvPr>
          <p:cNvSpPr txBox="1"/>
          <p:nvPr/>
        </p:nvSpPr>
        <p:spPr>
          <a:xfrm rot="1120078">
            <a:off x="5132138" y="4396966"/>
            <a:ext cx="1048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Poverty &amp; inequality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9B0E5C-2D93-1BE5-D692-6CDB22AA4FB6}"/>
              </a:ext>
            </a:extLst>
          </p:cNvPr>
          <p:cNvSpPr txBox="1"/>
          <p:nvPr/>
        </p:nvSpPr>
        <p:spPr>
          <a:xfrm rot="20594780">
            <a:off x="5139175" y="3626086"/>
            <a:ext cx="104825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Global markets</a:t>
            </a:r>
          </a:p>
          <a:p>
            <a:pPr algn="ctr"/>
            <a:r>
              <a:rPr lang="en-US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(IMPACT, MIRAGE)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95B258-3DDE-7DD2-20C9-BBFF83C5FCD1}"/>
              </a:ext>
            </a:extLst>
          </p:cNvPr>
          <p:cNvSpPr txBox="1"/>
          <p:nvPr/>
        </p:nvSpPr>
        <p:spPr>
          <a:xfrm rot="18758693">
            <a:off x="4743331" y="3016754"/>
            <a:ext cx="104825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Crop growth</a:t>
            </a:r>
          </a:p>
          <a:p>
            <a:pPr algn="ctr"/>
            <a:r>
              <a:rPr lang="en-US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(DSSAT &amp; SPAM)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7A671D-15DA-DA68-F7B1-81D002F89D20}"/>
              </a:ext>
            </a:extLst>
          </p:cNvPr>
          <p:cNvSpPr txBox="1"/>
          <p:nvPr/>
        </p:nvSpPr>
        <p:spPr>
          <a:xfrm rot="17176078">
            <a:off x="4229032" y="2699445"/>
            <a:ext cx="98599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 system</a:t>
            </a:r>
          </a:p>
          <a:p>
            <a:pPr algn="ctr"/>
            <a:r>
              <a:rPr lang="en-US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(LEAS)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ED30E4-4057-38D6-3AB3-CD3AF01F76BB}"/>
              </a:ext>
            </a:extLst>
          </p:cNvPr>
          <p:cNvSpPr txBox="1"/>
          <p:nvPr/>
        </p:nvSpPr>
        <p:spPr>
          <a:xfrm rot="3087599">
            <a:off x="2862018" y="2924234"/>
            <a:ext cx="1138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Cross-cutting policies </a:t>
            </a:r>
            <a:r>
              <a:rPr lang="en-US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(AIDA)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847E24-DCC4-CDCB-BF13-038B7E5A8ED7}"/>
              </a:ext>
            </a:extLst>
          </p:cNvPr>
          <p:cNvSpPr txBox="1"/>
          <p:nvPr/>
        </p:nvSpPr>
        <p:spPr>
          <a:xfrm rot="4369925">
            <a:off x="3391561" y="2675761"/>
            <a:ext cx="11100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Value chains </a:t>
            </a:r>
          </a:p>
          <a:p>
            <a:pPr algn="ctr"/>
            <a:r>
              <a:rPr lang="en-US" sz="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(PPVC)</a:t>
            </a:r>
          </a:p>
        </p:txBody>
      </p:sp>
      <p:pic>
        <p:nvPicPr>
          <p:cNvPr id="52" name="Graphic 51" descr="Earth globe: Americas with solid fill">
            <a:extLst>
              <a:ext uri="{FF2B5EF4-FFF2-40B4-BE49-F238E27FC236}">
                <a16:creationId xmlns:a16="http://schemas.microsoft.com/office/drawing/2014/main" id="{CE45C73F-5923-B660-6A77-20917AC3F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5019" y="3305263"/>
            <a:ext cx="256531" cy="256531"/>
          </a:xfrm>
          <a:prstGeom prst="rect">
            <a:avLst/>
          </a:prstGeom>
        </p:spPr>
      </p:pic>
      <p:pic>
        <p:nvPicPr>
          <p:cNvPr id="53" name="Graphic 52" descr="Leaf with solid fill">
            <a:extLst>
              <a:ext uri="{FF2B5EF4-FFF2-40B4-BE49-F238E27FC236}">
                <a16:creationId xmlns:a16="http://schemas.microsoft.com/office/drawing/2014/main" id="{492545BD-2186-318F-ECD4-10C1DBEDA0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936" y="2694097"/>
            <a:ext cx="224361" cy="224361"/>
          </a:xfrm>
          <a:prstGeom prst="rect">
            <a:avLst/>
          </a:prstGeom>
        </p:spPr>
      </p:pic>
      <p:pic>
        <p:nvPicPr>
          <p:cNvPr id="54" name="Graphic 53" descr="Link with solid fill">
            <a:extLst>
              <a:ext uri="{FF2B5EF4-FFF2-40B4-BE49-F238E27FC236}">
                <a16:creationId xmlns:a16="http://schemas.microsoft.com/office/drawing/2014/main" id="{3EAAFCFA-8524-1186-6C8E-FFD4752CBB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132075">
            <a:off x="3478230" y="2520157"/>
            <a:ext cx="256384" cy="256384"/>
          </a:xfrm>
          <a:prstGeom prst="rect">
            <a:avLst/>
          </a:prstGeom>
        </p:spPr>
      </p:pic>
      <p:pic>
        <p:nvPicPr>
          <p:cNvPr id="55" name="Graphic 54" descr="Statistics with solid fill">
            <a:extLst>
              <a:ext uri="{FF2B5EF4-FFF2-40B4-BE49-F238E27FC236}">
                <a16:creationId xmlns:a16="http://schemas.microsoft.com/office/drawing/2014/main" id="{785F1F96-5B66-ED87-4A89-6EB3DB2E8F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834956">
            <a:off x="2630230" y="4700481"/>
            <a:ext cx="254791" cy="244608"/>
          </a:xfrm>
          <a:prstGeom prst="rect">
            <a:avLst/>
          </a:prstGeom>
        </p:spPr>
      </p:pic>
      <p:pic>
        <p:nvPicPr>
          <p:cNvPr id="56" name="Graphic 55" descr="Table with solid fill">
            <a:extLst>
              <a:ext uri="{FF2B5EF4-FFF2-40B4-BE49-F238E27FC236}">
                <a16:creationId xmlns:a16="http://schemas.microsoft.com/office/drawing/2014/main" id="{D80906BD-EDEE-1919-61BC-0A36A6F595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35733" y="3925646"/>
            <a:ext cx="262461" cy="262461"/>
          </a:xfrm>
          <a:prstGeom prst="rect">
            <a:avLst/>
          </a:prstGeom>
        </p:spPr>
      </p:pic>
      <p:pic>
        <p:nvPicPr>
          <p:cNvPr id="57" name="Graphic 56" descr="Woman with solid fill">
            <a:extLst>
              <a:ext uri="{FF2B5EF4-FFF2-40B4-BE49-F238E27FC236}">
                <a16:creationId xmlns:a16="http://schemas.microsoft.com/office/drawing/2014/main" id="{24AE5967-C0AE-8003-A3B4-10034934F4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70019" y="5616992"/>
            <a:ext cx="266652" cy="266652"/>
          </a:xfrm>
          <a:prstGeom prst="rect">
            <a:avLst/>
          </a:prstGeom>
        </p:spPr>
      </p:pic>
      <p:pic>
        <p:nvPicPr>
          <p:cNvPr id="58" name="Graphic 57" descr="Briefcase with solid fill">
            <a:extLst>
              <a:ext uri="{FF2B5EF4-FFF2-40B4-BE49-F238E27FC236}">
                <a16:creationId xmlns:a16="http://schemas.microsoft.com/office/drawing/2014/main" id="{C3788FE7-28EA-F3AF-A594-792ED84064B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8250672">
            <a:off x="3193114" y="5473965"/>
            <a:ext cx="236852" cy="236852"/>
          </a:xfrm>
          <a:prstGeom prst="rect">
            <a:avLst/>
          </a:prstGeom>
        </p:spPr>
      </p:pic>
      <p:pic>
        <p:nvPicPr>
          <p:cNvPr id="59" name="Graphic 58" descr="Fork and knife with solid fill">
            <a:extLst>
              <a:ext uri="{FF2B5EF4-FFF2-40B4-BE49-F238E27FC236}">
                <a16:creationId xmlns:a16="http://schemas.microsoft.com/office/drawing/2014/main" id="{DDC3B060-BCFA-0097-FB6A-62E77EB1DEE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098986">
            <a:off x="5590481" y="5069720"/>
            <a:ext cx="213506" cy="213506"/>
          </a:xfrm>
          <a:prstGeom prst="rect">
            <a:avLst/>
          </a:prstGeom>
        </p:spPr>
      </p:pic>
      <p:pic>
        <p:nvPicPr>
          <p:cNvPr id="60" name="Graphic 59" descr="Cow with solid fill">
            <a:extLst>
              <a:ext uri="{FF2B5EF4-FFF2-40B4-BE49-F238E27FC236}">
                <a16:creationId xmlns:a16="http://schemas.microsoft.com/office/drawing/2014/main" id="{723A6CAD-94ED-B60D-5172-F81E62FCD14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375340" y="2316132"/>
            <a:ext cx="284069" cy="284069"/>
          </a:xfrm>
          <a:prstGeom prst="rect">
            <a:avLst/>
          </a:prstGeom>
        </p:spPr>
      </p:pic>
      <p:pic>
        <p:nvPicPr>
          <p:cNvPr id="61" name="Graphic 60" descr="Lightning with solid fill">
            <a:extLst>
              <a:ext uri="{FF2B5EF4-FFF2-40B4-BE49-F238E27FC236}">
                <a16:creationId xmlns:a16="http://schemas.microsoft.com/office/drawing/2014/main" id="{8F7E3BE9-6AB9-5107-1886-05362191376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50203" y="5722349"/>
            <a:ext cx="351525" cy="351525"/>
          </a:xfrm>
          <a:prstGeom prst="rect">
            <a:avLst/>
          </a:prstGeom>
        </p:spPr>
      </p:pic>
      <p:pic>
        <p:nvPicPr>
          <p:cNvPr id="62" name="Graphic 61" descr="Coins outline">
            <a:extLst>
              <a:ext uri="{FF2B5EF4-FFF2-40B4-BE49-F238E27FC236}">
                <a16:creationId xmlns:a16="http://schemas.microsoft.com/office/drawing/2014/main" id="{AFC598AB-8051-5EE2-2C60-25BF072A7E4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852006" y="4240112"/>
            <a:ext cx="287867" cy="287867"/>
          </a:xfrm>
          <a:prstGeom prst="rect">
            <a:avLst/>
          </a:prstGeom>
        </p:spPr>
      </p:pic>
      <p:pic>
        <p:nvPicPr>
          <p:cNvPr id="63" name="Graphic 62" descr="Gantt Chart with solid fill">
            <a:extLst>
              <a:ext uri="{FF2B5EF4-FFF2-40B4-BE49-F238E27FC236}">
                <a16:creationId xmlns:a16="http://schemas.microsoft.com/office/drawing/2014/main" id="{D775A0E5-D55E-AF51-E999-D307D92564A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1985460">
            <a:off x="2866714" y="2997367"/>
            <a:ext cx="273163" cy="273163"/>
          </a:xfrm>
          <a:prstGeom prst="rect">
            <a:avLst/>
          </a:prstGeom>
        </p:spPr>
      </p:pic>
      <p:sp>
        <p:nvSpPr>
          <p:cNvPr id="64" name="Partial Circle 63">
            <a:extLst>
              <a:ext uri="{FF2B5EF4-FFF2-40B4-BE49-F238E27FC236}">
                <a16:creationId xmlns:a16="http://schemas.microsoft.com/office/drawing/2014/main" id="{0A1F13EF-940B-9DEB-7F14-AEEF8780EE78}"/>
              </a:ext>
            </a:extLst>
          </p:cNvPr>
          <p:cNvSpPr/>
          <p:nvPr/>
        </p:nvSpPr>
        <p:spPr>
          <a:xfrm>
            <a:off x="2042942" y="1877531"/>
            <a:ext cx="4589063" cy="4606369"/>
          </a:xfrm>
          <a:prstGeom prst="pie">
            <a:avLst>
              <a:gd name="adj1" fmla="val 53455"/>
              <a:gd name="adj2" fmla="val 10766479"/>
            </a:avLst>
          </a:prstGeom>
          <a:noFill/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B7F0916-8E81-4695-7957-C83C866300AC}"/>
              </a:ext>
            </a:extLst>
          </p:cNvPr>
          <p:cNvSpPr/>
          <p:nvPr/>
        </p:nvSpPr>
        <p:spPr>
          <a:xfrm>
            <a:off x="3774876" y="3635768"/>
            <a:ext cx="1153461" cy="110795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BA18D3-C14A-7CD2-865F-BB57F0A6C3A9}"/>
              </a:ext>
            </a:extLst>
          </p:cNvPr>
          <p:cNvSpPr txBox="1"/>
          <p:nvPr/>
        </p:nvSpPr>
        <p:spPr>
          <a:xfrm>
            <a:off x="3816135" y="3770659"/>
            <a:ext cx="10741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RIAPA</a:t>
            </a:r>
            <a:r>
              <a:rPr lang="en-US" sz="1400" dirty="0"/>
              <a:t> </a:t>
            </a:r>
          </a:p>
          <a:p>
            <a:pPr algn="ctr"/>
            <a:r>
              <a:rPr lang="en-US" sz="900" dirty="0"/>
              <a:t>Dynamic economywide model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37FC4B-B0C5-F852-CC15-E5F48A3B9127}"/>
              </a:ext>
            </a:extLst>
          </p:cNvPr>
          <p:cNvSpPr txBox="1"/>
          <p:nvPr/>
        </p:nvSpPr>
        <p:spPr>
          <a:xfrm>
            <a:off x="9630312" y="2557865"/>
            <a:ext cx="15957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rgbClr val="C00000"/>
                </a:solidFill>
              </a:rPr>
              <a:t>RIAPA countries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34F9E62-1BDA-4417-71AE-FC8E64A6304B}"/>
              </a:ext>
            </a:extLst>
          </p:cNvPr>
          <p:cNvSpPr txBox="1"/>
          <p:nvPr/>
        </p:nvSpPr>
        <p:spPr>
          <a:xfrm>
            <a:off x="8538101" y="2543161"/>
            <a:ext cx="1379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8A8A8A"/>
                </a:solidFill>
              </a:rPr>
              <a:t>Other developing countries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94E4317-6E0C-42D6-6D54-6D3DE7CBFF99}"/>
              </a:ext>
            </a:extLst>
          </p:cNvPr>
          <p:cNvSpPr txBox="1"/>
          <p:nvPr/>
        </p:nvSpPr>
        <p:spPr>
          <a:xfrm>
            <a:off x="480522" y="2806277"/>
            <a:ext cx="1623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SAMs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reconcile data from national accounts, government finances, and firm/household surveys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B85B1A4-EFF8-CC34-1F9E-31ECBD204750}"/>
              </a:ext>
            </a:extLst>
          </p:cNvPr>
          <p:cNvCxnSpPr>
            <a:cxnSpLocks/>
          </p:cNvCxnSpPr>
          <p:nvPr/>
        </p:nvCxnSpPr>
        <p:spPr>
          <a:xfrm>
            <a:off x="2088658" y="3090168"/>
            <a:ext cx="193551" cy="10909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699EEA4-C4A5-2CD3-5EBF-F5B6E14AC94B}"/>
              </a:ext>
            </a:extLst>
          </p:cNvPr>
          <p:cNvCxnSpPr>
            <a:cxnSpLocks/>
          </p:cNvCxnSpPr>
          <p:nvPr/>
        </p:nvCxnSpPr>
        <p:spPr>
          <a:xfrm flipH="1" flipV="1">
            <a:off x="2285959" y="3200356"/>
            <a:ext cx="92206" cy="54093"/>
          </a:xfrm>
          <a:prstGeom prst="line">
            <a:avLst/>
          </a:prstGeom>
          <a:ln>
            <a:solidFill>
              <a:schemeClr val="bg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16DA3D6-19AD-97F8-2112-3CABB23A3587}"/>
              </a:ext>
            </a:extLst>
          </p:cNvPr>
          <p:cNvCxnSpPr>
            <a:cxnSpLocks/>
          </p:cNvCxnSpPr>
          <p:nvPr/>
        </p:nvCxnSpPr>
        <p:spPr>
          <a:xfrm flipV="1">
            <a:off x="6301763" y="3355621"/>
            <a:ext cx="157978" cy="84294"/>
          </a:xfrm>
          <a:prstGeom prst="line">
            <a:avLst/>
          </a:prstGeom>
          <a:ln>
            <a:solidFill>
              <a:schemeClr val="bg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5A1EF9A-A822-62FC-E2F5-CE73A93B44FC}"/>
              </a:ext>
            </a:extLst>
          </p:cNvPr>
          <p:cNvCxnSpPr>
            <a:cxnSpLocks/>
          </p:cNvCxnSpPr>
          <p:nvPr/>
        </p:nvCxnSpPr>
        <p:spPr>
          <a:xfrm flipV="1">
            <a:off x="6459309" y="3247328"/>
            <a:ext cx="210794" cy="10670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F5D7D49-1BAD-05B0-F744-297A1356F3A7}"/>
              </a:ext>
            </a:extLst>
          </p:cNvPr>
          <p:cNvSpPr txBox="1"/>
          <p:nvPr/>
        </p:nvSpPr>
        <p:spPr>
          <a:xfrm>
            <a:off x="6617225" y="2992999"/>
            <a:ext cx="1530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Linked models 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track global and biophysical drivers (e.g., animal herds, crop yields, world prices)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D297FC9-0A93-A273-D1BF-17BF1036DC5F}"/>
              </a:ext>
            </a:extLst>
          </p:cNvPr>
          <p:cNvSpPr txBox="1"/>
          <p:nvPr/>
        </p:nvSpPr>
        <p:spPr>
          <a:xfrm>
            <a:off x="1073612" y="1777978"/>
            <a:ext cx="1884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Investment tools 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track spending levels, unit costs, and intermediate outcomes </a:t>
            </a:r>
          </a:p>
          <a:p>
            <a:pPr algn="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(e.g., productivity gains, profit margins) 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F08F108-2CF6-5894-5892-6CF780937BAE}"/>
              </a:ext>
            </a:extLst>
          </p:cNvPr>
          <p:cNvCxnSpPr>
            <a:cxnSpLocks/>
          </p:cNvCxnSpPr>
          <p:nvPr/>
        </p:nvCxnSpPr>
        <p:spPr>
          <a:xfrm>
            <a:off x="2913028" y="2009036"/>
            <a:ext cx="196109" cy="272256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7E06354-6E72-B109-121E-62C9F7949A56}"/>
              </a:ext>
            </a:extLst>
          </p:cNvPr>
          <p:cNvCxnSpPr>
            <a:cxnSpLocks/>
          </p:cNvCxnSpPr>
          <p:nvPr/>
        </p:nvCxnSpPr>
        <p:spPr>
          <a:xfrm flipH="1" flipV="1">
            <a:off x="3111181" y="2279848"/>
            <a:ext cx="53958" cy="76310"/>
          </a:xfrm>
          <a:prstGeom prst="line">
            <a:avLst/>
          </a:prstGeom>
          <a:ln>
            <a:solidFill>
              <a:schemeClr val="bg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E2D41BDC-8F78-6C5C-FA36-9A67A3AAF62A}"/>
              </a:ext>
            </a:extLst>
          </p:cNvPr>
          <p:cNvSpPr txBox="1"/>
          <p:nvPr/>
        </p:nvSpPr>
        <p:spPr>
          <a:xfrm>
            <a:off x="6774688" y="4237230"/>
            <a:ext cx="1489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Survey-based </a:t>
            </a:r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microsimulation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modules estimate outcomes at individual and household levels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E8EB6B2-055D-1C5D-3FB5-07212165057A}"/>
              </a:ext>
            </a:extLst>
          </p:cNvPr>
          <p:cNvCxnSpPr>
            <a:cxnSpLocks/>
          </p:cNvCxnSpPr>
          <p:nvPr/>
        </p:nvCxnSpPr>
        <p:spPr>
          <a:xfrm>
            <a:off x="6447145" y="4469651"/>
            <a:ext cx="166800" cy="0"/>
          </a:xfrm>
          <a:prstGeom prst="line">
            <a:avLst/>
          </a:prstGeom>
          <a:ln>
            <a:solidFill>
              <a:schemeClr val="bg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A7B8F17-F502-13B6-8A4B-5A23032C6682}"/>
              </a:ext>
            </a:extLst>
          </p:cNvPr>
          <p:cNvCxnSpPr>
            <a:cxnSpLocks/>
          </p:cNvCxnSpPr>
          <p:nvPr/>
        </p:nvCxnSpPr>
        <p:spPr>
          <a:xfrm>
            <a:off x="6613513" y="4468063"/>
            <a:ext cx="21004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B8950F9F-D75F-D805-6D6E-B172A3A02679}"/>
              </a:ext>
            </a:extLst>
          </p:cNvPr>
          <p:cNvSpPr txBox="1"/>
          <p:nvPr/>
        </p:nvSpPr>
        <p:spPr>
          <a:xfrm>
            <a:off x="335071" y="4138596"/>
            <a:ext cx="1499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Outcomes are tracked across the </a:t>
            </a:r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agri-food system </a:t>
            </a: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(e.g., farming, processing, trade, transport, hotels, food services)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723C6E4-8F59-F838-31D6-FA725C87AB65}"/>
              </a:ext>
            </a:extLst>
          </p:cNvPr>
          <p:cNvCxnSpPr>
            <a:cxnSpLocks/>
          </p:cNvCxnSpPr>
          <p:nvPr/>
        </p:nvCxnSpPr>
        <p:spPr>
          <a:xfrm>
            <a:off x="1821648" y="4462495"/>
            <a:ext cx="23275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1A6A455-9F33-1CB5-F0C1-F48543CA0E43}"/>
              </a:ext>
            </a:extLst>
          </p:cNvPr>
          <p:cNvCxnSpPr>
            <a:cxnSpLocks/>
          </p:cNvCxnSpPr>
          <p:nvPr/>
        </p:nvCxnSpPr>
        <p:spPr>
          <a:xfrm flipH="1">
            <a:off x="2070013" y="4462495"/>
            <a:ext cx="129587" cy="0"/>
          </a:xfrm>
          <a:prstGeom prst="line">
            <a:avLst/>
          </a:prstGeom>
          <a:ln>
            <a:solidFill>
              <a:schemeClr val="bg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BB2E4BA3-897D-BF17-5D5D-295B7720D516}"/>
              </a:ext>
            </a:extLst>
          </p:cNvPr>
          <p:cNvSpPr txBox="1"/>
          <p:nvPr/>
        </p:nvSpPr>
        <p:spPr>
          <a:xfrm>
            <a:off x="173153" y="762754"/>
            <a:ext cx="6829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Rural Investment and Policy Analysis (RIAPA)</a:t>
            </a:r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Forward-looking economywide framework that captures entire national economies, unpacks agrifood systems and subnational regions, and tracks how policies, investments, and climate risks affect different sectors, workers and population groups</a:t>
            </a:r>
          </a:p>
        </p:txBody>
      </p:sp>
      <p:graphicFrame>
        <p:nvGraphicFramePr>
          <p:cNvPr id="85" name="Chart 84">
            <a:extLst>
              <a:ext uri="{FF2B5EF4-FFF2-40B4-BE49-F238E27FC236}">
                <a16:creationId xmlns:a16="http://schemas.microsoft.com/office/drawing/2014/main" id="{84B65360-FDDA-AD18-535E-84A2939CD14C}"/>
              </a:ext>
            </a:extLst>
          </p:cNvPr>
          <p:cNvGraphicFramePr>
            <a:graphicFrameLocks/>
          </p:cNvGraphicFramePr>
          <p:nvPr/>
        </p:nvGraphicFramePr>
        <p:xfrm>
          <a:off x="9266201" y="2750391"/>
          <a:ext cx="1298215" cy="855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graphicFrame>
        <p:nvGraphicFramePr>
          <p:cNvPr id="86" name="Chart 85">
            <a:extLst>
              <a:ext uri="{FF2B5EF4-FFF2-40B4-BE49-F238E27FC236}">
                <a16:creationId xmlns:a16="http://schemas.microsoft.com/office/drawing/2014/main" id="{67D34C79-BE69-5DAE-7378-2F4C1729B8EF}"/>
              </a:ext>
            </a:extLst>
          </p:cNvPr>
          <p:cNvGraphicFramePr>
            <a:graphicFrameLocks/>
          </p:cNvGraphicFramePr>
          <p:nvPr/>
        </p:nvGraphicFramePr>
        <p:xfrm>
          <a:off x="9272062" y="3459185"/>
          <a:ext cx="1298216" cy="855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graphicFrame>
        <p:nvGraphicFramePr>
          <p:cNvPr id="87" name="Chart 86">
            <a:extLst>
              <a:ext uri="{FF2B5EF4-FFF2-40B4-BE49-F238E27FC236}">
                <a16:creationId xmlns:a16="http://schemas.microsoft.com/office/drawing/2014/main" id="{D8CA22A3-E9E6-31DE-A2F7-9C942774E21C}"/>
              </a:ext>
            </a:extLst>
          </p:cNvPr>
          <p:cNvGraphicFramePr>
            <a:graphicFrameLocks/>
          </p:cNvGraphicFramePr>
          <p:nvPr/>
        </p:nvGraphicFramePr>
        <p:xfrm>
          <a:off x="9277923" y="4164128"/>
          <a:ext cx="1298216" cy="855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graphicFrame>
        <p:nvGraphicFramePr>
          <p:cNvPr id="88" name="Chart 87">
            <a:extLst>
              <a:ext uri="{FF2B5EF4-FFF2-40B4-BE49-F238E27FC236}">
                <a16:creationId xmlns:a16="http://schemas.microsoft.com/office/drawing/2014/main" id="{7F3F8B64-C776-9FB0-5610-D5EE8126C809}"/>
              </a:ext>
            </a:extLst>
          </p:cNvPr>
          <p:cNvGraphicFramePr>
            <a:graphicFrameLocks/>
          </p:cNvGraphicFramePr>
          <p:nvPr/>
        </p:nvGraphicFramePr>
        <p:xfrm>
          <a:off x="9307203" y="4913183"/>
          <a:ext cx="1298216" cy="855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graphicFrame>
        <p:nvGraphicFramePr>
          <p:cNvPr id="89" name="Chart 88">
            <a:extLst>
              <a:ext uri="{FF2B5EF4-FFF2-40B4-BE49-F238E27FC236}">
                <a16:creationId xmlns:a16="http://schemas.microsoft.com/office/drawing/2014/main" id="{4AF1EB24-B5B3-5BC2-E873-00E33268411C}"/>
              </a:ext>
            </a:extLst>
          </p:cNvPr>
          <p:cNvGraphicFramePr>
            <a:graphicFrameLocks/>
          </p:cNvGraphicFramePr>
          <p:nvPr/>
        </p:nvGraphicFramePr>
        <p:xfrm>
          <a:off x="9325717" y="5645929"/>
          <a:ext cx="1298215" cy="855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</p:spTree>
    <p:extLst>
      <p:ext uri="{BB962C8B-B14F-4D97-AF65-F5344CB8AC3E}">
        <p14:creationId xmlns:p14="http://schemas.microsoft.com/office/powerpoint/2010/main" val="352658101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36F7-3D73-679F-A6B4-F22A36949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C47F6-7C54-3F75-E6F4-949627261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Recursive dynamics</a:t>
            </a:r>
          </a:p>
          <a:p>
            <a:pPr lvl="1"/>
            <a:r>
              <a:rPr lang="en-US" sz="1600" dirty="0"/>
              <a:t>Diao and Thurlow. 2012. A Recursive Dynamic Computable General Equilibrium Model. In Diao et al. (eds.). Strategies and Priorities for African Agriculture: Economywide Perspectives from Country Studies. Washington DC, USA: IFPRI. </a:t>
            </a:r>
          </a:p>
          <a:p>
            <a:endParaRPr lang="en-US" sz="100" dirty="0"/>
          </a:p>
          <a:p>
            <a:r>
              <a:rPr lang="en-US" b="1" dirty="0"/>
              <a:t>Microsimulation</a:t>
            </a:r>
            <a:endParaRPr lang="en-US" sz="1800" b="1" dirty="0"/>
          </a:p>
          <a:p>
            <a:pPr lvl="1"/>
            <a:r>
              <a:rPr lang="en-US" sz="1600" dirty="0"/>
              <a:t>Arndt et al. 2013. Explaining the Evolution of Poverty: The Case of Mozambique. American Journal of Agricultural Economics 95(1): 206-206.</a:t>
            </a:r>
          </a:p>
          <a:p>
            <a:pPr lvl="1"/>
            <a:r>
              <a:rPr lang="en-US" sz="1600" dirty="0"/>
              <a:t>Pauw and Thurlow. 2011. Agricultural Growth, Poverty, and Nutrition in Tanzania. Food Policy 36(6): 795-804.  </a:t>
            </a:r>
          </a:p>
          <a:p>
            <a:endParaRPr lang="en-US" sz="100" dirty="0"/>
          </a:p>
          <a:p>
            <a:r>
              <a:rPr lang="en-US" b="1" dirty="0"/>
              <a:t>Environment and natural resources</a:t>
            </a:r>
          </a:p>
          <a:p>
            <a:pPr lvl="1"/>
            <a:r>
              <a:rPr lang="en-US" sz="1600" dirty="0"/>
              <a:t>Alton et al. 2014. Introducing Carbon Taxes in South Africa. Applied Energy 116(1): 344-354. </a:t>
            </a:r>
          </a:p>
          <a:p>
            <a:pPr lvl="1"/>
            <a:r>
              <a:rPr lang="en-US" sz="1600" dirty="0"/>
              <a:t>Hassan and Thurlow. 2011. Macro-Micro Feedback Links of Water Management in South Africa: CGE Analyses of Selected Policy Regimes. Agricultural Economics 42(2) : 235-247.</a:t>
            </a:r>
          </a:p>
          <a:p>
            <a:r>
              <a:rPr lang="en-US" sz="100" dirty="0"/>
              <a:t>[</a:t>
            </a:r>
          </a:p>
          <a:p>
            <a:r>
              <a:rPr lang="en-US" b="1" dirty="0"/>
              <a:t>Shocks and extreme events</a:t>
            </a:r>
          </a:p>
          <a:p>
            <a:pPr lvl="1"/>
            <a:r>
              <a:rPr lang="en-US" sz="1600" dirty="0"/>
              <a:t>Arndt et al. 2008. Higher fuel and food prices: impacts and responses for Mozambique. Agricultural Economics 39: 497-511.</a:t>
            </a:r>
          </a:p>
          <a:p>
            <a:pPr lvl="1"/>
            <a:r>
              <a:rPr lang="en-US" sz="1600" dirty="0"/>
              <a:t>Pauw et al. 2011. The Economic Costs of Extreme Weather Events: A Hydro-Meteorological CGE Analysis for Malawi. Environment and Development Economics 16(2) : 177-198.</a:t>
            </a:r>
          </a:p>
          <a:p>
            <a:pPr lvl="1"/>
            <a:r>
              <a:rPr lang="en-US" sz="1600" dirty="0"/>
              <a:t>Thurlow et al. 2011. The Impact of the Global Commodity and Financial Crises on Poverty in Vietnam. Journal of Globalization and Development 2(1): 1-29. 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98498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8048</Words>
  <Application>Microsoft Office PowerPoint</Application>
  <PresentationFormat>Widescreen</PresentationFormat>
  <Paragraphs>2242</Paragraphs>
  <Slides>99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5" baseType="lpstr">
      <vt:lpstr>Arial</vt:lpstr>
      <vt:lpstr>Calibri</vt:lpstr>
      <vt:lpstr>Calibri Light</vt:lpstr>
      <vt:lpstr>Cambria Math</vt:lpstr>
      <vt:lpstr>Times New Roman</vt:lpstr>
      <vt:lpstr>Office Theme</vt:lpstr>
      <vt:lpstr>Foundation Course in CGE Modeling Using IFPRI’s Static CGE and Microsimulation Models</vt:lpstr>
      <vt:lpstr>Overview (Parts 1-7)</vt:lpstr>
      <vt:lpstr>Part 1  Why Do Economywide Analysis?</vt:lpstr>
      <vt:lpstr>Agrifood Systems</vt:lpstr>
      <vt:lpstr>Private Sector</vt:lpstr>
      <vt:lpstr>Economywide Models</vt:lpstr>
      <vt:lpstr>Types of Economywide Studies</vt:lpstr>
      <vt:lpstr>Data Reconciliation</vt:lpstr>
      <vt:lpstr>Part 2  Social Accounting Matrices (SAMs)</vt:lpstr>
      <vt:lpstr>What Is a SAM?</vt:lpstr>
      <vt:lpstr>Circular Flow</vt:lpstr>
      <vt:lpstr>Accounting Identities</vt:lpstr>
      <vt:lpstr>SAM Structure</vt:lpstr>
      <vt:lpstr>Macro SAM  |  Data Sources</vt:lpstr>
      <vt:lpstr>Macro SAM  |  Entries </vt:lpstr>
      <vt:lpstr>Macro SAM  |  Details</vt:lpstr>
      <vt:lpstr>Exercise 1  |  Building a Macro SAM</vt:lpstr>
      <vt:lpstr>Supply-Use Table  |  Details</vt:lpstr>
      <vt:lpstr>Supply-Use Table  |  Accounts</vt:lpstr>
      <vt:lpstr>Supply-Use Table  |  Data Sources</vt:lpstr>
      <vt:lpstr>Social Transfers  |  Details</vt:lpstr>
      <vt:lpstr>Social Transfers  |  Accounts</vt:lpstr>
      <vt:lpstr>Social Transfers  |  Data Sources</vt:lpstr>
      <vt:lpstr>Balancing SAMs  |  RAS Method</vt:lpstr>
      <vt:lpstr>Balancing SAMs  |  Cross-Entropy Method</vt:lpstr>
      <vt:lpstr>Exercise 2  |  SAM Analysis</vt:lpstr>
      <vt:lpstr>Exercise 2x  |  Detailed SAM Analysis</vt:lpstr>
      <vt:lpstr>Part 3  SAM Multiplier Analysis</vt:lpstr>
      <vt:lpstr>Direct and Indirect Linkages</vt:lpstr>
      <vt:lpstr>Circular Income Flow in Multiplier Process</vt:lpstr>
      <vt:lpstr>Exercise 3  |  Round-By-Round Effects</vt:lpstr>
      <vt:lpstr>Key Assumptions for Multipliers</vt:lpstr>
      <vt:lpstr>SAM Entries Using Letters or Symbols</vt:lpstr>
      <vt:lpstr>Coefficient Matrix (M)</vt:lpstr>
      <vt:lpstr>Multiplier Formula (1)</vt:lpstr>
      <vt:lpstr>Multiplier Formula (2)</vt:lpstr>
      <vt:lpstr>Multiplier Formula (3)</vt:lpstr>
      <vt:lpstr>Exercise 4  |  Multiplier Analysis</vt:lpstr>
      <vt:lpstr>Exercise 4x  |  Multiplier Scenarios</vt:lpstr>
      <vt:lpstr>Part 4  Simple CGE Model</vt:lpstr>
      <vt:lpstr>Tracing an Economic Shock</vt:lpstr>
      <vt:lpstr>Closed-Economy, No Government</vt:lpstr>
      <vt:lpstr>Simple SAM</vt:lpstr>
      <vt:lpstr>Tracing an Economic Shock</vt:lpstr>
      <vt:lpstr>Tracing Direct and Indirect Effects</vt:lpstr>
      <vt:lpstr>Why Do We Need a Model?</vt:lpstr>
      <vt:lpstr>Simple CGE  |  Activity Production Functions</vt:lpstr>
      <vt:lpstr>Simple CGE  |  Household Incomes and Spending</vt:lpstr>
      <vt:lpstr>Simple CGE  |  Savings and Investment</vt:lpstr>
      <vt:lpstr>Simple CGE  |  Equations &amp; Variables in the Model</vt:lpstr>
      <vt:lpstr>One More Equation</vt:lpstr>
      <vt:lpstr>Model Calibration and Simulation</vt:lpstr>
      <vt:lpstr>Extensions in IFPRI Standard CGE Model</vt:lpstr>
      <vt:lpstr>Part 5  IFPRI Standard CGE Model</vt:lpstr>
      <vt:lpstr>Why Have a Standard Model?</vt:lpstr>
      <vt:lpstr>Too Many Equations, Variables and Parameters!</vt:lpstr>
      <vt:lpstr>Flows in the Standard Model</vt:lpstr>
      <vt:lpstr>Functional Forms</vt:lpstr>
      <vt:lpstr>Linkages vs. Trade-Offs</vt:lpstr>
      <vt:lpstr>Supply Chains  |  Activity Output</vt:lpstr>
      <vt:lpstr>Supply Chains  |  Commodity Supply &amp; Demand</vt:lpstr>
      <vt:lpstr>Supply Chains  |  Summary</vt:lpstr>
      <vt:lpstr>Supply Chains  |  Summary</vt:lpstr>
      <vt:lpstr>Factor Markets  |  Closure Rules</vt:lpstr>
      <vt:lpstr>Institutions  |  Incomes &amp; Spending</vt:lpstr>
      <vt:lpstr>Macroeconomy  |  Closure Rules</vt:lpstr>
      <vt:lpstr>Standard CGE Model  |  Key Features</vt:lpstr>
      <vt:lpstr>Standard CGE Model  |  Other Features</vt:lpstr>
      <vt:lpstr>Standard CGE Model  |  Calibration</vt:lpstr>
      <vt:lpstr>Part 6  Microsoft-Excel® Interface</vt:lpstr>
      <vt:lpstr>Standard Model</vt:lpstr>
      <vt:lpstr>Running the Model  (using GAMS Studio)</vt:lpstr>
      <vt:lpstr>File 1  |  Changing Model Data (Optional)</vt:lpstr>
      <vt:lpstr>File 2.1  |  Designing Simulations</vt:lpstr>
      <vt:lpstr>File 2.2  |  Designing Simulations</vt:lpstr>
      <vt:lpstr>File 2.3  |  Designing Simulations</vt:lpstr>
      <vt:lpstr>File 3  |  Reviewing Results</vt:lpstr>
      <vt:lpstr>File 3  |  Reviewing Results</vt:lpstr>
      <vt:lpstr>Note  |  Some Constraints to Using Interface</vt:lpstr>
      <vt:lpstr>Note  |  Available Shock Parameters</vt:lpstr>
      <vt:lpstr>Note  |  Available Shock Parameters</vt:lpstr>
      <vt:lpstr>Note  |  Available Shock Parameters</vt:lpstr>
      <vt:lpstr>Part 6  (continued)  Exercises Using the Interface Model</vt:lpstr>
      <vt:lpstr>Exercise 5  |  Foreign Capital Outflows</vt:lpstr>
      <vt:lpstr>Exercise 5  |  Walkthrough</vt:lpstr>
      <vt:lpstr>Exercise 6  |  Tariff Liberalization</vt:lpstr>
      <vt:lpstr>Exercise 6  |  Walkthrough</vt:lpstr>
      <vt:lpstr>Group Exercises (1)</vt:lpstr>
      <vt:lpstr>Group Exercises (2)</vt:lpstr>
      <vt:lpstr>Part 7  Extending the Standard Model</vt:lpstr>
      <vt:lpstr>Three Extensions</vt:lpstr>
      <vt:lpstr>Recursive Dynamics  |  Counterfactual Analysis</vt:lpstr>
      <vt:lpstr>Recursive Dynamics  | Annual Updates</vt:lpstr>
      <vt:lpstr>Recursive Dynamics  |  Endogenous Capital Accumulation</vt:lpstr>
      <vt:lpstr>Microsimulation  |  Linking to Survey Households</vt:lpstr>
      <vt:lpstr>Microsimulation  |  Tracking Household Level Outcomes</vt:lpstr>
      <vt:lpstr>Additional Accounts</vt:lpstr>
      <vt:lpstr>RIAPA | Data &amp; Modeling System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 Economywide Analysis and Policy Prioritization</dc:title>
  <dc:creator>James Thurlow</dc:creator>
  <cp:lastModifiedBy>Aragie, Emerta (IFPRI)</cp:lastModifiedBy>
  <cp:revision>116</cp:revision>
  <dcterms:created xsi:type="dcterms:W3CDTF">2021-06-25T01:31:33Z</dcterms:created>
  <dcterms:modified xsi:type="dcterms:W3CDTF">2026-02-03T14:09:29Z</dcterms:modified>
</cp:coreProperties>
</file>