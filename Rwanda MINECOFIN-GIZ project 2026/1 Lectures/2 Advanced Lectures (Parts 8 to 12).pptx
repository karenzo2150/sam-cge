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9"/>
  </p:notesMasterIdLst>
  <p:sldIdLst>
    <p:sldId id="302" r:id="rId2"/>
    <p:sldId id="356" r:id="rId3"/>
    <p:sldId id="409" r:id="rId4"/>
    <p:sldId id="305" r:id="rId5"/>
    <p:sldId id="357" r:id="rId6"/>
    <p:sldId id="358" r:id="rId7"/>
    <p:sldId id="359" r:id="rId8"/>
    <p:sldId id="363" r:id="rId9"/>
    <p:sldId id="360" r:id="rId10"/>
    <p:sldId id="364" r:id="rId11"/>
    <p:sldId id="369" r:id="rId12"/>
    <p:sldId id="366" r:id="rId13"/>
    <p:sldId id="367" r:id="rId14"/>
    <p:sldId id="368" r:id="rId15"/>
    <p:sldId id="365" r:id="rId16"/>
    <p:sldId id="370" r:id="rId17"/>
    <p:sldId id="371" r:id="rId18"/>
    <p:sldId id="372" r:id="rId19"/>
    <p:sldId id="374" r:id="rId20"/>
    <p:sldId id="373" r:id="rId21"/>
    <p:sldId id="375" r:id="rId22"/>
    <p:sldId id="376" r:id="rId23"/>
    <p:sldId id="378" r:id="rId24"/>
    <p:sldId id="379" r:id="rId25"/>
    <p:sldId id="382" r:id="rId26"/>
    <p:sldId id="281" r:id="rId27"/>
    <p:sldId id="380" r:id="rId28"/>
    <p:sldId id="386" r:id="rId29"/>
    <p:sldId id="387" r:id="rId30"/>
    <p:sldId id="388" r:id="rId31"/>
    <p:sldId id="389" r:id="rId32"/>
    <p:sldId id="288" r:id="rId33"/>
    <p:sldId id="289" r:id="rId34"/>
    <p:sldId id="390" r:id="rId35"/>
    <p:sldId id="361" r:id="rId36"/>
    <p:sldId id="391" r:id="rId37"/>
    <p:sldId id="392" r:id="rId38"/>
    <p:sldId id="283" r:id="rId39"/>
    <p:sldId id="394" r:id="rId40"/>
    <p:sldId id="395" r:id="rId41"/>
    <p:sldId id="397" r:id="rId42"/>
    <p:sldId id="446" r:id="rId43"/>
    <p:sldId id="398" r:id="rId44"/>
    <p:sldId id="399" r:id="rId45"/>
    <p:sldId id="285" r:id="rId46"/>
    <p:sldId id="287" r:id="rId47"/>
    <p:sldId id="400" r:id="rId48"/>
    <p:sldId id="402" r:id="rId49"/>
    <p:sldId id="405" r:id="rId50"/>
    <p:sldId id="406" r:id="rId51"/>
    <p:sldId id="407" r:id="rId52"/>
    <p:sldId id="408" r:id="rId53"/>
    <p:sldId id="410" r:id="rId54"/>
    <p:sldId id="301" r:id="rId55"/>
    <p:sldId id="297" r:id="rId56"/>
    <p:sldId id="384" r:id="rId57"/>
    <p:sldId id="411" r:id="rId58"/>
    <p:sldId id="412" r:id="rId59"/>
    <p:sldId id="413" r:id="rId60"/>
    <p:sldId id="414" r:id="rId61"/>
    <p:sldId id="415" r:id="rId62"/>
    <p:sldId id="447" r:id="rId63"/>
    <p:sldId id="448" r:id="rId64"/>
    <p:sldId id="418" r:id="rId65"/>
    <p:sldId id="422" r:id="rId66"/>
    <p:sldId id="421" r:id="rId67"/>
    <p:sldId id="431" r:id="rId68"/>
    <p:sldId id="432" r:id="rId69"/>
    <p:sldId id="416" r:id="rId70"/>
    <p:sldId id="427" r:id="rId71"/>
    <p:sldId id="419" r:id="rId72"/>
    <p:sldId id="450" r:id="rId73"/>
    <p:sldId id="451" r:id="rId74"/>
    <p:sldId id="428" r:id="rId75"/>
    <p:sldId id="433" r:id="rId76"/>
    <p:sldId id="436" r:id="rId77"/>
    <p:sldId id="437" r:id="rId78"/>
    <p:sldId id="435" r:id="rId79"/>
    <p:sldId id="452" r:id="rId80"/>
    <p:sldId id="453" r:id="rId81"/>
    <p:sldId id="454" r:id="rId82"/>
    <p:sldId id="439" r:id="rId83"/>
    <p:sldId id="440" r:id="rId84"/>
    <p:sldId id="441" r:id="rId85"/>
    <p:sldId id="442" r:id="rId86"/>
    <p:sldId id="444" r:id="rId87"/>
    <p:sldId id="445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EB8"/>
    <a:srgbClr val="C34E2D"/>
    <a:srgbClr val="5C8E3A"/>
    <a:srgbClr val="7F7F7F"/>
    <a:srgbClr val="FFB300"/>
    <a:srgbClr val="FFFFFF"/>
    <a:srgbClr val="8AA63D"/>
    <a:srgbClr val="FC6714"/>
    <a:srgbClr val="A0B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F9AB9-C189-48D4-8005-203147CFC02E}" v="17" dt="2025-12-06T03:06:01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4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rlow, James (IFPRI)" userId="21a02b6a-1baf-4aa4-bf75-185c8473c16f" providerId="ADAL" clId="{B1D073B9-F2B2-4F2C-BA5A-A7E8CB4F6E4F}"/>
    <pc:docChg chg="undo custSel addSld delSld modSld">
      <pc:chgData name="Thurlow, James (IFPRI)" userId="21a02b6a-1baf-4aa4-bf75-185c8473c16f" providerId="ADAL" clId="{B1D073B9-F2B2-4F2C-BA5A-A7E8CB4F6E4F}" dt="2025-12-06T03:06:48.668" v="1465" actId="113"/>
      <pc:docMkLst>
        <pc:docMk/>
      </pc:docMkLst>
      <pc:sldChg chg="modSp mod">
        <pc:chgData name="Thurlow, James (IFPRI)" userId="21a02b6a-1baf-4aa4-bf75-185c8473c16f" providerId="ADAL" clId="{B1D073B9-F2B2-4F2C-BA5A-A7E8CB4F6E4F}" dt="2025-12-05T02:07:26.704" v="8" actId="20577"/>
        <pc:sldMkLst>
          <pc:docMk/>
          <pc:sldMk cId="2050165398" sldId="356"/>
        </pc:sldMkLst>
        <pc:spChg chg="mod">
          <ac:chgData name="Thurlow, James (IFPRI)" userId="21a02b6a-1baf-4aa4-bf75-185c8473c16f" providerId="ADAL" clId="{B1D073B9-F2B2-4F2C-BA5A-A7E8CB4F6E4F}" dt="2025-12-05T02:07:26.704" v="8" actId="20577"/>
          <ac:spMkLst>
            <pc:docMk/>
            <pc:sldMk cId="2050165398" sldId="356"/>
            <ac:spMk id="3" creationId="{3CDF72CA-CA9C-B56F-C333-63FDA3EBB169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7:38.411" v="9" actId="20577"/>
        <pc:sldMkLst>
          <pc:docMk/>
          <pc:sldMk cId="3449641278" sldId="387"/>
        </pc:sldMkLst>
        <pc:spChg chg="mod">
          <ac:chgData name="Thurlow, James (IFPRI)" userId="21a02b6a-1baf-4aa4-bf75-185c8473c16f" providerId="ADAL" clId="{B1D073B9-F2B2-4F2C-BA5A-A7E8CB4F6E4F}" dt="2025-12-05T02:07:38.411" v="9" actId="20577"/>
          <ac:spMkLst>
            <pc:docMk/>
            <pc:sldMk cId="3449641278" sldId="387"/>
            <ac:spMk id="2" creationId="{76153DC7-DA25-3A40-6AC6-827ED31145FF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7:17.268" v="7" actId="20577"/>
        <pc:sldMkLst>
          <pc:docMk/>
          <pc:sldMk cId="18903125" sldId="409"/>
        </pc:sldMkLst>
        <pc:spChg chg="mod">
          <ac:chgData name="Thurlow, James (IFPRI)" userId="21a02b6a-1baf-4aa4-bf75-185c8473c16f" providerId="ADAL" clId="{B1D073B9-F2B2-4F2C-BA5A-A7E8CB4F6E4F}" dt="2025-12-05T02:07:17.268" v="7" actId="20577"/>
          <ac:spMkLst>
            <pc:docMk/>
            <pc:sldMk cId="18903125" sldId="409"/>
            <ac:spMk id="3" creationId="{3CDF72CA-CA9C-B56F-C333-63FDA3EBB169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7:50.483" v="11" actId="20577"/>
        <pc:sldMkLst>
          <pc:docMk/>
          <pc:sldMk cId="3811282150" sldId="410"/>
        </pc:sldMkLst>
        <pc:spChg chg="mod">
          <ac:chgData name="Thurlow, James (IFPRI)" userId="21a02b6a-1baf-4aa4-bf75-185c8473c16f" providerId="ADAL" clId="{B1D073B9-F2B2-4F2C-BA5A-A7E8CB4F6E4F}" dt="2025-12-05T02:07:50.483" v="11" actId="20577"/>
          <ac:spMkLst>
            <pc:docMk/>
            <pc:sldMk cId="3811282150" sldId="410"/>
            <ac:spMk id="2" creationId="{76153DC7-DA25-3A40-6AC6-827ED31145FF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7:55.403" v="13" actId="20577"/>
        <pc:sldMkLst>
          <pc:docMk/>
          <pc:sldMk cId="3477522139" sldId="415"/>
        </pc:sldMkLst>
        <pc:spChg chg="mod">
          <ac:chgData name="Thurlow, James (IFPRI)" userId="21a02b6a-1baf-4aa4-bf75-185c8473c16f" providerId="ADAL" clId="{B1D073B9-F2B2-4F2C-BA5A-A7E8CB4F6E4F}" dt="2025-12-05T02:07:55.403" v="13" actId="20577"/>
          <ac:spMkLst>
            <pc:docMk/>
            <pc:sldMk cId="3477522139" sldId="415"/>
            <ac:spMk id="2" creationId="{6BBFEC32-7E3B-08BE-942B-085B974997D7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8:00.424" v="15" actId="20577"/>
        <pc:sldMkLst>
          <pc:docMk/>
          <pc:sldMk cId="1153475308" sldId="418"/>
        </pc:sldMkLst>
        <pc:spChg chg="mod">
          <ac:chgData name="Thurlow, James (IFPRI)" userId="21a02b6a-1baf-4aa4-bf75-185c8473c16f" providerId="ADAL" clId="{B1D073B9-F2B2-4F2C-BA5A-A7E8CB4F6E4F}" dt="2025-12-05T02:08:00.424" v="15" actId="20577"/>
          <ac:spMkLst>
            <pc:docMk/>
            <pc:sldMk cId="1153475308" sldId="418"/>
            <ac:spMk id="2" creationId="{79C37FC3-EC93-A9C5-B121-1BC19791A79D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8:06.892" v="17" actId="20577"/>
        <pc:sldMkLst>
          <pc:docMk/>
          <pc:sldMk cId="3473494747" sldId="419"/>
        </pc:sldMkLst>
        <pc:spChg chg="mod">
          <ac:chgData name="Thurlow, James (IFPRI)" userId="21a02b6a-1baf-4aa4-bf75-185c8473c16f" providerId="ADAL" clId="{B1D073B9-F2B2-4F2C-BA5A-A7E8CB4F6E4F}" dt="2025-12-05T02:08:06.892" v="17" actId="20577"/>
          <ac:spMkLst>
            <pc:docMk/>
            <pc:sldMk cId="3473494747" sldId="419"/>
            <ac:spMk id="2" creationId="{17B9EA40-B26E-4610-9F3B-5CE15C476302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11:33.562" v="59" actId="14861"/>
        <pc:sldMkLst>
          <pc:docMk/>
          <pc:sldMk cId="3001728012" sldId="421"/>
        </pc:sldMkLst>
        <pc:picChg chg="mod">
          <ac:chgData name="Thurlow, James (IFPRI)" userId="21a02b6a-1baf-4aa4-bf75-185c8473c16f" providerId="ADAL" clId="{B1D073B9-F2B2-4F2C-BA5A-A7E8CB4F6E4F}" dt="2025-12-05T02:11:33.562" v="59" actId="14861"/>
          <ac:picMkLst>
            <pc:docMk/>
            <pc:sldMk cId="3001728012" sldId="421"/>
            <ac:picMk id="7" creationId="{6BA598AC-97AA-8F6F-11B3-7C71022B829D}"/>
          </ac:picMkLst>
        </pc:picChg>
        <pc:picChg chg="mod">
          <ac:chgData name="Thurlow, James (IFPRI)" userId="21a02b6a-1baf-4aa4-bf75-185c8473c16f" providerId="ADAL" clId="{B1D073B9-F2B2-4F2C-BA5A-A7E8CB4F6E4F}" dt="2025-12-05T02:11:33.562" v="59" actId="14861"/>
          <ac:picMkLst>
            <pc:docMk/>
            <pc:sldMk cId="3001728012" sldId="421"/>
            <ac:picMk id="18" creationId="{16BD5B2B-24E6-905F-E49F-3C8B3093E219}"/>
          </ac:picMkLst>
        </pc:picChg>
      </pc:sldChg>
      <pc:sldChg chg="modSp mod">
        <pc:chgData name="Thurlow, James (IFPRI)" userId="21a02b6a-1baf-4aa4-bf75-185c8473c16f" providerId="ADAL" clId="{B1D073B9-F2B2-4F2C-BA5A-A7E8CB4F6E4F}" dt="2025-12-05T02:26:30.602" v="201" actId="14100"/>
        <pc:sldMkLst>
          <pc:docMk/>
          <pc:sldMk cId="747800006" sldId="422"/>
        </pc:sldMkLst>
        <pc:spChg chg="mod">
          <ac:chgData name="Thurlow, James (IFPRI)" userId="21a02b6a-1baf-4aa4-bf75-185c8473c16f" providerId="ADAL" clId="{B1D073B9-F2B2-4F2C-BA5A-A7E8CB4F6E4F}" dt="2025-12-05T02:26:30.602" v="201" actId="14100"/>
          <ac:spMkLst>
            <pc:docMk/>
            <pc:sldMk cId="747800006" sldId="422"/>
            <ac:spMk id="40" creationId="{7BD027CB-9D0F-44A1-CF09-76D3DEEA61F0}"/>
          </ac:spMkLst>
        </pc:spChg>
        <pc:spChg chg="mod">
          <ac:chgData name="Thurlow, James (IFPRI)" userId="21a02b6a-1baf-4aa4-bf75-185c8473c16f" providerId="ADAL" clId="{B1D073B9-F2B2-4F2C-BA5A-A7E8CB4F6E4F}" dt="2025-12-05T02:26:21.575" v="200" actId="14100"/>
          <ac:spMkLst>
            <pc:docMk/>
            <pc:sldMk cId="747800006" sldId="422"/>
            <ac:spMk id="41" creationId="{4C23EB31-5AFB-652E-2D88-2DC577B7CEE7}"/>
          </ac:spMkLst>
        </pc:spChg>
      </pc:sldChg>
      <pc:sldChg chg="del">
        <pc:chgData name="Thurlow, James (IFPRI)" userId="21a02b6a-1baf-4aa4-bf75-185c8473c16f" providerId="ADAL" clId="{B1D073B9-F2B2-4F2C-BA5A-A7E8CB4F6E4F}" dt="2025-12-05T02:24:16.239" v="158" actId="47"/>
        <pc:sldMkLst>
          <pc:docMk/>
          <pc:sldMk cId="121477056" sldId="423"/>
        </pc:sldMkLst>
      </pc:sldChg>
      <pc:sldChg chg="modSp del mod">
        <pc:chgData name="Thurlow, James (IFPRI)" userId="21a02b6a-1baf-4aa4-bf75-185c8473c16f" providerId="ADAL" clId="{B1D073B9-F2B2-4F2C-BA5A-A7E8CB4F6E4F}" dt="2025-12-05T02:30:45.240" v="398" actId="47"/>
        <pc:sldMkLst>
          <pc:docMk/>
          <pc:sldMk cId="1152657945" sldId="424"/>
        </pc:sldMkLst>
        <pc:spChg chg="mod">
          <ac:chgData name="Thurlow, James (IFPRI)" userId="21a02b6a-1baf-4aa4-bf75-185c8473c16f" providerId="ADAL" clId="{B1D073B9-F2B2-4F2C-BA5A-A7E8CB4F6E4F}" dt="2025-12-05T02:29:03.190" v="265" actId="20577"/>
          <ac:spMkLst>
            <pc:docMk/>
            <pc:sldMk cId="1152657945" sldId="424"/>
            <ac:spMk id="2" creationId="{005D1E07-A0AD-4E93-4FC2-F97646FBF145}"/>
          </ac:spMkLst>
        </pc:spChg>
      </pc:sldChg>
      <pc:sldChg chg="del">
        <pc:chgData name="Thurlow, James (IFPRI)" userId="21a02b6a-1baf-4aa4-bf75-185c8473c16f" providerId="ADAL" clId="{B1D073B9-F2B2-4F2C-BA5A-A7E8CB4F6E4F}" dt="2025-12-05T02:30:42.411" v="397" actId="47"/>
        <pc:sldMkLst>
          <pc:docMk/>
          <pc:sldMk cId="2943888985" sldId="425"/>
        </pc:sldMkLst>
      </pc:sldChg>
      <pc:sldChg chg="del">
        <pc:chgData name="Thurlow, James (IFPRI)" userId="21a02b6a-1baf-4aa4-bf75-185c8473c16f" providerId="ADAL" clId="{B1D073B9-F2B2-4F2C-BA5A-A7E8CB4F6E4F}" dt="2025-12-05T02:30:48.870" v="399" actId="47"/>
        <pc:sldMkLst>
          <pc:docMk/>
          <pc:sldMk cId="980485703" sldId="426"/>
        </pc:sldMkLst>
      </pc:sldChg>
      <pc:sldChg chg="addSp delSp modSp mod">
        <pc:chgData name="Thurlow, James (IFPRI)" userId="21a02b6a-1baf-4aa4-bf75-185c8473c16f" providerId="ADAL" clId="{B1D073B9-F2B2-4F2C-BA5A-A7E8CB4F6E4F}" dt="2025-12-05T02:18:00.371" v="112" actId="478"/>
        <pc:sldMkLst>
          <pc:docMk/>
          <pc:sldMk cId="2294167586" sldId="431"/>
        </pc:sldMkLst>
        <pc:spChg chg="mod">
          <ac:chgData name="Thurlow, James (IFPRI)" userId="21a02b6a-1baf-4aa4-bf75-185c8473c16f" providerId="ADAL" clId="{B1D073B9-F2B2-4F2C-BA5A-A7E8CB4F6E4F}" dt="2025-12-05T02:15:46.951" v="81" actId="6549"/>
          <ac:spMkLst>
            <pc:docMk/>
            <pc:sldMk cId="2294167586" sldId="431"/>
            <ac:spMk id="2" creationId="{955DB504-FFD0-2EDB-7A75-624BD90C7BE9}"/>
          </ac:spMkLst>
        </pc:spChg>
        <pc:spChg chg="mod">
          <ac:chgData name="Thurlow, James (IFPRI)" userId="21a02b6a-1baf-4aa4-bf75-185c8473c16f" providerId="ADAL" clId="{B1D073B9-F2B2-4F2C-BA5A-A7E8CB4F6E4F}" dt="2025-12-05T02:10:31.203" v="41" actId="1076"/>
          <ac:spMkLst>
            <pc:docMk/>
            <pc:sldMk cId="2294167586" sldId="431"/>
            <ac:spMk id="8" creationId="{3FD5E377-CA1D-A998-CBB0-38F73BFA7E6E}"/>
          </ac:spMkLst>
        </pc:spChg>
        <pc:spChg chg="mod">
          <ac:chgData name="Thurlow, James (IFPRI)" userId="21a02b6a-1baf-4aa4-bf75-185c8473c16f" providerId="ADAL" clId="{B1D073B9-F2B2-4F2C-BA5A-A7E8CB4F6E4F}" dt="2025-12-05T02:10:45.932" v="48" actId="1076"/>
          <ac:spMkLst>
            <pc:docMk/>
            <pc:sldMk cId="2294167586" sldId="431"/>
            <ac:spMk id="11" creationId="{9706D421-667C-A6AF-8E7D-B9BA109B5EF2}"/>
          </ac:spMkLst>
        </pc:spChg>
        <pc:spChg chg="add del mod">
          <ac:chgData name="Thurlow, James (IFPRI)" userId="21a02b6a-1baf-4aa4-bf75-185c8473c16f" providerId="ADAL" clId="{B1D073B9-F2B2-4F2C-BA5A-A7E8CB4F6E4F}" dt="2025-12-05T02:18:00.371" v="112" actId="478"/>
          <ac:spMkLst>
            <pc:docMk/>
            <pc:sldMk cId="2294167586" sldId="431"/>
            <ac:spMk id="15" creationId="{98C5BC17-779B-88AB-A565-E80CAB5071B9}"/>
          </ac:spMkLst>
        </pc:spChg>
        <pc:picChg chg="add mod ord">
          <ac:chgData name="Thurlow, James (IFPRI)" userId="21a02b6a-1baf-4aa4-bf75-185c8473c16f" providerId="ADAL" clId="{B1D073B9-F2B2-4F2C-BA5A-A7E8CB4F6E4F}" dt="2025-12-05T02:11:38.145" v="60" actId="14861"/>
          <ac:picMkLst>
            <pc:docMk/>
            <pc:sldMk cId="2294167586" sldId="431"/>
            <ac:picMk id="4" creationId="{D3ECD4B3-76C5-E8A2-3827-C6E921767E72}"/>
          </ac:picMkLst>
        </pc:picChg>
        <pc:picChg chg="del">
          <ac:chgData name="Thurlow, James (IFPRI)" userId="21a02b6a-1baf-4aa4-bf75-185c8473c16f" providerId="ADAL" clId="{B1D073B9-F2B2-4F2C-BA5A-A7E8CB4F6E4F}" dt="2025-12-05T02:10:07.498" v="22" actId="478"/>
          <ac:picMkLst>
            <pc:docMk/>
            <pc:sldMk cId="2294167586" sldId="431"/>
            <ac:picMk id="5" creationId="{F8967BDB-5A55-0496-8171-9C950BEF1121}"/>
          </ac:picMkLst>
        </pc:picChg>
        <pc:picChg chg="del">
          <ac:chgData name="Thurlow, James (IFPRI)" userId="21a02b6a-1baf-4aa4-bf75-185c8473c16f" providerId="ADAL" clId="{B1D073B9-F2B2-4F2C-BA5A-A7E8CB4F6E4F}" dt="2025-12-05T02:11:01.191" v="49" actId="478"/>
          <ac:picMkLst>
            <pc:docMk/>
            <pc:sldMk cId="2294167586" sldId="431"/>
            <ac:picMk id="7" creationId="{93D5E4BA-3682-C865-C3BA-F9D00F9A281C}"/>
          </ac:picMkLst>
        </pc:picChg>
        <pc:picChg chg="add mod">
          <ac:chgData name="Thurlow, James (IFPRI)" userId="21a02b6a-1baf-4aa4-bf75-185c8473c16f" providerId="ADAL" clId="{B1D073B9-F2B2-4F2C-BA5A-A7E8CB4F6E4F}" dt="2025-12-05T02:11:27.083" v="58" actId="1076"/>
          <ac:picMkLst>
            <pc:docMk/>
            <pc:sldMk cId="2294167586" sldId="431"/>
            <ac:picMk id="14" creationId="{7A99E164-F6D0-3335-A4F8-45913C5DD7A1}"/>
          </ac:picMkLst>
        </pc:picChg>
        <pc:cxnChg chg="mod">
          <ac:chgData name="Thurlow, James (IFPRI)" userId="21a02b6a-1baf-4aa4-bf75-185c8473c16f" providerId="ADAL" clId="{B1D073B9-F2B2-4F2C-BA5A-A7E8CB4F6E4F}" dt="2025-12-05T02:10:28.943" v="40" actId="1076"/>
          <ac:cxnSpMkLst>
            <pc:docMk/>
            <pc:sldMk cId="2294167586" sldId="431"/>
            <ac:cxnSpMk id="9" creationId="{823C396D-27A9-D7CD-566C-185D545F30EC}"/>
          </ac:cxnSpMkLst>
        </pc:cxnChg>
        <pc:cxnChg chg="mod">
          <ac:chgData name="Thurlow, James (IFPRI)" userId="21a02b6a-1baf-4aa4-bf75-185c8473c16f" providerId="ADAL" clId="{B1D073B9-F2B2-4F2C-BA5A-A7E8CB4F6E4F}" dt="2025-12-05T02:10:42.259" v="47" actId="14100"/>
          <ac:cxnSpMkLst>
            <pc:docMk/>
            <pc:sldMk cId="2294167586" sldId="431"/>
            <ac:cxnSpMk id="12" creationId="{B6F68545-3F84-687A-1BD0-E1DC941953A9}"/>
          </ac:cxnSpMkLst>
        </pc:cxnChg>
      </pc:sldChg>
      <pc:sldChg chg="addSp delSp modSp mod">
        <pc:chgData name="Thurlow, James (IFPRI)" userId="21a02b6a-1baf-4aa4-bf75-185c8473c16f" providerId="ADAL" clId="{B1D073B9-F2B2-4F2C-BA5A-A7E8CB4F6E4F}" dt="2025-12-05T02:17:52.134" v="110" actId="14861"/>
        <pc:sldMkLst>
          <pc:docMk/>
          <pc:sldMk cId="79586370" sldId="432"/>
        </pc:sldMkLst>
        <pc:spChg chg="add mod">
          <ac:chgData name="Thurlow, James (IFPRI)" userId="21a02b6a-1baf-4aa4-bf75-185c8473c16f" providerId="ADAL" clId="{B1D073B9-F2B2-4F2C-BA5A-A7E8CB4F6E4F}" dt="2025-12-05T02:11:18.101" v="55"/>
          <ac:spMkLst>
            <pc:docMk/>
            <pc:sldMk cId="79586370" sldId="432"/>
            <ac:spMk id="3" creationId="{C0EB8907-C8FF-F38A-C3FA-8DAD92B32A13}"/>
          </ac:spMkLst>
        </pc:spChg>
        <pc:spChg chg="mod">
          <ac:chgData name="Thurlow, James (IFPRI)" userId="21a02b6a-1baf-4aa4-bf75-185c8473c16f" providerId="ADAL" clId="{B1D073B9-F2B2-4F2C-BA5A-A7E8CB4F6E4F}" dt="2025-12-05T02:17:29.060" v="105" actId="1076"/>
          <ac:spMkLst>
            <pc:docMk/>
            <pc:sldMk cId="79586370" sldId="432"/>
            <ac:spMk id="8" creationId="{D7C58C1D-67F5-984E-9DAB-3C1C7E7738F1}"/>
          </ac:spMkLst>
        </pc:spChg>
        <pc:spChg chg="mod">
          <ac:chgData name="Thurlow, James (IFPRI)" userId="21a02b6a-1baf-4aa4-bf75-185c8473c16f" providerId="ADAL" clId="{B1D073B9-F2B2-4F2C-BA5A-A7E8CB4F6E4F}" dt="2025-12-05T02:16:16.962" v="89" actId="1076"/>
          <ac:spMkLst>
            <pc:docMk/>
            <pc:sldMk cId="79586370" sldId="432"/>
            <ac:spMk id="11" creationId="{CC2B85A4-E6CF-BBE0-1F05-6FB1A9FABCB7}"/>
          </ac:spMkLst>
        </pc:spChg>
        <pc:spChg chg="mod">
          <ac:chgData name="Thurlow, James (IFPRI)" userId="21a02b6a-1baf-4aa4-bf75-185c8473c16f" providerId="ADAL" clId="{B1D073B9-F2B2-4F2C-BA5A-A7E8CB4F6E4F}" dt="2025-12-05T02:17:02.203" v="98" actId="14100"/>
          <ac:spMkLst>
            <pc:docMk/>
            <pc:sldMk cId="79586370" sldId="432"/>
            <ac:spMk id="17" creationId="{424F40BF-758C-EB6D-EA8D-7F11CB0A91F8}"/>
          </ac:spMkLst>
        </pc:spChg>
        <pc:picChg chg="del">
          <ac:chgData name="Thurlow, James (IFPRI)" userId="21a02b6a-1baf-4aa4-bf75-185c8473c16f" providerId="ADAL" clId="{B1D073B9-F2B2-4F2C-BA5A-A7E8CB4F6E4F}" dt="2025-12-05T02:14:09.845" v="61" actId="478"/>
          <ac:picMkLst>
            <pc:docMk/>
            <pc:sldMk cId="79586370" sldId="432"/>
            <ac:picMk id="4" creationId="{56022339-8359-0B50-CE35-9726E16F5A73}"/>
          </ac:picMkLst>
        </pc:picChg>
        <pc:picChg chg="add del mod">
          <ac:chgData name="Thurlow, James (IFPRI)" userId="21a02b6a-1baf-4aa4-bf75-185c8473c16f" providerId="ADAL" clId="{B1D073B9-F2B2-4F2C-BA5A-A7E8CB4F6E4F}" dt="2025-12-05T02:14:26.086" v="66" actId="478"/>
          <ac:picMkLst>
            <pc:docMk/>
            <pc:sldMk cId="79586370" sldId="432"/>
            <ac:picMk id="6" creationId="{1D65126E-2E83-6B1E-B3C2-CC1592C7C542}"/>
          </ac:picMkLst>
        </pc:picChg>
        <pc:picChg chg="del">
          <ac:chgData name="Thurlow, James (IFPRI)" userId="21a02b6a-1baf-4aa4-bf75-185c8473c16f" providerId="ADAL" clId="{B1D073B9-F2B2-4F2C-BA5A-A7E8CB4F6E4F}" dt="2025-12-05T02:17:45.493" v="107" actId="478"/>
          <ac:picMkLst>
            <pc:docMk/>
            <pc:sldMk cId="79586370" sldId="432"/>
            <ac:picMk id="10" creationId="{927757DD-F81A-96B2-354E-94B3408CEFCD}"/>
          </ac:picMkLst>
        </pc:picChg>
        <pc:picChg chg="add del mod ord">
          <ac:chgData name="Thurlow, James (IFPRI)" userId="21a02b6a-1baf-4aa4-bf75-185c8473c16f" providerId="ADAL" clId="{B1D073B9-F2B2-4F2C-BA5A-A7E8CB4F6E4F}" dt="2025-12-05T02:16:46.682" v="91" actId="478"/>
          <ac:picMkLst>
            <pc:docMk/>
            <pc:sldMk cId="79586370" sldId="432"/>
            <ac:picMk id="13" creationId="{0DC84160-1A63-2331-B2E8-6D08437F7EBF}"/>
          </ac:picMkLst>
        </pc:picChg>
        <pc:picChg chg="add mod ord">
          <ac:chgData name="Thurlow, James (IFPRI)" userId="21a02b6a-1baf-4aa4-bf75-185c8473c16f" providerId="ADAL" clId="{B1D073B9-F2B2-4F2C-BA5A-A7E8CB4F6E4F}" dt="2025-12-05T02:17:52.134" v="110" actId="14861"/>
          <ac:picMkLst>
            <pc:docMk/>
            <pc:sldMk cId="79586370" sldId="432"/>
            <ac:picMk id="16" creationId="{DA03960E-0F12-ADAC-532B-D9FB3ACBF205}"/>
          </ac:picMkLst>
        </pc:picChg>
        <pc:picChg chg="add mod">
          <ac:chgData name="Thurlow, James (IFPRI)" userId="21a02b6a-1baf-4aa4-bf75-185c8473c16f" providerId="ADAL" clId="{B1D073B9-F2B2-4F2C-BA5A-A7E8CB4F6E4F}" dt="2025-12-05T02:17:52.134" v="110" actId="14861"/>
          <ac:picMkLst>
            <pc:docMk/>
            <pc:sldMk cId="79586370" sldId="432"/>
            <ac:picMk id="22" creationId="{6AB7CF99-5F4D-C965-F414-33CC68B7FA35}"/>
          </ac:picMkLst>
        </pc:picChg>
        <pc:cxnChg chg="mod">
          <ac:chgData name="Thurlow, James (IFPRI)" userId="21a02b6a-1baf-4aa4-bf75-185c8473c16f" providerId="ADAL" clId="{B1D073B9-F2B2-4F2C-BA5A-A7E8CB4F6E4F}" dt="2025-12-05T02:17:33.118" v="106" actId="14100"/>
          <ac:cxnSpMkLst>
            <pc:docMk/>
            <pc:sldMk cId="79586370" sldId="432"/>
            <ac:cxnSpMk id="9" creationId="{7A22E650-5364-81D6-B351-680D80A814E5}"/>
          </ac:cxnSpMkLst>
        </pc:cxnChg>
        <pc:cxnChg chg="mod">
          <ac:chgData name="Thurlow, James (IFPRI)" userId="21a02b6a-1baf-4aa4-bf75-185c8473c16f" providerId="ADAL" clId="{B1D073B9-F2B2-4F2C-BA5A-A7E8CB4F6E4F}" dt="2025-12-05T02:17:11.909" v="100" actId="14100"/>
          <ac:cxnSpMkLst>
            <pc:docMk/>
            <pc:sldMk cId="79586370" sldId="432"/>
            <ac:cxnSpMk id="12" creationId="{D626BD61-B084-660E-FEF9-4EAC7771741C}"/>
          </ac:cxnSpMkLst>
        </pc:cxnChg>
        <pc:cxnChg chg="mod">
          <ac:chgData name="Thurlow, James (IFPRI)" userId="21a02b6a-1baf-4aa4-bf75-185c8473c16f" providerId="ADAL" clId="{B1D073B9-F2B2-4F2C-BA5A-A7E8CB4F6E4F}" dt="2025-12-05T02:14:59.322" v="77" actId="1076"/>
          <ac:cxnSpMkLst>
            <pc:docMk/>
            <pc:sldMk cId="79586370" sldId="432"/>
            <ac:cxnSpMk id="15" creationId="{911AA05B-45D3-D935-E63C-588525290461}"/>
          </ac:cxnSpMkLst>
        </pc:cxnChg>
      </pc:sldChg>
      <pc:sldChg chg="modSp mod">
        <pc:chgData name="Thurlow, James (IFPRI)" userId="21a02b6a-1baf-4aa4-bf75-185c8473c16f" providerId="ADAL" clId="{B1D073B9-F2B2-4F2C-BA5A-A7E8CB4F6E4F}" dt="2025-12-05T02:08:11.691" v="19" actId="20577"/>
        <pc:sldMkLst>
          <pc:docMk/>
          <pc:sldMk cId="3137087315" sldId="433"/>
        </pc:sldMkLst>
        <pc:spChg chg="mod">
          <ac:chgData name="Thurlow, James (IFPRI)" userId="21a02b6a-1baf-4aa4-bf75-185c8473c16f" providerId="ADAL" clId="{B1D073B9-F2B2-4F2C-BA5A-A7E8CB4F6E4F}" dt="2025-12-05T02:08:11.691" v="19" actId="20577"/>
          <ac:spMkLst>
            <pc:docMk/>
            <pc:sldMk cId="3137087315" sldId="433"/>
            <ac:spMk id="2" creationId="{12AB26A5-C6D2-8EEA-547F-669FE98D0ADF}"/>
          </ac:spMkLst>
        </pc:spChg>
      </pc:sldChg>
      <pc:sldChg chg="modSp mod">
        <pc:chgData name="Thurlow, James (IFPRI)" userId="21a02b6a-1baf-4aa4-bf75-185c8473c16f" providerId="ADAL" clId="{B1D073B9-F2B2-4F2C-BA5A-A7E8CB4F6E4F}" dt="2025-12-06T02:58:31.233" v="420" actId="6549"/>
        <pc:sldMkLst>
          <pc:docMk/>
          <pc:sldMk cId="1672168740" sldId="435"/>
        </pc:sldMkLst>
        <pc:spChg chg="mod">
          <ac:chgData name="Thurlow, James (IFPRI)" userId="21a02b6a-1baf-4aa4-bf75-185c8473c16f" providerId="ADAL" clId="{B1D073B9-F2B2-4F2C-BA5A-A7E8CB4F6E4F}" dt="2025-12-06T02:58:31.233" v="420" actId="6549"/>
          <ac:spMkLst>
            <pc:docMk/>
            <pc:sldMk cId="1672168740" sldId="435"/>
            <ac:spMk id="3" creationId="{DF295F9E-19E8-89BF-704F-804CCCCB8EDB}"/>
          </ac:spMkLst>
        </pc:spChg>
      </pc:sldChg>
      <pc:sldChg chg="modSp mod">
        <pc:chgData name="Thurlow, James (IFPRI)" userId="21a02b6a-1baf-4aa4-bf75-185c8473c16f" providerId="ADAL" clId="{B1D073B9-F2B2-4F2C-BA5A-A7E8CB4F6E4F}" dt="2025-12-05T02:08:14.503" v="21" actId="20577"/>
        <pc:sldMkLst>
          <pc:docMk/>
          <pc:sldMk cId="3728688846" sldId="439"/>
        </pc:sldMkLst>
        <pc:spChg chg="mod">
          <ac:chgData name="Thurlow, James (IFPRI)" userId="21a02b6a-1baf-4aa4-bf75-185c8473c16f" providerId="ADAL" clId="{B1D073B9-F2B2-4F2C-BA5A-A7E8CB4F6E4F}" dt="2025-12-05T02:08:14.503" v="21" actId="20577"/>
          <ac:spMkLst>
            <pc:docMk/>
            <pc:sldMk cId="3728688846" sldId="439"/>
            <ac:spMk id="2" creationId="{53928BBF-FE2F-4610-0FD5-40AEDD598EC0}"/>
          </ac:spMkLst>
        </pc:spChg>
      </pc:sldChg>
      <pc:sldChg chg="del">
        <pc:chgData name="Thurlow, James (IFPRI)" userId="21a02b6a-1baf-4aa4-bf75-185c8473c16f" providerId="ADAL" clId="{B1D073B9-F2B2-4F2C-BA5A-A7E8CB4F6E4F}" dt="2025-12-05T02:31:12.183" v="400" actId="47"/>
        <pc:sldMkLst>
          <pc:docMk/>
          <pc:sldMk cId="1337093786" sldId="443"/>
        </pc:sldMkLst>
      </pc:sldChg>
      <pc:sldChg chg="modSp add del mod">
        <pc:chgData name="Thurlow, James (IFPRI)" userId="21a02b6a-1baf-4aa4-bf75-185c8473c16f" providerId="ADAL" clId="{B1D073B9-F2B2-4F2C-BA5A-A7E8CB4F6E4F}" dt="2025-12-05T02:24:06.855" v="157" actId="47"/>
        <pc:sldMkLst>
          <pc:docMk/>
          <pc:sldMk cId="2513741648" sldId="449"/>
        </pc:sldMkLst>
        <pc:spChg chg="mod">
          <ac:chgData name="Thurlow, James (IFPRI)" userId="21a02b6a-1baf-4aa4-bf75-185c8473c16f" providerId="ADAL" clId="{B1D073B9-F2B2-4F2C-BA5A-A7E8CB4F6E4F}" dt="2025-12-05T02:20:04.553" v="151" actId="20577"/>
          <ac:spMkLst>
            <pc:docMk/>
            <pc:sldMk cId="2513741648" sldId="449"/>
            <ac:spMk id="2" creationId="{E576FC88-9489-B929-D7E2-AA4921D722A5}"/>
          </ac:spMkLst>
        </pc:spChg>
      </pc:sldChg>
      <pc:sldChg chg="addSp delSp modSp add mod">
        <pc:chgData name="Thurlow, James (IFPRI)" userId="21a02b6a-1baf-4aa4-bf75-185c8473c16f" providerId="ADAL" clId="{B1D073B9-F2B2-4F2C-BA5A-A7E8CB4F6E4F}" dt="2025-12-05T02:28:50.963" v="253" actId="6549"/>
        <pc:sldMkLst>
          <pc:docMk/>
          <pc:sldMk cId="628969557" sldId="450"/>
        </pc:sldMkLst>
        <pc:spChg chg="mod">
          <ac:chgData name="Thurlow, James (IFPRI)" userId="21a02b6a-1baf-4aa4-bf75-185c8473c16f" providerId="ADAL" clId="{B1D073B9-F2B2-4F2C-BA5A-A7E8CB4F6E4F}" dt="2025-12-05T02:28:50.963" v="253" actId="6549"/>
          <ac:spMkLst>
            <pc:docMk/>
            <pc:sldMk cId="628969557" sldId="450"/>
            <ac:spMk id="2" creationId="{E576FC88-9489-B929-D7E2-AA4921D722A5}"/>
          </ac:spMkLst>
        </pc:spChg>
        <pc:spChg chg="add del mod">
          <ac:chgData name="Thurlow, James (IFPRI)" userId="21a02b6a-1baf-4aa4-bf75-185c8473c16f" providerId="ADAL" clId="{B1D073B9-F2B2-4F2C-BA5A-A7E8CB4F6E4F}" dt="2025-12-05T02:26:38.294" v="202" actId="478"/>
          <ac:spMkLst>
            <pc:docMk/>
            <pc:sldMk cId="628969557" sldId="450"/>
            <ac:spMk id="7" creationId="{CDBB4839-9475-5FE9-50E5-19DD65631329}"/>
          </ac:spMkLst>
        </pc:spChg>
        <pc:spChg chg="add del mod">
          <ac:chgData name="Thurlow, James (IFPRI)" userId="21a02b6a-1baf-4aa4-bf75-185c8473c16f" providerId="ADAL" clId="{B1D073B9-F2B2-4F2C-BA5A-A7E8CB4F6E4F}" dt="2025-12-05T02:26:38.294" v="202" actId="478"/>
          <ac:spMkLst>
            <pc:docMk/>
            <pc:sldMk cId="628969557" sldId="450"/>
            <ac:spMk id="8" creationId="{7538A1E4-2EF4-9A6B-C180-FE0D367C3996}"/>
          </ac:spMkLst>
        </pc:spChg>
        <pc:spChg chg="add del mod">
          <ac:chgData name="Thurlow, James (IFPRI)" userId="21a02b6a-1baf-4aa4-bf75-185c8473c16f" providerId="ADAL" clId="{B1D073B9-F2B2-4F2C-BA5A-A7E8CB4F6E4F}" dt="2025-12-05T02:26:38.294" v="202" actId="478"/>
          <ac:spMkLst>
            <pc:docMk/>
            <pc:sldMk cId="628969557" sldId="450"/>
            <ac:spMk id="10" creationId="{426D9D69-2DBF-EAF6-09FD-C7ECF0449C0D}"/>
          </ac:spMkLst>
        </pc:spChg>
        <pc:spChg chg="add mod">
          <ac:chgData name="Thurlow, James (IFPRI)" userId="21a02b6a-1baf-4aa4-bf75-185c8473c16f" providerId="ADAL" clId="{B1D073B9-F2B2-4F2C-BA5A-A7E8CB4F6E4F}" dt="2025-12-05T02:27:18.618" v="238" actId="1076"/>
          <ac:spMkLst>
            <pc:docMk/>
            <pc:sldMk cId="628969557" sldId="450"/>
            <ac:spMk id="12" creationId="{2D644148-E63A-9154-012E-26460A145E9C}"/>
          </ac:spMkLst>
        </pc:spChg>
        <pc:spChg chg="add mod">
          <ac:chgData name="Thurlow, James (IFPRI)" userId="21a02b6a-1baf-4aa4-bf75-185c8473c16f" providerId="ADAL" clId="{B1D073B9-F2B2-4F2C-BA5A-A7E8CB4F6E4F}" dt="2025-12-05T02:27:22.429" v="239" actId="1076"/>
          <ac:spMkLst>
            <pc:docMk/>
            <pc:sldMk cId="628969557" sldId="450"/>
            <ac:spMk id="13" creationId="{9D006382-1F7C-E075-A295-DD55F03A4501}"/>
          </ac:spMkLst>
        </pc:spChg>
        <pc:spChg chg="add mod">
          <ac:chgData name="Thurlow, James (IFPRI)" userId="21a02b6a-1baf-4aa4-bf75-185c8473c16f" providerId="ADAL" clId="{B1D073B9-F2B2-4F2C-BA5A-A7E8CB4F6E4F}" dt="2025-12-05T02:27:17.127" v="237" actId="1076"/>
          <ac:spMkLst>
            <pc:docMk/>
            <pc:sldMk cId="628969557" sldId="450"/>
            <ac:spMk id="14" creationId="{828F1587-E2C4-FCA9-74BB-7F8A32B83159}"/>
          </ac:spMkLst>
        </pc:spChg>
        <pc:spChg chg="del">
          <ac:chgData name="Thurlow, James (IFPRI)" userId="21a02b6a-1baf-4aa4-bf75-185c8473c16f" providerId="ADAL" clId="{B1D073B9-F2B2-4F2C-BA5A-A7E8CB4F6E4F}" dt="2025-12-05T02:25:40.753" v="162" actId="478"/>
          <ac:spMkLst>
            <pc:docMk/>
            <pc:sldMk cId="628969557" sldId="450"/>
            <ac:spMk id="28" creationId="{50CDB25D-62F9-D2C0-EB9B-8543FF784B4E}"/>
          </ac:spMkLst>
        </pc:spChg>
        <pc:picChg chg="mod">
          <ac:chgData name="Thurlow, James (IFPRI)" userId="21a02b6a-1baf-4aa4-bf75-185c8473c16f" providerId="ADAL" clId="{B1D073B9-F2B2-4F2C-BA5A-A7E8CB4F6E4F}" dt="2025-12-05T02:25:46.063" v="165" actId="1076"/>
          <ac:picMkLst>
            <pc:docMk/>
            <pc:sldMk cId="628969557" sldId="450"/>
            <ac:picMk id="11" creationId="{9D1690D2-46A3-2E16-E706-524ADB19D00B}"/>
          </ac:picMkLst>
        </pc:picChg>
        <pc:picChg chg="mod">
          <ac:chgData name="Thurlow, James (IFPRI)" userId="21a02b6a-1baf-4aa4-bf75-185c8473c16f" providerId="ADAL" clId="{B1D073B9-F2B2-4F2C-BA5A-A7E8CB4F6E4F}" dt="2025-12-05T02:26:54.419" v="215" actId="1076"/>
          <ac:picMkLst>
            <pc:docMk/>
            <pc:sldMk cId="628969557" sldId="450"/>
            <ac:picMk id="99" creationId="{84A72562-43E6-EAEC-0C8E-38F32D4F816E}"/>
          </ac:picMkLst>
        </pc:picChg>
      </pc:sldChg>
      <pc:sldChg chg="addSp delSp modSp add mod">
        <pc:chgData name="Thurlow, James (IFPRI)" userId="21a02b6a-1baf-4aa4-bf75-185c8473c16f" providerId="ADAL" clId="{B1D073B9-F2B2-4F2C-BA5A-A7E8CB4F6E4F}" dt="2025-12-05T02:30:38.390" v="396" actId="1076"/>
        <pc:sldMkLst>
          <pc:docMk/>
          <pc:sldMk cId="1154389443" sldId="451"/>
        </pc:sldMkLst>
        <pc:spChg chg="mod">
          <ac:chgData name="Thurlow, James (IFPRI)" userId="21a02b6a-1baf-4aa4-bf75-185c8473c16f" providerId="ADAL" clId="{B1D073B9-F2B2-4F2C-BA5A-A7E8CB4F6E4F}" dt="2025-12-05T02:29:09.113" v="266"/>
          <ac:spMkLst>
            <pc:docMk/>
            <pc:sldMk cId="1154389443" sldId="451"/>
            <ac:spMk id="2" creationId="{0E9E0F92-C7FB-C654-5424-7173EEA8EDCD}"/>
          </ac:spMkLst>
        </pc:spChg>
        <pc:spChg chg="del">
          <ac:chgData name="Thurlow, James (IFPRI)" userId="21a02b6a-1baf-4aa4-bf75-185c8473c16f" providerId="ADAL" clId="{B1D073B9-F2B2-4F2C-BA5A-A7E8CB4F6E4F}" dt="2025-12-05T02:29:28.388" v="275" actId="478"/>
          <ac:spMkLst>
            <pc:docMk/>
            <pc:sldMk cId="1154389443" sldId="451"/>
            <ac:spMk id="10" creationId="{DCA70A95-E9F9-B781-04A1-898D5FCE5BA0}"/>
          </ac:spMkLst>
        </pc:spChg>
        <pc:spChg chg="add mod">
          <ac:chgData name="Thurlow, James (IFPRI)" userId="21a02b6a-1baf-4aa4-bf75-185c8473c16f" providerId="ADAL" clId="{B1D073B9-F2B2-4F2C-BA5A-A7E8CB4F6E4F}" dt="2025-12-05T02:30:11.886" v="349" actId="1076"/>
          <ac:spMkLst>
            <pc:docMk/>
            <pc:sldMk cId="1154389443" sldId="451"/>
            <ac:spMk id="12" creationId="{E4D95DC4-C8FB-279F-66AB-CB7810548EE2}"/>
          </ac:spMkLst>
        </pc:spChg>
        <pc:spChg chg="add mod">
          <ac:chgData name="Thurlow, James (IFPRI)" userId="21a02b6a-1baf-4aa4-bf75-185c8473c16f" providerId="ADAL" clId="{B1D073B9-F2B2-4F2C-BA5A-A7E8CB4F6E4F}" dt="2025-12-05T02:30:38.390" v="396" actId="1076"/>
          <ac:spMkLst>
            <pc:docMk/>
            <pc:sldMk cId="1154389443" sldId="451"/>
            <ac:spMk id="16" creationId="{0B0120DF-5FB8-E790-BDBE-91CA932B0867}"/>
          </ac:spMkLst>
        </pc:spChg>
        <pc:spChg chg="mod">
          <ac:chgData name="Thurlow, James (IFPRI)" userId="21a02b6a-1baf-4aa4-bf75-185c8473c16f" providerId="ADAL" clId="{B1D073B9-F2B2-4F2C-BA5A-A7E8CB4F6E4F}" dt="2025-12-05T02:29:51.132" v="313" actId="1076"/>
          <ac:spMkLst>
            <pc:docMk/>
            <pc:sldMk cId="1154389443" sldId="451"/>
            <ac:spMk id="19" creationId="{7CAF13BE-7902-684A-45C3-681A4F0306D1}"/>
          </ac:spMkLst>
        </pc:spChg>
        <pc:spChg chg="del">
          <ac:chgData name="Thurlow, James (IFPRI)" userId="21a02b6a-1baf-4aa4-bf75-185c8473c16f" providerId="ADAL" clId="{B1D073B9-F2B2-4F2C-BA5A-A7E8CB4F6E4F}" dt="2025-12-05T02:29:21.329" v="270" actId="478"/>
          <ac:spMkLst>
            <pc:docMk/>
            <pc:sldMk cId="1154389443" sldId="451"/>
            <ac:spMk id="27" creationId="{483789F4-3964-7C9A-9634-8ABCD10D1200}"/>
          </ac:spMkLst>
        </pc:spChg>
        <pc:picChg chg="del">
          <ac:chgData name="Thurlow, James (IFPRI)" userId="21a02b6a-1baf-4aa4-bf75-185c8473c16f" providerId="ADAL" clId="{B1D073B9-F2B2-4F2C-BA5A-A7E8CB4F6E4F}" dt="2025-12-05T02:28:12.218" v="240" actId="478"/>
          <ac:picMkLst>
            <pc:docMk/>
            <pc:sldMk cId="1154389443" sldId="451"/>
            <ac:picMk id="4" creationId="{D32F7A76-9EAC-4619-7CE7-5143FD42544C}"/>
          </ac:picMkLst>
        </pc:picChg>
        <pc:picChg chg="add mod ord">
          <ac:chgData name="Thurlow, James (IFPRI)" userId="21a02b6a-1baf-4aa4-bf75-185c8473c16f" providerId="ADAL" clId="{B1D073B9-F2B2-4F2C-BA5A-A7E8CB4F6E4F}" dt="2025-12-05T02:28:45.152" v="252" actId="14861"/>
          <ac:picMkLst>
            <pc:docMk/>
            <pc:sldMk cId="1154389443" sldId="451"/>
            <ac:picMk id="5" creationId="{2D4FA705-594B-54A8-CD62-69E84C5B1D10}"/>
          </ac:picMkLst>
        </pc:picChg>
        <pc:picChg chg="del">
          <ac:chgData name="Thurlow, James (IFPRI)" userId="21a02b6a-1baf-4aa4-bf75-185c8473c16f" providerId="ADAL" clId="{B1D073B9-F2B2-4F2C-BA5A-A7E8CB4F6E4F}" dt="2025-12-05T02:28:33.194" v="246" actId="478"/>
          <ac:picMkLst>
            <pc:docMk/>
            <pc:sldMk cId="1154389443" sldId="451"/>
            <ac:picMk id="7" creationId="{9DD065B8-B4E3-BD1E-22FC-7F057DF57FF8}"/>
          </ac:picMkLst>
        </pc:picChg>
        <pc:picChg chg="add mod">
          <ac:chgData name="Thurlow, James (IFPRI)" userId="21a02b6a-1baf-4aa4-bf75-185c8473c16f" providerId="ADAL" clId="{B1D073B9-F2B2-4F2C-BA5A-A7E8CB4F6E4F}" dt="2025-12-05T02:28:45.152" v="252" actId="14861"/>
          <ac:picMkLst>
            <pc:docMk/>
            <pc:sldMk cId="1154389443" sldId="451"/>
            <ac:picMk id="8" creationId="{07579B48-485F-85D7-479C-D67D360A404E}"/>
          </ac:picMkLst>
        </pc:picChg>
        <pc:cxnChg chg="del">
          <ac:chgData name="Thurlow, James (IFPRI)" userId="21a02b6a-1baf-4aa4-bf75-185c8473c16f" providerId="ADAL" clId="{B1D073B9-F2B2-4F2C-BA5A-A7E8CB4F6E4F}" dt="2025-12-05T02:29:20.027" v="269" actId="478"/>
          <ac:cxnSpMkLst>
            <pc:docMk/>
            <pc:sldMk cId="1154389443" sldId="451"/>
            <ac:cxnSpMk id="11" creationId="{8565AA37-3786-CB70-0986-577397227216}"/>
          </ac:cxnSpMkLst>
        </pc:cxnChg>
        <pc:cxnChg chg="del">
          <ac:chgData name="Thurlow, James (IFPRI)" userId="21a02b6a-1baf-4aa4-bf75-185c8473c16f" providerId="ADAL" clId="{B1D073B9-F2B2-4F2C-BA5A-A7E8CB4F6E4F}" dt="2025-12-05T02:29:27.263" v="274" actId="478"/>
          <ac:cxnSpMkLst>
            <pc:docMk/>
            <pc:sldMk cId="1154389443" sldId="451"/>
            <ac:cxnSpMk id="13" creationId="{80AE5DAF-35FD-D205-80F7-C56E879BE568}"/>
          </ac:cxnSpMkLst>
        </pc:cxnChg>
        <pc:cxnChg chg="add mod">
          <ac:chgData name="Thurlow, James (IFPRI)" userId="21a02b6a-1baf-4aa4-bf75-185c8473c16f" providerId="ADAL" clId="{B1D073B9-F2B2-4F2C-BA5A-A7E8CB4F6E4F}" dt="2025-12-05T02:30:01.391" v="316" actId="1076"/>
          <ac:cxnSpMkLst>
            <pc:docMk/>
            <pc:sldMk cId="1154389443" sldId="451"/>
            <ac:cxnSpMk id="14" creationId="{995D7330-47DE-5192-BD5B-6F8A41C46713}"/>
          </ac:cxnSpMkLst>
        </pc:cxnChg>
        <pc:cxnChg chg="add mod">
          <ac:chgData name="Thurlow, James (IFPRI)" userId="21a02b6a-1baf-4aa4-bf75-185c8473c16f" providerId="ADAL" clId="{B1D073B9-F2B2-4F2C-BA5A-A7E8CB4F6E4F}" dt="2025-12-05T02:30:17.720" v="351" actId="1076"/>
          <ac:cxnSpMkLst>
            <pc:docMk/>
            <pc:sldMk cId="1154389443" sldId="451"/>
            <ac:cxnSpMk id="15" creationId="{E90485C1-2A09-A780-5E9F-76CD32CDD2ED}"/>
          </ac:cxnSpMkLst>
        </pc:cxnChg>
        <pc:cxnChg chg="mod">
          <ac:chgData name="Thurlow, James (IFPRI)" userId="21a02b6a-1baf-4aa4-bf75-185c8473c16f" providerId="ADAL" clId="{B1D073B9-F2B2-4F2C-BA5A-A7E8CB4F6E4F}" dt="2025-12-05T02:29:51.132" v="313" actId="1076"/>
          <ac:cxnSpMkLst>
            <pc:docMk/>
            <pc:sldMk cId="1154389443" sldId="451"/>
            <ac:cxnSpMk id="23" creationId="{78A997EF-48C9-47D9-2ED3-A4586F374FC5}"/>
          </ac:cxnSpMkLst>
        </pc:cxnChg>
        <pc:cxnChg chg="del">
          <ac:chgData name="Thurlow, James (IFPRI)" userId="21a02b6a-1baf-4aa4-bf75-185c8473c16f" providerId="ADAL" clId="{B1D073B9-F2B2-4F2C-BA5A-A7E8CB4F6E4F}" dt="2025-12-05T02:29:22.389" v="271" actId="478"/>
          <ac:cxnSpMkLst>
            <pc:docMk/>
            <pc:sldMk cId="1154389443" sldId="451"/>
            <ac:cxnSpMk id="25" creationId="{20EEADF6-79F5-9AC3-B8ED-19C57EBB4733}"/>
          </ac:cxnSpMkLst>
        </pc:cxnChg>
      </pc:sldChg>
      <pc:sldChg chg="modSp add mod">
        <pc:chgData name="Thurlow, James (IFPRI)" userId="21a02b6a-1baf-4aa4-bf75-185c8473c16f" providerId="ADAL" clId="{B1D073B9-F2B2-4F2C-BA5A-A7E8CB4F6E4F}" dt="2025-12-06T03:02:30.875" v="907" actId="20577"/>
        <pc:sldMkLst>
          <pc:docMk/>
          <pc:sldMk cId="1841907454" sldId="452"/>
        </pc:sldMkLst>
        <pc:spChg chg="mod">
          <ac:chgData name="Thurlow, James (IFPRI)" userId="21a02b6a-1baf-4aa4-bf75-185c8473c16f" providerId="ADAL" clId="{B1D073B9-F2B2-4F2C-BA5A-A7E8CB4F6E4F}" dt="2025-12-06T02:58:22.488" v="417" actId="20577"/>
          <ac:spMkLst>
            <pc:docMk/>
            <pc:sldMk cId="1841907454" sldId="452"/>
            <ac:spMk id="2" creationId="{F141BE2A-E7A8-3105-0885-0B8B733C37E7}"/>
          </ac:spMkLst>
        </pc:spChg>
        <pc:spChg chg="mod">
          <ac:chgData name="Thurlow, James (IFPRI)" userId="21a02b6a-1baf-4aa4-bf75-185c8473c16f" providerId="ADAL" clId="{B1D073B9-F2B2-4F2C-BA5A-A7E8CB4F6E4F}" dt="2025-12-06T03:02:30.875" v="907" actId="20577"/>
          <ac:spMkLst>
            <pc:docMk/>
            <pc:sldMk cId="1841907454" sldId="452"/>
            <ac:spMk id="3" creationId="{26AE3E9D-6721-D86C-CD3B-CB01495FFEBC}"/>
          </ac:spMkLst>
        </pc:spChg>
      </pc:sldChg>
      <pc:sldChg chg="modSp add mod">
        <pc:chgData name="Thurlow, James (IFPRI)" userId="21a02b6a-1baf-4aa4-bf75-185c8473c16f" providerId="ADAL" clId="{B1D073B9-F2B2-4F2C-BA5A-A7E8CB4F6E4F}" dt="2025-12-06T03:04:31.479" v="1125" actId="20577"/>
        <pc:sldMkLst>
          <pc:docMk/>
          <pc:sldMk cId="3269925198" sldId="453"/>
        </pc:sldMkLst>
        <pc:spChg chg="mod">
          <ac:chgData name="Thurlow, James (IFPRI)" userId="21a02b6a-1baf-4aa4-bf75-185c8473c16f" providerId="ADAL" clId="{B1D073B9-F2B2-4F2C-BA5A-A7E8CB4F6E4F}" dt="2025-12-06T03:02:45.160" v="930" actId="20577"/>
          <ac:spMkLst>
            <pc:docMk/>
            <pc:sldMk cId="3269925198" sldId="453"/>
            <ac:spMk id="2" creationId="{8707835F-6099-C943-9336-E7F5F041C4FA}"/>
          </ac:spMkLst>
        </pc:spChg>
        <pc:spChg chg="mod">
          <ac:chgData name="Thurlow, James (IFPRI)" userId="21a02b6a-1baf-4aa4-bf75-185c8473c16f" providerId="ADAL" clId="{B1D073B9-F2B2-4F2C-BA5A-A7E8CB4F6E4F}" dt="2025-12-06T03:04:31.479" v="1125" actId="20577"/>
          <ac:spMkLst>
            <pc:docMk/>
            <pc:sldMk cId="3269925198" sldId="453"/>
            <ac:spMk id="3" creationId="{CA314FD6-30D3-10D6-11A0-2A3B18E75640}"/>
          </ac:spMkLst>
        </pc:spChg>
      </pc:sldChg>
      <pc:sldChg chg="modSp add mod">
        <pc:chgData name="Thurlow, James (IFPRI)" userId="21a02b6a-1baf-4aa4-bf75-185c8473c16f" providerId="ADAL" clId="{B1D073B9-F2B2-4F2C-BA5A-A7E8CB4F6E4F}" dt="2025-12-06T03:06:48.668" v="1465" actId="113"/>
        <pc:sldMkLst>
          <pc:docMk/>
          <pc:sldMk cId="3355360438" sldId="454"/>
        </pc:sldMkLst>
        <pc:spChg chg="mod">
          <ac:chgData name="Thurlow, James (IFPRI)" userId="21a02b6a-1baf-4aa4-bf75-185c8473c16f" providerId="ADAL" clId="{B1D073B9-F2B2-4F2C-BA5A-A7E8CB4F6E4F}" dt="2025-12-06T03:05:06.076" v="1171" actId="20577"/>
          <ac:spMkLst>
            <pc:docMk/>
            <pc:sldMk cId="3355360438" sldId="454"/>
            <ac:spMk id="2" creationId="{29EA2318-65CA-FF0E-4EB9-96894411349B}"/>
          </ac:spMkLst>
        </pc:spChg>
        <pc:spChg chg="mod">
          <ac:chgData name="Thurlow, James (IFPRI)" userId="21a02b6a-1baf-4aa4-bf75-185c8473c16f" providerId="ADAL" clId="{B1D073B9-F2B2-4F2C-BA5A-A7E8CB4F6E4F}" dt="2025-12-06T03:06:48.668" v="1465" actId="113"/>
          <ac:spMkLst>
            <pc:docMk/>
            <pc:sldMk cId="3355360438" sldId="454"/>
            <ac:spMk id="3" creationId="{459DBDE3-4D25-1137-99FF-47D76E9AFD9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c894cc1692b4fc80/Desktop/ReDD%20Slides/ReDD%20country%20estima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367521319455907"/>
          <c:y val="0.11634398351439879"/>
          <c:w val="0.7066223213603432"/>
          <c:h val="0.8539248404542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'[ReDD country estimates.xlsx]Sheet1'!$V$72</c:f>
              <c:strCache>
                <c:ptCount val="1"/>
                <c:pt idx="0">
                  <c:v>Staples</c:v>
                </c:pt>
              </c:strCache>
            </c:strRef>
          </c:tx>
          <c:spPr>
            <a:solidFill>
              <a:srgbClr val="F7CEC1"/>
            </a:solidFill>
            <a:ln>
              <a:noFill/>
            </a:ln>
            <a:effectLst/>
          </c:spPr>
          <c:invertIfNegative val="0"/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estimates.xlsx]Sheet1'!$V$73:$V$82</c:f>
              <c:numCache>
                <c:formatCode>0.00</c:formatCode>
                <c:ptCount val="10"/>
                <c:pt idx="0">
                  <c:v>1.5778E-2</c:v>
                </c:pt>
                <c:pt idx="1">
                  <c:v>5.7599999999999995E-3</c:v>
                </c:pt>
                <c:pt idx="2">
                  <c:v>2.3999999999999998E-3</c:v>
                </c:pt>
                <c:pt idx="3">
                  <c:v>1.4800000000000001E-2</c:v>
                </c:pt>
                <c:pt idx="4">
                  <c:v>4.9680000000000002E-3</c:v>
                </c:pt>
                <c:pt idx="5">
                  <c:v>6.7339999999999995E-3</c:v>
                </c:pt>
                <c:pt idx="6">
                  <c:v>4.581E-3</c:v>
                </c:pt>
                <c:pt idx="7">
                  <c:v>4.3919999999999992E-3</c:v>
                </c:pt>
                <c:pt idx="8">
                  <c:v>4.2199999999999998E-3</c:v>
                </c:pt>
                <c:pt idx="9">
                  <c:v>4.08E-4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4F-4097-8F7B-B5F9E73B210A}"/>
            </c:ext>
          </c:extLst>
        </c:ser>
        <c:ser>
          <c:idx val="1"/>
          <c:order val="1"/>
          <c:tx>
            <c:strRef>
              <c:f>'[ReDD country estimates.xlsx]Sheet1'!$W$72</c:f>
              <c:strCache>
                <c:ptCount val="1"/>
                <c:pt idx="0">
                  <c:v>Vegetables</c:v>
                </c:pt>
              </c:strCache>
            </c:strRef>
          </c:tx>
          <c:spPr>
            <a:solidFill>
              <a:srgbClr val="F4B9A4"/>
            </a:solidFill>
            <a:ln>
              <a:noFill/>
            </a:ln>
            <a:effectLst/>
          </c:spPr>
          <c:invertIfNegative val="0"/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estimates.xlsx]Sheet1'!$W$73:$W$82</c:f>
              <c:numCache>
                <c:formatCode>0.00</c:formatCode>
                <c:ptCount val="10"/>
                <c:pt idx="0">
                  <c:v>0.11113200000000001</c:v>
                </c:pt>
                <c:pt idx="1">
                  <c:v>9.7280000000000005E-2</c:v>
                </c:pt>
                <c:pt idx="2">
                  <c:v>7.1399999999999991E-2</c:v>
                </c:pt>
                <c:pt idx="3">
                  <c:v>0.114256</c:v>
                </c:pt>
                <c:pt idx="4">
                  <c:v>7.0104000000000014E-2</c:v>
                </c:pt>
                <c:pt idx="5">
                  <c:v>2.4864000000000001E-2</c:v>
                </c:pt>
                <c:pt idx="6">
                  <c:v>0.11503400000000001</c:v>
                </c:pt>
                <c:pt idx="7">
                  <c:v>6.5880000000000008E-2</c:v>
                </c:pt>
                <c:pt idx="8">
                  <c:v>5.0217999999999999E-2</c:v>
                </c:pt>
                <c:pt idx="9">
                  <c:v>2.3664000000000001E-2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4F-4097-8F7B-B5F9E73B210A}"/>
            </c:ext>
          </c:extLst>
        </c:ser>
        <c:ser>
          <c:idx val="2"/>
          <c:order val="2"/>
          <c:tx>
            <c:strRef>
              <c:f>'[ReDD country estimates.xlsx]Sheet1'!$X$72</c:f>
              <c:strCache>
                <c:ptCount val="1"/>
                <c:pt idx="0">
                  <c:v>Fruits</c:v>
                </c:pt>
              </c:strCache>
            </c:strRef>
          </c:tx>
          <c:spPr>
            <a:solidFill>
              <a:srgbClr val="F09E7A"/>
            </a:solidFill>
            <a:ln>
              <a:noFill/>
            </a:ln>
            <a:effectLst/>
          </c:spPr>
          <c:invertIfNegative val="0"/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estimates.xlsx]Sheet1'!$X$73:$X$82</c:f>
              <c:numCache>
                <c:formatCode>0.00</c:formatCode>
                <c:ptCount val="10"/>
                <c:pt idx="0">
                  <c:v>0.14886200000000002</c:v>
                </c:pt>
                <c:pt idx="1">
                  <c:v>0.14336000000000002</c:v>
                </c:pt>
                <c:pt idx="2">
                  <c:v>0.16440000000000002</c:v>
                </c:pt>
                <c:pt idx="3">
                  <c:v>0.13319999999999999</c:v>
                </c:pt>
                <c:pt idx="4">
                  <c:v>0.14407200000000001</c:v>
                </c:pt>
                <c:pt idx="5">
                  <c:v>0.12017600000000001</c:v>
                </c:pt>
                <c:pt idx="6">
                  <c:v>0.15524499999999999</c:v>
                </c:pt>
                <c:pt idx="7">
                  <c:v>0.110776</c:v>
                </c:pt>
                <c:pt idx="8">
                  <c:v>0.10001399999999999</c:v>
                </c:pt>
                <c:pt idx="9">
                  <c:v>0.14279999999999998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4F-4097-8F7B-B5F9E73B210A}"/>
            </c:ext>
          </c:extLst>
        </c:ser>
        <c:ser>
          <c:idx val="3"/>
          <c:order val="3"/>
          <c:tx>
            <c:strRef>
              <c:f>'[ReDD country estimates.xlsx]Sheet1'!$Y$72</c:f>
              <c:strCache>
                <c:ptCount val="1"/>
                <c:pt idx="0">
                  <c:v>Dairy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estimates.xlsx]Sheet1'!$Y$73:$Y$82</c:f>
              <c:numCache>
                <c:formatCode>0.00</c:formatCode>
                <c:ptCount val="10"/>
                <c:pt idx="0">
                  <c:v>0.16601200000000002</c:v>
                </c:pt>
                <c:pt idx="1">
                  <c:v>0.15168000000000001</c:v>
                </c:pt>
                <c:pt idx="2">
                  <c:v>0.15</c:v>
                </c:pt>
                <c:pt idx="3">
                  <c:v>0.15273599999999998</c:v>
                </c:pt>
                <c:pt idx="4">
                  <c:v>0.15290400000000004</c:v>
                </c:pt>
                <c:pt idx="5">
                  <c:v>0.15954399999999999</c:v>
                </c:pt>
                <c:pt idx="6">
                  <c:v>0.13539400000000001</c:v>
                </c:pt>
                <c:pt idx="7">
                  <c:v>0.15176799999999999</c:v>
                </c:pt>
                <c:pt idx="8">
                  <c:v>8.650999999999999E-2</c:v>
                </c:pt>
                <c:pt idx="9">
                  <c:v>0.14851199999999998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4F-4097-8F7B-B5F9E73B210A}"/>
            </c:ext>
          </c:extLst>
        </c:ser>
        <c:ser>
          <c:idx val="4"/>
          <c:order val="4"/>
          <c:tx>
            <c:strRef>
              <c:f>'[ReDD country estimates.xlsx]Sheet1'!$Z$72</c:f>
              <c:strCache>
                <c:ptCount val="1"/>
                <c:pt idx="0">
                  <c:v>Protein</c:v>
                </c:pt>
              </c:strCache>
            </c:strRef>
          </c:tx>
          <c:spPr>
            <a:solidFill>
              <a:srgbClr val="D9722C"/>
            </a:solidFill>
            <a:ln>
              <a:noFill/>
            </a:ln>
            <a:effectLst/>
          </c:spPr>
          <c:invertIfNegative val="0"/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estimates.xlsx]Sheet1'!$Z$73:$Z$82</c:f>
              <c:numCache>
                <c:formatCode>0.00</c:formatCode>
                <c:ptCount val="10"/>
                <c:pt idx="0">
                  <c:v>8.8494000000000003E-2</c:v>
                </c:pt>
                <c:pt idx="1">
                  <c:v>9.6640000000000004E-2</c:v>
                </c:pt>
                <c:pt idx="2">
                  <c:v>0.10200000000000001</c:v>
                </c:pt>
                <c:pt idx="3">
                  <c:v>9.4719999999999999E-2</c:v>
                </c:pt>
                <c:pt idx="4">
                  <c:v>6.0168000000000006E-2</c:v>
                </c:pt>
                <c:pt idx="5">
                  <c:v>8.5470000000000004E-2</c:v>
                </c:pt>
                <c:pt idx="6">
                  <c:v>4.0211000000000004E-2</c:v>
                </c:pt>
                <c:pt idx="7">
                  <c:v>3.5623999999999996E-2</c:v>
                </c:pt>
                <c:pt idx="8">
                  <c:v>8.0601999999999993E-2</c:v>
                </c:pt>
                <c:pt idx="9">
                  <c:v>4.3655999999999993E-2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4F-4097-8F7B-B5F9E73B210A}"/>
            </c:ext>
          </c:extLst>
        </c:ser>
        <c:ser>
          <c:idx val="5"/>
          <c:order val="5"/>
          <c:tx>
            <c:strRef>
              <c:f>'[ReDD country estimates.xlsx]Sheet1'!$AA$72</c:f>
              <c:strCache>
                <c:ptCount val="1"/>
                <c:pt idx="0">
                  <c:v>Fats</c:v>
                </c:pt>
              </c:strCache>
            </c:strRef>
          </c:tx>
          <c:spPr>
            <a:solidFill>
              <a:srgbClr val="C46627"/>
            </a:solidFill>
            <a:ln>
              <a:noFill/>
            </a:ln>
            <a:effectLst/>
          </c:spPr>
          <c:invertIfNegative val="0"/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estimates.xlsx]Sheet1'!$AA$73:$AA$82</c:f>
              <c:numCache>
                <c:formatCode>0.00</c:formatCode>
                <c:ptCount val="10"/>
                <c:pt idx="0">
                  <c:v>0.155722</c:v>
                </c:pt>
                <c:pt idx="1">
                  <c:v>0.14527999999999999</c:v>
                </c:pt>
                <c:pt idx="2">
                  <c:v>0.10979999999999997</c:v>
                </c:pt>
                <c:pt idx="3">
                  <c:v>8.2287999999999931E-2</c:v>
                </c:pt>
                <c:pt idx="4">
                  <c:v>0.11978399999999999</c:v>
                </c:pt>
                <c:pt idx="5">
                  <c:v>0.121212</c:v>
                </c:pt>
                <c:pt idx="6">
                  <c:v>5.8534999999999997E-2</c:v>
                </c:pt>
                <c:pt idx="7">
                  <c:v>0.11956000000000006</c:v>
                </c:pt>
                <c:pt idx="8">
                  <c:v>0.100436</c:v>
                </c:pt>
                <c:pt idx="9">
                  <c:v>4.8960000000000038E-2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A4F-4097-8F7B-B5F9E73B2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430078895"/>
        <c:axId val="1430086095"/>
      </c:barChart>
      <c:barChart>
        <c:barDir val="bar"/>
        <c:grouping val="stacked"/>
        <c:varyColors val="0"/>
        <c:ser>
          <c:idx val="6"/>
          <c:order val="6"/>
          <c:tx>
            <c:strRef>
              <c:f>'[ReDD country estimates.xlsx]Sheet1'!$AB$72</c:f>
              <c:strCache>
                <c:ptCount val="1"/>
                <c:pt idx="0">
                  <c:v>ReDD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3650002662967842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A4F-4097-8F7B-B5F9E73B210A}"/>
                </c:ext>
              </c:extLst>
            </c:dLbl>
            <c:dLbl>
              <c:idx val="1"/>
              <c:layout>
                <c:manualLayout>
                  <c:x val="0.34359794412266459"/>
                  <c:y val="4.17198978618044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A4F-4097-8F7B-B5F9E73B210A}"/>
                </c:ext>
              </c:extLst>
            </c:dLbl>
            <c:dLbl>
              <c:idx val="2"/>
              <c:layout>
                <c:manualLayout>
                  <c:x val="0.329188145459573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A4F-4097-8F7B-B5F9E73B210A}"/>
                </c:ext>
              </c:extLst>
            </c:dLbl>
            <c:dLbl>
              <c:idx val="3"/>
              <c:layout>
                <c:manualLayout>
                  <c:x val="0.3170635370895184"/>
                  <c:y val="-4.171989786180672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A4F-4097-8F7B-B5F9E73B210A}"/>
                </c:ext>
              </c:extLst>
            </c:dLbl>
            <c:dLbl>
              <c:idx val="4"/>
              <c:layout>
                <c:manualLayout>
                  <c:x val="0.306855273155994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A4F-4097-8F7B-B5F9E73B210A}"/>
                </c:ext>
              </c:extLst>
            </c:dLbl>
            <c:dLbl>
              <c:idx val="5"/>
              <c:layout>
                <c:manualLayout>
                  <c:x val="0.2868347170290673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A4F-4097-8F7B-B5F9E73B210A}"/>
                </c:ext>
              </c:extLst>
            </c:dLbl>
            <c:dLbl>
              <c:idx val="6"/>
              <c:layout>
                <c:manualLayout>
                  <c:x val="0.28684861077433482"/>
                  <c:y val="-4.171989786180595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A4F-4097-8F7B-B5F9E73B210A}"/>
                </c:ext>
              </c:extLst>
            </c:dLbl>
            <c:dLbl>
              <c:idx val="7"/>
              <c:layout>
                <c:manualLayout>
                  <c:x val="0.2770779998167348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A4F-4097-8F7B-B5F9E73B210A}"/>
                </c:ext>
              </c:extLst>
            </c:dLbl>
            <c:dLbl>
              <c:idx val="8"/>
              <c:layout>
                <c:manualLayout>
                  <c:x val="0.24216897242190805"/>
                  <c:y val="-1.9121398961295239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A4F-4097-8F7B-B5F9E73B210A}"/>
                </c:ext>
              </c:extLst>
            </c:dLbl>
            <c:dLbl>
              <c:idx val="9"/>
              <c:layout>
                <c:manualLayout>
                  <c:x val="0.2356551215156885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A4F-4097-8F7B-B5F9E73B210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'[ReDD country estimates.xlsx]Sheet1'!$U$73:$U$82</c:f>
              <c:strCache>
                <c:ptCount val="10"/>
                <c:pt idx="0">
                  <c:v>Mozambique</c:v>
                </c:pt>
                <c:pt idx="1">
                  <c:v>Uganda</c:v>
                </c:pt>
                <c:pt idx="2">
                  <c:v>Ethiopia</c:v>
                </c:pt>
                <c:pt idx="3">
                  <c:v>Nigeria</c:v>
                </c:pt>
                <c:pt idx="4">
                  <c:v>Ghana</c:v>
                </c:pt>
                <c:pt idx="5">
                  <c:v>Rwanda</c:v>
                </c:pt>
                <c:pt idx="6">
                  <c:v>Senegal</c:v>
                </c:pt>
                <c:pt idx="7">
                  <c:v>Cambodia</c:v>
                </c:pt>
                <c:pt idx="8">
                  <c:v>Kenya</c:v>
                </c:pt>
                <c:pt idx="9">
                  <c:v>Bangladesh</c:v>
                </c:pt>
              </c:strCache>
            </c:strRef>
          </c:cat>
          <c:val>
            <c:numRef>
              <c:f>'[ReDD country estimates.xlsx]Sheet1'!$AB$73:$AB$82</c:f>
              <c:numCache>
                <c:formatCode>0.00</c:formatCode>
                <c:ptCount val="10"/>
                <c:pt idx="0">
                  <c:v>0.68600000000000005</c:v>
                </c:pt>
                <c:pt idx="1">
                  <c:v>0.64</c:v>
                </c:pt>
                <c:pt idx="2">
                  <c:v>0.6</c:v>
                </c:pt>
                <c:pt idx="3">
                  <c:v>0.59199999999999997</c:v>
                </c:pt>
                <c:pt idx="4">
                  <c:v>0.55200000000000005</c:v>
                </c:pt>
                <c:pt idx="5">
                  <c:v>0.51800000000000002</c:v>
                </c:pt>
                <c:pt idx="6">
                  <c:v>0.50900000000000001</c:v>
                </c:pt>
                <c:pt idx="7">
                  <c:v>0.48799999999999999</c:v>
                </c:pt>
                <c:pt idx="8">
                  <c:v>0.42199999999999999</c:v>
                </c:pt>
                <c:pt idx="9">
                  <c:v>0.40799999999999997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A4F-4097-8F7B-B5F9E73B2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5758848"/>
        <c:axId val="251666944"/>
      </c:barChart>
      <c:catAx>
        <c:axId val="14300788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086095"/>
        <c:crosses val="autoZero"/>
        <c:auto val="1"/>
        <c:lblAlgn val="ctr"/>
        <c:lblOffset val="100"/>
        <c:noMultiLvlLbl val="0"/>
      </c:catAx>
      <c:valAx>
        <c:axId val="1430086095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1430078895"/>
        <c:crosses val="autoZero"/>
        <c:crossBetween val="between"/>
      </c:valAx>
      <c:valAx>
        <c:axId val="251666944"/>
        <c:scaling>
          <c:orientation val="minMax"/>
        </c:scaling>
        <c:delete val="1"/>
        <c:axPos val="t"/>
        <c:numFmt formatCode="0.00" sourceLinked="1"/>
        <c:majorTickMark val="out"/>
        <c:minorTickMark val="none"/>
        <c:tickLblPos val="nextTo"/>
        <c:crossAx val="305758848"/>
        <c:crosses val="max"/>
        <c:crossBetween val="between"/>
      </c:valAx>
      <c:catAx>
        <c:axId val="3057588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51666944"/>
        <c:crosses val="autoZero"/>
        <c:auto val="1"/>
        <c:lblAlgn val="ctr"/>
        <c:lblOffset val="100"/>
        <c:noMultiLvlLbl val="0"/>
      </c:catAx>
    </c:plotArea>
    <c:legend>
      <c:legendPos val="t"/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AF3B-F4A9-40C2-92B2-76091F1822F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32C93-7A5B-4C04-BE14-6DF19377F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06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1B26-CC07-E6DF-89C5-042558F84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A3FDD-D241-95AD-BE49-BA9B73522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599B4-C666-A9AA-836F-3396022E7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868B8-F1C0-FC8F-9B46-ABB9A6221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1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14AD9-CE7D-447E-B87D-BEA1E17677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06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06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17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1740-9B39-7223-C0B4-9A49B7DA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8C213-8F1D-4468-8F78-8A503B28D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53743-565A-ABDC-4E42-48C9D6AF6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6968F-2AC7-21DC-FF9A-7B9AF2047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783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06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46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1126-5DCB-72CB-AA06-BCD86137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CF111-9A5A-430E-1B87-F3893BD36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7B812-B45E-5BFB-08EB-B8180F86A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04C-9108-5F29-5748-35E5EB92F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54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5B711-5FBE-4D76-D0D7-35A20A6B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152FF-3706-5C91-312B-5002E7840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D89BA-A481-98DC-2649-645BE8894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4C6C7-8FC3-4E05-BF80-9CB1904E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91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2DB3-46C0-348E-EF5D-0BE46D48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0FEAF-F7D4-243D-56B0-8F0A302A8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C8F09-0AB3-57C3-2653-2B6BFC047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CF54-6BA0-F9E0-32F8-46CD01497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356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BF43-FFF3-D8EF-E4FC-E1C868B9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FD2FA-20DD-06AC-4212-06032D6BA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24D79-ECD1-D286-D45B-2DF8B7CAF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88F7-1048-5C48-AB11-A36EC7BA3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46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A8AA-0993-357D-22D3-3D193A59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57810-C20D-424F-E12D-8AFDD3F05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7BA9E-2CE2-C5C2-A48A-5C50F8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167CC-B6A3-D633-2402-C39BB921F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995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A54A-DB2A-4472-95C4-1E5CB2FB1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2054-BC67-47C8-90F5-F38022FB0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61D8C-B0B0-4DD1-B142-826CCDC8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38A4D-7590-4BBE-90C1-30F946FE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B206-E1EE-4C09-8443-B05AFEC7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1CBF-1806-4F80-9A32-E10C08E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0" y="128826"/>
            <a:ext cx="11939853" cy="82874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6D96-8CC5-403A-BD96-CBB5E9947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11939852" cy="57407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92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682A-C7AA-4611-A904-ACE3570F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75092-4478-486F-BE6D-C1A44D528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C539-9B56-41E1-AC39-B0591311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1B2-BD66-445F-A74A-EA0E23E4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CE497-4B5F-4EDA-96ED-E165490E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8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5E6-0FEF-423D-8006-266F0EA3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2DD8-7FBB-46DF-98DE-9496A6D6B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FEEE6-616C-49EC-93C0-8EFC685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98775-5C72-4969-806A-51BC8BFE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DDFFE-F8F5-4FC5-9BE4-695AE291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896DA-22CF-4C2C-983B-BB7160C2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543B-2249-4BAA-8D24-FC7FA83C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CE6E-5EAF-45D0-9631-79FCE57D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821B8-95C2-4AD6-9EB0-073AA385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0A6AB-6156-4EF9-A2F3-262A162AF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4F23C-749D-4A02-8F3B-B937D5899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5301-28FE-4199-95F9-5C794CE8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A9482-AB79-4B6E-A338-405B0B70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25B3-6B8E-449A-8D67-3EA4B81A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7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623B-8906-4672-B745-6D21897B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316E6-E906-4450-A516-2997630A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E2DE1-4688-4F06-B817-D2747A32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E0F2B-4881-4012-98CE-F919C61C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714B-794C-49D1-B8E6-CA92AA6A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72922-CE61-4273-BB30-84EE3CCA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8ABCA-925A-45D7-A2B3-3AD29776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1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5D96-2F31-4067-87B6-03B653BC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6046B-B991-4B3B-B516-1F434DCCC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47F5A-5CE9-4824-A789-D1769DB3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D3CAD-B834-430A-991D-5DE948EE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EB9AB-0BFC-4482-A6E4-F9642DF6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8961F-EA29-4F09-85E2-9FF98E0D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5E6F-8F84-4F47-B98A-B44DA355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85BB9-2504-4632-AAB8-7741F9D9A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4F911-074B-4039-8711-C4E675632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28BD2-4934-4F22-8A16-1AD31145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1888-3F4C-4E38-B961-52A1B517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AF65-1175-4CE4-9B9C-A7D7115F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4FA-6E17-4169-A0EE-5A0A0953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964DA-A5A7-44D4-A5C4-C9F87A0C1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7FFC-D25B-4DE9-BCF9-2318ACA1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5EF7-FFF1-47FE-AE69-EB856A57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05395-9222-4C48-9F29-4473AA39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3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90293-7F4E-4F94-A3D6-BB868B16A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C6A70-96E9-4A01-8A27-8660E5A08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B96C6-E466-4CF7-839B-617B6381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4B5CE-51B9-4366-A372-C459EEC8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893AC-F1D1-45DD-B57C-3BD7EC60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5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28451-D376-4E35-B5EC-AD6275BE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6349-F37D-4C45-BF6B-B348F7B2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63279-9A21-4514-A45F-C65883555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3A0B4-14A2-4153-BFB3-A327A73C8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07B0-77DD-442D-9560-6AA07D178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brary.ifpri.org/utils/getfile/collection/p15738coll2/id/134881/filename/13509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3F4D0-48C3-066A-7FE9-FEDFAAF36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8" y="1685678"/>
            <a:ext cx="10101943" cy="2652858"/>
          </a:xfrm>
        </p:spPr>
        <p:txBody>
          <a:bodyPr/>
          <a:lstStyle/>
          <a:p>
            <a:r>
              <a:rPr lang="en-US" sz="4800" b="1" dirty="0"/>
              <a:t>Advanced Course in CGE Modeling</a:t>
            </a:r>
            <a:br>
              <a:rPr lang="en-US" sz="4800" b="1" dirty="0"/>
            </a:br>
            <a:r>
              <a:rPr lang="en-US" sz="2800" dirty="0"/>
              <a:t>Using IFPRI’s Dynamic CGE and Microsimulation Models</a:t>
            </a:r>
            <a:endParaRPr lang="en-US" sz="4800" dirty="0"/>
          </a:p>
        </p:txBody>
      </p:sp>
      <p:pic>
        <p:nvPicPr>
          <p:cNvPr id="2" name="Picture 1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6A3B31EE-44DE-87BA-A5C2-80486BA2D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5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5E17-716E-4A73-F8C2-088613AC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  <a:r>
              <a:rPr lang="en-US" baseline="-25000" dirty="0"/>
              <a:t>(Parts 8-10)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72CA-CA9C-B56F-C333-63FDA3EBB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111" y="1261339"/>
            <a:ext cx="7150813" cy="530344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3225" algn="l"/>
              </a:tabLst>
            </a:pPr>
            <a:r>
              <a:rPr lang="en-US" sz="2400" dirty="0"/>
              <a:t>Recap Foundation Course</a:t>
            </a:r>
          </a:p>
          <a:p>
            <a:pPr lvl="1">
              <a:tabLst>
                <a:tab pos="403225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CGE Model</a:t>
            </a:r>
          </a:p>
          <a:p>
            <a:pPr lvl="1">
              <a:tabLst>
                <a:tab pos="403225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Microsoft-Excel® Interface</a:t>
            </a:r>
          </a:p>
          <a:p>
            <a:pPr marL="0" indent="0">
              <a:buNone/>
              <a:tabLst>
                <a:tab pos="404813" algn="l"/>
              </a:tabLst>
            </a:pPr>
            <a:endParaRPr lang="en-US" sz="1000" b="1" dirty="0"/>
          </a:p>
          <a:p>
            <a:pPr marL="0" indent="0">
              <a:buNone/>
              <a:tabLst>
                <a:tab pos="404813" algn="l"/>
              </a:tabLst>
            </a:pPr>
            <a:r>
              <a:rPr lang="en-US" sz="2400" dirty="0"/>
              <a:t>8.	Introduction to GAMS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Coding a Multi-Market Model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Walkthrough Standard CGE Model Code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  <a:tabLst>
                <a:tab pos="404813" algn="l"/>
              </a:tabLst>
            </a:pPr>
            <a:r>
              <a:rPr lang="en-US" sz="2400" dirty="0"/>
              <a:t>9. Advanced Static Modeling</a:t>
            </a:r>
          </a:p>
          <a:p>
            <a:pPr lvl="1">
              <a:tabLst>
                <a:tab pos="403225" algn="l"/>
              </a:tabLst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Revisiting elasticities and closures</a:t>
            </a:r>
          </a:p>
          <a:p>
            <a:pPr lvl="1">
              <a:tabLst>
                <a:tab pos="403225" algn="l"/>
              </a:tabLst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Using GDX Files</a:t>
            </a:r>
          </a:p>
          <a:p>
            <a:pPr lvl="1">
              <a:tabLst>
                <a:tab pos="403225" algn="l"/>
              </a:tabLst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Complicated Scenarios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016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5E17-716E-4A73-F8C2-088613AC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72CA-CA9C-B56F-C333-63FDA3EBB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111" y="1261339"/>
            <a:ext cx="7150813" cy="530344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4813" algn="l"/>
              </a:tabLst>
            </a:pPr>
            <a:r>
              <a:rPr lang="en-US" dirty="0"/>
              <a:t>10.	</a:t>
            </a:r>
            <a:r>
              <a:rPr lang="en-US" sz="2400" dirty="0"/>
              <a:t>Introduction to Dynamic Modeling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Recursive dynamics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Dynamic model files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Establishing a baseline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Designing simulations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  <a:tabLst>
                <a:tab pos="404813" algn="l"/>
              </a:tabLst>
            </a:pPr>
            <a:r>
              <a:rPr lang="en-US" sz="2400" dirty="0"/>
              <a:t>11. Dynamic Model Exercises	</a:t>
            </a:r>
          </a:p>
          <a:p>
            <a:pPr marL="0" indent="0">
              <a:buNone/>
              <a:tabLst>
                <a:tab pos="404813" algn="l"/>
              </a:tabLst>
            </a:pPr>
            <a:endParaRPr lang="en-US" sz="1000" dirty="0"/>
          </a:p>
          <a:p>
            <a:pPr marL="0" indent="0">
              <a:buNone/>
              <a:tabLst>
                <a:tab pos="404813" algn="l"/>
              </a:tabLst>
            </a:pPr>
            <a:r>
              <a:rPr lang="en-US" sz="2400" dirty="0"/>
              <a:t>12. Microsimulation Module</a:t>
            </a:r>
          </a:p>
          <a:p>
            <a:pPr lvl="1">
              <a:tabLst>
                <a:tab pos="403225" algn="l"/>
              </a:tabLst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Poverty, hunger and diet metrics</a:t>
            </a:r>
          </a:p>
          <a:p>
            <a:pPr lvl="1">
              <a:tabLst>
                <a:tab pos="403225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Top-down microsimulation module</a:t>
            </a:r>
          </a:p>
          <a:p>
            <a:pPr lvl="1">
              <a:tabLst>
                <a:tab pos="403225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0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8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Introduction to GAMS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Coding a Multi-Market Model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2AC32E12-FFB4-5C05-3B6D-2010C5494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7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C1DA-1D6C-C6DF-CF30-ED97FAA8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GAMS?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B877-C137-106C-23C1-9717BFDDF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000" dirty="0"/>
          </a:p>
          <a:p>
            <a:r>
              <a:rPr lang="en-US" dirty="0"/>
              <a:t>General Algebraic Modeling System</a:t>
            </a:r>
          </a:p>
          <a:p>
            <a:endParaRPr lang="en-US" sz="1000" dirty="0"/>
          </a:p>
          <a:p>
            <a:r>
              <a:rPr lang="en-US" dirty="0"/>
              <a:t>Mathematical programming environment 		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(not for statistics like Stata, SPSS) </a:t>
            </a:r>
          </a:p>
          <a:p>
            <a:endParaRPr lang="en-US" sz="1000" dirty="0"/>
          </a:p>
          <a:p>
            <a:r>
              <a:rPr lang="en-US" dirty="0"/>
              <a:t>Solves systems of equations	      		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(easy to do vector or matrix calculations)</a:t>
            </a:r>
          </a:p>
          <a:p>
            <a:endParaRPr lang="en-US" sz="1000" dirty="0"/>
          </a:p>
          <a:p>
            <a:r>
              <a:rPr lang="en-US" dirty="0"/>
              <a:t>Solves problems that involve optimization 		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(like maximize income, minimize costs,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65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7D65-6DCD-B431-72BD-26E7891D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BC1F9-F4DE-DC8B-510D-C852857EF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000" dirty="0"/>
          </a:p>
          <a:p>
            <a:r>
              <a:rPr lang="en-US" b="1" dirty="0"/>
              <a:t>Exercise 1</a:t>
            </a:r>
            <a:endParaRPr lang="en-US" dirty="0"/>
          </a:p>
          <a:p>
            <a:pPr marL="457200" lvl="1" indent="0">
              <a:buNone/>
            </a:pPr>
            <a:r>
              <a:rPr lang="en-US" sz="2400" dirty="0"/>
              <a:t>Simple economic model (demand-supply or multi-market model)</a:t>
            </a:r>
          </a:p>
          <a:p>
            <a:endParaRPr lang="en-US" sz="1000" dirty="0"/>
          </a:p>
          <a:p>
            <a:r>
              <a:rPr lang="en-US" b="1" dirty="0"/>
              <a:t>Exercise 2</a:t>
            </a:r>
          </a:p>
          <a:p>
            <a:pPr marL="457200" lvl="1" indent="0">
              <a:buNone/>
            </a:pPr>
            <a:r>
              <a:rPr lang="en-US" sz="2400" dirty="0"/>
              <a:t>Adding in income-effects (income elasticities)</a:t>
            </a:r>
          </a:p>
          <a:p>
            <a:endParaRPr lang="en-US" sz="1000" dirty="0"/>
          </a:p>
          <a:p>
            <a:r>
              <a:rPr lang="en-US" b="1" dirty="0"/>
              <a:t>Exercise 3</a:t>
            </a:r>
          </a:p>
          <a:p>
            <a:pPr marL="457200" lvl="1" indent="0">
              <a:buNone/>
            </a:pPr>
            <a:r>
              <a:rPr lang="en-US" sz="2400" dirty="0"/>
              <a:t>Adding in substitution-effects (cross-price elasticities)</a:t>
            </a:r>
          </a:p>
          <a:p>
            <a:endParaRPr lang="en-US" sz="1000" dirty="0"/>
          </a:p>
          <a:p>
            <a:r>
              <a:rPr lang="en-US" b="1" dirty="0"/>
              <a:t>Exercise 3</a:t>
            </a:r>
          </a:p>
          <a:p>
            <a:pPr marL="457200" lvl="1" indent="0">
              <a:buNone/>
            </a:pPr>
            <a:r>
              <a:rPr lang="en-US" sz="2400" dirty="0"/>
              <a:t>Adding exogenous imports to supply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41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9B8D-9EDF-5BE4-E9CB-A0B188FC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Demand-Supply Model</a:t>
            </a:r>
          </a:p>
        </p:txBody>
      </p:sp>
      <p:sp>
        <p:nvSpPr>
          <p:cNvPr id="4" name="Line 10">
            <a:extLst>
              <a:ext uri="{FF2B5EF4-FFF2-40B4-BE49-F238E27FC236}">
                <a16:creationId xmlns:a16="http://schemas.microsoft.com/office/drawing/2014/main" id="{2EBEE19F-689A-7A36-DDF7-F9823AA23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897" y="1447800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Line 11">
            <a:extLst>
              <a:ext uri="{FF2B5EF4-FFF2-40B4-BE49-F238E27FC236}">
                <a16:creationId xmlns:a16="http://schemas.microsoft.com/office/drawing/2014/main" id="{D61055C7-437B-70C7-AAD9-ABC4F2136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6897" y="5791200"/>
            <a:ext cx="533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5C626F8E-107B-F124-9A96-1EE1C3B0F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697" y="57912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Quantity (Q)</a:t>
            </a: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4EAF36D1-F8A8-71B2-DA2D-ADC37713C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897" y="1600200"/>
            <a:ext cx="4495800" cy="3429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2C87C069-0F2A-57DD-CF4C-539D50135A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6897" y="2590800"/>
            <a:ext cx="4572000" cy="29718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F583D3D1-6FEC-4A76-EF22-68B1E8EE0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697" y="4953000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Demand curve (D)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DD0EC9AA-F88F-9F63-B6B8-1EAC9E533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097" y="23622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Supply curve (S)</a:t>
            </a: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784E1535-AC5A-0D52-AECC-FCAB48616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897" y="3733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027AABBF-BC1C-8CCA-5DEC-590DB9A63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6297" y="3733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7A5F8288-B712-F43B-5656-0A0BAA5B3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497" y="3581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0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E193CF7A-EE8B-E2F1-B6A8-E04B1693F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897" y="58674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0</a:t>
            </a:r>
            <a:r>
              <a:rPr lang="en-US"/>
              <a:t> (QD=QS)</a:t>
            </a:r>
            <a:endParaRPr lang="en-US" baseline="-25000"/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1A7D9F29-2EA4-26A7-AA1C-03307B8D67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6497" y="2133600"/>
            <a:ext cx="3124200" cy="20574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67EFA9BD-51C1-3314-BCF6-B8B6BC3B4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897" y="3200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0FEA7EFF-1307-0390-AE2A-03709D7C5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0497" y="32004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214279C7-AA79-F77A-A2D9-CB250E32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497" y="29718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B0C8ACA0-A075-90E3-1E6E-44A45351A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897" y="5867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0" name="Oval 27">
            <a:extLst>
              <a:ext uri="{FF2B5EF4-FFF2-40B4-BE49-F238E27FC236}">
                <a16:creationId xmlns:a16="http://schemas.microsoft.com/office/drawing/2014/main" id="{36CF4E32-A1CB-7937-C6AB-61665651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872" y="317182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28">
            <a:extLst>
              <a:ext uri="{FF2B5EF4-FFF2-40B4-BE49-F238E27FC236}">
                <a16:creationId xmlns:a16="http://schemas.microsoft.com/office/drawing/2014/main" id="{9FC452BB-99ED-F21F-6007-54D3D63D0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197" y="36957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32">
            <a:extLst>
              <a:ext uri="{FF2B5EF4-FFF2-40B4-BE49-F238E27FC236}">
                <a16:creationId xmlns:a16="http://schemas.microsoft.com/office/drawing/2014/main" id="{C5D4DED7-2EA8-5464-94BB-6AB989DA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422" y="58277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" name="Text Box 33">
            <a:extLst>
              <a:ext uri="{FF2B5EF4-FFF2-40B4-BE49-F238E27FC236}">
                <a16:creationId xmlns:a16="http://schemas.microsoft.com/office/drawing/2014/main" id="{5EE6F4E9-BFCE-D007-7C14-68518701A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697" y="3276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24" name="Text Box 34">
            <a:extLst>
              <a:ext uri="{FF2B5EF4-FFF2-40B4-BE49-F238E27FC236}">
                <a16:creationId xmlns:a16="http://schemas.microsoft.com/office/drawing/2014/main" id="{9F391CA4-190C-49FE-84B4-66D2F4F30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897" y="27432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5" name="Line 35">
            <a:extLst>
              <a:ext uri="{FF2B5EF4-FFF2-40B4-BE49-F238E27FC236}">
                <a16:creationId xmlns:a16="http://schemas.microsoft.com/office/drawing/2014/main" id="{7A8BDD18-C923-7491-9F1D-40F90093E0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82097" y="2438400"/>
            <a:ext cx="304800" cy="4572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36">
            <a:extLst>
              <a:ext uri="{FF2B5EF4-FFF2-40B4-BE49-F238E27FC236}">
                <a16:creationId xmlns:a16="http://schemas.microsoft.com/office/drawing/2014/main" id="{48BE62FC-A888-5082-7D00-99AA2208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5097" y="2743200"/>
            <a:ext cx="9973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QS = </a:t>
            </a:r>
            <a:r>
              <a:rPr lang="en-US" i="1">
                <a:solidFill>
                  <a:srgbClr val="C00000"/>
                </a:solidFill>
              </a:rPr>
              <a:t>f</a:t>
            </a:r>
            <a:r>
              <a:rPr lang="en-US">
                <a:solidFill>
                  <a:srgbClr val="C00000"/>
                </a:solidFill>
              </a:rPr>
              <a:t>(P)</a:t>
            </a:r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E2454BF6-37FC-00BC-F02B-88AAD1C52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2697" y="5348288"/>
            <a:ext cx="10342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QD = 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</a:rPr>
              <a:t>f</a:t>
            </a:r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(P)</a:t>
            </a:r>
          </a:p>
        </p:txBody>
      </p:sp>
      <p:sp>
        <p:nvSpPr>
          <p:cNvPr id="28" name="Line 38">
            <a:extLst>
              <a:ext uri="{FF2B5EF4-FFF2-40B4-BE49-F238E27FC236}">
                <a16:creationId xmlns:a16="http://schemas.microsoft.com/office/drawing/2014/main" id="{A5614C93-1196-2875-593E-031C68B4C3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497" y="3200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39">
            <a:extLst>
              <a:ext uri="{FF2B5EF4-FFF2-40B4-BE49-F238E27FC236}">
                <a16:creationId xmlns:a16="http://schemas.microsoft.com/office/drawing/2014/main" id="{62AC35D2-AC3A-C2B1-9BC4-56586BDA03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00972" y="6351141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Box 40">
            <a:extLst>
              <a:ext uri="{FF2B5EF4-FFF2-40B4-BE49-F238E27FC236}">
                <a16:creationId xmlns:a16="http://schemas.microsoft.com/office/drawing/2014/main" id="{E203342B-0275-558E-306B-EBC5B7B8F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481" y="1380331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Price (P)</a:t>
            </a:r>
          </a:p>
        </p:txBody>
      </p:sp>
    </p:spTree>
    <p:extLst>
      <p:ext uri="{BB962C8B-B14F-4D97-AF65-F5344CB8AC3E}">
        <p14:creationId xmlns:p14="http://schemas.microsoft.com/office/powerpoint/2010/main" val="43419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D7B8-899D-9F3E-25DB-8CE473D5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Demand Curve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A0742A3A-E212-1616-6654-509FA857E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897" y="1441808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9946D56D-0062-B206-9878-01C72450EB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6897" y="5785208"/>
            <a:ext cx="571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2A77F61-EDCB-906C-8C16-ABBD07B0F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697" y="5937608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Quantity (Q)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FE4207E-B012-8255-9AEA-D7EC17946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6297" y="1405296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Price (P)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BBBC789A-6044-7BB3-9A20-15F77FCE7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897" y="1594208"/>
            <a:ext cx="5562600" cy="4191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16664BFC-517C-BD77-C7F3-B79BC2034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422" y="5821721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03606098-AD55-E82D-30A4-ED99DA1E3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3297" y="5328008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d</a:t>
            </a:r>
            <a:r>
              <a:rPr lang="en-US" baseline="-25000">
                <a:solidFill>
                  <a:schemeClr val="accent5">
                    <a:lumMod val="50000"/>
                  </a:schemeClr>
                </a:solidFill>
              </a:rPr>
              <a:t>0</a:t>
            </a:r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Text Box 32">
            <a:extLst>
              <a:ext uri="{FF2B5EF4-FFF2-40B4-BE49-F238E27FC236}">
                <a16:creationId xmlns:a16="http://schemas.microsoft.com/office/drawing/2014/main" id="{2BC3674E-8FA2-73BC-7FCA-D04572A9E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297" y="1594208"/>
            <a:ext cx="2438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/>
              <a:t>Demand curve (D)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QD = 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f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(P)</a:t>
            </a:r>
          </a:p>
        </p:txBody>
      </p:sp>
      <p:sp>
        <p:nvSpPr>
          <p:cNvPr id="15" name="Line 33">
            <a:extLst>
              <a:ext uri="{FF2B5EF4-FFF2-40B4-BE49-F238E27FC236}">
                <a16:creationId xmlns:a16="http://schemas.microsoft.com/office/drawing/2014/main" id="{F3AA843E-A336-311D-64D1-AFA589D55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5097" y="2280008"/>
            <a:ext cx="0" cy="7620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CA9097A4-DCB6-0701-4AA8-802480ABB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5097" y="3042008"/>
            <a:ext cx="990600" cy="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460542FA-3A10-1924-9647-720EE10FA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497" y="3042008"/>
            <a:ext cx="6126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∆QD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736AD304-0988-E931-F96F-BCC1BFEEB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897" y="2508608"/>
            <a:ext cx="4331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∆P</a:t>
            </a:r>
          </a:p>
        </p:txBody>
      </p:sp>
      <p:sp>
        <p:nvSpPr>
          <p:cNvPr id="19" name="Line 37">
            <a:extLst>
              <a:ext uri="{FF2B5EF4-FFF2-40B4-BE49-F238E27FC236}">
                <a16:creationId xmlns:a16="http://schemas.microsoft.com/office/drawing/2014/main" id="{7D808A8E-968B-A9F2-7B1B-FDD05476C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297" y="3575408"/>
            <a:ext cx="4495800" cy="762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38">
            <a:extLst>
              <a:ext uri="{FF2B5EF4-FFF2-40B4-BE49-F238E27FC236}">
                <a16:creationId xmlns:a16="http://schemas.microsoft.com/office/drawing/2014/main" id="{BB85F1A0-217D-3912-C9F4-2507FD176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897" y="3651608"/>
            <a:ext cx="4331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∆P</a:t>
            </a:r>
          </a:p>
        </p:txBody>
      </p:sp>
      <p:sp>
        <p:nvSpPr>
          <p:cNvPr id="21" name="Line 39">
            <a:extLst>
              <a:ext uri="{FF2B5EF4-FFF2-40B4-BE49-F238E27FC236}">
                <a16:creationId xmlns:a16="http://schemas.microsoft.com/office/drawing/2014/main" id="{70F53F49-874D-476E-0E26-66D5DDA7F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5097" y="3727808"/>
            <a:ext cx="0" cy="1524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40">
            <a:extLst>
              <a:ext uri="{FF2B5EF4-FFF2-40B4-BE49-F238E27FC236}">
                <a16:creationId xmlns:a16="http://schemas.microsoft.com/office/drawing/2014/main" id="{9E160C84-250C-57DD-7E86-5EC496CC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547" y="3880208"/>
            <a:ext cx="6126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∆QD</a:t>
            </a:r>
          </a:p>
        </p:txBody>
      </p:sp>
      <p:sp>
        <p:nvSpPr>
          <p:cNvPr id="23" name="Line 41">
            <a:extLst>
              <a:ext uri="{FF2B5EF4-FFF2-40B4-BE49-F238E27FC236}">
                <a16:creationId xmlns:a16="http://schemas.microsoft.com/office/drawing/2014/main" id="{12D709C7-399E-4FF6-67BD-30C01BE21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5097" y="3880208"/>
            <a:ext cx="990600" cy="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42">
            <a:extLst>
              <a:ext uri="{FF2B5EF4-FFF2-40B4-BE49-F238E27FC236}">
                <a16:creationId xmlns:a16="http://schemas.microsoft.com/office/drawing/2014/main" id="{6EFF5C4C-C175-C570-156E-CDC31CA61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297" y="2203808"/>
            <a:ext cx="13195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d</a:t>
            </a:r>
            <a:r>
              <a:rPr lang="en-US" baseline="-2500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= ∆QD/∆P</a:t>
            </a:r>
          </a:p>
        </p:txBody>
      </p:sp>
      <p:sp>
        <p:nvSpPr>
          <p:cNvPr id="25" name="Rectangle 43">
            <a:extLst>
              <a:ext uri="{FF2B5EF4-FFF2-40B4-BE49-F238E27FC236}">
                <a16:creationId xmlns:a16="http://schemas.microsoft.com/office/drawing/2014/main" id="{CCD7EBF3-6F4E-2BD0-D37C-68FB2D959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297" y="2400658"/>
            <a:ext cx="2743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accent5">
                    <a:lumMod val="50000"/>
                  </a:schemeClr>
                </a:solidFill>
              </a:rPr>
              <a:t>We assume f is linear…</a:t>
            </a:r>
          </a:p>
          <a:p>
            <a:endParaRPr 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QD = d</a:t>
            </a:r>
            <a:r>
              <a:rPr lang="en-US" baseline="-25000">
                <a:solidFill>
                  <a:schemeClr val="accent5">
                    <a:lumMod val="50000"/>
                  </a:schemeClr>
                </a:solidFill>
              </a:rPr>
              <a:t>0</a:t>
            </a: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 - d</a:t>
            </a:r>
            <a:r>
              <a:rPr lang="en-US" baseline="-2500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P</a:t>
            </a:r>
          </a:p>
        </p:txBody>
      </p:sp>
      <p:sp>
        <p:nvSpPr>
          <p:cNvPr id="26" name="Text Box 44">
            <a:extLst>
              <a:ext uri="{FF2B5EF4-FFF2-40B4-BE49-F238E27FC236}">
                <a16:creationId xmlns:a16="http://schemas.microsoft.com/office/drawing/2014/main" id="{4938C15D-F88A-FD46-18D6-4122D2559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097" y="4185008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D</a:t>
            </a:r>
            <a:endParaRPr lang="en-US" baseline="-250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7" name="Oval 45">
            <a:extLst>
              <a:ext uri="{FF2B5EF4-FFF2-40B4-BE49-F238E27FC236}">
                <a16:creationId xmlns:a16="http://schemas.microsoft.com/office/drawing/2014/main" id="{4B1C9FE6-5FF1-BCB1-9DDF-2334FD49E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905" y="2899440"/>
            <a:ext cx="381000" cy="457200"/>
          </a:xfrm>
          <a:prstGeom prst="ellips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Oval 46">
            <a:extLst>
              <a:ext uri="{FF2B5EF4-FFF2-40B4-BE49-F238E27FC236}">
                <a16:creationId xmlns:a16="http://schemas.microsoft.com/office/drawing/2014/main" id="{96862BF0-3CE2-67A0-96EA-A45F74770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297" y="5328008"/>
            <a:ext cx="381000" cy="457200"/>
          </a:xfrm>
          <a:prstGeom prst="ellips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47">
            <a:extLst>
              <a:ext uri="{FF2B5EF4-FFF2-40B4-BE49-F238E27FC236}">
                <a16:creationId xmlns:a16="http://schemas.microsoft.com/office/drawing/2014/main" id="{5DD0BEEC-BA7E-7E1D-D050-1AA13B895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097" y="2889608"/>
            <a:ext cx="381000" cy="457200"/>
          </a:xfrm>
          <a:prstGeom prst="ellips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48">
            <a:extLst>
              <a:ext uri="{FF2B5EF4-FFF2-40B4-BE49-F238E27FC236}">
                <a16:creationId xmlns:a16="http://schemas.microsoft.com/office/drawing/2014/main" id="{05B09899-4FE6-2CD6-2572-75996F200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947" y="2127608"/>
            <a:ext cx="914400" cy="533400"/>
          </a:xfrm>
          <a:prstGeom prst="ellips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49">
            <a:extLst>
              <a:ext uri="{FF2B5EF4-FFF2-40B4-BE49-F238E27FC236}">
                <a16:creationId xmlns:a16="http://schemas.microsoft.com/office/drawing/2014/main" id="{B6F9295C-BAFB-DAC3-1631-72C922112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697" y="5418496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Intercept</a:t>
            </a:r>
          </a:p>
        </p:txBody>
      </p:sp>
      <p:sp>
        <p:nvSpPr>
          <p:cNvPr id="32" name="Oval 50">
            <a:extLst>
              <a:ext uri="{FF2B5EF4-FFF2-40B4-BE49-F238E27FC236}">
                <a16:creationId xmlns:a16="http://schemas.microsoft.com/office/drawing/2014/main" id="{4052575C-1E93-B2CD-56BE-532CD201B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272" y="574075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Text Box 51">
            <a:extLst>
              <a:ext uri="{FF2B5EF4-FFF2-40B4-BE49-F238E27FC236}">
                <a16:creationId xmlns:a16="http://schemas.microsoft.com/office/drawing/2014/main" id="{6BB45E33-926D-E96C-BADC-41301C811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7097" y="1746608"/>
            <a:ext cx="1143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Slope</a:t>
            </a:r>
          </a:p>
        </p:txBody>
      </p:sp>
    </p:spTree>
    <p:extLst>
      <p:ext uri="{BB962C8B-B14F-4D97-AF65-F5344CB8AC3E}">
        <p14:creationId xmlns:p14="http://schemas.microsoft.com/office/powerpoint/2010/main" val="135355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/>
      <p:bldP spid="26" grpId="0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/>
      <p:bldP spid="31" grpId="1"/>
      <p:bldP spid="32" grpId="0" animBg="1"/>
      <p:bldP spid="33" grpId="0"/>
      <p:bldP spid="3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BFFC-DB1F-3EA9-2DFA-1783D8213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Supply Curve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77FC595F-794B-A681-5979-719E30470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5508" y="1458743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9B072AC2-A760-B429-102E-F2A468CED4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3508" y="5802143"/>
            <a:ext cx="609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BCF8E13-83C4-5C36-ED19-E36B6BA1F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308" y="5802143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Quantity (Q)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63578871-2012-26CC-6B19-0F93DF7F35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8308" y="2601743"/>
            <a:ext cx="5029200" cy="32004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A660B00-2F31-EEA9-C1B2-2D47A7A03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308" y="2144543"/>
            <a:ext cx="19812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/>
              <a:t>Supply curve (S)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QS =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>
                <a:solidFill>
                  <a:srgbClr val="C00000"/>
                </a:solidFill>
              </a:rPr>
              <a:t>(P)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QS = s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 + s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P</a:t>
            </a:r>
          </a:p>
        </p:txBody>
      </p:sp>
      <p:sp>
        <p:nvSpPr>
          <p:cNvPr id="11" name="Text Box 22">
            <a:extLst>
              <a:ext uri="{FF2B5EF4-FFF2-40B4-BE49-F238E27FC236}">
                <a16:creationId xmlns:a16="http://schemas.microsoft.com/office/drawing/2014/main" id="{B21556EF-CB03-D04C-DA25-1C016EEFE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033" y="5838656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2" name="Text Box 30">
            <a:extLst>
              <a:ext uri="{FF2B5EF4-FFF2-40B4-BE49-F238E27FC236}">
                <a16:creationId xmlns:a16="http://schemas.microsoft.com/office/drawing/2014/main" id="{EB02CC76-E1D0-1133-D3A9-A4807B213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436" y="1367699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Price (P)</a:t>
            </a:r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EB973415-6D5F-D779-BDCA-3E63BE389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3508" y="5802143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1E232564-1F8F-E68A-5DB0-74833997F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6908" y="3287543"/>
            <a:ext cx="0" cy="60960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33">
            <a:extLst>
              <a:ext uri="{FF2B5EF4-FFF2-40B4-BE49-F238E27FC236}">
                <a16:creationId xmlns:a16="http://schemas.microsoft.com/office/drawing/2014/main" id="{3823787F-7369-3D9A-793E-DDBBF528F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308" y="3897143"/>
            <a:ext cx="9906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64FA02B9-A3E4-2A95-4FED-35BACBEA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708" y="3897143"/>
            <a:ext cx="575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∆QS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CA036C7C-22B8-6E4E-5080-2A9ED910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908" y="3363743"/>
            <a:ext cx="4331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∆P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F55BF0B-5C53-E979-072C-8E3907412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108" y="3973343"/>
            <a:ext cx="12506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s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r>
              <a:rPr lang="en-US">
                <a:solidFill>
                  <a:srgbClr val="C00000"/>
                </a:solidFill>
              </a:rPr>
              <a:t>= ∆QS/∆P</a:t>
            </a:r>
          </a:p>
        </p:txBody>
      </p:sp>
      <p:sp>
        <p:nvSpPr>
          <p:cNvPr id="19" name="Text Box 37">
            <a:extLst>
              <a:ext uri="{FF2B5EF4-FFF2-40B4-BE49-F238E27FC236}">
                <a16:creationId xmlns:a16="http://schemas.microsoft.com/office/drawing/2014/main" id="{DBC71F75-1466-8A65-D9BE-B6082CA28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308" y="2311231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4020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9849-7527-B416-8FC8-14499AD3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CC40-FFFE-F209-7846-882B1F1BC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Demand curve</a:t>
            </a:r>
          </a:p>
          <a:p>
            <a:endParaRPr lang="en-US" dirty="0"/>
          </a:p>
          <a:p>
            <a:r>
              <a:rPr lang="en-US" dirty="0"/>
              <a:t>Supply curve</a:t>
            </a:r>
          </a:p>
          <a:p>
            <a:endParaRPr lang="en-US" dirty="0"/>
          </a:p>
          <a:p>
            <a:r>
              <a:rPr lang="en-US" dirty="0"/>
              <a:t>Equilibrium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where c is a set of commodities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dirty="0"/>
              <a:t>So, if we have two commodities (e.g., agricultural and industrial goods), then we have two demand, supply and equilibrium equations (one for each commodity)</a:t>
            </a: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69D325F-9B1C-5711-2C2F-C60A58A59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182577"/>
              </p:ext>
            </p:extLst>
          </p:nvPr>
        </p:nvGraphicFramePr>
        <p:xfrm>
          <a:off x="3276600" y="1382713"/>
          <a:ext cx="28194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DSMT4">
                  <p:embed/>
                </p:oleObj>
              </mc:Choice>
              <mc:Fallback>
                <p:oleObj name="Equation" r:id="rId2" imgW="1091726" imgH="241195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B69D325F-9B1C-5711-2C2F-C60A58A59F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382713"/>
                        <a:ext cx="28194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F7FCF087-E7E6-98B0-8EB8-96F886F4B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248368"/>
              </p:ext>
            </p:extLst>
          </p:nvPr>
        </p:nvGraphicFramePr>
        <p:xfrm>
          <a:off x="3276600" y="2255206"/>
          <a:ext cx="28194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241300" progId="Equation.DSMT4">
                  <p:embed/>
                </p:oleObj>
              </mc:Choice>
              <mc:Fallback>
                <p:oleObj name="Equation" r:id="rId4" imgW="1016000" imgH="24130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F7FCF087-E7E6-98B0-8EB8-96F886F4B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55206"/>
                        <a:ext cx="2819400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9D7E68EB-A8F8-B093-C16B-ECCE2C275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884488"/>
              </p:ext>
            </p:extLst>
          </p:nvPr>
        </p:nvGraphicFramePr>
        <p:xfrm>
          <a:off x="3276600" y="3173470"/>
          <a:ext cx="17526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500" imgH="228600" progId="Equation.DSMT4">
                  <p:embed/>
                </p:oleObj>
              </mc:Choice>
              <mc:Fallback>
                <p:oleObj name="Equation" r:id="rId6" imgW="698500" imgH="228600" progId="Equation.DSMT4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9D7E68EB-A8F8-B093-C16B-ECCE2C275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73470"/>
                        <a:ext cx="17526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433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DBA7-03E7-D9F0-D676-386C8DFE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1C0D-6430-A226-F671-2B82F54F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Up the Problem in GAMS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4668-8D6F-C014-460E-7AD474C4A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Demand curve</a:t>
            </a:r>
          </a:p>
          <a:p>
            <a:endParaRPr lang="en-US" dirty="0"/>
          </a:p>
          <a:p>
            <a:r>
              <a:rPr lang="en-US" dirty="0"/>
              <a:t>Supply curve</a:t>
            </a:r>
          </a:p>
          <a:p>
            <a:endParaRPr lang="en-US" dirty="0"/>
          </a:p>
          <a:p>
            <a:r>
              <a:rPr lang="en-US" dirty="0"/>
              <a:t>Equilibrium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94AF8B8-575F-A8B6-4EEF-859BF0EFE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382713"/>
          <a:ext cx="28194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DSMT4">
                  <p:embed/>
                </p:oleObj>
              </mc:Choice>
              <mc:Fallback>
                <p:oleObj name="Equation" r:id="rId2" imgW="1091726" imgH="241195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B94AF8B8-575F-A8B6-4EEF-859BF0EFE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382713"/>
                        <a:ext cx="28194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C90D5EF2-4A8E-7D70-609D-CBDDE9C58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255206"/>
          <a:ext cx="28194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241300" progId="Equation.DSMT4">
                  <p:embed/>
                </p:oleObj>
              </mc:Choice>
              <mc:Fallback>
                <p:oleObj name="Equation" r:id="rId4" imgW="1016000" imgH="24130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C90D5EF2-4A8E-7D70-609D-CBDDE9C58A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55206"/>
                        <a:ext cx="2819400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4B01E1AA-0BE0-F8B0-8D1F-EA8D4FDB0C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173470"/>
          <a:ext cx="17526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500" imgH="228600" progId="Equation.DSMT4">
                  <p:embed/>
                </p:oleObj>
              </mc:Choice>
              <mc:Fallback>
                <p:oleObj name="Equation" r:id="rId6" imgW="698500" imgH="228600" progId="Equation.DSMT4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4B01E1AA-0BE0-F8B0-8D1F-EA8D4FDB0C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73470"/>
                        <a:ext cx="17526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9">
            <a:extLst>
              <a:ext uri="{FF2B5EF4-FFF2-40B4-BE49-F238E27FC236}">
                <a16:creationId xmlns:a16="http://schemas.microsoft.com/office/drawing/2014/main" id="{8C8C5B82-4860-5900-5732-08C35FA6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452869"/>
            <a:ext cx="6096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0A1D1581-89E4-6CA2-81D2-3BFFAEEC9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182" y="2339637"/>
            <a:ext cx="6096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A02499C8-1F5C-281F-B1A3-AC1C3ADD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200776"/>
            <a:ext cx="6096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79D8935E-1B51-DFA4-8112-967A0CA32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761" y="1452869"/>
            <a:ext cx="3048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28">
            <a:extLst>
              <a:ext uri="{FF2B5EF4-FFF2-40B4-BE49-F238E27FC236}">
                <a16:creationId xmlns:a16="http://schemas.microsoft.com/office/drawing/2014/main" id="{8113667A-8E9A-9B72-7C4C-71CACC22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047" y="2338578"/>
            <a:ext cx="3048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31AEE41E-2913-5E8C-DBE3-B7F8540F9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158" y="3193664"/>
            <a:ext cx="5334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B5C053A7-587A-56F4-0D0A-A283C4E40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123" y="1730367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31">
            <a:extLst>
              <a:ext uri="{FF2B5EF4-FFF2-40B4-BE49-F238E27FC236}">
                <a16:creationId xmlns:a16="http://schemas.microsoft.com/office/drawing/2014/main" id="{E84EDA07-79D0-803A-4040-C65EE12D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284" y="2632597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01D969FF-099B-041A-B89B-558EBD213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284" y="3478015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33">
            <a:extLst>
              <a:ext uri="{FF2B5EF4-FFF2-40B4-BE49-F238E27FC236}">
                <a16:creationId xmlns:a16="http://schemas.microsoft.com/office/drawing/2014/main" id="{37F20947-B0B2-B523-EEE0-D633BE87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339" y="1722776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AA14399C-068A-634F-EF21-EBE8C186E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567" y="1721651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A65DA5C5-CDAB-9CEE-59B5-A976372ED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068" y="2641898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98047602-26C5-BF9B-348C-7EBC96C0E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985" y="2632597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37">
            <a:extLst>
              <a:ext uri="{FF2B5EF4-FFF2-40B4-BE49-F238E27FC236}">
                <a16:creationId xmlns:a16="http://schemas.microsoft.com/office/drawing/2014/main" id="{5F2E9DCA-D413-0D1E-00FD-75858E13A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675" y="3476423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38">
            <a:extLst>
              <a:ext uri="{FF2B5EF4-FFF2-40B4-BE49-F238E27FC236}">
                <a16:creationId xmlns:a16="http://schemas.microsoft.com/office/drawing/2014/main" id="{8805581C-63C8-2537-942E-BAFA4E98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156" y="1721651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9004C593-9198-33B4-C57F-EEBEB6073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488" y="2632597"/>
            <a:ext cx="228600" cy="228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41">
            <a:extLst>
              <a:ext uri="{FF2B5EF4-FFF2-40B4-BE49-F238E27FC236}">
                <a16:creationId xmlns:a16="http://schemas.microsoft.com/office/drawing/2014/main" id="{EA71F666-5A9C-2580-5F99-CAE382EA5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028" y="1445278"/>
            <a:ext cx="3048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D16772C2-4B24-9C93-5251-97BFD224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656" y="1453234"/>
            <a:ext cx="3048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E2287A64-E855-8E66-5E4F-6F6584CAE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839" y="2338578"/>
            <a:ext cx="3048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44">
            <a:extLst>
              <a:ext uri="{FF2B5EF4-FFF2-40B4-BE49-F238E27FC236}">
                <a16:creationId xmlns:a16="http://schemas.microsoft.com/office/drawing/2014/main" id="{9D57AE33-11E4-F0B0-4E68-67FA498CD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297" y="2338578"/>
            <a:ext cx="304800" cy="5334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46">
            <a:extLst>
              <a:ext uri="{FF2B5EF4-FFF2-40B4-BE49-F238E27FC236}">
                <a16:creationId xmlns:a16="http://schemas.microsoft.com/office/drawing/2014/main" id="{82F8825A-2ADC-6851-38D8-8CFBFD27D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570" y="1422400"/>
            <a:ext cx="3124200" cy="65881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47">
            <a:extLst>
              <a:ext uri="{FF2B5EF4-FFF2-40B4-BE49-F238E27FC236}">
                <a16:creationId xmlns:a16="http://schemas.microsoft.com/office/drawing/2014/main" id="{8A5A619F-1489-D10D-C889-FBB9C0947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570" y="2286702"/>
            <a:ext cx="3124200" cy="65881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48">
            <a:extLst>
              <a:ext uri="{FF2B5EF4-FFF2-40B4-BE49-F238E27FC236}">
                <a16:creationId xmlns:a16="http://schemas.microsoft.com/office/drawing/2014/main" id="{1D91D7E6-65C8-7C78-E06F-BF88B3306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570" y="3138904"/>
            <a:ext cx="3124200" cy="65881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49">
            <a:extLst>
              <a:ext uri="{FF2B5EF4-FFF2-40B4-BE49-F238E27FC236}">
                <a16:creationId xmlns:a16="http://schemas.microsoft.com/office/drawing/2014/main" id="{808E3781-9544-C5C3-67DF-22276B6C6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853" y="1276564"/>
            <a:ext cx="3383193" cy="2627616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4D7CD31A-3FD9-5DEE-A339-9D9C6613C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68" y="4047576"/>
            <a:ext cx="10546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Sets</a:t>
            </a:r>
            <a:r>
              <a:rPr lang="en-US" sz="2400" dirty="0"/>
              <a:t>		indices (agricultural goods, industrial goods)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9D5ECE83-0756-3A74-B6E3-05BEC3040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68" y="4576707"/>
            <a:ext cx="108504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Variables</a:t>
            </a:r>
            <a:r>
              <a:rPr lang="en-US" sz="2400" dirty="0"/>
              <a:t>	endogenous variables (price, quantity demand/supplied)</a:t>
            </a: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id="{86C7726E-AFF8-A663-E9F3-474063ECF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68" y="5157005"/>
            <a:ext cx="10546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Parameters</a:t>
            </a:r>
            <a:r>
              <a:rPr lang="en-US" sz="2400" dirty="0"/>
              <a:t>	exogenous variables (slopes, intercepts)</a:t>
            </a: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E3C861AE-B7CC-AE04-4B13-36DF4E793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68" y="5680676"/>
            <a:ext cx="10546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Equations</a:t>
            </a:r>
            <a:r>
              <a:rPr lang="en-US" sz="2400" dirty="0"/>
              <a:t>	structural relationships between variables and parameters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511C91BB-8113-F8EA-238F-A73A4AF2C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68" y="6266352"/>
            <a:ext cx="10546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Model</a:t>
            </a:r>
            <a:r>
              <a:rPr lang="en-US" sz="2400" dirty="0"/>
              <a:t>		collection of equations </a:t>
            </a:r>
          </a:p>
        </p:txBody>
      </p:sp>
    </p:spTree>
    <p:extLst>
      <p:ext uri="{BB962C8B-B14F-4D97-AF65-F5344CB8AC3E}">
        <p14:creationId xmlns:p14="http://schemas.microsoft.com/office/powerpoint/2010/main" val="345278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5" grpId="0"/>
      <p:bldP spid="36" grpId="0"/>
      <p:bldP spid="37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6A39-BFF6-3312-FD1F-5770433F2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r>
              <a:rPr lang="en-US" b="0" dirty="0"/>
              <a:t>  |  Simple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ED10-1A3D-5135-C353-61A72D496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10021062" cy="5740740"/>
          </a:xfrm>
        </p:spPr>
        <p:txBody>
          <a:bodyPr/>
          <a:lstStyle/>
          <a:p>
            <a:endParaRPr lang="en-US" sz="1000" dirty="0"/>
          </a:p>
          <a:p>
            <a:r>
              <a:rPr lang="en-US" b="1" dirty="0"/>
              <a:t>Objective</a:t>
            </a:r>
          </a:p>
          <a:p>
            <a:pPr lvl="1"/>
            <a:r>
              <a:rPr lang="en-US" sz="2400" dirty="0"/>
              <a:t>Learn the basic syntax and structure of GAMS</a:t>
            </a:r>
          </a:p>
          <a:p>
            <a:endParaRPr lang="en-US" sz="1000" dirty="0"/>
          </a:p>
          <a:p>
            <a:r>
              <a:rPr lang="en-US" b="1" dirty="0"/>
              <a:t>Details</a:t>
            </a:r>
          </a:p>
          <a:p>
            <a:pPr lvl="1"/>
            <a:r>
              <a:rPr lang="en-US" sz="2400" dirty="0"/>
              <a:t>Code is provided specifying the demand-supply model. </a:t>
            </a:r>
          </a:p>
          <a:p>
            <a:pPr lvl="1"/>
            <a:r>
              <a:rPr lang="en-US" sz="2400" dirty="0"/>
              <a:t>Two commodities (agriculture, industry).</a:t>
            </a:r>
          </a:p>
          <a:p>
            <a:endParaRPr lang="en-US" sz="1000" dirty="0"/>
          </a:p>
          <a:p>
            <a:r>
              <a:rPr lang="en-US" b="1" dirty="0"/>
              <a:t>Tasks</a:t>
            </a:r>
            <a:endParaRPr lang="en-US" dirty="0"/>
          </a:p>
          <a:p>
            <a:pPr lvl="1"/>
            <a:r>
              <a:rPr lang="en-US" sz="2400" dirty="0"/>
              <a:t>We’ll go through the code together and discuss how each of the components are specified</a:t>
            </a:r>
          </a:p>
          <a:p>
            <a:pPr lvl="1"/>
            <a:r>
              <a:rPr lang="en-US" sz="2400" dirty="0"/>
              <a:t>Then we’ll impose a supply-side shock (e.g., a decline in agricultural supply due to poor rains) and assess its impact on quantity demanded/supplied and prices.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89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6A01-8726-8E75-EDDB-924C9C3A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Shocking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DEEEE-861F-C7AA-82FB-131FCC47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9285338" cy="5740740"/>
          </a:xfrm>
        </p:spPr>
        <p:txBody>
          <a:bodyPr/>
          <a:lstStyle/>
          <a:p>
            <a:endParaRPr lang="en-US" sz="1000" b="1" dirty="0"/>
          </a:p>
          <a:p>
            <a:r>
              <a:rPr lang="en-US" b="1" dirty="0"/>
              <a:t>Task</a:t>
            </a:r>
          </a:p>
          <a:p>
            <a:pPr lvl="1"/>
            <a:r>
              <a:rPr lang="en-US" sz="2400" dirty="0"/>
              <a:t>Simulate an 20% decrease in the supply intercept for agriculture. </a:t>
            </a:r>
          </a:p>
          <a:p>
            <a:pPr lvl="1"/>
            <a:r>
              <a:rPr lang="en-US" sz="2400" dirty="0"/>
              <a:t>Compare results with initial values.</a:t>
            </a:r>
          </a:p>
          <a:p>
            <a:endParaRPr lang="en-US" dirty="0"/>
          </a:p>
          <a:p>
            <a:r>
              <a:rPr lang="en-US" b="1" dirty="0"/>
              <a:t>Solution</a:t>
            </a:r>
            <a:r>
              <a:rPr lang="en-US" dirty="0"/>
              <a:t>: Add the following lines of text before the ‘display’ command at the end of the code file…</a:t>
            </a:r>
          </a:p>
          <a:p>
            <a:pPr marL="0" indent="0">
              <a:buNone/>
            </a:pPr>
            <a:r>
              <a:rPr lang="en-US" sz="1000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s0('</a:t>
            </a:r>
            <a:r>
              <a:rPr lang="en-US" dirty="0" err="1">
                <a:solidFill>
                  <a:srgbClr val="C00000"/>
                </a:solidFill>
              </a:rPr>
              <a:t>agr</a:t>
            </a:r>
            <a:r>
              <a:rPr lang="en-US" dirty="0">
                <a:solidFill>
                  <a:srgbClr val="C00000"/>
                </a:solidFill>
              </a:rPr>
              <a:t>') = s0('</a:t>
            </a:r>
            <a:r>
              <a:rPr lang="en-US" dirty="0" err="1">
                <a:solidFill>
                  <a:srgbClr val="C00000"/>
                </a:solidFill>
              </a:rPr>
              <a:t>agr</a:t>
            </a:r>
            <a:r>
              <a:rPr lang="en-US" dirty="0">
                <a:solidFill>
                  <a:srgbClr val="C00000"/>
                </a:solidFill>
              </a:rPr>
              <a:t>') * 0.8;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solve MMMOD using MCP;</a:t>
            </a:r>
          </a:p>
          <a:p>
            <a:endParaRPr lang="en-US" sz="1000" dirty="0"/>
          </a:p>
          <a:p>
            <a:r>
              <a:rPr lang="en-US" b="1" dirty="0"/>
              <a:t>Note</a:t>
            </a:r>
          </a:p>
          <a:p>
            <a:pPr lvl="1"/>
            <a:r>
              <a:rPr lang="en-US" sz="2400" dirty="0"/>
              <a:t>We will use the same shock for all the other exercises.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685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4028-2ED2-E292-0972-936E3447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Income Elasticities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9BEE0-1962-5BD6-1E14-A77DDC30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8234303" cy="574074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know that demand doesn’t just depend on prices. It also depends on incomes.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dirty="0"/>
              <a:t>We also know that incomes depend on production.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So, in this exercise we do two things:</a:t>
            </a:r>
          </a:p>
          <a:p>
            <a:pPr marL="457200" lvl="1" indent="0">
              <a:buNone/>
            </a:pPr>
            <a:r>
              <a:rPr lang="en-US" sz="2400" dirty="0"/>
              <a:t>1.	Calculate incomes based on the level of supply</a:t>
            </a:r>
          </a:p>
          <a:p>
            <a:pPr marL="457200" lvl="1" indent="0">
              <a:buNone/>
            </a:pPr>
            <a:r>
              <a:rPr lang="en-US" sz="2400" dirty="0"/>
              <a:t>2.	Adjust demand according to the level of incomes</a:t>
            </a:r>
          </a:p>
          <a:p>
            <a:endParaRPr lang="en-US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20C07CAB-E586-2411-A6B2-F415025FE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698" y="3229304"/>
            <a:ext cx="769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20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8C21-50F7-97A7-015B-A4A7E559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Income Elasticities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4D4BB7C3-01DC-95DF-1E31-BD66C0012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607" y="1387365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DB66EC43-ECEA-CEDE-E2B0-9490ABD5D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607" y="3292365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A68D7037-BA91-207E-3B70-5E447A8EA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607" y="3520965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9EE473B3-E966-08F5-81F8-70FEDCFDA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607" y="5425965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529C3107-53D9-1F37-0AAC-668B4BEA8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0607" y="32923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0530B661-D940-1311-DEA9-704816FE0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13873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241FC6B2-5283-89DD-4332-E980802AC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0607" y="54259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6B321BD7-AA9D-E4E3-9706-70920C461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345905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Y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DDB878AA-583D-0935-D083-3FBB5D71A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4207" y="1615965"/>
            <a:ext cx="1371600" cy="13716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33DE256C-4D52-7162-59B8-C6D541CD1B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9007" y="2149365"/>
            <a:ext cx="1447800" cy="8382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F0FBD03C-1321-E9A2-A87D-E2F9F838B7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5607" y="4359165"/>
            <a:ext cx="1905000" cy="1066800"/>
          </a:xfrm>
          <a:prstGeom prst="line">
            <a:avLst/>
          </a:prstGeom>
          <a:noFill/>
          <a:ln w="9525">
            <a:solidFill>
              <a:schemeClr val="accent6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1B68F06C-460E-70DB-0EBD-5133A2FA5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807" y="29113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612CAB8D-FCA2-1F3C-80AE-221EF3374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807" y="19207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S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31E0A5B5-356B-0D6A-A303-1C5BB0B17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4407" y="4054365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Y= f(Q)</a:t>
            </a:r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51103AFD-68C0-7F28-D648-A9341FD0E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4807" y="260656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AA9223E7-3F28-6604-623E-D41D3BFBFF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5607" y="260656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9931FCB0-EDAB-CB69-4F73-732943E9E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5607" y="474016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D5FCAB5C-6028-8675-1479-36A4C7BBF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45115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y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16E8A7F0-BFFC-E938-18AA-F35C6C79B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23779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F2C9592C-58B2-08A5-CAB1-633A8D420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407" y="536405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24" name="Line 28">
            <a:extLst>
              <a:ext uri="{FF2B5EF4-FFF2-40B4-BE49-F238E27FC236}">
                <a16:creationId xmlns:a16="http://schemas.microsoft.com/office/drawing/2014/main" id="{8AC2619A-1EAC-035A-ACC9-25D2B65457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6607" y="1615965"/>
            <a:ext cx="1447800" cy="8382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10755712-234A-292D-59BC-47BDD0D5A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4407" y="13873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6" name="Line 30">
            <a:extLst>
              <a:ext uri="{FF2B5EF4-FFF2-40B4-BE49-F238E27FC236}">
                <a16:creationId xmlns:a16="http://schemas.microsoft.com/office/drawing/2014/main" id="{BDA0BFE6-FEE9-739A-67D5-FFC3A76B0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3807" y="2225565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Line 31">
            <a:extLst>
              <a:ext uri="{FF2B5EF4-FFF2-40B4-BE49-F238E27FC236}">
                <a16:creationId xmlns:a16="http://schemas.microsoft.com/office/drawing/2014/main" id="{BCFD4F09-2E99-340F-543F-A38BACF821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5607" y="222556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32">
            <a:extLst>
              <a:ext uri="{FF2B5EF4-FFF2-40B4-BE49-F238E27FC236}">
                <a16:creationId xmlns:a16="http://schemas.microsoft.com/office/drawing/2014/main" id="{E4C7781C-1A1D-9CE8-E8F8-E70038FC85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5607" y="496876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C4883E9B-0030-3BBD-710E-A542CCF9F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47401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y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5964D40D-FF26-F31D-3B09-04557C64C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407" y="53497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F923D58B-1CD4-159D-0846-FE4B8EB9A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19207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2" name="Line 36">
            <a:extLst>
              <a:ext uri="{FF2B5EF4-FFF2-40B4-BE49-F238E27FC236}">
                <a16:creationId xmlns:a16="http://schemas.microsoft.com/office/drawing/2014/main" id="{3451167B-494F-0610-50E6-B40AE04C6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1807" y="1920765"/>
            <a:ext cx="1371600" cy="13716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Line 38">
            <a:extLst>
              <a:ext uri="{FF2B5EF4-FFF2-40B4-BE49-F238E27FC236}">
                <a16:creationId xmlns:a16="http://schemas.microsoft.com/office/drawing/2014/main" id="{A2D00BE6-8C58-B5C2-3EB2-4A6C2B71B1D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05607" y="237796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39">
            <a:extLst>
              <a:ext uri="{FF2B5EF4-FFF2-40B4-BE49-F238E27FC236}">
                <a16:creationId xmlns:a16="http://schemas.microsoft.com/office/drawing/2014/main" id="{D48DCE25-3AB3-2142-3216-E2278AB65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9007" y="2377965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Box 40">
            <a:extLst>
              <a:ext uri="{FF2B5EF4-FFF2-40B4-BE49-F238E27FC236}">
                <a16:creationId xmlns:a16="http://schemas.microsoft.com/office/drawing/2014/main" id="{EC904730-B7CC-ECFD-72A3-843ED14DF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7207" y="329236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n-US" baseline="-25000">
                <a:solidFill>
                  <a:schemeClr val="accent5">
                    <a:lumMod val="75000"/>
                  </a:schemeClr>
                </a:solidFill>
              </a:rPr>
              <a:t>2</a:t>
            </a:r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Line 41">
            <a:extLst>
              <a:ext uri="{FF2B5EF4-FFF2-40B4-BE49-F238E27FC236}">
                <a16:creationId xmlns:a16="http://schemas.microsoft.com/office/drawing/2014/main" id="{3E4B7235-C192-59DB-E8F4-53CC5D82F4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5607" y="512116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Line 42">
            <a:extLst>
              <a:ext uri="{FF2B5EF4-FFF2-40B4-BE49-F238E27FC236}">
                <a16:creationId xmlns:a16="http://schemas.microsoft.com/office/drawing/2014/main" id="{C4819E65-95B2-9A87-4D02-E3279D71DE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29607" y="1844565"/>
            <a:ext cx="228600" cy="3810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" name="Line 43">
            <a:extLst>
              <a:ext uri="{FF2B5EF4-FFF2-40B4-BE49-F238E27FC236}">
                <a16:creationId xmlns:a16="http://schemas.microsoft.com/office/drawing/2014/main" id="{3DF28034-E464-A84F-521C-5F2A29E94E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4207" y="1844565"/>
            <a:ext cx="152400" cy="1524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Box 44">
            <a:extLst>
              <a:ext uri="{FF2B5EF4-FFF2-40B4-BE49-F238E27FC236}">
                <a16:creationId xmlns:a16="http://schemas.microsoft.com/office/drawing/2014/main" id="{9638F2CE-FE0C-A9F5-68DD-F0C08B9EB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216365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40" name="Text Box 45">
            <a:extLst>
              <a:ext uri="{FF2B5EF4-FFF2-40B4-BE49-F238E27FC236}">
                <a16:creationId xmlns:a16="http://schemas.microsoft.com/office/drawing/2014/main" id="{D5DEBEFD-23C0-937D-45FC-66E0A1706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607" y="49687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y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41" name="Text Box 46">
            <a:extLst>
              <a:ext uri="{FF2B5EF4-FFF2-40B4-BE49-F238E27FC236}">
                <a16:creationId xmlns:a16="http://schemas.microsoft.com/office/drawing/2014/main" id="{1124405B-0353-2034-E5FD-70D157CE0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607" y="534976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42" name="Line 47">
            <a:extLst>
              <a:ext uri="{FF2B5EF4-FFF2-40B4-BE49-F238E27FC236}">
                <a16:creationId xmlns:a16="http://schemas.microsoft.com/office/drawing/2014/main" id="{788C0CDD-0FCB-F5EF-7968-00705D5E2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4807" y="3292365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Box 48">
            <a:extLst>
              <a:ext uri="{FF2B5EF4-FFF2-40B4-BE49-F238E27FC236}">
                <a16:creationId xmlns:a16="http://schemas.microsoft.com/office/drawing/2014/main" id="{1D012B7C-1ECC-3978-CB01-7D8612BFA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807" y="323045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id="{10EDEC5F-2A1E-CE6F-4A2D-2CEA2692D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807" y="1387365"/>
            <a:ext cx="57150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Step 1: </a:t>
            </a:r>
            <a:r>
              <a:rPr lang="en-US" dirty="0"/>
              <a:t>supply curve shifts to the left (shock)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increase in price, reduction in quantity supplied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decline in income</a:t>
            </a:r>
          </a:p>
        </p:txBody>
      </p:sp>
      <p:sp>
        <p:nvSpPr>
          <p:cNvPr id="45" name="Text Box 51">
            <a:extLst>
              <a:ext uri="{FF2B5EF4-FFF2-40B4-BE49-F238E27FC236}">
                <a16:creationId xmlns:a16="http://schemas.microsoft.com/office/drawing/2014/main" id="{BECA1D6B-17C2-814D-70E6-D8A8A935E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807" y="2893903"/>
            <a:ext cx="57150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Step 2</a:t>
            </a:r>
            <a:r>
              <a:rPr lang="en-US" dirty="0"/>
              <a:t>: demand curve shifts to the left (falling income)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quantity falls further, but price increases slightly</a:t>
            </a:r>
          </a:p>
        </p:txBody>
      </p:sp>
      <p:sp>
        <p:nvSpPr>
          <p:cNvPr id="46" name="Rectangle 53">
            <a:extLst>
              <a:ext uri="{FF2B5EF4-FFF2-40B4-BE49-F238E27FC236}">
                <a16:creationId xmlns:a16="http://schemas.microsoft.com/office/drawing/2014/main" id="{B2F6D196-0CB4-EA93-68EB-6FB512A1A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807" y="317330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" name="Object 52">
            <a:extLst>
              <a:ext uri="{FF2B5EF4-FFF2-40B4-BE49-F238E27FC236}">
                <a16:creationId xmlns:a16="http://schemas.microsoft.com/office/drawing/2014/main" id="{30DE1510-7631-9E3C-161C-3ABE7623B1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616493"/>
              </p:ext>
            </p:extLst>
          </p:nvPr>
        </p:nvGraphicFramePr>
        <p:xfrm>
          <a:off x="4782207" y="3978165"/>
          <a:ext cx="20780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241200" progId="Equation.DSMT4">
                  <p:embed/>
                </p:oleObj>
              </mc:Choice>
              <mc:Fallback>
                <p:oleObj name="Equation" r:id="rId2" imgW="1091880" imgH="241200" progId="Equation.DSMT4">
                  <p:embed/>
                  <p:pic>
                    <p:nvPicPr>
                      <p:cNvPr id="47" name="Object 52">
                        <a:extLst>
                          <a:ext uri="{FF2B5EF4-FFF2-40B4-BE49-F238E27FC236}">
                            <a16:creationId xmlns:a16="http://schemas.microsoft.com/office/drawing/2014/main" id="{30DE1510-7631-9E3C-161C-3ABE7623B1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207" y="3978165"/>
                        <a:ext cx="2078038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55">
            <a:extLst>
              <a:ext uri="{FF2B5EF4-FFF2-40B4-BE49-F238E27FC236}">
                <a16:creationId xmlns:a16="http://schemas.microsoft.com/office/drawing/2014/main" id="{5775A655-2643-C05F-9568-A54D7FFC2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807" y="317330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9" name="Object 54">
            <a:extLst>
              <a:ext uri="{FF2B5EF4-FFF2-40B4-BE49-F238E27FC236}">
                <a16:creationId xmlns:a16="http://schemas.microsoft.com/office/drawing/2014/main" id="{1C6F2FDA-C055-56FF-0503-AD6269C8F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238456"/>
              </p:ext>
            </p:extLst>
          </p:nvPr>
        </p:nvGraphicFramePr>
        <p:xfrm>
          <a:off x="4782207" y="4663965"/>
          <a:ext cx="2057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241300" progId="Equation.DSMT4">
                  <p:embed/>
                </p:oleObj>
              </mc:Choice>
              <mc:Fallback>
                <p:oleObj name="Equation" r:id="rId4" imgW="1016000" imgH="241300" progId="Equation.DSMT4">
                  <p:embed/>
                  <p:pic>
                    <p:nvPicPr>
                      <p:cNvPr id="49" name="Object 54">
                        <a:extLst>
                          <a:ext uri="{FF2B5EF4-FFF2-40B4-BE49-F238E27FC236}">
                            <a16:creationId xmlns:a16="http://schemas.microsoft.com/office/drawing/2014/main" id="{1C6F2FDA-C055-56FF-0503-AD6269C8F5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207" y="4663965"/>
                        <a:ext cx="2057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6">
            <a:extLst>
              <a:ext uri="{FF2B5EF4-FFF2-40B4-BE49-F238E27FC236}">
                <a16:creationId xmlns:a16="http://schemas.microsoft.com/office/drawing/2014/main" id="{683D6D05-4BA6-2207-1577-9B123A51B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895287"/>
              </p:ext>
            </p:extLst>
          </p:nvPr>
        </p:nvGraphicFramePr>
        <p:xfrm>
          <a:off x="4594225" y="5319713"/>
          <a:ext cx="167163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42720" progId="Equation.DSMT4">
                  <p:embed/>
                </p:oleObj>
              </mc:Choice>
              <mc:Fallback>
                <p:oleObj name="Equation" r:id="rId6" imgW="901440" imgH="342720" progId="Equation.DSMT4">
                  <p:embed/>
                  <p:pic>
                    <p:nvPicPr>
                      <p:cNvPr id="51" name="Object 56">
                        <a:extLst>
                          <a:ext uri="{FF2B5EF4-FFF2-40B4-BE49-F238E27FC236}">
                            <a16:creationId xmlns:a16="http://schemas.microsoft.com/office/drawing/2014/main" id="{683D6D05-4BA6-2207-1577-9B123A51B9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5319713"/>
                        <a:ext cx="1671638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8">
            <a:extLst>
              <a:ext uri="{FF2B5EF4-FFF2-40B4-BE49-F238E27FC236}">
                <a16:creationId xmlns:a16="http://schemas.microsoft.com/office/drawing/2014/main" id="{49A512AD-B506-0508-1CA1-843E195D795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714916"/>
              </p:ext>
            </p:extLst>
          </p:nvPr>
        </p:nvGraphicFramePr>
        <p:xfrm>
          <a:off x="6852307" y="3978165"/>
          <a:ext cx="965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241200" progId="Equation.DSMT4">
                  <p:embed/>
                </p:oleObj>
              </mc:Choice>
              <mc:Fallback>
                <p:oleObj name="Equation" r:id="rId8" imgW="469800" imgH="241200" progId="Equation.DSMT4">
                  <p:embed/>
                  <p:pic>
                    <p:nvPicPr>
                      <p:cNvPr id="52" name="Object 58">
                        <a:extLst>
                          <a:ext uri="{FF2B5EF4-FFF2-40B4-BE49-F238E27FC236}">
                            <a16:creationId xmlns:a16="http://schemas.microsoft.com/office/drawing/2014/main" id="{49A512AD-B506-0508-1CA1-843E195D79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307" y="3978165"/>
                        <a:ext cx="965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60">
            <a:extLst>
              <a:ext uri="{FF2B5EF4-FFF2-40B4-BE49-F238E27FC236}">
                <a16:creationId xmlns:a16="http://schemas.microsoft.com/office/drawing/2014/main" id="{4C56CF10-8883-6255-FDD0-CB7CA6390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407" y="5349765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Income (Y) is the wage (w) generated per unit of production</a:t>
            </a:r>
          </a:p>
        </p:txBody>
      </p:sp>
      <p:sp>
        <p:nvSpPr>
          <p:cNvPr id="54" name="Text Box 61">
            <a:extLst>
              <a:ext uri="{FF2B5EF4-FFF2-40B4-BE49-F238E27FC236}">
                <a16:creationId xmlns:a16="http://schemas.microsoft.com/office/drawing/2014/main" id="{4AAE3ABA-52A6-961C-3BD2-ED4A6B175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007" y="4511565"/>
            <a:ext cx="220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Y now affects the quantity demanded</a:t>
            </a:r>
          </a:p>
        </p:txBody>
      </p:sp>
      <p:sp>
        <p:nvSpPr>
          <p:cNvPr id="55" name="Text Box 62">
            <a:extLst>
              <a:ext uri="{FF2B5EF4-FFF2-40B4-BE49-F238E27FC236}">
                <a16:creationId xmlns:a16="http://schemas.microsoft.com/office/drawing/2014/main" id="{7FCDAA90-A130-99BD-5B4A-B0191D4F3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007" y="3444765"/>
            <a:ext cx="30480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Income elasticity of demand</a:t>
            </a:r>
          </a:p>
        </p:txBody>
      </p:sp>
      <p:sp>
        <p:nvSpPr>
          <p:cNvPr id="56" name="Line 63">
            <a:extLst>
              <a:ext uri="{FF2B5EF4-FFF2-40B4-BE49-F238E27FC236}">
                <a16:creationId xmlns:a16="http://schemas.microsoft.com/office/drawing/2014/main" id="{8D5FBBE5-5B92-76D8-421F-84ED4D846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3007" y="3825765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Box 64">
            <a:extLst>
              <a:ext uri="{FF2B5EF4-FFF2-40B4-BE49-F238E27FC236}">
                <a16:creationId xmlns:a16="http://schemas.microsoft.com/office/drawing/2014/main" id="{B3930CC6-3CBD-260B-7C14-594B2692B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1207" y="6111765"/>
            <a:ext cx="12954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Wage rate</a:t>
            </a:r>
          </a:p>
        </p:txBody>
      </p:sp>
      <p:sp>
        <p:nvSpPr>
          <p:cNvPr id="58" name="Line 65">
            <a:extLst>
              <a:ext uri="{FF2B5EF4-FFF2-40B4-BE49-F238E27FC236}">
                <a16:creationId xmlns:a16="http://schemas.microsoft.com/office/drawing/2014/main" id="{5A094B3E-0803-AE2C-8729-4FBEFF137B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3207" y="5806965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8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3" grpId="0"/>
      <p:bldP spid="24" grpId="0" animBg="1"/>
      <p:bldP spid="25" grpId="0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 animBg="1"/>
      <p:bldP spid="44" grpId="0"/>
      <p:bldP spid="45" grpId="0"/>
      <p:bldP spid="53" grpId="0"/>
      <p:bldP spid="54" grpId="0"/>
      <p:bldP spid="55" grpId="0" animBg="1"/>
      <p:bldP spid="56" grpId="0" animBg="1"/>
      <p:bldP spid="57" grpId="0" animBg="1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B06C-6823-6A59-7F97-FF43290A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Income Elasticities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66066-E70D-EB09-B659-24801E70E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11019545" cy="5740740"/>
          </a:xfrm>
        </p:spPr>
        <p:txBody>
          <a:bodyPr/>
          <a:lstStyle/>
          <a:p>
            <a:endParaRPr lang="en-US" sz="1000" dirty="0"/>
          </a:p>
          <a:p>
            <a:r>
              <a:rPr lang="en-US" b="1" dirty="0"/>
              <a:t>Objective</a:t>
            </a:r>
          </a:p>
          <a:p>
            <a:pPr lvl="1"/>
            <a:r>
              <a:rPr lang="en-US" sz="2400" dirty="0"/>
              <a:t>Learn how to introduce new equations to the model and use the summation function</a:t>
            </a:r>
          </a:p>
          <a:p>
            <a:endParaRPr lang="en-US" sz="1000" dirty="0"/>
          </a:p>
          <a:p>
            <a:r>
              <a:rPr lang="en-US" b="1" dirty="0"/>
              <a:t>Details</a:t>
            </a:r>
          </a:p>
          <a:p>
            <a:pPr lvl="1"/>
            <a:r>
              <a:rPr lang="en-US" sz="2400" dirty="0"/>
              <a:t>Introduce income elasticities into the model from exercise 1. </a:t>
            </a:r>
          </a:p>
          <a:p>
            <a:endParaRPr lang="en-US" sz="1000" dirty="0"/>
          </a:p>
          <a:p>
            <a:r>
              <a:rPr lang="en-US" b="1" dirty="0"/>
              <a:t>Tasks</a:t>
            </a:r>
          </a:p>
          <a:p>
            <a:pPr lvl="1"/>
            <a:r>
              <a:rPr lang="en-US" sz="2400" dirty="0"/>
              <a:t>Add in the new income equation to the model using the equations in the hand-out</a:t>
            </a:r>
          </a:p>
          <a:p>
            <a:pPr lvl="1"/>
            <a:r>
              <a:rPr lang="en-US" sz="2400" dirty="0"/>
              <a:t>There is one new equation (income), one new variable (Y), three new parameters (Y0, w and d2), and one additional term in the demand equation (d2Y)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20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A6DD-C4F4-F0C6-17F4-59B0D238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</a:t>
            </a:r>
            <a:r>
              <a:rPr lang="en-US" b="0" dirty="0"/>
              <a:t>|  Cross-Price Elasticities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6FE0-4983-5646-EC60-25E3BD80F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7572152" cy="5740740"/>
          </a:xfrm>
        </p:spPr>
        <p:txBody>
          <a:bodyPr/>
          <a:lstStyle/>
          <a:p>
            <a:endParaRPr lang="en-US" sz="1000" dirty="0"/>
          </a:p>
          <a:p>
            <a:r>
              <a:rPr lang="en-US" dirty="0"/>
              <a:t>We’ve included the effect that changes in incomes have on quantity demanded (i.e., income-effects)</a:t>
            </a:r>
          </a:p>
          <a:p>
            <a:endParaRPr lang="en-US" sz="1000" dirty="0"/>
          </a:p>
          <a:p>
            <a:r>
              <a:rPr lang="en-US" dirty="0"/>
              <a:t>However, we also know that the changes other goods’ prices make our good more/less attractive to consumers</a:t>
            </a:r>
          </a:p>
          <a:p>
            <a:endParaRPr lang="en-US" sz="1000" dirty="0"/>
          </a:p>
          <a:p>
            <a:r>
              <a:rPr lang="en-US" dirty="0"/>
              <a:t>Therefore, we also need to include substitution-effects (i.e., cross-price elasticities of demand)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Cross-price or substitution effects</a:t>
            </a:r>
            <a:r>
              <a:rPr lang="en-US" dirty="0"/>
              <a:t>: This is where the price of one good affects the demand for other goods</a:t>
            </a:r>
          </a:p>
          <a:p>
            <a:endParaRPr lang="en-US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EA9087A8-6627-69EF-95DD-FC3F6B810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291" y="4679731"/>
            <a:ext cx="769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76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AA2B6-D4D7-F193-038B-04629990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</a:t>
            </a:r>
            <a:r>
              <a:rPr lang="en-US" b="0" dirty="0"/>
              <a:t>|  Cross-Price Elasticities</a:t>
            </a:r>
            <a:endParaRPr lang="en-US" dirty="0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52B7B845-47FC-1B83-875C-AF8B21E39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8405" y="16002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485BB885-E61D-38D3-A6BD-6E761E87D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8405" y="3505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E456FB17-FEC0-A6BC-D5C9-820FAA287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3405" y="3505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B095E6A1-25D8-3524-0672-C9A3687FE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05" y="16764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4A1D6F69-366C-3B27-2417-5524545EE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8405" y="41148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37665248-133D-70FF-D60B-1D6FB6BC2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8405" y="6019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FB023F79-AA9A-F3E1-E964-F4AAAB3BC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3405" y="6019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3D660DEB-8DF1-8CF3-553F-D745F8CF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05" y="4114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8DA0BA9F-255E-DE81-15AF-07852B727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805" y="12954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/>
              <a:t>Agriculture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18DFCFD7-B238-2104-C92D-F2133942D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005" y="38100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/>
              <a:t>Industry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57B74C3F-E9EF-7F50-69A6-C35BA60D62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3205" y="2000250"/>
            <a:ext cx="1447800" cy="10668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C590666E-5CC4-36B2-C1B6-485E2A8517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81805" y="2286000"/>
            <a:ext cx="1524000" cy="9144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5FCA6C62-A963-E3A2-3255-F3A1A7A884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77005" y="1905000"/>
            <a:ext cx="1524000" cy="9144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45BD5F30-EAAE-677B-4E86-846F04BB8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3205" y="4572000"/>
            <a:ext cx="1143000" cy="12192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D75DA847-B012-6A15-2836-03DA57CBB1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29405" y="4953000"/>
            <a:ext cx="1600200" cy="6096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EECFDDF2-6422-8182-F9DF-9717EA698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4205" y="4419600"/>
            <a:ext cx="990600" cy="10668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7FF89C6E-DF0D-99B2-8E8F-420E22D4E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5" y="16764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S</a:t>
            </a:r>
            <a:r>
              <a:rPr lang="en-US" sz="1400" baseline="-25000">
                <a:solidFill>
                  <a:srgbClr val="C00000"/>
                </a:solidFill>
              </a:rPr>
              <a:t>1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E65A9AC4-2FC7-F1F6-386F-F5DB202D0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805" y="20574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S</a:t>
            </a:r>
            <a:r>
              <a:rPr lang="en-US" sz="1400" baseline="-25000">
                <a:solidFill>
                  <a:srgbClr val="C00000"/>
                </a:solidFill>
              </a:rPr>
              <a:t>0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D283FA4E-84FC-FDCF-9212-3965821F6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5" y="29718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n-US" sz="1400" baseline="-25000">
                <a:solidFill>
                  <a:schemeClr val="accent5">
                    <a:lumMod val="75000"/>
                  </a:schemeClr>
                </a:solidFill>
              </a:rPr>
              <a:t>0</a:t>
            </a:r>
            <a:endParaRPr lang="en-US" sz="14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86269881-BC4E-70B6-7EC3-1455755916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8605" y="2057400"/>
            <a:ext cx="228600" cy="3048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96F5FFF0-00C1-8AA2-67FE-9B13B44136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34205" y="4724400"/>
            <a:ext cx="228600" cy="152400"/>
          </a:xfrm>
          <a:prstGeom prst="line">
            <a:avLst/>
          </a:prstGeom>
          <a:noFill/>
          <a:ln w="9525">
            <a:solidFill>
              <a:schemeClr val="accent5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249FB4BA-21FA-0A8F-854F-56B0AAF82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005" y="5715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n-US" sz="1400" baseline="-25000">
                <a:solidFill>
                  <a:schemeClr val="accent5">
                    <a:lumMod val="75000"/>
                  </a:schemeClr>
                </a:solidFill>
              </a:rPr>
              <a:t>0</a:t>
            </a:r>
            <a:endParaRPr lang="en-US" sz="14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C6DF77E9-5D0D-C174-1DFA-60CA05AAE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605" y="5410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n-US" sz="1400" baseline="-25000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9D163635-EFE5-9036-D97C-807BEFB0B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3805" y="2743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70A38FB5-417A-D272-42AF-4029AA93E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2805" y="2438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94B51A07-637D-8097-5866-10A81010CF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8405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27105C9B-85F1-01F7-B589-EB4DCA821E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8405" y="2743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D5F590A6-41BD-9EA6-03ED-4E5A23D971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2205" y="2514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048034EB-98D7-969D-635E-B86FEA84E2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39005" y="3581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CA34A0AE-B68B-B7AA-ED48-38C50B4D1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9005" y="533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A1AACA4D-902D-DB14-047F-64B5AF4CB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0005" y="51816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4874C851-5116-0028-FCFD-CB34214108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8405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FF99AEE4-992D-9B53-3179-D17681CC5F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8405" y="5181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17F62205-2507-0CD4-4D8A-5D9471A699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2205" y="5181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023A9780-DABD-5D7F-5945-81CA93689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9005" y="609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Box 40">
            <a:extLst>
              <a:ext uri="{FF2B5EF4-FFF2-40B4-BE49-F238E27FC236}">
                <a16:creationId xmlns:a16="http://schemas.microsoft.com/office/drawing/2014/main" id="{817B66B9-A573-7E95-D340-49212043D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3405" y="47244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S</a:t>
            </a:r>
            <a:r>
              <a:rPr lang="en-US" sz="1400" baseline="-25000">
                <a:solidFill>
                  <a:srgbClr val="C00000"/>
                </a:solidFill>
              </a:rPr>
              <a:t>0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ED59199D-C6A2-3B40-4D88-02A85E620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005" y="1524000"/>
            <a:ext cx="57150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Step 1</a:t>
            </a:r>
            <a:r>
              <a:rPr lang="en-US" dirty="0"/>
              <a:t>: </a:t>
            </a:r>
            <a:r>
              <a:rPr lang="en-US" i="1" dirty="0"/>
              <a:t>agricultural</a:t>
            </a:r>
            <a:r>
              <a:rPr lang="en-US" dirty="0"/>
              <a:t> supply curve shifts to the left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increase in agric. price, reduction in agric. quantity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decline in income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53081401-5E51-A54B-DFE6-4C2FF15A2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005" y="3030538"/>
            <a:ext cx="5715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Step 2</a:t>
            </a:r>
            <a:r>
              <a:rPr lang="en-US" dirty="0"/>
              <a:t>: </a:t>
            </a:r>
            <a:r>
              <a:rPr lang="en-US" i="1" dirty="0"/>
              <a:t>industrial</a:t>
            </a:r>
            <a:r>
              <a:rPr lang="en-US" dirty="0"/>
              <a:t> demand curve shifts to the left (cross-price substitution-effect)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increase in industrial price and quantity</a:t>
            </a:r>
          </a:p>
        </p:txBody>
      </p:sp>
      <p:graphicFrame>
        <p:nvGraphicFramePr>
          <p:cNvPr id="43" name="Object 43">
            <a:extLst>
              <a:ext uri="{FF2B5EF4-FFF2-40B4-BE49-F238E27FC236}">
                <a16:creationId xmlns:a16="http://schemas.microsoft.com/office/drawing/2014/main" id="{466B76B5-24A2-9E6D-2209-8F9B5548B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595549"/>
              </p:ext>
            </p:extLst>
          </p:nvPr>
        </p:nvGraphicFramePr>
        <p:xfrm>
          <a:off x="4269443" y="4283075"/>
          <a:ext cx="28527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41200" progId="Equation.DSMT4">
                  <p:embed/>
                </p:oleObj>
              </mc:Choice>
              <mc:Fallback>
                <p:oleObj name="Equation" r:id="rId2" imgW="1562040" imgH="241200" progId="Equation.DSMT4">
                  <p:embed/>
                  <p:pic>
                    <p:nvPicPr>
                      <p:cNvPr id="43" name="Object 43">
                        <a:extLst>
                          <a:ext uri="{FF2B5EF4-FFF2-40B4-BE49-F238E27FC236}">
                            <a16:creationId xmlns:a16="http://schemas.microsoft.com/office/drawing/2014/main" id="{466B76B5-24A2-9E6D-2209-8F9B5548B1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9443" y="4283075"/>
                        <a:ext cx="2852737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5">
            <a:extLst>
              <a:ext uri="{FF2B5EF4-FFF2-40B4-BE49-F238E27FC236}">
                <a16:creationId xmlns:a16="http://schemas.microsoft.com/office/drawing/2014/main" id="{5DFB77E9-807D-26B5-A5A0-0072E9E6100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400114"/>
              </p:ext>
            </p:extLst>
          </p:nvPr>
        </p:nvGraphicFramePr>
        <p:xfrm>
          <a:off x="7092018" y="4267200"/>
          <a:ext cx="1474787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342720" progId="Equation.DSMT4">
                  <p:embed/>
                </p:oleObj>
              </mc:Choice>
              <mc:Fallback>
                <p:oleObj name="Equation" r:id="rId4" imgW="774360" imgH="342720" progId="Equation.DSMT4">
                  <p:embed/>
                  <p:pic>
                    <p:nvPicPr>
                      <p:cNvPr id="44" name="Object 45">
                        <a:extLst>
                          <a:ext uri="{FF2B5EF4-FFF2-40B4-BE49-F238E27FC236}">
                            <a16:creationId xmlns:a16="http://schemas.microsoft.com/office/drawing/2014/main" id="{5DFB77E9-807D-26B5-A5A0-0072E9E610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018" y="4267200"/>
                        <a:ext cx="1474787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7">
            <a:extLst>
              <a:ext uri="{FF2B5EF4-FFF2-40B4-BE49-F238E27FC236}">
                <a16:creationId xmlns:a16="http://schemas.microsoft.com/office/drawing/2014/main" id="{953F8D33-A1AB-B908-0E9C-A4D33FA4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3" y="5067300"/>
            <a:ext cx="63009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There is a cross-price effect between every pair of commodities. Therefore, in adjusting quantity demanded for our commodity (c) we must sum the cross-price effects from other commodities (c’)</a:t>
            </a:r>
          </a:p>
        </p:txBody>
      </p:sp>
    </p:spTree>
    <p:extLst>
      <p:ext uri="{BB962C8B-B14F-4D97-AF65-F5344CB8AC3E}">
        <p14:creationId xmlns:p14="http://schemas.microsoft.com/office/powerpoint/2010/main" val="82520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0" grpId="0"/>
      <p:bldP spid="23" grpId="0" animBg="1"/>
      <p:bldP spid="24" grpId="0" animBg="1"/>
      <p:bldP spid="26" grpId="0"/>
      <p:bldP spid="28" grpId="0" animBg="1"/>
      <p:bldP spid="29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40" grpId="0"/>
      <p:bldP spid="41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8A48-AE73-399E-DAC6-C7ADCEC9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</a:t>
            </a:r>
            <a:r>
              <a:rPr lang="en-US" b="0" dirty="0"/>
              <a:t>|  Cross-Price Elasticities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92D17-5286-CF39-B412-D242CBA67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1" y="1025035"/>
            <a:ext cx="9348400" cy="5740740"/>
          </a:xfrm>
        </p:spPr>
        <p:txBody>
          <a:bodyPr/>
          <a:lstStyle/>
          <a:p>
            <a:endParaRPr lang="en-US" sz="1000" dirty="0"/>
          </a:p>
          <a:p>
            <a:r>
              <a:rPr lang="en-US" b="1" dirty="0"/>
              <a:t>Objective</a:t>
            </a:r>
          </a:p>
          <a:p>
            <a:pPr lvl="1"/>
            <a:r>
              <a:rPr lang="en-US" sz="2400" dirty="0"/>
              <a:t>Learn how to use aliases and mappings between elements in sets, and enter data using tables</a:t>
            </a:r>
          </a:p>
          <a:p>
            <a:endParaRPr lang="en-US" sz="1000" dirty="0"/>
          </a:p>
          <a:p>
            <a:r>
              <a:rPr lang="en-US" b="1" dirty="0"/>
              <a:t>Details</a:t>
            </a:r>
          </a:p>
          <a:p>
            <a:pPr lvl="1"/>
            <a:r>
              <a:rPr lang="en-US" sz="2400" dirty="0"/>
              <a:t>Introduce cross-price elasticities into the model from exercise 2. </a:t>
            </a:r>
          </a:p>
          <a:p>
            <a:endParaRPr lang="en-US" sz="1000" dirty="0"/>
          </a:p>
          <a:p>
            <a:r>
              <a:rPr lang="en-US" b="1" dirty="0"/>
              <a:t>Tasks</a:t>
            </a:r>
          </a:p>
          <a:p>
            <a:pPr lvl="1"/>
            <a:r>
              <a:rPr lang="en-US" sz="2400" dirty="0"/>
              <a:t>There is one new parameter (d3), one new table (MAP), and one additional term in the demand equation (Σd3P)</a:t>
            </a:r>
          </a:p>
          <a:p>
            <a:pPr lvl="1"/>
            <a:r>
              <a:rPr lang="en-US" sz="2400" dirty="0"/>
              <a:t>Mappings are true/false (1/0) matrices linking two sets together (e.g., the identity matrix). We will enter this data using a ‘table’, although usually this is done using sets.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66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634E-1CBB-14EE-B644-6284C6C1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</a:t>
            </a:r>
            <a:r>
              <a:rPr lang="en-US" b="0" dirty="0"/>
              <a:t>|  Exogenous 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0B567-DFFC-CCE7-8516-E4DED1A7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000" dirty="0"/>
          </a:p>
          <a:p>
            <a:r>
              <a:rPr lang="en-US" dirty="0"/>
              <a:t>So far, we’ve assumed that all goods are produced inside the country (i.e., domestic demand equals domestic supply in equilibrium)</a:t>
            </a:r>
          </a:p>
          <a:p>
            <a:endParaRPr lang="en-US" sz="1000" dirty="0"/>
          </a:p>
          <a:p>
            <a:r>
              <a:rPr lang="en-US" dirty="0"/>
              <a:t>However, we know that some domestic demand is supplied by imports </a:t>
            </a:r>
          </a:p>
          <a:p>
            <a:endParaRPr lang="en-US" dirty="0"/>
          </a:p>
          <a:p>
            <a:r>
              <a:rPr lang="en-US" dirty="0"/>
              <a:t>So, in this exercise we allow imported goods</a:t>
            </a:r>
          </a:p>
          <a:p>
            <a:endParaRPr lang="en-US" sz="1000" dirty="0"/>
          </a:p>
          <a:p>
            <a:r>
              <a:rPr lang="en-US" dirty="0"/>
              <a:t>However, we don’t do this in a complicated way (no substitution between domestic and imported goods – imports are determined exogenously)</a:t>
            </a:r>
          </a:p>
          <a:p>
            <a:endParaRPr lang="en-US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C83D61C7-A48F-2B49-8577-7AB7B82BE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249" y="3029607"/>
            <a:ext cx="769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20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AFF2-C9B4-0352-9183-69EA4064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</a:t>
            </a:r>
            <a:r>
              <a:rPr lang="en-US" b="0" dirty="0"/>
              <a:t>|  Exogenous Imports</a:t>
            </a:r>
            <a:endParaRPr lang="en-US" dirty="0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15FAB738-D5E1-E3B9-68F7-2FFF94AC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0" y="34782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Line 46">
            <a:extLst>
              <a:ext uri="{FF2B5EF4-FFF2-40B4-BE49-F238E27FC236}">
                <a16:creationId xmlns:a16="http://schemas.microsoft.com/office/drawing/2014/main" id="{B08F20F5-AD3B-B9E5-4AAA-F6F3A5CD6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3510" y="1820917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47">
            <a:extLst>
              <a:ext uri="{FF2B5EF4-FFF2-40B4-BE49-F238E27FC236}">
                <a16:creationId xmlns:a16="http://schemas.microsoft.com/office/drawing/2014/main" id="{4B96C18E-BD48-F1E6-FCDD-0B69F8073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3510" y="4487917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Box 48">
            <a:extLst>
              <a:ext uri="{FF2B5EF4-FFF2-40B4-BE49-F238E27FC236}">
                <a16:creationId xmlns:a16="http://schemas.microsoft.com/office/drawing/2014/main" id="{C521662D-3432-24B1-A870-6D33B6109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710" y="4487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</a:p>
        </p:txBody>
      </p:sp>
      <p:sp>
        <p:nvSpPr>
          <p:cNvPr id="8" name="Text Box 49">
            <a:extLst>
              <a:ext uri="{FF2B5EF4-FFF2-40B4-BE49-F238E27FC236}">
                <a16:creationId xmlns:a16="http://schemas.microsoft.com/office/drawing/2014/main" id="{04E2A167-B717-4E9B-D330-D76AB8A30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510" y="17447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D0622A8B-F88D-D26A-285D-DECDE1CE3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4510" y="1973317"/>
            <a:ext cx="2362200" cy="17526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51">
            <a:extLst>
              <a:ext uri="{FF2B5EF4-FFF2-40B4-BE49-F238E27FC236}">
                <a16:creationId xmlns:a16="http://schemas.microsoft.com/office/drawing/2014/main" id="{74CCA6D1-BEC5-1B39-51B2-38B14331E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710" y="3587805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1" name="Line 52">
            <a:extLst>
              <a:ext uri="{FF2B5EF4-FFF2-40B4-BE49-F238E27FC236}">
                <a16:creationId xmlns:a16="http://schemas.microsoft.com/office/drawing/2014/main" id="{251257AD-3B16-189A-1126-7B56D526BC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0710" y="2201917"/>
            <a:ext cx="1828800" cy="17526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Box 53">
            <a:extLst>
              <a:ext uri="{FF2B5EF4-FFF2-40B4-BE49-F238E27FC236}">
                <a16:creationId xmlns:a16="http://schemas.microsoft.com/office/drawing/2014/main" id="{DEB3BC1B-FAAE-8AD2-E9FF-E02FF68F7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310" y="18971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S</a:t>
            </a:r>
            <a:r>
              <a:rPr lang="en-US" baseline="-25000">
                <a:solidFill>
                  <a:srgbClr val="C00000"/>
                </a:solidFill>
              </a:rPr>
              <a:t>0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3" name="Line 54">
            <a:extLst>
              <a:ext uri="{FF2B5EF4-FFF2-40B4-BE49-F238E27FC236}">
                <a16:creationId xmlns:a16="http://schemas.microsoft.com/office/drawing/2014/main" id="{AC7F810F-3FBD-8C8B-D61C-C3DC56F74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3510" y="2887717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55">
            <a:extLst>
              <a:ext uri="{FF2B5EF4-FFF2-40B4-BE49-F238E27FC236}">
                <a16:creationId xmlns:a16="http://schemas.microsoft.com/office/drawing/2014/main" id="{B22BF5FE-8466-E570-DFDE-8E690250E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3710" y="2887717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56">
            <a:extLst>
              <a:ext uri="{FF2B5EF4-FFF2-40B4-BE49-F238E27FC236}">
                <a16:creationId xmlns:a16="http://schemas.microsoft.com/office/drawing/2014/main" id="{E34BC233-E6D6-8CC1-5C74-5A7BD25022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3110" y="1820917"/>
            <a:ext cx="0" cy="2667000"/>
          </a:xfrm>
          <a:prstGeom prst="line">
            <a:avLst/>
          </a:prstGeom>
          <a:noFill/>
          <a:ln w="19050">
            <a:solidFill>
              <a:schemeClr val="accent6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Box 57">
            <a:extLst>
              <a:ext uri="{FF2B5EF4-FFF2-40B4-BE49-F238E27FC236}">
                <a16:creationId xmlns:a16="http://schemas.microsoft.com/office/drawing/2014/main" id="{90F63344-D47F-FB68-E261-C95E6FA47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510" y="4487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QM</a:t>
            </a:r>
          </a:p>
        </p:txBody>
      </p:sp>
      <p:sp>
        <p:nvSpPr>
          <p:cNvPr id="17" name="Line 60">
            <a:extLst>
              <a:ext uri="{FF2B5EF4-FFF2-40B4-BE49-F238E27FC236}">
                <a16:creationId xmlns:a16="http://schemas.microsoft.com/office/drawing/2014/main" id="{6DE67F5A-3419-4A2C-489A-2E1928E194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3310" y="3344917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61">
            <a:extLst>
              <a:ext uri="{FF2B5EF4-FFF2-40B4-BE49-F238E27FC236}">
                <a16:creationId xmlns:a16="http://schemas.microsoft.com/office/drawing/2014/main" id="{7B00DB16-9F86-9E2F-4E97-FD9ED92AD4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3510" y="3344917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62">
            <a:extLst>
              <a:ext uri="{FF2B5EF4-FFF2-40B4-BE49-F238E27FC236}">
                <a16:creationId xmlns:a16="http://schemas.microsoft.com/office/drawing/2014/main" id="{CE838655-D99F-E1C9-F1CC-190E1C843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9710" y="4259317"/>
            <a:ext cx="457200" cy="0"/>
          </a:xfrm>
          <a:prstGeom prst="line">
            <a:avLst/>
          </a:prstGeom>
          <a:noFill/>
          <a:ln w="9525">
            <a:solidFill>
              <a:schemeClr val="accent6">
                <a:lumMod val="75000"/>
              </a:schemeClr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63">
            <a:extLst>
              <a:ext uri="{FF2B5EF4-FFF2-40B4-BE49-F238E27FC236}">
                <a16:creationId xmlns:a16="http://schemas.microsoft.com/office/drawing/2014/main" id="{0DF91CE6-23A6-8759-C245-CE94B1FE3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9910" y="4259317"/>
            <a:ext cx="457200" cy="0"/>
          </a:xfrm>
          <a:prstGeom prst="line">
            <a:avLst/>
          </a:prstGeom>
          <a:noFill/>
          <a:ln w="9525">
            <a:solidFill>
              <a:schemeClr val="accent6">
                <a:lumMod val="75000"/>
              </a:schemeClr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Box 64">
            <a:extLst>
              <a:ext uri="{FF2B5EF4-FFF2-40B4-BE49-F238E27FC236}">
                <a16:creationId xmlns:a16="http://schemas.microsoft.com/office/drawing/2014/main" id="{D179A215-0704-E2FE-5C7E-2A028538E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9910" y="4487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B4437382-A8EB-E554-9E17-1C19F7E8B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910" y="4487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23" name="Text Box 66">
            <a:extLst>
              <a:ext uri="{FF2B5EF4-FFF2-40B4-BE49-F238E27FC236}">
                <a16:creationId xmlns:a16="http://schemas.microsoft.com/office/drawing/2014/main" id="{8EDD8C78-BC9B-E63A-2076-1D776E5D9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510" y="31925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24" name="Line 68">
            <a:extLst>
              <a:ext uri="{FF2B5EF4-FFF2-40B4-BE49-F238E27FC236}">
                <a16:creationId xmlns:a16="http://schemas.microsoft.com/office/drawing/2014/main" id="{A8EF8CFC-801E-51A6-DD8D-C2D6ED701D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0710" y="2049517"/>
            <a:ext cx="1600200" cy="16002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Box 69">
            <a:extLst>
              <a:ext uri="{FF2B5EF4-FFF2-40B4-BE49-F238E27FC236}">
                <a16:creationId xmlns:a16="http://schemas.microsoft.com/office/drawing/2014/main" id="{7DD345B1-E2A0-F6A0-7003-00D422B6C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510" y="17447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6" name="Line 70">
            <a:extLst>
              <a:ext uri="{FF2B5EF4-FFF2-40B4-BE49-F238E27FC236}">
                <a16:creationId xmlns:a16="http://schemas.microsoft.com/office/drawing/2014/main" id="{97D34627-DDDC-6A43-6E40-A29D35684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3510" y="2735317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Line 71">
            <a:extLst>
              <a:ext uri="{FF2B5EF4-FFF2-40B4-BE49-F238E27FC236}">
                <a16:creationId xmlns:a16="http://schemas.microsoft.com/office/drawing/2014/main" id="{7DCF7171-0B13-75D7-0336-40CD197DE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5110" y="2735317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Box 72">
            <a:extLst>
              <a:ext uri="{FF2B5EF4-FFF2-40B4-BE49-F238E27FC236}">
                <a16:creationId xmlns:a16="http://schemas.microsoft.com/office/drawing/2014/main" id="{8F113691-AE54-9C3B-0D36-9D0E50FA3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510" y="2582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P’</a:t>
            </a:r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65FC0843-8F29-7995-1808-FFB058E1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6510" y="4487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Q’</a:t>
            </a:r>
          </a:p>
        </p:txBody>
      </p:sp>
      <p:sp>
        <p:nvSpPr>
          <p:cNvPr id="30" name="Line 74">
            <a:extLst>
              <a:ext uri="{FF2B5EF4-FFF2-40B4-BE49-F238E27FC236}">
                <a16:creationId xmlns:a16="http://schemas.microsoft.com/office/drawing/2014/main" id="{EA0B16FB-17B3-ECC1-86C2-726FD8346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4710" y="3192517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Line 75">
            <a:extLst>
              <a:ext uri="{FF2B5EF4-FFF2-40B4-BE49-F238E27FC236}">
                <a16:creationId xmlns:a16="http://schemas.microsoft.com/office/drawing/2014/main" id="{3689C6FF-1E0D-9868-F91E-CB9E328249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3510" y="3192517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Box 76">
            <a:extLst>
              <a:ext uri="{FF2B5EF4-FFF2-40B4-BE49-F238E27FC236}">
                <a16:creationId xmlns:a16="http://schemas.microsoft.com/office/drawing/2014/main" id="{06EB77AA-4DE5-358F-4D4D-20EACCD39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510" y="28877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3" name="Text Box 77">
            <a:extLst>
              <a:ext uri="{FF2B5EF4-FFF2-40B4-BE49-F238E27FC236}">
                <a16:creationId xmlns:a16="http://schemas.microsoft.com/office/drawing/2014/main" id="{B4929C7F-B07E-2087-4C39-1BDD9063A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110" y="4487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Q’</a:t>
            </a:r>
          </a:p>
        </p:txBody>
      </p:sp>
      <p:sp>
        <p:nvSpPr>
          <p:cNvPr id="34" name="Text Box 78">
            <a:extLst>
              <a:ext uri="{FF2B5EF4-FFF2-40B4-BE49-F238E27FC236}">
                <a16:creationId xmlns:a16="http://schemas.microsoft.com/office/drawing/2014/main" id="{50A17C32-D691-9424-C4B1-3FFAD4A07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373" y="1508180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35" name="Line 79">
            <a:extLst>
              <a:ext uri="{FF2B5EF4-FFF2-40B4-BE49-F238E27FC236}">
                <a16:creationId xmlns:a16="http://schemas.microsoft.com/office/drawing/2014/main" id="{9214317E-72D7-2F3C-FA9E-C99CB8E08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310" y="4106917"/>
            <a:ext cx="457200" cy="0"/>
          </a:xfrm>
          <a:prstGeom prst="line">
            <a:avLst/>
          </a:prstGeom>
          <a:noFill/>
          <a:ln w="9525">
            <a:solidFill>
              <a:schemeClr val="accent6">
                <a:lumMod val="75000"/>
              </a:schemeClr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80">
            <a:extLst>
              <a:ext uri="{FF2B5EF4-FFF2-40B4-BE49-F238E27FC236}">
                <a16:creationId xmlns:a16="http://schemas.microsoft.com/office/drawing/2014/main" id="{6C685E32-DCF2-0A77-DD9F-B89CF3C600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82310" y="2278117"/>
            <a:ext cx="1524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Box 81">
            <a:extLst>
              <a:ext uri="{FF2B5EF4-FFF2-40B4-BE49-F238E27FC236}">
                <a16:creationId xmlns:a16="http://schemas.microsoft.com/office/drawing/2014/main" id="{14FE44BB-4331-0B8F-D6BF-AA6B2110C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3710" y="38783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QM</a:t>
            </a:r>
          </a:p>
        </p:txBody>
      </p:sp>
      <p:sp>
        <p:nvSpPr>
          <p:cNvPr id="38" name="Text Box 82">
            <a:extLst>
              <a:ext uri="{FF2B5EF4-FFF2-40B4-BE49-F238E27FC236}">
                <a16:creationId xmlns:a16="http://schemas.microsoft.com/office/drawing/2014/main" id="{10D877C2-447D-5A4E-8340-D5BB14D5A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110" y="3725917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QM</a:t>
            </a:r>
          </a:p>
        </p:txBody>
      </p:sp>
      <p:sp>
        <p:nvSpPr>
          <p:cNvPr id="39" name="Text Box 83">
            <a:extLst>
              <a:ext uri="{FF2B5EF4-FFF2-40B4-BE49-F238E27FC236}">
                <a16:creationId xmlns:a16="http://schemas.microsoft.com/office/drawing/2014/main" id="{AC91B041-F811-440F-7540-D3320D0AE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310" y="1592317"/>
            <a:ext cx="5257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Imports are exogenous (i.e., the are not a function of price – do not change when price changes)</a:t>
            </a:r>
          </a:p>
        </p:txBody>
      </p:sp>
      <p:sp>
        <p:nvSpPr>
          <p:cNvPr id="40" name="Text Box 84">
            <a:extLst>
              <a:ext uri="{FF2B5EF4-FFF2-40B4-BE49-F238E27FC236}">
                <a16:creationId xmlns:a16="http://schemas.microsoft.com/office/drawing/2014/main" id="{6080982B-638D-0A7A-3B94-E94256572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310" y="2398767"/>
            <a:ext cx="5257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Step 1</a:t>
            </a:r>
            <a:r>
              <a:rPr lang="en-US" dirty="0"/>
              <a:t>: determine domestic market equilibrium quantity (Q’)</a:t>
            </a:r>
          </a:p>
        </p:txBody>
      </p:sp>
      <p:sp>
        <p:nvSpPr>
          <p:cNvPr id="41" name="Text Box 85">
            <a:extLst>
              <a:ext uri="{FF2B5EF4-FFF2-40B4-BE49-F238E27FC236}">
                <a16:creationId xmlns:a16="http://schemas.microsoft.com/office/drawing/2014/main" id="{84536B58-A6D8-08FC-FC03-CC4A915AE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310" y="3084567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Step 2</a:t>
            </a:r>
            <a:r>
              <a:rPr lang="en-US" dirty="0"/>
              <a:t>: add in import quantity (QM)</a:t>
            </a:r>
          </a:p>
        </p:txBody>
      </p:sp>
      <p:graphicFrame>
        <p:nvGraphicFramePr>
          <p:cNvPr id="43" name="Object 86">
            <a:extLst>
              <a:ext uri="{FF2B5EF4-FFF2-40B4-BE49-F238E27FC236}">
                <a16:creationId xmlns:a16="http://schemas.microsoft.com/office/drawing/2014/main" id="{34433602-1962-B0C0-AFA1-B9552882BE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677133"/>
              </p:ext>
            </p:extLst>
          </p:nvPr>
        </p:nvGraphicFramePr>
        <p:xfrm>
          <a:off x="5409598" y="3802117"/>
          <a:ext cx="174148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28600" progId="Equation.DSMT4">
                  <p:embed/>
                </p:oleObj>
              </mc:Choice>
              <mc:Fallback>
                <p:oleObj name="Equation" r:id="rId2" imgW="698400" imgH="228600" progId="Equation.DSMT4">
                  <p:embed/>
                  <p:pic>
                    <p:nvPicPr>
                      <p:cNvPr id="43" name="Object 86">
                        <a:extLst>
                          <a:ext uri="{FF2B5EF4-FFF2-40B4-BE49-F238E27FC236}">
                            <a16:creationId xmlns:a16="http://schemas.microsoft.com/office/drawing/2014/main" id="{34433602-1962-B0C0-AFA1-B9552882BE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9598" y="3802117"/>
                        <a:ext cx="1741487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8">
            <a:extLst>
              <a:ext uri="{FF2B5EF4-FFF2-40B4-BE49-F238E27FC236}">
                <a16:creationId xmlns:a16="http://schemas.microsoft.com/office/drawing/2014/main" id="{C36E8D8D-3EB0-4EE9-5961-FE455191DD9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408133"/>
              </p:ext>
            </p:extLst>
          </p:nvPr>
        </p:nvGraphicFramePr>
        <p:xfrm>
          <a:off x="7097110" y="3802117"/>
          <a:ext cx="11096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228600" progId="Equation.DSMT4">
                  <p:embed/>
                </p:oleObj>
              </mc:Choice>
              <mc:Fallback>
                <p:oleObj name="Equation" r:id="rId4" imgW="431640" imgH="228600" progId="Equation.DSMT4">
                  <p:embed/>
                  <p:pic>
                    <p:nvPicPr>
                      <p:cNvPr id="44" name="Object 88">
                        <a:extLst>
                          <a:ext uri="{FF2B5EF4-FFF2-40B4-BE49-F238E27FC236}">
                            <a16:creationId xmlns:a16="http://schemas.microsoft.com/office/drawing/2014/main" id="{C36E8D8D-3EB0-4EE9-5961-FE455191D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110" y="3802117"/>
                        <a:ext cx="110966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90">
            <a:extLst>
              <a:ext uri="{FF2B5EF4-FFF2-40B4-BE49-F238E27FC236}">
                <a16:creationId xmlns:a16="http://schemas.microsoft.com/office/drawing/2014/main" id="{76EF38B5-3DE4-7325-2294-EF17E2A8F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110" y="4531464"/>
            <a:ext cx="4953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Only the market equilibrium equation must change – now imports are added to domestic supply</a:t>
            </a:r>
          </a:p>
        </p:txBody>
      </p:sp>
    </p:spTree>
    <p:extLst>
      <p:ext uri="{BB962C8B-B14F-4D97-AF65-F5344CB8AC3E}">
        <p14:creationId xmlns:p14="http://schemas.microsoft.com/office/powerpoint/2010/main" val="236838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0" grpId="1" animBg="1"/>
      <p:bldP spid="21" grpId="0"/>
      <p:bldP spid="22" grpId="0"/>
      <p:bldP spid="23" grpId="0"/>
      <p:bldP spid="24" grpId="0" animBg="1"/>
      <p:bldP spid="25" grpId="0"/>
      <p:bldP spid="26" grpId="0" animBg="1"/>
      <p:bldP spid="26" grpId="1" animBg="1"/>
      <p:bldP spid="27" grpId="0" animBg="1"/>
      <p:bldP spid="27" grpId="1" animBg="1"/>
      <p:bldP spid="28" grpId="0"/>
      <p:bldP spid="28" grpId="1"/>
      <p:bldP spid="28" grpId="2"/>
      <p:bldP spid="28" grpId="3"/>
      <p:bldP spid="29" grpId="0"/>
      <p:bldP spid="29" grpId="1"/>
      <p:bldP spid="30" grpId="0" animBg="1"/>
      <p:bldP spid="31" grpId="0" animBg="1"/>
      <p:bldP spid="32" grpId="0"/>
      <p:bldP spid="33" grpId="0"/>
      <p:bldP spid="33" grpId="1"/>
      <p:bldP spid="34" grpId="0"/>
      <p:bldP spid="35" grpId="0" animBg="1"/>
      <p:bldP spid="35" grpId="1" animBg="1"/>
      <p:bldP spid="36" grpId="0" animBg="1"/>
      <p:bldP spid="37" grpId="0"/>
      <p:bldP spid="37" grpId="1"/>
      <p:bldP spid="38" grpId="0"/>
      <p:bldP spid="38" grpId="1"/>
      <p:bldP spid="39" grpId="0"/>
      <p:bldP spid="40" grpId="0"/>
      <p:bldP spid="41" grpId="0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B0FE4-A72D-EE16-C7FC-8374225A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21F4-6522-130B-8926-72B3560A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</a:t>
            </a:r>
            <a:r>
              <a:rPr lang="en-US" b="0" dirty="0"/>
              <a:t>|  Exogenous Imports</a:t>
            </a:r>
            <a:endParaRPr lang="en-US" dirty="0"/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B721C7F7-D4C9-A6EF-04DB-054AC03A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9075131" cy="5740740"/>
          </a:xfrm>
        </p:spPr>
        <p:txBody>
          <a:bodyPr/>
          <a:lstStyle/>
          <a:p>
            <a:endParaRPr lang="en-US" sz="1000" dirty="0"/>
          </a:p>
          <a:p>
            <a:r>
              <a:rPr lang="en-US" b="1" dirty="0"/>
              <a:t>Objective</a:t>
            </a:r>
          </a:p>
          <a:p>
            <a:pPr lvl="1"/>
            <a:r>
              <a:rPr lang="en-US" sz="2400" dirty="0"/>
              <a:t>Learn how to fix variables</a:t>
            </a:r>
          </a:p>
          <a:p>
            <a:endParaRPr lang="en-US" sz="1000" dirty="0"/>
          </a:p>
          <a:p>
            <a:r>
              <a:rPr lang="en-US" b="1" dirty="0"/>
              <a:t>Details</a:t>
            </a:r>
          </a:p>
          <a:p>
            <a:pPr lvl="1"/>
            <a:r>
              <a:rPr lang="en-US" sz="2400" dirty="0"/>
              <a:t>Introduce exogenous imports into the model from exercise 3. </a:t>
            </a:r>
          </a:p>
          <a:p>
            <a:endParaRPr lang="en-US" sz="1000" dirty="0"/>
          </a:p>
          <a:p>
            <a:r>
              <a:rPr lang="en-US" b="1" dirty="0"/>
              <a:t>Tasks</a:t>
            </a:r>
          </a:p>
          <a:p>
            <a:pPr lvl="1"/>
            <a:r>
              <a:rPr lang="en-US" sz="2400" dirty="0"/>
              <a:t>There is one new parameter (QM0) and one new variable (QM), but the variable needs to be fixed… </a:t>
            </a:r>
          </a:p>
          <a:p>
            <a:pPr marL="457200" lvl="1" indent="0">
              <a:buNone/>
            </a:pPr>
            <a:r>
              <a:rPr lang="en-US" sz="1000" dirty="0"/>
              <a:t>		</a:t>
            </a:r>
          </a:p>
          <a:p>
            <a:pPr marL="457200" lvl="1" indent="0">
              <a:buNone/>
            </a:pPr>
            <a:r>
              <a:rPr lang="en-US" sz="2400" dirty="0"/>
              <a:t>		Rather than QM.L(C) = QM0(C)</a:t>
            </a:r>
          </a:p>
          <a:p>
            <a:pPr marL="457200" lvl="1" indent="0">
              <a:buNone/>
            </a:pPr>
            <a:r>
              <a:rPr lang="en-US" sz="2400" dirty="0"/>
              <a:t>		We use QM.FX(C) = QM0(C)</a:t>
            </a:r>
          </a:p>
          <a:p>
            <a:pPr lvl="1"/>
            <a:endParaRPr lang="en-US" sz="1000" dirty="0"/>
          </a:p>
          <a:p>
            <a:pPr lvl="1"/>
            <a:r>
              <a:rPr lang="en-US" sz="2400" dirty="0"/>
              <a:t>This makes the variable function like a parameter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886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57B8E-40D1-92F9-A1CA-AC69006C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10BB-D39D-6CD0-6837-11D66BBE7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8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Introduction to GAMS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Walkthrough Standard CGE Model Code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D816E0AE-51D5-6BA8-910A-388ACAC33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27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6D0D-F15D-1CE7-5E28-A9756ADC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2641F-EE58-D824-8946-CB986C14D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5995600" cy="5740740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Revisit standard model’s equations</a:t>
            </a:r>
          </a:p>
          <a:p>
            <a:pPr lvl="1"/>
            <a:r>
              <a:rPr lang="en-US" sz="2400" dirty="0"/>
              <a:t>Identify sets, parameters, variables, equations and models</a:t>
            </a:r>
          </a:p>
          <a:p>
            <a:pPr lvl="1"/>
            <a:r>
              <a:rPr lang="en-US" sz="2400" dirty="0"/>
              <a:t>Find this these the “handouts” folder (CGE model equations)</a:t>
            </a:r>
          </a:p>
          <a:p>
            <a:endParaRPr lang="en-US" dirty="0"/>
          </a:p>
          <a:p>
            <a:r>
              <a:rPr lang="en-US" b="1" dirty="0"/>
              <a:t>Walk through standard model’s GAMS code</a:t>
            </a:r>
          </a:p>
          <a:p>
            <a:pPr lvl="1"/>
            <a:r>
              <a:rPr lang="en-US" sz="2400" dirty="0"/>
              <a:t>Understand the lay out of the model</a:t>
            </a:r>
          </a:p>
          <a:p>
            <a:pPr lvl="1"/>
            <a:r>
              <a:rPr lang="en-US" sz="2400" dirty="0"/>
              <a:t>Look for types of code you recognize from the multi-market exercises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DD5EA-7ABB-974B-EDE6-F26909D7A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566" y="1222480"/>
            <a:ext cx="2988117" cy="37490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93D189-21C2-7A7A-0AB7-22312E5AB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90269" y="2924908"/>
            <a:ext cx="2728741" cy="40486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8418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3228-611C-5627-D7F5-EDC70E84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Model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B3C94-06D7-A606-2971-C0ACEEF54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99" y="1025035"/>
            <a:ext cx="5906995" cy="5740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Equations are separated into “blocks”</a:t>
            </a:r>
          </a:p>
          <a:p>
            <a:pPr lvl="1"/>
            <a:endParaRPr lang="en-US" sz="100" dirty="0"/>
          </a:p>
          <a:p>
            <a:r>
              <a:rPr lang="en-US" dirty="0"/>
              <a:t>Prices</a:t>
            </a:r>
          </a:p>
          <a:p>
            <a:pPr marL="457200" lvl="1" indent="0">
              <a:buNone/>
            </a:pPr>
            <a:r>
              <a:rPr lang="en-US" sz="1800" dirty="0"/>
              <a:t>Import and export prices</a:t>
            </a:r>
          </a:p>
          <a:p>
            <a:pPr marL="457200" lvl="1" indent="0">
              <a:buNone/>
            </a:pPr>
            <a:r>
              <a:rPr lang="en-US" sz="1800" dirty="0"/>
              <a:t>Domestic price build-up (producer to consumer)</a:t>
            </a:r>
          </a:p>
          <a:p>
            <a:pPr marL="457200" lvl="1" indent="0">
              <a:buNone/>
            </a:pPr>
            <a:r>
              <a:rPr lang="en-US" sz="1800" dirty="0"/>
              <a:t>Price indices</a:t>
            </a:r>
          </a:p>
          <a:p>
            <a:endParaRPr lang="en-US" sz="100" dirty="0"/>
          </a:p>
          <a:p>
            <a:r>
              <a:rPr lang="en-US" dirty="0"/>
              <a:t>Production and trade</a:t>
            </a:r>
          </a:p>
          <a:p>
            <a:pPr marL="457200" lvl="1" indent="0">
              <a:buNone/>
            </a:pPr>
            <a:r>
              <a:rPr lang="en-US" sz="1800" dirty="0"/>
              <a:t>Import demand and export supply</a:t>
            </a:r>
          </a:p>
          <a:p>
            <a:pPr marL="457200" lvl="1" indent="0">
              <a:buNone/>
            </a:pPr>
            <a:r>
              <a:rPr lang="en-US" sz="1800" dirty="0"/>
              <a:t>Domestic supply</a:t>
            </a:r>
          </a:p>
          <a:p>
            <a:endParaRPr lang="en-US" sz="100" dirty="0"/>
          </a:p>
          <a:p>
            <a:r>
              <a:rPr lang="en-US" dirty="0"/>
              <a:t>Institutions</a:t>
            </a:r>
          </a:p>
          <a:p>
            <a:pPr marL="457200" lvl="1" indent="0">
              <a:buNone/>
            </a:pPr>
            <a:r>
              <a:rPr lang="en-US" sz="1800" dirty="0"/>
              <a:t>Factor incomes </a:t>
            </a:r>
          </a:p>
          <a:p>
            <a:pPr marL="457200" lvl="1" indent="0">
              <a:buNone/>
            </a:pPr>
            <a:r>
              <a:rPr lang="en-US" sz="1800" dirty="0"/>
              <a:t>Household incomes and demand</a:t>
            </a:r>
          </a:p>
          <a:p>
            <a:pPr marL="457200" lvl="1" indent="0">
              <a:buNone/>
            </a:pPr>
            <a:r>
              <a:rPr lang="en-US" sz="1800" dirty="0"/>
              <a:t>Government revenues and expenditures</a:t>
            </a:r>
          </a:p>
          <a:p>
            <a:endParaRPr lang="en-US" sz="100" dirty="0"/>
          </a:p>
          <a:p>
            <a:r>
              <a:rPr lang="en-US" dirty="0"/>
              <a:t>System constraints</a:t>
            </a:r>
          </a:p>
          <a:p>
            <a:pPr marL="457200" lvl="1" indent="0">
              <a:buNone/>
            </a:pPr>
            <a:r>
              <a:rPr lang="en-US" sz="1800" dirty="0"/>
              <a:t>Market equilibrium and macro closures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26D02-2713-5F7F-1C1E-A5776B6C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44656" y="929941"/>
            <a:ext cx="3787018" cy="56188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9795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FEF6-EE37-4C1D-A2AC-2663DAE9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Chains</a:t>
            </a:r>
            <a:r>
              <a:rPr lang="en-US" b="0" dirty="0"/>
              <a:t>  |  </a:t>
            </a:r>
            <a:r>
              <a:rPr lang="en-US" b="0" dirty="0">
                <a:solidFill>
                  <a:srgbClr val="C00000"/>
                </a:solidFill>
              </a:rPr>
              <a:t>From Part 5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4BEE9B1-5BC2-4BDE-8859-7EC8E2115043}"/>
              </a:ext>
            </a:extLst>
          </p:cNvPr>
          <p:cNvSpPr/>
          <p:nvPr/>
        </p:nvSpPr>
        <p:spPr>
          <a:xfrm>
            <a:off x="10399599" y="766168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AF63A5D7-4A33-44AE-A67C-AD866A53B7FE}"/>
              </a:ext>
            </a:extLst>
          </p:cNvPr>
          <p:cNvSpPr/>
          <p:nvPr/>
        </p:nvSpPr>
        <p:spPr>
          <a:xfrm>
            <a:off x="9598570" y="1500324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1D1B3FB-211E-441A-8C54-778F62EC7FCC}"/>
              </a:ext>
            </a:extLst>
          </p:cNvPr>
          <p:cNvSpPr/>
          <p:nvPr/>
        </p:nvSpPr>
        <p:spPr>
          <a:xfrm>
            <a:off x="9598571" y="523696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B5C48C53-E0AB-45E0-827D-35BB4E127D3B}"/>
              </a:ext>
            </a:extLst>
          </p:cNvPr>
          <p:cNvSpPr/>
          <p:nvPr/>
        </p:nvSpPr>
        <p:spPr>
          <a:xfrm>
            <a:off x="9199366" y="174730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BF10376-77FA-441E-B57F-EBB1DCA59F1D}"/>
              </a:ext>
            </a:extLst>
          </p:cNvPr>
          <p:cNvSpPr/>
          <p:nvPr/>
        </p:nvSpPr>
        <p:spPr>
          <a:xfrm>
            <a:off x="9199367" y="76590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62AA441-DE78-475D-A142-66DB2B208CD2}"/>
              </a:ext>
            </a:extLst>
          </p:cNvPr>
          <p:cNvSpPr/>
          <p:nvPr/>
        </p:nvSpPr>
        <p:spPr>
          <a:xfrm>
            <a:off x="9199367" y="101083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18A3522-F380-4819-86EB-F6D4884410BB}"/>
              </a:ext>
            </a:extLst>
          </p:cNvPr>
          <p:cNvSpPr txBox="1"/>
          <p:nvPr/>
        </p:nvSpPr>
        <p:spPr>
          <a:xfrm>
            <a:off x="7329575" y="609859"/>
            <a:ext cx="14669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200" b="1" dirty="0"/>
              <a:t>A</a:t>
            </a:r>
            <a:r>
              <a:rPr lang="en-US" sz="12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C	</a:t>
            </a:r>
            <a:r>
              <a:rPr lang="en-US" sz="12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F	</a:t>
            </a:r>
            <a:r>
              <a:rPr lang="en-US" sz="12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D	</a:t>
            </a:r>
            <a:r>
              <a:rPr lang="en-US" sz="1200" dirty="0"/>
              <a:t>= Final demand</a:t>
            </a:r>
            <a:endParaRPr lang="en-US" sz="800" dirty="0"/>
          </a:p>
          <a:p>
            <a:pPr>
              <a:tabLst>
                <a:tab pos="285750" algn="l"/>
              </a:tabLst>
            </a:pPr>
            <a:r>
              <a:rPr lang="en-US" sz="1200" b="1" dirty="0"/>
              <a:t>W</a:t>
            </a:r>
            <a:r>
              <a:rPr lang="en-US" sz="1200" dirty="0"/>
              <a:t>	= Rest of world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3A25C86-35A7-4EEA-AC0D-B6ADBD727F3D}"/>
              </a:ext>
            </a:extLst>
          </p:cNvPr>
          <p:cNvSpPr/>
          <p:nvPr/>
        </p:nvSpPr>
        <p:spPr>
          <a:xfrm>
            <a:off x="10803972" y="772711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8" name="Table 114">
            <a:extLst>
              <a:ext uri="{FF2B5EF4-FFF2-40B4-BE49-F238E27FC236}">
                <a16:creationId xmlns:a16="http://schemas.microsoft.com/office/drawing/2014/main" id="{E28AA19C-B9F8-4605-AEEE-E723448F909A}"/>
              </a:ext>
            </a:extLst>
          </p:cNvPr>
          <p:cNvGraphicFramePr>
            <a:graphicFrameLocks noGrp="1"/>
          </p:cNvGraphicFramePr>
          <p:nvPr/>
        </p:nvGraphicFramePr>
        <p:xfrm>
          <a:off x="8799107" y="278551"/>
          <a:ext cx="2799776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68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1DEB9B4-08C5-4358-8764-182E5B6B6EB0}"/>
              </a:ext>
            </a:extLst>
          </p:cNvPr>
          <p:cNvGrpSpPr/>
          <p:nvPr/>
        </p:nvGrpSpPr>
        <p:grpSpPr>
          <a:xfrm>
            <a:off x="356941" y="2294435"/>
            <a:ext cx="11250808" cy="4434739"/>
            <a:chOff x="312021" y="2105715"/>
            <a:chExt cx="11250808" cy="4434739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E32C8120-7C7E-4630-AC1F-F7D9DD8764B9}"/>
                </a:ext>
              </a:extLst>
            </p:cNvPr>
            <p:cNvGrpSpPr/>
            <p:nvPr/>
          </p:nvGrpSpPr>
          <p:grpSpPr>
            <a:xfrm>
              <a:off x="312021" y="2105715"/>
              <a:ext cx="11250808" cy="4434739"/>
              <a:chOff x="312021" y="2105715"/>
              <a:chExt cx="11250808" cy="4434739"/>
            </a:xfrm>
          </p:grpSpPr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B7972162-D5E8-46D0-ADBF-68D45AE5CE7E}"/>
                  </a:ext>
                </a:extLst>
              </p:cNvPr>
              <p:cNvGrpSpPr/>
              <p:nvPr/>
            </p:nvGrpSpPr>
            <p:grpSpPr>
              <a:xfrm>
                <a:off x="312021" y="2105715"/>
                <a:ext cx="11250808" cy="4434739"/>
                <a:chOff x="368359" y="2045044"/>
                <a:chExt cx="11250808" cy="4434739"/>
              </a:xfrm>
            </p:grpSpPr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AA508845-A810-435E-9723-04104FE2DD30}"/>
                    </a:ext>
                  </a:extLst>
                </p:cNvPr>
                <p:cNvGrpSpPr/>
                <p:nvPr/>
              </p:nvGrpSpPr>
              <p:grpSpPr>
                <a:xfrm>
                  <a:off x="368360" y="2047483"/>
                  <a:ext cx="11250152" cy="4432300"/>
                  <a:chOff x="407363" y="1527445"/>
                  <a:chExt cx="11250152" cy="4432300"/>
                </a:xfrm>
              </p:grpSpPr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5B6D721A-04AB-4E6D-A304-20EF5E00059A}"/>
                      </a:ext>
                    </a:extLst>
                  </p:cNvPr>
                  <p:cNvSpPr/>
                  <p:nvPr/>
                </p:nvSpPr>
                <p:spPr>
                  <a:xfrm>
                    <a:off x="4906650" y="1530903"/>
                    <a:ext cx="1665591" cy="4428840"/>
                  </a:xfrm>
                  <a:prstGeom prst="rect">
                    <a:avLst/>
                  </a:prstGeom>
                  <a:solidFill>
                    <a:srgbClr val="0B8EB8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AA573F11-04FE-408D-AFDC-1CDB2614AAC4}"/>
                      </a:ext>
                    </a:extLst>
                  </p:cNvPr>
                  <p:cNvSpPr/>
                  <p:nvPr/>
                </p:nvSpPr>
                <p:spPr>
                  <a:xfrm>
                    <a:off x="3667040" y="1535097"/>
                    <a:ext cx="1239609" cy="2733701"/>
                  </a:xfrm>
                  <a:prstGeom prst="rect">
                    <a:avLst/>
                  </a:prstGeom>
                  <a:solidFill>
                    <a:srgbClr val="C34E2D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2" name="Rectangle 241">
                    <a:extLst>
                      <a:ext uri="{FF2B5EF4-FFF2-40B4-BE49-F238E27FC236}">
                        <a16:creationId xmlns:a16="http://schemas.microsoft.com/office/drawing/2014/main" id="{E6755AE4-7BA5-4462-888F-A0DEE9EBBC36}"/>
                      </a:ext>
                    </a:extLst>
                  </p:cNvPr>
                  <p:cNvSpPr/>
                  <p:nvPr/>
                </p:nvSpPr>
                <p:spPr>
                  <a:xfrm>
                    <a:off x="8471320" y="1527445"/>
                    <a:ext cx="3186195" cy="4431194"/>
                  </a:xfrm>
                  <a:prstGeom prst="rect">
                    <a:avLst/>
                  </a:prstGeom>
                  <a:solidFill>
                    <a:srgbClr val="5C8E3A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1" name="Rectangle 240">
                    <a:extLst>
                      <a:ext uri="{FF2B5EF4-FFF2-40B4-BE49-F238E27FC236}">
                        <a16:creationId xmlns:a16="http://schemas.microsoft.com/office/drawing/2014/main" id="{A097853F-5F2D-46FA-B567-DE1F707A083F}"/>
                      </a:ext>
                    </a:extLst>
                  </p:cNvPr>
                  <p:cNvSpPr/>
                  <p:nvPr/>
                </p:nvSpPr>
                <p:spPr>
                  <a:xfrm>
                    <a:off x="6575041" y="1530384"/>
                    <a:ext cx="1896279" cy="4422877"/>
                  </a:xfrm>
                  <a:prstGeom prst="rect">
                    <a:avLst/>
                  </a:prstGeom>
                  <a:solidFill>
                    <a:srgbClr val="FFB300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10362B0B-8810-450A-B02B-E98E51B7D14D}"/>
                      </a:ext>
                    </a:extLst>
                  </p:cNvPr>
                  <p:cNvSpPr/>
                  <p:nvPr/>
                </p:nvSpPr>
                <p:spPr>
                  <a:xfrm>
                    <a:off x="3667041" y="4268798"/>
                    <a:ext cx="1239610" cy="1690945"/>
                  </a:xfrm>
                  <a:prstGeom prst="rect">
                    <a:avLst/>
                  </a:prstGeom>
                  <a:solidFill>
                    <a:srgbClr val="0B8EB8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4" name="Rectangle 233">
                    <a:extLst>
                      <a:ext uri="{FF2B5EF4-FFF2-40B4-BE49-F238E27FC236}">
                        <a16:creationId xmlns:a16="http://schemas.microsoft.com/office/drawing/2014/main" id="{8146C176-A1DA-401B-AE68-C1FF74D3D5F6}"/>
                      </a:ext>
                    </a:extLst>
                  </p:cNvPr>
                  <p:cNvSpPr/>
                  <p:nvPr/>
                </p:nvSpPr>
                <p:spPr>
                  <a:xfrm>
                    <a:off x="407363" y="1535096"/>
                    <a:ext cx="3260456" cy="4424649"/>
                  </a:xfrm>
                  <a:prstGeom prst="rect">
                    <a:avLst/>
                  </a:prstGeom>
                  <a:solidFill>
                    <a:srgbClr val="C34E2D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E714D1E-DCCF-4DF3-8E79-3B4A09A6BA6C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2303875"/>
                    <a:ext cx="933975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Labor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57A67C3-EFF8-4336-B27F-48855C96B70D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2825720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Land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D9AD3D5-99BD-43DA-8FC1-0B4339D2DBF4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3353199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Capital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0773D84B-0911-434C-AE86-EF7D34DC5EB0}"/>
                      </a:ext>
                    </a:extLst>
                  </p:cNvPr>
                  <p:cNvSpPr txBox="1"/>
                  <p:nvPr/>
                </p:nvSpPr>
                <p:spPr>
                  <a:xfrm>
                    <a:off x="1881062" y="2825720"/>
                    <a:ext cx="1224792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Value-added</a:t>
                    </a:r>
                  </a:p>
                </p:txBody>
              </p:sp>
              <p:cxnSp>
                <p:nvCxnSpPr>
                  <p:cNvPr id="7" name="Straight Arrow Connector 6">
                    <a:extLst>
                      <a:ext uri="{FF2B5EF4-FFF2-40B4-BE49-F238E27FC236}">
                        <a16:creationId xmlns:a16="http://schemas.microsoft.com/office/drawing/2014/main" id="{3B56D52B-1B2C-46F8-9650-773EC55D8DB6}"/>
                      </a:ext>
                    </a:extLst>
                  </p:cNvPr>
                  <p:cNvCxnSpPr>
                    <a:cxnSpLocks/>
                    <a:stCxn id="13" idx="3"/>
                    <a:endCxn id="6" idx="1"/>
                  </p:cNvCxnSpPr>
                  <p:nvPr/>
                </p:nvCxnSpPr>
                <p:spPr>
                  <a:xfrm>
                    <a:off x="1518939" y="2979609"/>
                    <a:ext cx="362123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DD1BC8AA-254A-4629-BF77-D8A8F36169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57355" y="2457763"/>
                    <a:ext cx="1" cy="1049324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77840C03-048A-4E16-A6E2-AD1461F9040C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1518938" y="2457764"/>
                    <a:ext cx="131427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FBA0890D-CE95-425F-893F-771972BAE00C}"/>
                      </a:ext>
                    </a:extLst>
                  </p:cNvPr>
                  <p:cNvCxnSpPr>
                    <a:cxnSpLocks/>
                    <a:stCxn id="14" idx="3"/>
                  </p:cNvCxnSpPr>
                  <p:nvPr/>
                </p:nvCxnSpPr>
                <p:spPr>
                  <a:xfrm>
                    <a:off x="1518939" y="3507088"/>
                    <a:ext cx="131426" cy="1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4B757AA-E16E-4D26-8A86-EB88AE2B9078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4009346"/>
                    <a:ext cx="933975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Input 1</a:t>
                    </a: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39B9EDBA-CD86-4361-9243-D50D24C867F5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4531191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Input 2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31F684B-DB15-4C10-A16D-BD27181280F5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5058670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Input N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A33BDC0-2F0E-44E4-8A55-707DED1482FD}"/>
                      </a:ext>
                    </a:extLst>
                  </p:cNvPr>
                  <p:cNvSpPr txBox="1"/>
                  <p:nvPr/>
                </p:nvSpPr>
                <p:spPr>
                  <a:xfrm>
                    <a:off x="1881061" y="4531191"/>
                    <a:ext cx="1224793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Intermediates</a:t>
                    </a:r>
                  </a:p>
                </p:txBody>
              </p: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B18C8A55-46F1-4F4D-B67F-A00F78EFA529}"/>
                      </a:ext>
                    </a:extLst>
                  </p:cNvPr>
                  <p:cNvCxnSpPr>
                    <a:cxnSpLocks/>
                    <a:stCxn id="54" idx="3"/>
                    <a:endCxn id="56" idx="1"/>
                  </p:cNvCxnSpPr>
                  <p:nvPr/>
                </p:nvCxnSpPr>
                <p:spPr>
                  <a:xfrm>
                    <a:off x="1518939" y="4685080"/>
                    <a:ext cx="362122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A31C3577-E240-4BC0-829B-86483FF961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57355" y="4163234"/>
                    <a:ext cx="1" cy="1049324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>
                    <a:extLst>
                      <a:ext uri="{FF2B5EF4-FFF2-40B4-BE49-F238E27FC236}">
                        <a16:creationId xmlns:a16="http://schemas.microsoft.com/office/drawing/2014/main" id="{C76DD15E-B9EA-4D64-B810-CAA6733655ED}"/>
                      </a:ext>
                    </a:extLst>
                  </p:cNvPr>
                  <p:cNvCxnSpPr>
                    <a:cxnSpLocks/>
                    <a:stCxn id="53" idx="3"/>
                  </p:cNvCxnSpPr>
                  <p:nvPr/>
                </p:nvCxnSpPr>
                <p:spPr>
                  <a:xfrm>
                    <a:off x="1518938" y="4163235"/>
                    <a:ext cx="131427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:a16="http://schemas.microsoft.com/office/drawing/2014/main" id="{52A651F7-F29B-4EE3-86C1-34CFF4D09F91}"/>
                      </a:ext>
                    </a:extLst>
                  </p:cNvPr>
                  <p:cNvCxnSpPr>
                    <a:cxnSpLocks/>
                    <a:stCxn id="55" idx="3"/>
                  </p:cNvCxnSpPr>
                  <p:nvPr/>
                </p:nvCxnSpPr>
                <p:spPr>
                  <a:xfrm>
                    <a:off x="1518939" y="5212559"/>
                    <a:ext cx="131426" cy="1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B1D67E7F-E9B8-4281-AF74-3319BCEA6C4E}"/>
                      </a:ext>
                    </a:extLst>
                  </p:cNvPr>
                  <p:cNvSpPr txBox="1"/>
                  <p:nvPr/>
                </p:nvSpPr>
                <p:spPr>
                  <a:xfrm>
                    <a:off x="4335754" y="4489726"/>
                    <a:ext cx="1271306" cy="307777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Main output</a:t>
                    </a:r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28DA3FD9-3932-4CC5-AB53-0F6818BDA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335754" y="5480642"/>
                    <a:ext cx="1284006" cy="307777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Others’ output</a:t>
                    </a:r>
                  </a:p>
                </p:txBody>
              </p:sp>
              <p:cxnSp>
                <p:nvCxnSpPr>
                  <p:cNvPr id="78" name="Straight Arrow Connector 77">
                    <a:extLst>
                      <a:ext uri="{FF2B5EF4-FFF2-40B4-BE49-F238E27FC236}">
                        <a16:creationId xmlns:a16="http://schemas.microsoft.com/office/drawing/2014/main" id="{C17DF16E-B977-4657-AE50-1B4AAB24FEB8}"/>
                      </a:ext>
                    </a:extLst>
                  </p:cNvPr>
                  <p:cNvCxnSpPr>
                    <a:cxnSpLocks/>
                    <a:endCxn id="96" idx="1"/>
                  </p:cNvCxnSpPr>
                  <p:nvPr/>
                </p:nvCxnSpPr>
                <p:spPr>
                  <a:xfrm>
                    <a:off x="3236096" y="3790141"/>
                    <a:ext cx="268571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Arrow Connector 78">
                    <a:extLst>
                      <a:ext uri="{FF2B5EF4-FFF2-40B4-BE49-F238E27FC236}">
                        <a16:creationId xmlns:a16="http://schemas.microsoft.com/office/drawing/2014/main" id="{EEF2CA0E-BA63-4178-91EC-5ED97AF988AB}"/>
                      </a:ext>
                    </a:extLst>
                  </p:cNvPr>
                  <p:cNvCxnSpPr>
                    <a:cxnSpLocks/>
                    <a:stCxn id="56" idx="3"/>
                  </p:cNvCxnSpPr>
                  <p:nvPr/>
                </p:nvCxnSpPr>
                <p:spPr>
                  <a:xfrm>
                    <a:off x="3105854" y="4685080"/>
                    <a:ext cx="138201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Arrow Connector 79">
                    <a:extLst>
                      <a:ext uri="{FF2B5EF4-FFF2-40B4-BE49-F238E27FC236}">
                        <a16:creationId xmlns:a16="http://schemas.microsoft.com/office/drawing/2014/main" id="{F570BD83-CC20-429B-B0FD-5D3AEC353B36}"/>
                      </a:ext>
                    </a:extLst>
                  </p:cNvPr>
                  <p:cNvCxnSpPr>
                    <a:cxnSpLocks/>
                    <a:stCxn id="6" idx="3"/>
                  </p:cNvCxnSpPr>
                  <p:nvPr/>
                </p:nvCxnSpPr>
                <p:spPr>
                  <a:xfrm>
                    <a:off x="3105854" y="2979609"/>
                    <a:ext cx="134221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Arrow Connector 80">
                    <a:extLst>
                      <a:ext uri="{FF2B5EF4-FFF2-40B4-BE49-F238E27FC236}">
                        <a16:creationId xmlns:a16="http://schemas.microsoft.com/office/drawing/2014/main" id="{47A8513A-B892-4E87-B317-694DF84602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40075" y="2981016"/>
                    <a:ext cx="0" cy="1704063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478AF273-B5C7-4B60-B3BF-98295D4C45F4}"/>
                      </a:ext>
                    </a:extLst>
                  </p:cNvPr>
                  <p:cNvSpPr txBox="1"/>
                  <p:nvPr/>
                </p:nvSpPr>
                <p:spPr>
                  <a:xfrm>
                    <a:off x="3504667" y="3528531"/>
                    <a:ext cx="1160028" cy="523220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Activity output</a:t>
                    </a:r>
                  </a:p>
                </p:txBody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BD90A2C0-D615-432D-AD28-4272B7ACD7D2}"/>
                      </a:ext>
                    </a:extLst>
                  </p:cNvPr>
                  <p:cNvSpPr txBox="1"/>
                  <p:nvPr/>
                </p:nvSpPr>
                <p:spPr>
                  <a:xfrm>
                    <a:off x="4335754" y="4993785"/>
                    <a:ext cx="1271306" cy="307777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By-product</a:t>
                    </a:r>
                  </a:p>
                </p:txBody>
              </p: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F71FD18A-8D15-4DDF-B82B-909EA02C08C7}"/>
                      </a:ext>
                    </a:extLst>
                  </p:cNvPr>
                  <p:cNvSpPr txBox="1"/>
                  <p:nvPr/>
                </p:nvSpPr>
                <p:spPr>
                  <a:xfrm>
                    <a:off x="5252599" y="3528531"/>
                    <a:ext cx="1224792" cy="523220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Commodity output</a:t>
                    </a:r>
                  </a:p>
                </p:txBody>
              </p: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1100DC80-3634-44BC-9CD5-A14EE39D13B8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954" y="2743278"/>
                    <a:ext cx="1185891" cy="307777"/>
                  </a:xfrm>
                  <a:prstGeom prst="rect">
                    <a:avLst/>
                  </a:prstGeom>
                  <a:solidFill>
                    <a:srgbClr val="FFB300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Imports</a:t>
                    </a:r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5DC8C36B-DB41-471F-B788-27414771B9A8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954" y="3524147"/>
                    <a:ext cx="1185894" cy="523220"/>
                  </a:xfrm>
                  <a:prstGeom prst="rect">
                    <a:avLst/>
                  </a:prstGeom>
                  <a:solidFill>
                    <a:srgbClr val="FFB300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Domestic sales</a:t>
                    </a:r>
                  </a:p>
                </p:txBody>
              </p:sp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43A23D06-DB12-48E9-88FB-36F4BEEA9221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954" y="4531124"/>
                    <a:ext cx="1185893" cy="307777"/>
                  </a:xfrm>
                  <a:prstGeom prst="rect">
                    <a:avLst/>
                  </a:prstGeom>
                  <a:solidFill>
                    <a:srgbClr val="FFB300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Exports</a:t>
                    </a:r>
                  </a:p>
                </p:txBody>
              </p:sp>
              <p:cxnSp>
                <p:nvCxnSpPr>
                  <p:cNvPr id="122" name="Straight Arrow Connector 121">
                    <a:extLst>
                      <a:ext uri="{FF2B5EF4-FFF2-40B4-BE49-F238E27FC236}">
                        <a16:creationId xmlns:a16="http://schemas.microsoft.com/office/drawing/2014/main" id="{70CF1D44-CC77-41DC-A375-6D7585759D13}"/>
                      </a:ext>
                    </a:extLst>
                  </p:cNvPr>
                  <p:cNvCxnSpPr>
                    <a:cxnSpLocks/>
                    <a:stCxn id="112" idx="3"/>
                    <a:endCxn id="120" idx="1"/>
                  </p:cNvCxnSpPr>
                  <p:nvPr/>
                </p:nvCxnSpPr>
                <p:spPr>
                  <a:xfrm flipV="1">
                    <a:off x="6477391" y="3785757"/>
                    <a:ext cx="437563" cy="4384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Arrow Connector 123">
                    <a:extLst>
                      <a:ext uri="{FF2B5EF4-FFF2-40B4-BE49-F238E27FC236}">
                        <a16:creationId xmlns:a16="http://schemas.microsoft.com/office/drawing/2014/main" id="{AD27ADEE-8E65-4E9F-9A28-F498797DAD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67722" y="3790141"/>
                    <a:ext cx="0" cy="894872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Arrow Connector 132">
                    <a:extLst>
                      <a:ext uri="{FF2B5EF4-FFF2-40B4-BE49-F238E27FC236}">
                        <a16:creationId xmlns:a16="http://schemas.microsoft.com/office/drawing/2014/main" id="{9683A1B4-2900-4D58-A69D-8F75A97FF1CE}"/>
                      </a:ext>
                    </a:extLst>
                  </p:cNvPr>
                  <p:cNvCxnSpPr>
                    <a:cxnSpLocks/>
                    <a:endCxn id="121" idx="1"/>
                  </p:cNvCxnSpPr>
                  <p:nvPr/>
                </p:nvCxnSpPr>
                <p:spPr>
                  <a:xfrm>
                    <a:off x="6667722" y="4685013"/>
                    <a:ext cx="247232" cy="0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2B7DAE6A-9E06-49C4-9BD7-AA77E803217F}"/>
                      </a:ext>
                    </a:extLst>
                  </p:cNvPr>
                  <p:cNvCxnSpPr>
                    <a:cxnSpLocks/>
                    <a:stCxn id="120" idx="3"/>
                    <a:endCxn id="149" idx="1"/>
                  </p:cNvCxnSpPr>
                  <p:nvPr/>
                </p:nvCxnSpPr>
                <p:spPr>
                  <a:xfrm>
                    <a:off x="8100848" y="3785757"/>
                    <a:ext cx="518805" cy="5963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Arrow Connector 136">
                    <a:extLst>
                      <a:ext uri="{FF2B5EF4-FFF2-40B4-BE49-F238E27FC236}">
                        <a16:creationId xmlns:a16="http://schemas.microsoft.com/office/drawing/2014/main" id="{80C935DF-7166-44BC-A2DD-97435B8798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48084" y="2897167"/>
                    <a:ext cx="0" cy="888591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Arrow Connector 137">
                    <a:extLst>
                      <a:ext uri="{FF2B5EF4-FFF2-40B4-BE49-F238E27FC236}">
                        <a16:creationId xmlns:a16="http://schemas.microsoft.com/office/drawing/2014/main" id="{6AC1FD04-B640-4366-8A0C-68E7028530BE}"/>
                      </a:ext>
                    </a:extLst>
                  </p:cNvPr>
                  <p:cNvCxnSpPr>
                    <a:cxnSpLocks/>
                    <a:stCxn id="119" idx="3"/>
                  </p:cNvCxnSpPr>
                  <p:nvPr/>
                </p:nvCxnSpPr>
                <p:spPr>
                  <a:xfrm>
                    <a:off x="8100845" y="2897167"/>
                    <a:ext cx="247239" cy="0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56" name="Group 155">
                    <a:extLst>
                      <a:ext uri="{FF2B5EF4-FFF2-40B4-BE49-F238E27FC236}">
                        <a16:creationId xmlns:a16="http://schemas.microsoft.com/office/drawing/2014/main" id="{1B50D070-F8AB-4A23-96A5-03400876F42A}"/>
                      </a:ext>
                    </a:extLst>
                  </p:cNvPr>
                  <p:cNvGrpSpPr/>
                  <p:nvPr/>
                </p:nvGrpSpPr>
                <p:grpSpPr>
                  <a:xfrm>
                    <a:off x="10211557" y="3119843"/>
                    <a:ext cx="1265149" cy="1855503"/>
                    <a:chOff x="10340073" y="2040651"/>
                    <a:chExt cx="1265149" cy="1855503"/>
                  </a:xfrm>
                </p:grpSpPr>
                <p:sp>
                  <p:nvSpPr>
                    <p:cNvPr id="145" name="TextBox 144">
                      <a:extLst>
                        <a:ext uri="{FF2B5EF4-FFF2-40B4-BE49-F238E27FC236}">
                          <a16:creationId xmlns:a16="http://schemas.microsoft.com/office/drawing/2014/main" id="{BAD35236-2768-423A-80C3-2B29F3784E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7" y="2040651"/>
                      <a:ext cx="1265145" cy="307777"/>
                    </a:xfrm>
                    <a:prstGeom prst="rect">
                      <a:avLst/>
                    </a:prstGeom>
                    <a:solidFill>
                      <a:srgbClr val="5C8E3A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Households</a:t>
                      </a:r>
                    </a:p>
                  </p:txBody>
                </p:sp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7F895AE2-F0CB-440B-9237-C343534D5E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6" y="2558639"/>
                      <a:ext cx="1265145" cy="307777"/>
                    </a:xfrm>
                    <a:prstGeom prst="rect">
                      <a:avLst/>
                    </a:prstGeom>
                    <a:solidFill>
                      <a:srgbClr val="5C8E3A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Government</a:t>
                      </a:r>
                    </a:p>
                  </p:txBody>
                </p:sp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1153C1B-9F94-48E3-9F6D-C69E0B452B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6" y="3087811"/>
                      <a:ext cx="1265145" cy="307777"/>
                    </a:xfrm>
                    <a:prstGeom prst="rect">
                      <a:avLst/>
                    </a:prstGeom>
                    <a:solidFill>
                      <a:srgbClr val="5C8E3A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Investment</a:t>
                      </a:r>
                    </a:p>
                  </p:txBody>
                </p:sp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DCE69A4F-D366-4993-B3FE-B80EB0598B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3" y="3588377"/>
                      <a:ext cx="1265148" cy="307777"/>
                    </a:xfrm>
                    <a:prstGeom prst="rect">
                      <a:avLst/>
                    </a:prstGeom>
                    <a:solidFill>
                      <a:srgbClr val="C34E2D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Intermediate</a:t>
                      </a:r>
                    </a:p>
                  </p:txBody>
                </p:sp>
              </p:grp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175448E-E75D-476A-A084-F79C3AF593A2}"/>
                      </a:ext>
                    </a:extLst>
                  </p:cNvPr>
                  <p:cNvSpPr txBox="1"/>
                  <p:nvPr/>
                </p:nvSpPr>
                <p:spPr>
                  <a:xfrm>
                    <a:off x="8619653" y="3530110"/>
                    <a:ext cx="1116816" cy="523220"/>
                  </a:xfrm>
                  <a:prstGeom prst="rect">
                    <a:avLst/>
                  </a:prstGeom>
                  <a:solidFill>
                    <a:srgbClr val="5C8E3A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Composite supply</a:t>
                    </a:r>
                  </a:p>
                </p:txBody>
              </p:sp>
              <p:cxnSp>
                <p:nvCxnSpPr>
                  <p:cNvPr id="150" name="Straight Arrow Connector 149">
                    <a:extLst>
                      <a:ext uri="{FF2B5EF4-FFF2-40B4-BE49-F238E27FC236}">
                        <a16:creationId xmlns:a16="http://schemas.microsoft.com/office/drawing/2014/main" id="{7E54331A-4B89-4DAC-A082-575B0F9ACA0D}"/>
                      </a:ext>
                    </a:extLst>
                  </p:cNvPr>
                  <p:cNvCxnSpPr>
                    <a:cxnSpLocks/>
                    <a:endCxn id="145" idx="1"/>
                  </p:cNvCxnSpPr>
                  <p:nvPr/>
                </p:nvCxnSpPr>
                <p:spPr>
                  <a:xfrm>
                    <a:off x="9931917" y="3273732"/>
                    <a:ext cx="279644" cy="0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Arrow Connector 153">
                    <a:extLst>
                      <a:ext uri="{FF2B5EF4-FFF2-40B4-BE49-F238E27FC236}">
                        <a16:creationId xmlns:a16="http://schemas.microsoft.com/office/drawing/2014/main" id="{433C9D70-EC59-4647-A811-59DC880E0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931917" y="3273732"/>
                    <a:ext cx="0" cy="1547724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Arrow Connector 158">
                    <a:extLst>
                      <a:ext uri="{FF2B5EF4-FFF2-40B4-BE49-F238E27FC236}">
                        <a16:creationId xmlns:a16="http://schemas.microsoft.com/office/drawing/2014/main" id="{55DA61D7-CC7C-470A-A840-D680BF708668}"/>
                      </a:ext>
                    </a:extLst>
                  </p:cNvPr>
                  <p:cNvCxnSpPr>
                    <a:cxnSpLocks/>
                    <a:stCxn id="149" idx="3"/>
                    <a:endCxn id="146" idx="1"/>
                  </p:cNvCxnSpPr>
                  <p:nvPr/>
                </p:nvCxnSpPr>
                <p:spPr>
                  <a:xfrm>
                    <a:off x="9736469" y="3791720"/>
                    <a:ext cx="475091" cy="0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Arrow Connector 160">
                    <a:extLst>
                      <a:ext uri="{FF2B5EF4-FFF2-40B4-BE49-F238E27FC236}">
                        <a16:creationId xmlns:a16="http://schemas.microsoft.com/office/drawing/2014/main" id="{10AE8973-9E0F-4E9B-B853-147CEC44C86B}"/>
                      </a:ext>
                    </a:extLst>
                  </p:cNvPr>
                  <p:cNvCxnSpPr>
                    <a:cxnSpLocks/>
                    <a:endCxn id="147" idx="1"/>
                  </p:cNvCxnSpPr>
                  <p:nvPr/>
                </p:nvCxnSpPr>
                <p:spPr>
                  <a:xfrm>
                    <a:off x="9931917" y="4320892"/>
                    <a:ext cx="279643" cy="0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Arrow Connector 163">
                    <a:extLst>
                      <a:ext uri="{FF2B5EF4-FFF2-40B4-BE49-F238E27FC236}">
                        <a16:creationId xmlns:a16="http://schemas.microsoft.com/office/drawing/2014/main" id="{DB1BD60F-9A2E-4B53-A21F-1339BEE6272C}"/>
                      </a:ext>
                    </a:extLst>
                  </p:cNvPr>
                  <p:cNvCxnSpPr>
                    <a:cxnSpLocks/>
                    <a:endCxn id="148" idx="1"/>
                  </p:cNvCxnSpPr>
                  <p:nvPr/>
                </p:nvCxnSpPr>
                <p:spPr>
                  <a:xfrm>
                    <a:off x="9931917" y="4821456"/>
                    <a:ext cx="279640" cy="2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Arrow Connector 174">
                    <a:extLst>
                      <a:ext uri="{FF2B5EF4-FFF2-40B4-BE49-F238E27FC236}">
                        <a16:creationId xmlns:a16="http://schemas.microsoft.com/office/drawing/2014/main" id="{052E3451-493E-4C60-B9C0-FAE8C43104FB}"/>
                      </a:ext>
                    </a:extLst>
                  </p:cNvPr>
                  <p:cNvCxnSpPr>
                    <a:cxnSpLocks/>
                    <a:stCxn id="96" idx="2"/>
                  </p:cNvCxnSpPr>
                  <p:nvPr/>
                </p:nvCxnSpPr>
                <p:spPr>
                  <a:xfrm>
                    <a:off x="4084681" y="4051751"/>
                    <a:ext cx="0" cy="1095923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Arrow Connector 178">
                    <a:extLst>
                      <a:ext uri="{FF2B5EF4-FFF2-40B4-BE49-F238E27FC236}">
                        <a16:creationId xmlns:a16="http://schemas.microsoft.com/office/drawing/2014/main" id="{2118BE79-389E-4DED-87BB-119DF6BBAC52}"/>
                      </a:ext>
                    </a:extLst>
                  </p:cNvPr>
                  <p:cNvCxnSpPr>
                    <a:cxnSpLocks/>
                    <a:stCxn id="112" idx="2"/>
                  </p:cNvCxnSpPr>
                  <p:nvPr/>
                </p:nvCxnSpPr>
                <p:spPr>
                  <a:xfrm>
                    <a:off x="5864995" y="4051751"/>
                    <a:ext cx="0" cy="158278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headEnd type="triangle"/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Arrow Connector 185">
                    <a:extLst>
                      <a:ext uri="{FF2B5EF4-FFF2-40B4-BE49-F238E27FC236}">
                        <a16:creationId xmlns:a16="http://schemas.microsoft.com/office/drawing/2014/main" id="{F2D81390-EAF9-4927-8C8E-7493F9FADBCC}"/>
                      </a:ext>
                    </a:extLst>
                  </p:cNvPr>
                  <p:cNvCxnSpPr>
                    <a:cxnSpLocks/>
                    <a:endCxn id="76" idx="1"/>
                  </p:cNvCxnSpPr>
                  <p:nvPr/>
                </p:nvCxnSpPr>
                <p:spPr>
                  <a:xfrm>
                    <a:off x="4084681" y="4643615"/>
                    <a:ext cx="251073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Arrow Connector 188">
                    <a:extLst>
                      <a:ext uri="{FF2B5EF4-FFF2-40B4-BE49-F238E27FC236}">
                        <a16:creationId xmlns:a16="http://schemas.microsoft.com/office/drawing/2014/main" id="{7979E175-8C22-4A99-B57C-C6C5D5A11575}"/>
                      </a:ext>
                    </a:extLst>
                  </p:cNvPr>
                  <p:cNvCxnSpPr>
                    <a:cxnSpLocks/>
                    <a:endCxn id="111" idx="1"/>
                  </p:cNvCxnSpPr>
                  <p:nvPr/>
                </p:nvCxnSpPr>
                <p:spPr>
                  <a:xfrm>
                    <a:off x="4084681" y="5147674"/>
                    <a:ext cx="251073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Arrow Connector 192">
                    <a:extLst>
                      <a:ext uri="{FF2B5EF4-FFF2-40B4-BE49-F238E27FC236}">
                        <a16:creationId xmlns:a16="http://schemas.microsoft.com/office/drawing/2014/main" id="{00E9041E-ADBE-4C14-BE6C-D281359BB1CE}"/>
                      </a:ext>
                    </a:extLst>
                  </p:cNvPr>
                  <p:cNvCxnSpPr>
                    <a:cxnSpLocks/>
                    <a:stCxn id="76" idx="3"/>
                  </p:cNvCxnSpPr>
                  <p:nvPr/>
                </p:nvCxnSpPr>
                <p:spPr>
                  <a:xfrm>
                    <a:off x="5607060" y="4643615"/>
                    <a:ext cx="257935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non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Arrow Connector 195">
                    <a:extLst>
                      <a:ext uri="{FF2B5EF4-FFF2-40B4-BE49-F238E27FC236}">
                        <a16:creationId xmlns:a16="http://schemas.microsoft.com/office/drawing/2014/main" id="{402B9D73-676E-4818-84C0-E438F3B3E7D6}"/>
                      </a:ext>
                    </a:extLst>
                  </p:cNvPr>
                  <p:cNvCxnSpPr>
                    <a:cxnSpLocks/>
                    <a:stCxn id="77" idx="3"/>
                  </p:cNvCxnSpPr>
                  <p:nvPr/>
                </p:nvCxnSpPr>
                <p:spPr>
                  <a:xfrm>
                    <a:off x="5619760" y="5634531"/>
                    <a:ext cx="245235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non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id="{61FE36F6-6B96-407D-A997-584F83630876}"/>
                    </a:ext>
                  </a:extLst>
                </p:cNvPr>
                <p:cNvSpPr txBox="1"/>
                <p:nvPr/>
              </p:nvSpPr>
              <p:spPr>
                <a:xfrm>
                  <a:off x="368359" y="2050941"/>
                  <a:ext cx="4481587" cy="869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C34E2D"/>
                      </a:solidFill>
                    </a:rPr>
                    <a:t>Factory</a:t>
                  </a:r>
                </a:p>
                <a:p>
                  <a:pPr algn="ctr"/>
                  <a:r>
                    <a:rPr lang="en-US" sz="1050" dirty="0">
                      <a:solidFill>
                        <a:srgbClr val="C34E2D"/>
                      </a:solidFill>
                    </a:rPr>
                    <a:t>Activities combine factor and intermediate inputs to produce activity output</a:t>
                  </a:r>
                </a:p>
                <a:p>
                  <a:pPr algn="ctr"/>
                  <a:endParaRPr lang="en-US" sz="2000" b="1" dirty="0">
                    <a:solidFill>
                      <a:srgbClr val="C34E2D"/>
                    </a:solidFill>
                  </a:endParaRPr>
                </a:p>
              </p:txBody>
            </p: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5B7E090A-468F-4CE8-83BF-8AA71D83C7DA}"/>
                    </a:ext>
                  </a:extLst>
                </p:cNvPr>
                <p:cNvSpPr txBox="1"/>
                <p:nvPr/>
              </p:nvSpPr>
              <p:spPr>
                <a:xfrm>
                  <a:off x="4857397" y="2050423"/>
                  <a:ext cx="1662792" cy="1192634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B8EB8"/>
                      </a:solidFill>
                    </a:rPr>
                    <a:t>Warehouse</a:t>
                  </a:r>
                </a:p>
                <a:p>
                  <a:pPr algn="ctr"/>
                  <a:r>
                    <a:rPr lang="en-US" sz="1050" dirty="0">
                      <a:solidFill>
                        <a:srgbClr val="0B8EB8"/>
                      </a:solidFill>
                    </a:rPr>
                    <a:t>Warehouse sorts outputs from activities into bundles of like commodities</a:t>
                  </a:r>
                </a:p>
                <a:p>
                  <a:pPr algn="ctr"/>
                  <a:endParaRPr lang="en-US" sz="2000" b="1" dirty="0">
                    <a:solidFill>
                      <a:srgbClr val="0B8EB8"/>
                    </a:solidFill>
                  </a:endParaRP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697BB9B-6C8B-4B74-A131-95471D62476D}"/>
                    </a:ext>
                  </a:extLst>
                </p:cNvPr>
                <p:cNvSpPr txBox="1"/>
                <p:nvPr/>
              </p:nvSpPr>
              <p:spPr>
                <a:xfrm>
                  <a:off x="8432974" y="2045044"/>
                  <a:ext cx="3186193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5C8E3A"/>
                      </a:solidFill>
                    </a:rPr>
                    <a:t>Supermarket</a:t>
                  </a:r>
                </a:p>
                <a:p>
                  <a:pPr algn="ctr"/>
                  <a:r>
                    <a:rPr lang="en-US" sz="1050" dirty="0">
                      <a:solidFill>
                        <a:srgbClr val="5C8E3A"/>
                      </a:solidFill>
                    </a:rPr>
                    <a:t>Composite supply is either sold to final demanders or to producers as inputs </a:t>
                  </a:r>
                </a:p>
              </p:txBody>
            </p:sp>
          </p:grp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65963B1A-F53C-4139-A21E-49453C96FCC2}"/>
                  </a:ext>
                </a:extLst>
              </p:cNvPr>
              <p:cNvCxnSpPr>
                <a:cxnSpLocks/>
                <a:stCxn id="148" idx="2"/>
              </p:cNvCxnSpPr>
              <p:nvPr/>
            </p:nvCxnSpPr>
            <p:spPr>
              <a:xfrm>
                <a:off x="10748790" y="5556055"/>
                <a:ext cx="0" cy="446050"/>
              </a:xfrm>
              <a:prstGeom prst="straightConnector1">
                <a:avLst/>
              </a:prstGeom>
              <a:ln>
                <a:solidFill>
                  <a:srgbClr val="C34E2D"/>
                </a:solidFill>
                <a:prstDash val="dash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5AEB9D50-F96A-42D2-9521-D2EFA6FBE0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0088" y="6002105"/>
                <a:ext cx="388702" cy="0"/>
              </a:xfrm>
              <a:prstGeom prst="straightConnector1">
                <a:avLst/>
              </a:prstGeom>
              <a:ln>
                <a:solidFill>
                  <a:srgbClr val="C34E2D"/>
                </a:solidFill>
                <a:prstDash val="dash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9D85E666-1FD6-4377-A1BD-1A363D0FA799}"/>
                  </a:ext>
                </a:extLst>
              </p:cNvPr>
              <p:cNvSpPr txBox="1"/>
              <p:nvPr/>
            </p:nvSpPr>
            <p:spPr>
              <a:xfrm>
                <a:off x="1494572" y="3514586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34E2D"/>
                    </a:solidFill>
                  </a:rPr>
                  <a:t>×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4C8C2E3D-7143-4C62-BF7C-B4656E2CA75E}"/>
                  </a:ext>
                </a:extLst>
              </p:cNvPr>
              <p:cNvSpPr txBox="1"/>
              <p:nvPr/>
            </p:nvSpPr>
            <p:spPr>
              <a:xfrm>
                <a:off x="5509131" y="5532101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B8EB8"/>
                    </a:solidFill>
                  </a:rPr>
                  <a:t>×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CF42E3E1-D298-4DCC-BFAB-50286A6BD67E}"/>
                  </a:ext>
                </a:extLst>
              </p:cNvPr>
              <p:cNvSpPr txBox="1"/>
              <p:nvPr/>
            </p:nvSpPr>
            <p:spPr>
              <a:xfrm>
                <a:off x="6518317" y="4664583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B300"/>
                    </a:solidFill>
                  </a:rPr>
                  <a:t>×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C9C3298-6C97-4FFF-B953-AB72CFA51D9C}"/>
                  </a:ext>
                </a:extLst>
              </p:cNvPr>
              <p:cNvSpPr txBox="1"/>
              <p:nvPr/>
            </p:nvSpPr>
            <p:spPr>
              <a:xfrm>
                <a:off x="7967610" y="3718464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B300"/>
                    </a:solidFill>
                  </a:rPr>
                  <a:t>×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83C46CEE-8286-4C7D-A349-81A3DEE68498}"/>
                  </a:ext>
                </a:extLst>
              </p:cNvPr>
              <p:cNvSpPr txBox="1"/>
              <p:nvPr/>
            </p:nvSpPr>
            <p:spPr>
              <a:xfrm>
                <a:off x="1484425" y="5259909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34E2D"/>
                    </a:solidFill>
                  </a:rPr>
                  <a:t>=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FBE2A2B-A4CF-4011-9EAB-4253C1AADE08}"/>
                  </a:ext>
                </a:extLst>
              </p:cNvPr>
              <p:cNvSpPr txBox="1"/>
              <p:nvPr/>
            </p:nvSpPr>
            <p:spPr>
              <a:xfrm>
                <a:off x="3108648" y="4305331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34E2D"/>
                    </a:solidFill>
                  </a:rPr>
                  <a:t>=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6878DC74-4729-4B3B-8B53-AC3333C42C80}"/>
                  </a:ext>
                </a:extLst>
              </p:cNvPr>
              <p:cNvSpPr txBox="1"/>
              <p:nvPr/>
            </p:nvSpPr>
            <p:spPr>
              <a:xfrm>
                <a:off x="3892777" y="5281323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B8EB8"/>
                    </a:solidFill>
                  </a:rPr>
                  <a:t>=</a:t>
                </a: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D165739-32C7-416D-B476-6EAD206353C2}"/>
                  </a:ext>
                </a:extLst>
              </p:cNvPr>
              <p:cNvSpPr txBox="1"/>
              <p:nvPr/>
            </p:nvSpPr>
            <p:spPr>
              <a:xfrm>
                <a:off x="9783386" y="3800662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C8E3A"/>
                    </a:solidFill>
                  </a:rPr>
                  <a:t>=</a:t>
                </a: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E5102FDD-DDD6-4D90-96C7-1661F999F1E8}"/>
                  </a:ext>
                </a:extLst>
              </p:cNvPr>
              <p:cNvSpPr txBox="1"/>
              <p:nvPr/>
            </p:nvSpPr>
            <p:spPr>
              <a:xfrm>
                <a:off x="9783386" y="4316341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C8E3A"/>
                    </a:solidFill>
                  </a:rPr>
                  <a:t>=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AAD2323D-6D9A-4D15-88F9-E994D3D0ADFF}"/>
                  </a:ext>
                </a:extLst>
              </p:cNvPr>
              <p:cNvSpPr txBox="1"/>
              <p:nvPr/>
            </p:nvSpPr>
            <p:spPr>
              <a:xfrm>
                <a:off x="9798716" y="4836798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C8E3A"/>
                    </a:solidFill>
                  </a:rPr>
                  <a:t>=</a:t>
                </a: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C1F46828-87BF-49AD-8B39-0314F0AF7635}"/>
                  </a:ext>
                </a:extLst>
              </p:cNvPr>
              <p:cNvSpPr txBox="1"/>
              <p:nvPr/>
            </p:nvSpPr>
            <p:spPr>
              <a:xfrm>
                <a:off x="1794070" y="5895789"/>
                <a:ext cx="1764427" cy="5539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sz="1400" b="1" dirty="0">
                    <a:solidFill>
                      <a:srgbClr val="C34E2D"/>
                    </a:solidFill>
                  </a:rPr>
                  <a:t>× </a:t>
                </a:r>
                <a:r>
                  <a:rPr lang="en-US" sz="1100" dirty="0">
                    <a:solidFill>
                      <a:srgbClr val="C34E2D"/>
                    </a:solidFill>
                  </a:rPr>
                  <a:t>Price-driven substitution</a:t>
                </a:r>
                <a:r>
                  <a:rPr lang="en-US" sz="1600" b="1" dirty="0">
                    <a:solidFill>
                      <a:srgbClr val="C34E2D"/>
                    </a:solidFill>
                  </a:rPr>
                  <a:t>  </a:t>
                </a:r>
                <a:endParaRPr lang="en-US" sz="1400" b="1" dirty="0">
                  <a:solidFill>
                    <a:srgbClr val="C34E2D"/>
                  </a:solidFill>
                </a:endParaRPr>
              </a:p>
              <a:p>
                <a:r>
                  <a:rPr lang="en-US" sz="1400" b="1" dirty="0">
                    <a:solidFill>
                      <a:srgbClr val="C34E2D"/>
                    </a:solidFill>
                  </a:rPr>
                  <a:t>= </a:t>
                </a:r>
                <a:r>
                  <a:rPr lang="en-US" sz="1100" dirty="0">
                    <a:solidFill>
                      <a:srgbClr val="C34E2D"/>
                    </a:solidFill>
                  </a:rPr>
                  <a:t>No substitution</a:t>
                </a:r>
                <a:endParaRPr lang="en-US" sz="1400" dirty="0">
                  <a:solidFill>
                    <a:srgbClr val="C34E2D"/>
                  </a:solidFill>
                </a:endParaRPr>
              </a:p>
            </p:txBody>
          </p:sp>
        </p:grp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F83F3962-A5BD-4EED-AA22-4798282F244A}"/>
                </a:ext>
              </a:extLst>
            </p:cNvPr>
            <p:cNvSpPr txBox="1"/>
            <p:nvPr/>
          </p:nvSpPr>
          <p:spPr>
            <a:xfrm>
              <a:off x="6491346" y="2121614"/>
              <a:ext cx="1880433" cy="119263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</a:rPr>
                <a:t>Trade</a:t>
              </a:r>
            </a:p>
            <a:p>
              <a:pPr algn="ctr"/>
              <a:r>
                <a:rPr lang="en-US" sz="1050" dirty="0">
                  <a:solidFill>
                    <a:srgbClr val="FFC000"/>
                  </a:solidFill>
                </a:rPr>
                <a:t>Commodity output is traded in export or domestic markets – latter is combined with imports</a:t>
              </a:r>
            </a:p>
            <a:p>
              <a:pPr algn="ctr"/>
              <a:endParaRPr lang="en-US" sz="20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288" name="TextBox 287">
            <a:extLst>
              <a:ext uri="{FF2B5EF4-FFF2-40B4-BE49-F238E27FC236}">
                <a16:creationId xmlns:a16="http://schemas.microsoft.com/office/drawing/2014/main" id="{AB5600EB-1C72-4DBB-ACFD-3F4AE2B8DE9A}"/>
              </a:ext>
            </a:extLst>
          </p:cNvPr>
          <p:cNvSpPr txBox="1"/>
          <p:nvPr/>
        </p:nvSpPr>
        <p:spPr>
          <a:xfrm>
            <a:off x="145465" y="873402"/>
            <a:ext cx="5223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Equilibrium:</a:t>
            </a:r>
            <a:r>
              <a:rPr lang="en-US" sz="1400" dirty="0"/>
              <a:t> Total commodity supply must equal total demand </a:t>
            </a:r>
          </a:p>
          <a:p>
            <a:r>
              <a:rPr lang="en-US" sz="1400" dirty="0"/>
              <a:t>	 (mediated by prices changes)</a:t>
            </a:r>
          </a:p>
        </p:txBody>
      </p:sp>
    </p:spTree>
    <p:extLst>
      <p:ext uri="{BB962C8B-B14F-4D97-AF65-F5344CB8AC3E}">
        <p14:creationId xmlns:p14="http://schemas.microsoft.com/office/powerpoint/2010/main" val="1350955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3A07-E866-68A2-3509-E82385CB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Model’s GAMS Code</a:t>
            </a:r>
            <a:endParaRPr lang="en-US" b="0" dirty="0"/>
          </a:p>
        </p:txBody>
      </p:sp>
      <p:sp>
        <p:nvSpPr>
          <p:cNvPr id="35" name="Text Box 5">
            <a:extLst>
              <a:ext uri="{FF2B5EF4-FFF2-40B4-BE49-F238E27FC236}">
                <a16:creationId xmlns:a16="http://schemas.microsoft.com/office/drawing/2014/main" id="{0C3AB8B3-63A8-0902-32FA-A4ADB9EBB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989" y="2985715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Data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basemod.xlsx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8CD91259-1AB0-3F38-5DAE-A00D4A02B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63" y="1833963"/>
            <a:ext cx="2068604" cy="50783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Control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0control.gms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10EF00-F2F1-F5AB-DFE8-0693E7873CCB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924593" y="3239631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15CDA50-C812-3222-A851-66C24D5991F7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4444265" y="3499103"/>
            <a:ext cx="0" cy="53510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12">
            <a:extLst>
              <a:ext uri="{FF2B5EF4-FFF2-40B4-BE49-F238E27FC236}">
                <a16:creationId xmlns:a16="http://schemas.microsoft.com/office/drawing/2014/main" id="{69EE20EB-13A0-FBE2-4611-CA7ED679F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63" y="2991272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1model.gms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2" name="Text Box 12">
            <a:extLst>
              <a:ext uri="{FF2B5EF4-FFF2-40B4-BE49-F238E27FC236}">
                <a16:creationId xmlns:a16="http://schemas.microsoft.com/office/drawing/2014/main" id="{A7F3341E-EBE4-3050-B9BF-51235D32F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63" y="4162051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2simulation_static.gms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91BA4F-FB76-1903-720C-56D64EE72C02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444265" y="4669882"/>
            <a:ext cx="0" cy="59134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5">
            <a:extLst>
              <a:ext uri="{FF2B5EF4-FFF2-40B4-BE49-F238E27FC236}">
                <a16:creationId xmlns:a16="http://schemas.microsoft.com/office/drawing/2014/main" id="{3EFD23F9-0623-6EA8-CA56-329D5F017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63" y="5332830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Results File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statrep.xlsx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B78E73E-CA17-F973-E0BE-E52EC64A1F22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4444265" y="2341794"/>
            <a:ext cx="0" cy="516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5">
            <a:extLst>
              <a:ext uri="{FF2B5EF4-FFF2-40B4-BE49-F238E27FC236}">
                <a16:creationId xmlns:a16="http://schemas.microsoft.com/office/drawing/2014/main" id="{9011E92B-9C05-83F9-1D8E-CE07889CB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31" y="4162051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Data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statsim.xlsx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A906234-9CE2-E4D6-8D77-6C862AC41E52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2920735" y="4415967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E50E3082-8FF0-3BCA-EABA-B6099A755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171" y="1521470"/>
            <a:ext cx="5937829" cy="53365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35A05AF-1923-4130-022B-4A9DFEEB9339}"/>
              </a:ext>
            </a:extLst>
          </p:cNvPr>
          <p:cNvCxnSpPr>
            <a:cxnSpLocks/>
          </p:cNvCxnSpPr>
          <p:nvPr/>
        </p:nvCxnSpPr>
        <p:spPr>
          <a:xfrm flipH="1">
            <a:off x="5701672" y="3251968"/>
            <a:ext cx="15274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978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C80335C9-62BE-2B9F-8AA9-35217845C85B}"/>
              </a:ext>
            </a:extLst>
          </p:cNvPr>
          <p:cNvSpPr txBox="1">
            <a:spLocks/>
          </p:cNvSpPr>
          <p:nvPr/>
        </p:nvSpPr>
        <p:spPr>
          <a:xfrm>
            <a:off x="3831767" y="1025035"/>
            <a:ext cx="6731726" cy="5740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Model file is separated into sections: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4. </a:t>
            </a:r>
            <a:r>
              <a:rPr lang="en-US" b="1" dirty="0"/>
              <a:t>Country data</a:t>
            </a:r>
          </a:p>
          <a:p>
            <a:pPr marL="457200" lvl="1" indent="0">
              <a:buNone/>
            </a:pPr>
            <a:r>
              <a:rPr lang="en-US" b="1" dirty="0"/>
              <a:t>	</a:t>
            </a:r>
            <a:r>
              <a:rPr lang="en-US" dirty="0">
                <a:solidFill>
                  <a:srgbClr val="C00000"/>
                </a:solidFill>
              </a:rPr>
              <a:t>base_data.inc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base_diagnostic.inc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5. </a:t>
            </a:r>
            <a:r>
              <a:rPr lang="en-US" b="1" dirty="0"/>
              <a:t>Model calibration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base_calibration.inc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6. </a:t>
            </a:r>
            <a:r>
              <a:rPr lang="en-US" b="1" dirty="0"/>
              <a:t>Model solve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dirty="0"/>
              <a:t>7. </a:t>
            </a:r>
            <a:r>
              <a:rPr lang="en-US" b="1" dirty="0"/>
              <a:t>Base model reporting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base_report.inc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1AB20-9CB9-458A-057F-57CA4A80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Model’s GAMS Code  </a:t>
            </a:r>
            <a:r>
              <a:rPr lang="en-US" b="0" dirty="0"/>
              <a:t>|  1model.gms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528AF2-37DE-6E52-7FC8-5C878E44E90E}"/>
              </a:ext>
            </a:extLst>
          </p:cNvPr>
          <p:cNvSpPr txBox="1"/>
          <p:nvPr/>
        </p:nvSpPr>
        <p:spPr>
          <a:xfrm>
            <a:off x="8921209" y="2529930"/>
            <a:ext cx="218068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1254125"/>
            <a:r>
              <a:rPr lang="en-US" b="1" dirty="0"/>
              <a:t>Declaration</a:t>
            </a:r>
            <a:r>
              <a:rPr lang="en-US" dirty="0"/>
              <a:t> 	</a:t>
            </a:r>
          </a:p>
          <a:p>
            <a:pPr defTabSz="1254125"/>
            <a:r>
              <a:rPr lang="en-US" dirty="0"/>
              <a:t>Give the parameter or variable a </a:t>
            </a:r>
            <a:r>
              <a:rPr lang="en-US" u="sng" dirty="0"/>
              <a:t>name</a:t>
            </a:r>
          </a:p>
          <a:p>
            <a:pPr defTabSz="1254125"/>
            <a:endParaRPr lang="en-US" b="1" dirty="0"/>
          </a:p>
          <a:p>
            <a:pPr defTabSz="1254125"/>
            <a:r>
              <a:rPr lang="en-US" b="1" dirty="0"/>
              <a:t>Definition 	</a:t>
            </a:r>
          </a:p>
          <a:p>
            <a:pPr defTabSz="1254125"/>
            <a:r>
              <a:rPr lang="en-US" dirty="0"/>
              <a:t>Give the parameter or variable a </a:t>
            </a:r>
            <a:r>
              <a:rPr lang="en-US" u="sng" dirty="0"/>
              <a:t>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B4A0-7969-4EF3-4172-E056E3B8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5995600" cy="5740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Base model file is separated into 7 sections: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1. </a:t>
            </a:r>
            <a:r>
              <a:rPr lang="en-US" b="1" dirty="0"/>
              <a:t>Declarations</a:t>
            </a:r>
          </a:p>
          <a:p>
            <a:pPr marL="457200" lvl="1" indent="0">
              <a:buNone/>
            </a:pPr>
            <a:r>
              <a:rPr lang="en-US" dirty="0"/>
              <a:t>	Sets</a:t>
            </a:r>
          </a:p>
          <a:p>
            <a:pPr marL="457200" lvl="1" indent="0">
              <a:buNone/>
            </a:pPr>
            <a:r>
              <a:rPr lang="en-US" dirty="0"/>
              <a:t>	Parameters</a:t>
            </a:r>
          </a:p>
          <a:p>
            <a:pPr marL="457200" lvl="1" indent="0">
              <a:buNone/>
            </a:pPr>
            <a:r>
              <a:rPr lang="en-US" dirty="0"/>
              <a:t>	Variables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2. </a:t>
            </a:r>
            <a:r>
              <a:rPr lang="en-US" b="1" dirty="0"/>
              <a:t>Model definition</a:t>
            </a:r>
          </a:p>
          <a:p>
            <a:pPr marL="457200" lvl="1" indent="0">
              <a:buNone/>
            </a:pPr>
            <a:r>
              <a:rPr lang="en-US" dirty="0"/>
              <a:t>	Prices</a:t>
            </a:r>
          </a:p>
          <a:p>
            <a:pPr marL="457200" lvl="1" indent="0">
              <a:buNone/>
            </a:pPr>
            <a:r>
              <a:rPr lang="en-US" dirty="0"/>
              <a:t>	Production and trade</a:t>
            </a:r>
          </a:p>
          <a:p>
            <a:pPr marL="457200" lvl="1" indent="0">
              <a:buNone/>
            </a:pPr>
            <a:r>
              <a:rPr lang="en-US" dirty="0"/>
              <a:t>	Institutions</a:t>
            </a:r>
          </a:p>
          <a:p>
            <a:pPr marL="457200" lvl="1" indent="0">
              <a:buNone/>
            </a:pPr>
            <a:r>
              <a:rPr lang="en-US" dirty="0"/>
              <a:t>	System constraints 	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3. </a:t>
            </a:r>
            <a:r>
              <a:rPr lang="en-US" b="1" dirty="0"/>
              <a:t>Model declaration</a:t>
            </a:r>
          </a:p>
        </p:txBody>
      </p:sp>
    </p:spTree>
    <p:extLst>
      <p:ext uri="{BB962C8B-B14F-4D97-AF65-F5344CB8AC3E}">
        <p14:creationId xmlns:p14="http://schemas.microsoft.com/office/powerpoint/2010/main" val="2187087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9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Advanced Static Modeling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Revisiting Elasticities and Closures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2AC32E12-FFB4-5C05-3B6D-2010C5494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41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5340-C4C8-CDA5-54FA-762DE527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7B739-4594-5FBD-F552-28CC9393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b="1" dirty="0"/>
              <a:t>Sensitivity analysis</a:t>
            </a:r>
          </a:p>
          <a:p>
            <a:endParaRPr lang="en-US" sz="1000" dirty="0"/>
          </a:p>
          <a:p>
            <a:r>
              <a:rPr lang="en-US" dirty="0"/>
              <a:t>Trade elasticities </a:t>
            </a:r>
          </a:p>
          <a:p>
            <a:pPr lvl="1"/>
            <a:r>
              <a:rPr lang="en-US" u="sng" dirty="0"/>
              <a:t>Exercise 1</a:t>
            </a:r>
            <a:r>
              <a:rPr lang="en-US" dirty="0"/>
              <a:t>: Tariff liberalization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(high/low elasticities)</a:t>
            </a:r>
          </a:p>
          <a:p>
            <a:endParaRPr lang="en-US" sz="1000" dirty="0"/>
          </a:p>
          <a:p>
            <a:r>
              <a:rPr lang="en-US" dirty="0"/>
              <a:t>Factor substitution elasticities + factor market closures</a:t>
            </a:r>
          </a:p>
          <a:p>
            <a:pPr lvl="1"/>
            <a:r>
              <a:rPr lang="en-US" u="sng" dirty="0"/>
              <a:t>Exercise 2</a:t>
            </a:r>
            <a:r>
              <a:rPr lang="en-US" dirty="0"/>
              <a:t>: Agricultural productivity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(high/low elasticities + fixed/flexible land + unemployed labor)</a:t>
            </a:r>
          </a:p>
          <a:p>
            <a:endParaRPr lang="en-US" sz="1000" dirty="0"/>
          </a:p>
          <a:p>
            <a:r>
              <a:rPr lang="en-US" dirty="0"/>
              <a:t>Macro closures</a:t>
            </a:r>
          </a:p>
          <a:p>
            <a:pPr lvl="1"/>
            <a:r>
              <a:rPr lang="en-US" u="sng" dirty="0"/>
              <a:t>Exercise 3</a:t>
            </a:r>
            <a:r>
              <a:rPr lang="en-US" dirty="0"/>
              <a:t>: Foreign capital outflows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(savings-investment + uniform/scaled savings rates)</a:t>
            </a:r>
          </a:p>
          <a:p>
            <a:pPr lvl="1"/>
            <a:r>
              <a:rPr lang="en-US" u="sng" dirty="0"/>
              <a:t>Exercise 4</a:t>
            </a:r>
            <a:r>
              <a:rPr lang="en-US" dirty="0"/>
              <a:t>: Cash transfers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(fixed/flexible government savings + uniform/scaled tax rates)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109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8F3C-7803-14D4-D6ED-C113E8B3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Elasticities  </a:t>
            </a:r>
            <a:r>
              <a:rPr lang="en-US" b="0" dirty="0"/>
              <a:t>|  Functional Forms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67905-200D-AE7A-C197-976DF02D7657}"/>
              </a:ext>
            </a:extLst>
          </p:cNvPr>
          <p:cNvGrpSpPr/>
          <p:nvPr/>
        </p:nvGrpSpPr>
        <p:grpSpPr>
          <a:xfrm>
            <a:off x="977311" y="1144412"/>
            <a:ext cx="7054969" cy="1183016"/>
            <a:chOff x="408726" y="1360993"/>
            <a:chExt cx="7054969" cy="11830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6593373-C3DF-776F-6A8E-409423DE46C0}"/>
                </a:ext>
              </a:extLst>
            </p:cNvPr>
            <p:cNvSpPr/>
            <p:nvPr/>
          </p:nvSpPr>
          <p:spPr>
            <a:xfrm>
              <a:off x="408726" y="1360993"/>
              <a:ext cx="384869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Cobb-Douglas (CD)</a:t>
              </a:r>
            </a:p>
            <a:p>
              <a:r>
                <a:rPr lang="en-US" sz="2400" dirty="0"/>
                <a:t>Constant expenditure shares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219C5F1-6573-CC2A-1B19-862138498F27}"/>
                </a:ext>
              </a:extLst>
            </p:cNvPr>
            <p:cNvGrpSpPr/>
            <p:nvPr/>
          </p:nvGrpSpPr>
          <p:grpSpPr>
            <a:xfrm>
              <a:off x="4545332" y="1360993"/>
              <a:ext cx="2918363" cy="1183016"/>
              <a:chOff x="4876636" y="1343681"/>
              <a:chExt cx="2918363" cy="11830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0302660-8F49-5296-A768-FA6E1A1A6537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636" y="1343681"/>
                    <a:ext cx="2352182" cy="3866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636" y="1343681"/>
                    <a:ext cx="2352182" cy="38664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886" t="-4762" r="-2073" b="-28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10E0F24-966D-A55D-245C-FD3C989FF46B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636" y="1759179"/>
                    <a:ext cx="2156681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636" y="1759179"/>
                    <a:ext cx="2156681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412" r="-3672" b="-327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3F57F8A-90D1-200C-1D52-874A6054FFB5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636" y="2157365"/>
                    <a:ext cx="291836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636" y="2157365"/>
                    <a:ext cx="291836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35" r="-2505" b="-344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24AC6DF-29A0-04BA-20E4-8EEA3CF287DD}"/>
              </a:ext>
            </a:extLst>
          </p:cNvPr>
          <p:cNvSpPr/>
          <p:nvPr/>
        </p:nvSpPr>
        <p:spPr>
          <a:xfrm>
            <a:off x="977311" y="2621465"/>
            <a:ext cx="53057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Constant Elasticity of Substitution (CES)</a:t>
            </a:r>
          </a:p>
          <a:p>
            <a:r>
              <a:rPr lang="en-US" sz="2400" dirty="0"/>
              <a:t>Shares relative to prices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DC361-200E-8B1D-84B6-4E71786C38BE}"/>
              </a:ext>
            </a:extLst>
          </p:cNvPr>
          <p:cNvSpPr/>
          <p:nvPr/>
        </p:nvSpPr>
        <p:spPr>
          <a:xfrm>
            <a:off x="7147005" y="2617497"/>
            <a:ext cx="27878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Leontief</a:t>
            </a:r>
          </a:p>
          <a:p>
            <a:r>
              <a:rPr lang="en-US" sz="2400" dirty="0"/>
              <a:t>Fixed quantity ratios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3DFA25-2FF1-BC03-5D6D-94BBF614C1C8}"/>
              </a:ext>
            </a:extLst>
          </p:cNvPr>
          <p:cNvGrpSpPr/>
          <p:nvPr/>
        </p:nvGrpSpPr>
        <p:grpSpPr>
          <a:xfrm>
            <a:off x="977311" y="2970703"/>
            <a:ext cx="3310544" cy="3411272"/>
            <a:chOff x="536121" y="3141928"/>
            <a:chExt cx="3310544" cy="3411272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56795BF2-2C95-53A2-6224-B81B290A9CD9}"/>
                </a:ext>
              </a:extLst>
            </p:cNvPr>
            <p:cNvSpPr/>
            <p:nvPr/>
          </p:nvSpPr>
          <p:spPr>
            <a:xfrm rot="10800000">
              <a:off x="1702314" y="3141928"/>
              <a:ext cx="2054678" cy="2286000"/>
            </a:xfrm>
            <a:prstGeom prst="arc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F0AED3-A056-6B1C-5F95-F0A05EA560FA}"/>
                </a:ext>
              </a:extLst>
            </p:cNvPr>
            <p:cNvGrpSpPr/>
            <p:nvPr/>
          </p:nvGrpSpPr>
          <p:grpSpPr>
            <a:xfrm>
              <a:off x="536121" y="3745468"/>
              <a:ext cx="3241530" cy="2807732"/>
              <a:chOff x="1219200" y="2746321"/>
              <a:chExt cx="3241530" cy="280773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64E3102-3AC3-5DBA-8377-EDB7BAB36F19}"/>
                  </a:ext>
                </a:extLst>
              </p:cNvPr>
              <p:cNvCxnSpPr/>
              <p:nvPr/>
            </p:nvCxnSpPr>
            <p:spPr>
              <a:xfrm flipV="1">
                <a:off x="1740239" y="2746321"/>
                <a:ext cx="0" cy="243840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BAC369B-86A9-D13A-AE04-D1E6D11E1EE1}"/>
                  </a:ext>
                </a:extLst>
              </p:cNvPr>
              <p:cNvCxnSpPr/>
              <p:nvPr/>
            </p:nvCxnSpPr>
            <p:spPr>
              <a:xfrm>
                <a:off x="1740239" y="5184721"/>
                <a:ext cx="2720491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1041DE-719B-CB31-2F7C-E9103544655C}"/>
                  </a:ext>
                </a:extLst>
              </p:cNvPr>
              <p:cNvSpPr txBox="1"/>
              <p:nvPr/>
            </p:nvSpPr>
            <p:spPr>
              <a:xfrm>
                <a:off x="1219200" y="2782676"/>
                <a:ext cx="461665" cy="2402045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r"/>
                <a:r>
                  <a:rPr lang="en-US" b="1" dirty="0"/>
                  <a:t>Labor  employment (L)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A619EA-B111-1934-7562-A0638DB9A5EA}"/>
                  </a:ext>
                </a:extLst>
              </p:cNvPr>
              <p:cNvSpPr txBox="1"/>
              <p:nvPr/>
            </p:nvSpPr>
            <p:spPr>
              <a:xfrm>
                <a:off x="1955289" y="5184721"/>
                <a:ext cx="2429242" cy="36933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r"/>
                <a:r>
                  <a:rPr lang="en-US" b="1" dirty="0"/>
                  <a:t>Capital employment (K)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F40699-E72E-1174-D609-99792ED7C4CE}"/>
                </a:ext>
              </a:extLst>
            </p:cNvPr>
            <p:cNvCxnSpPr/>
            <p:nvPr/>
          </p:nvCxnSpPr>
          <p:spPr>
            <a:xfrm>
              <a:off x="1057160" y="4373246"/>
              <a:ext cx="2298361" cy="1810622"/>
            </a:xfrm>
            <a:prstGeom prst="line">
              <a:avLst/>
            </a:prstGeom>
            <a:ln w="1587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324067-13BF-7CA1-5F62-FF4D28879B89}"/>
                </a:ext>
              </a:extLst>
            </p:cNvPr>
            <p:cNvCxnSpPr/>
            <p:nvPr/>
          </p:nvCxnSpPr>
          <p:spPr>
            <a:xfrm>
              <a:off x="1057160" y="3893989"/>
              <a:ext cx="1792030" cy="2289879"/>
            </a:xfrm>
            <a:prstGeom prst="line">
              <a:avLst/>
            </a:prstGeom>
            <a:ln w="15875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7F39C1-1385-7261-CEAA-3B222A966D73}"/>
                </a:ext>
              </a:extLst>
            </p:cNvPr>
            <p:cNvSpPr txBox="1"/>
            <p:nvPr/>
          </p:nvSpPr>
          <p:spPr>
            <a:xfrm>
              <a:off x="1143000" y="5666154"/>
              <a:ext cx="2703665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C00000"/>
                  </a:solidFill>
                </a:rPr>
                <a:t>r/w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5D110B-E440-13FC-3ECE-436E13836069}"/>
                </a:ext>
              </a:extLst>
            </p:cNvPr>
            <p:cNvSpPr txBox="1"/>
            <p:nvPr/>
          </p:nvSpPr>
          <p:spPr>
            <a:xfrm>
              <a:off x="1490870" y="5646588"/>
              <a:ext cx="1060395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r*/w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4CC92A-018B-7024-6FEB-2C01CD0A1742}"/>
              </a:ext>
            </a:extLst>
          </p:cNvPr>
          <p:cNvGrpSpPr/>
          <p:nvPr/>
        </p:nvGrpSpPr>
        <p:grpSpPr>
          <a:xfrm>
            <a:off x="7147005" y="3602640"/>
            <a:ext cx="3241530" cy="2807732"/>
            <a:chOff x="4995256" y="3745468"/>
            <a:chExt cx="3241530" cy="280773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A3B301-20EC-9693-77A3-61EED4428E7D}"/>
                </a:ext>
              </a:extLst>
            </p:cNvPr>
            <p:cNvGrpSpPr/>
            <p:nvPr/>
          </p:nvGrpSpPr>
          <p:grpSpPr>
            <a:xfrm>
              <a:off x="4995256" y="3745468"/>
              <a:ext cx="3241530" cy="2807732"/>
              <a:chOff x="1219200" y="2746321"/>
              <a:chExt cx="3241530" cy="2807732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F0DCD345-5DD0-26C4-EA58-5E7FE9E14320}"/>
                  </a:ext>
                </a:extLst>
              </p:cNvPr>
              <p:cNvCxnSpPr/>
              <p:nvPr/>
            </p:nvCxnSpPr>
            <p:spPr>
              <a:xfrm flipV="1">
                <a:off x="1740239" y="2746321"/>
                <a:ext cx="0" cy="243840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6947180-C7AC-AD49-DD89-0F0897B42C18}"/>
                  </a:ext>
                </a:extLst>
              </p:cNvPr>
              <p:cNvCxnSpPr/>
              <p:nvPr/>
            </p:nvCxnSpPr>
            <p:spPr>
              <a:xfrm>
                <a:off x="1740239" y="5184721"/>
                <a:ext cx="2720491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EF3DFC1-9C41-E2D3-329D-FEC0E0E4A7A1}"/>
                  </a:ext>
                </a:extLst>
              </p:cNvPr>
              <p:cNvSpPr txBox="1"/>
              <p:nvPr/>
            </p:nvSpPr>
            <p:spPr>
              <a:xfrm>
                <a:off x="1219200" y="2782676"/>
                <a:ext cx="461665" cy="2402045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r"/>
                <a:r>
                  <a:rPr lang="en-US" b="1" dirty="0"/>
                  <a:t>Labor  employment (L)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BB7F7A-79F9-16EA-7E06-4ED8F3FE6CA2}"/>
                  </a:ext>
                </a:extLst>
              </p:cNvPr>
              <p:cNvSpPr txBox="1"/>
              <p:nvPr/>
            </p:nvSpPr>
            <p:spPr>
              <a:xfrm>
                <a:off x="1955509" y="5184721"/>
                <a:ext cx="2429021" cy="36933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r"/>
                <a:r>
                  <a:rPr lang="en-US" b="1" dirty="0"/>
                  <a:t>Capital employment (K)</a:t>
                </a: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C22C30F-4B30-7D7B-AB1F-55534046BE92}"/>
                </a:ext>
              </a:extLst>
            </p:cNvPr>
            <p:cNvCxnSpPr/>
            <p:nvPr/>
          </p:nvCxnSpPr>
          <p:spPr>
            <a:xfrm flipH="1">
              <a:off x="5516296" y="3745468"/>
              <a:ext cx="2103704" cy="243840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3DFBE6-C958-B4A8-696B-0EB2BB70D67A}"/>
                </a:ext>
              </a:extLst>
            </p:cNvPr>
            <p:cNvCxnSpPr/>
            <p:nvPr/>
          </p:nvCxnSpPr>
          <p:spPr>
            <a:xfrm>
              <a:off x="6190818" y="3893989"/>
              <a:ext cx="0" cy="1505821"/>
            </a:xfrm>
            <a:prstGeom prst="line">
              <a:avLst/>
            </a:prstGeom>
            <a:ln w="1587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42098ED-28A7-C60E-B894-430440876605}"/>
                </a:ext>
              </a:extLst>
            </p:cNvPr>
            <p:cNvCxnSpPr/>
            <p:nvPr/>
          </p:nvCxnSpPr>
          <p:spPr>
            <a:xfrm flipH="1">
              <a:off x="6190818" y="5399810"/>
              <a:ext cx="1856564" cy="0"/>
            </a:xfrm>
            <a:prstGeom prst="line">
              <a:avLst/>
            </a:prstGeom>
            <a:ln w="1587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712086A-A28F-D841-788B-8F1F94A2B2F5}"/>
                </a:ext>
              </a:extLst>
            </p:cNvPr>
            <p:cNvCxnSpPr/>
            <p:nvPr/>
          </p:nvCxnSpPr>
          <p:spPr>
            <a:xfrm>
              <a:off x="6525436" y="3893989"/>
              <a:ext cx="0" cy="1124820"/>
            </a:xfrm>
            <a:prstGeom prst="line">
              <a:avLst/>
            </a:prstGeom>
            <a:ln w="15875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D55F57E-15F6-80C3-841E-157F319B65FC}"/>
                </a:ext>
              </a:extLst>
            </p:cNvPr>
            <p:cNvCxnSpPr/>
            <p:nvPr/>
          </p:nvCxnSpPr>
          <p:spPr>
            <a:xfrm flipH="1">
              <a:off x="6525436" y="5018809"/>
              <a:ext cx="1475563" cy="1"/>
            </a:xfrm>
            <a:prstGeom prst="line">
              <a:avLst/>
            </a:prstGeom>
            <a:ln w="15875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4190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FE27-0C79-4B31-BBE4-63094EA2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Tariff Liberalization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ACC8-8700-4C54-BB0E-4DAC8E86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0" y="1025035"/>
            <a:ext cx="11491910" cy="2652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Eliminate all tariffs </a:t>
            </a:r>
            <a:r>
              <a:rPr lang="en-US" sz="1200" dirty="0"/>
              <a:t>(i.e., -100%)</a:t>
            </a:r>
            <a:endParaRPr lang="en-US" dirty="0"/>
          </a:p>
          <a:p>
            <a:pPr marL="0" indent="0">
              <a:buNone/>
            </a:pPr>
            <a:endParaRPr lang="en-US" sz="100" b="1" dirty="0"/>
          </a:p>
          <a:p>
            <a:pPr marL="0" indent="0">
              <a:buNone/>
            </a:pPr>
            <a:r>
              <a:rPr lang="en-US" sz="2400" b="1" dirty="0"/>
              <a:t>Two sets of closures</a:t>
            </a:r>
          </a:p>
          <a:p>
            <a:r>
              <a:rPr lang="en-US" sz="1800" b="1" dirty="0"/>
              <a:t>Sim1</a:t>
            </a:r>
            <a:r>
              <a:rPr lang="en-US" sz="1800" dirty="0"/>
              <a:t>: Full employment, savings-driven investment, deficit financed    </a:t>
            </a:r>
            <a:r>
              <a:rPr lang="en-US" sz="1200" dirty="0"/>
              <a:t>(fixed savings rates, flexible investment, flexible government savings) </a:t>
            </a:r>
            <a:endParaRPr lang="en-US" sz="1800" dirty="0"/>
          </a:p>
          <a:p>
            <a:r>
              <a:rPr lang="en-US" sz="1800" b="1" dirty="0"/>
              <a:t>Sim2</a:t>
            </a:r>
            <a:r>
              <a:rPr lang="en-US" sz="1800" dirty="0"/>
              <a:t>: Full employment, savings-driven investment, tax financed          </a:t>
            </a:r>
            <a:r>
              <a:rPr lang="en-US" sz="1200" dirty="0"/>
              <a:t>(fixed savings rates, flexible investment, flexible direct tax rates) </a:t>
            </a:r>
          </a:p>
          <a:p>
            <a:endParaRPr lang="en-US" sz="1800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EA71BDF-55FB-47F7-B149-034A5463F856}"/>
              </a:ext>
            </a:extLst>
          </p:cNvPr>
          <p:cNvGrpSpPr/>
          <p:nvPr/>
        </p:nvGrpSpPr>
        <p:grpSpPr>
          <a:xfrm>
            <a:off x="430850" y="3679751"/>
            <a:ext cx="10640966" cy="1214622"/>
            <a:chOff x="457511" y="5261050"/>
            <a:chExt cx="10640966" cy="121462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B670847-3347-4E8C-A939-32C3A472DD22}"/>
                </a:ext>
              </a:extLst>
            </p:cNvPr>
            <p:cNvSpPr/>
            <p:nvPr/>
          </p:nvSpPr>
          <p:spPr>
            <a:xfrm>
              <a:off x="457511" y="5261050"/>
              <a:ext cx="10640966" cy="1214622"/>
            </a:xfrm>
            <a:prstGeom prst="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FDDECFE-4C38-4499-A42C-28AC76E6A853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Direct taxes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E0E5BB9-BA75-44BD-8A05-31A735A13744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Indirect taxes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4B11CD0-89B0-4AA8-9F70-3C3ED5E2BB99}"/>
                </a:ext>
              </a:extLst>
            </p:cNvPr>
            <p:cNvSpPr txBox="1"/>
            <p:nvPr/>
          </p:nvSpPr>
          <p:spPr>
            <a:xfrm>
              <a:off x="4067160" y="5967680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Grants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D8128A-A0E6-45DD-B98D-AC84462F55D4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1AC5EDD-04D4-4368-95CD-6C7636BF554C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144CAD6-163C-41B1-BB5B-351C0508FE4F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Consumption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E57E3FC-CB01-4CC0-811D-291B6B00EEB7}"/>
                </a:ext>
              </a:extLst>
            </p:cNvPr>
            <p:cNvSpPr txBox="1"/>
            <p:nvPr/>
          </p:nvSpPr>
          <p:spPr>
            <a:xfrm>
              <a:off x="7803428" y="5971567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Transfers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C73D5CB-F7CA-48DF-9B04-6AC865065A5E}"/>
                </a:ext>
              </a:extLst>
            </p:cNvPr>
            <p:cNvSpPr txBox="1"/>
            <p:nvPr/>
          </p:nvSpPr>
          <p:spPr>
            <a:xfrm>
              <a:off x="9508877" y="5972701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612B54C-A0E7-4D89-9052-2EA5674D0E91}"/>
                </a:ext>
              </a:extLst>
            </p:cNvPr>
            <p:cNvSpPr txBox="1"/>
            <p:nvPr/>
          </p:nvSpPr>
          <p:spPr>
            <a:xfrm>
              <a:off x="7448760" y="5956178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6622BCA-A05B-4D64-AC74-14AF914685EB}"/>
                </a:ext>
              </a:extLst>
            </p:cNvPr>
            <p:cNvSpPr txBox="1"/>
            <p:nvPr/>
          </p:nvSpPr>
          <p:spPr>
            <a:xfrm>
              <a:off x="9153864" y="5950955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8804195-7EA7-4659-8063-5AD3A2AA5BBE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=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58E90C4-5DAE-4EC8-B153-6988F56259B8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Government</a:t>
              </a:r>
            </a:p>
            <a:p>
              <a:r>
                <a:rPr lang="en-US" sz="1050" dirty="0">
                  <a:solidFill>
                    <a:schemeClr val="accent2">
                      <a:lumMod val="75000"/>
                    </a:schemeClr>
                  </a:solidFill>
                </a:rPr>
                <a:t>Recurrent fiscal deficit (savings) equals total revenues (taxes and grants) less total expenditures (consumption and transfers)</a:t>
              </a:r>
            </a:p>
            <a:p>
              <a:endParaRPr 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5CCEF2FC-D09F-4F0F-B182-FDD27432D051}"/>
              </a:ext>
            </a:extLst>
          </p:cNvPr>
          <p:cNvSpPr txBox="1"/>
          <p:nvPr/>
        </p:nvSpPr>
        <p:spPr>
          <a:xfrm>
            <a:off x="11071816" y="3851659"/>
            <a:ext cx="10385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Fix two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Tax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Consumption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Public savings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D80860-6712-4C64-B2CC-C14AB5AF9377}"/>
              </a:ext>
            </a:extLst>
          </p:cNvPr>
          <p:cNvGrpSpPr/>
          <p:nvPr/>
        </p:nvGrpSpPr>
        <p:grpSpPr>
          <a:xfrm>
            <a:off x="430850" y="5027098"/>
            <a:ext cx="7481379" cy="1214622"/>
            <a:chOff x="457511" y="5261050"/>
            <a:chExt cx="7481379" cy="121462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2DC6D5F-F702-4775-A265-D2F81B9DB726}"/>
                </a:ext>
              </a:extLst>
            </p:cNvPr>
            <p:cNvSpPr/>
            <p:nvPr/>
          </p:nvSpPr>
          <p:spPr>
            <a:xfrm>
              <a:off x="457511" y="5261050"/>
              <a:ext cx="7160066" cy="1214622"/>
            </a:xfrm>
            <a:prstGeom prst="rect">
              <a:avLst/>
            </a:prstGeom>
            <a:solidFill>
              <a:srgbClr val="5C8E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7965B5F-625C-4096-BB06-48BAD7AEDD2A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Private saving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5C53065-2D5B-47ED-949C-80F625DE7BE3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E485BB-0A7A-4588-9300-565D74ECDD0B}"/>
                </a:ext>
              </a:extLst>
            </p:cNvPr>
            <p:cNvSpPr txBox="1"/>
            <p:nvPr/>
          </p:nvSpPr>
          <p:spPr>
            <a:xfrm>
              <a:off x="4067160" y="5967680"/>
              <a:ext cx="1378005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97DC34C-3B0A-4EE1-9938-6EEAEAF159B7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1258F1E-898F-478D-86BA-08A9117D99A2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C8CBB67-1B91-45E9-83A1-8DDF54AAA2BA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Investment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CFEC5E3-50B9-451D-B3F4-79EEAF02929F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5C8E3A"/>
                  </a:solidFill>
                </a:rPr>
                <a:t>=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2585F80-46C9-4DBC-A714-F25CF5822CA4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C8E3A"/>
                  </a:solidFill>
                </a:rPr>
                <a:t>Savings – Investment </a:t>
              </a:r>
            </a:p>
            <a:p>
              <a:r>
                <a:rPr lang="en-US" sz="1050" dirty="0">
                  <a:solidFill>
                    <a:srgbClr val="5C8E3A"/>
                  </a:solidFill>
                </a:rPr>
                <a:t>Total supply of loanable funds (savings) must equal total investment demand</a:t>
              </a:r>
            </a:p>
            <a:p>
              <a:endParaRPr lang="en-US" sz="2000" b="1" dirty="0">
                <a:solidFill>
                  <a:srgbClr val="5C8E3A"/>
                </a:solidFill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C1ED6E3-F19E-4BD7-AF99-C19C8017C755}"/>
              </a:ext>
            </a:extLst>
          </p:cNvPr>
          <p:cNvSpPr txBox="1"/>
          <p:nvPr/>
        </p:nvSpPr>
        <p:spPr>
          <a:xfrm>
            <a:off x="7590916" y="5280466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5C8E3A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Savings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3197454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CFF7-B33D-4012-BFD6-7EDE91CC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DEB5-5AE8-421B-AC4D-6C85290B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Macro</a:t>
            </a:r>
          </a:p>
          <a:p>
            <a:r>
              <a:rPr lang="en-US" dirty="0"/>
              <a:t>↓Tariffs    →    ↑Imports     →     </a:t>
            </a:r>
            <a:r>
              <a:rPr lang="en-US" dirty="0">
                <a:solidFill>
                  <a:srgbClr val="0B8EB8"/>
                </a:solidFill>
              </a:rPr>
              <a:t>Real exchange rate depreciation</a:t>
            </a:r>
            <a:r>
              <a:rPr lang="en-US" dirty="0"/>
              <a:t>     →  ↑Exports </a:t>
            </a:r>
          </a:p>
          <a:p>
            <a:r>
              <a:rPr lang="en-US" dirty="0"/>
              <a:t>↓Tariffs    →    ↓Consumer prices     →      ↑Private consumption</a:t>
            </a:r>
          </a:p>
          <a:p>
            <a:r>
              <a:rPr lang="en-US" dirty="0"/>
              <a:t>↓Tariffs = Revenue shortfall    →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↓Public savings   OR    ↑Tax rates</a:t>
            </a:r>
          </a:p>
          <a:p>
            <a:pPr marL="0" indent="0">
              <a:buNone/>
            </a:pPr>
            <a:r>
              <a:rPr lang="en-US" dirty="0"/>
              <a:t>				   ↓Public savings    →    </a:t>
            </a:r>
            <a:r>
              <a:rPr lang="en-US" dirty="0">
                <a:solidFill>
                  <a:srgbClr val="5C8E3A"/>
                </a:solidFill>
              </a:rPr>
              <a:t>↓Investment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            ↑Tax rates    →    Smaller ↑private 											consumption</a:t>
            </a:r>
          </a:p>
          <a:p>
            <a:pPr marL="0" indent="0">
              <a:buNone/>
            </a:pPr>
            <a:r>
              <a:rPr lang="en-US" b="1" dirty="0"/>
              <a:t>Trade (+ Base)</a:t>
            </a:r>
          </a:p>
          <a:p>
            <a:r>
              <a:rPr lang="en-US" dirty="0"/>
              <a:t>↓Tariffs    →     ↑Import-intensive commodities</a:t>
            </a:r>
          </a:p>
          <a:p>
            <a:pPr marL="0" indent="0">
              <a:buNone/>
            </a:pPr>
            <a:r>
              <a:rPr lang="en-US" b="1" dirty="0"/>
              <a:t>Sector</a:t>
            </a:r>
          </a:p>
          <a:p>
            <a:r>
              <a:rPr lang="en-US" dirty="0"/>
              <a:t>↓Tariffs    →     ↓GDP for import-competing sectors</a:t>
            </a:r>
          </a:p>
          <a:p>
            <a:pPr marL="0" indent="0">
              <a:buNone/>
            </a:pPr>
            <a:r>
              <a:rPr lang="en-US" b="1" dirty="0"/>
              <a:t>Households</a:t>
            </a:r>
          </a:p>
          <a:p>
            <a:r>
              <a:rPr lang="en-US" dirty="0"/>
              <a:t>↑Private consumption    (smaller with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↑private savings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↑Tax rates     </a:t>
            </a:r>
            <a:r>
              <a:rPr lang="en-US" dirty="0"/>
              <a:t>→    ↓Consumption for high-income urban households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65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AB20-9CB9-458A-057F-57CA4A80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Files in the Folder</a:t>
            </a:r>
          </a:p>
        </p:txBody>
      </p:sp>
      <p:sp>
        <p:nvSpPr>
          <p:cNvPr id="47" name="Text Box 5">
            <a:extLst>
              <a:ext uri="{FF2B5EF4-FFF2-40B4-BE49-F238E27FC236}">
                <a16:creationId xmlns:a16="http://schemas.microsoft.com/office/drawing/2014/main" id="{C76B5380-65CA-7A73-18E0-63AE23F2F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939" y="3261940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Data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basemod.xlsx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Text Box 12">
            <a:extLst>
              <a:ext uri="{FF2B5EF4-FFF2-40B4-BE49-F238E27FC236}">
                <a16:creationId xmlns:a16="http://schemas.microsoft.com/office/drawing/2014/main" id="{1E9D9773-0DA1-D886-044D-76F2218AD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13" y="2110188"/>
            <a:ext cx="2068604" cy="50783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Control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0control.gms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F01CEBC-FBC1-6680-501D-E64A9674C2C5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3667543" y="3515856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318FF1-AE68-0C31-1617-FB9A6297C7EA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187215" y="3775328"/>
            <a:ext cx="0" cy="53510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12">
            <a:extLst>
              <a:ext uri="{FF2B5EF4-FFF2-40B4-BE49-F238E27FC236}">
                <a16:creationId xmlns:a16="http://schemas.microsoft.com/office/drawing/2014/main" id="{8F47C45C-851E-8677-5504-7C15EE8CD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13" y="3267497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1model.gms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2" name="Text Box 12">
            <a:extLst>
              <a:ext uri="{FF2B5EF4-FFF2-40B4-BE49-F238E27FC236}">
                <a16:creationId xmlns:a16="http://schemas.microsoft.com/office/drawing/2014/main" id="{BB678490-3195-E267-CD57-7EBCEBB6D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13" y="4438276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2simulation_static.gms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9DCC2E2-9C81-3C29-D591-6B01AD9DB1AB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5187215" y="4946107"/>
            <a:ext cx="0" cy="59134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5">
            <a:extLst>
              <a:ext uri="{FF2B5EF4-FFF2-40B4-BE49-F238E27FC236}">
                <a16:creationId xmlns:a16="http://schemas.microsoft.com/office/drawing/2014/main" id="{76880C02-C531-1E93-E488-06C9DF827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13" y="5609055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Results File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statrep.xlsx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BB5BE39-FB92-7F95-9A5B-F12C00F0F190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5187215" y="2618019"/>
            <a:ext cx="0" cy="516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Box 5">
            <a:extLst>
              <a:ext uri="{FF2B5EF4-FFF2-40B4-BE49-F238E27FC236}">
                <a16:creationId xmlns:a16="http://schemas.microsoft.com/office/drawing/2014/main" id="{2D881346-655D-743B-0391-5DD0294C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081" y="4438276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Data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statsim.xlsx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BC5359A-9285-75A9-C878-3FAA3BC293AF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3663685" y="4692192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33086E0-6591-09F0-B81A-48AA001D8F0F}"/>
              </a:ext>
            </a:extLst>
          </p:cNvPr>
          <p:cNvSpPr txBox="1"/>
          <p:nvPr/>
        </p:nvSpPr>
        <p:spPr>
          <a:xfrm>
            <a:off x="1038225" y="1127194"/>
            <a:ext cx="273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Change elasticities in basemod.xlsx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EF9F05-7E4D-FBD0-5B4A-9B9AFD07C13A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404512" y="1958191"/>
            <a:ext cx="0" cy="1061234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623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D2E9DD0-26FF-3D41-8FEF-F14F9046B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834" y="1090377"/>
            <a:ext cx="4622166" cy="57931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D3A818-B2A8-262E-2C0C-250987E5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Changing Import Elasticities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BEFF8F-8CB1-8C8E-B866-10AD56088A8B}"/>
              </a:ext>
            </a:extLst>
          </p:cNvPr>
          <p:cNvSpPr txBox="1"/>
          <p:nvPr/>
        </p:nvSpPr>
        <p:spPr bwMode="auto">
          <a:xfrm>
            <a:off x="9771354" y="424936"/>
            <a:ext cx="1674057" cy="369332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basemod.xlsx</a:t>
            </a:r>
          </a:p>
        </p:txBody>
      </p:sp>
      <p:grpSp>
        <p:nvGrpSpPr>
          <p:cNvPr id="11" name="Group 15">
            <a:extLst>
              <a:ext uri="{FF2B5EF4-FFF2-40B4-BE49-F238E27FC236}">
                <a16:creationId xmlns:a16="http://schemas.microsoft.com/office/drawing/2014/main" id="{09712EEF-A468-D18D-0934-7770DE2306E3}"/>
              </a:ext>
            </a:extLst>
          </p:cNvPr>
          <p:cNvGrpSpPr>
            <a:grpSpLocks/>
          </p:cNvGrpSpPr>
          <p:nvPr/>
        </p:nvGrpSpPr>
        <p:grpSpPr bwMode="auto">
          <a:xfrm>
            <a:off x="9324012" y="6057899"/>
            <a:ext cx="2043325" cy="484915"/>
            <a:chOff x="5257800" y="685800"/>
            <a:chExt cx="2043325" cy="484915"/>
          </a:xfrm>
          <a:effectLst/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DD76C2-1F04-4658-4757-3FE6C8AC71F0}"/>
                </a:ext>
              </a:extLst>
            </p:cNvPr>
            <p:cNvSpPr txBox="1"/>
            <p:nvPr/>
          </p:nvSpPr>
          <p:spPr>
            <a:xfrm>
              <a:off x="5257800" y="685800"/>
              <a:ext cx="1371600" cy="381000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Elasticities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EF409A4-7FD0-D961-80E0-41490AF816DB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6629400" y="876300"/>
              <a:ext cx="671725" cy="294415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17DAC34-3E54-3888-4B8B-3DBCABF3A059}"/>
              </a:ext>
            </a:extLst>
          </p:cNvPr>
          <p:cNvSpPr/>
          <p:nvPr/>
        </p:nvSpPr>
        <p:spPr>
          <a:xfrm>
            <a:off x="11073463" y="1972639"/>
            <a:ext cx="672363" cy="4275760"/>
          </a:xfrm>
          <a:prstGeom prst="rect">
            <a:avLst/>
          </a:prstGeom>
          <a:solidFill>
            <a:srgbClr val="0B8EB8">
              <a:alpha val="38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54544B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CFCF2A-07F5-D0E0-6D9A-5724C37976DD}"/>
              </a:ext>
            </a:extLst>
          </p:cNvPr>
          <p:cNvCxnSpPr>
            <a:cxnSpLocks/>
          </p:cNvCxnSpPr>
          <p:nvPr/>
        </p:nvCxnSpPr>
        <p:spPr>
          <a:xfrm flipV="1">
            <a:off x="7191983" y="2551544"/>
            <a:ext cx="3657600" cy="1085508"/>
          </a:xfrm>
          <a:prstGeom prst="straightConnector1">
            <a:avLst/>
          </a:prstGeom>
          <a:ln>
            <a:solidFill>
              <a:srgbClr val="0B8EB8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38">
            <a:extLst>
              <a:ext uri="{FF2B5EF4-FFF2-40B4-BE49-F238E27FC236}">
                <a16:creationId xmlns:a16="http://schemas.microsoft.com/office/drawing/2014/main" id="{0C59D5A4-55AD-B34F-EB0E-8DE376F41E5A}"/>
              </a:ext>
            </a:extLst>
          </p:cNvPr>
          <p:cNvGrpSpPr>
            <a:grpSpLocks/>
          </p:cNvGrpSpPr>
          <p:nvPr/>
        </p:nvGrpSpPr>
        <p:grpSpPr bwMode="auto">
          <a:xfrm>
            <a:off x="5286983" y="1445998"/>
            <a:ext cx="2133600" cy="762000"/>
            <a:chOff x="5410200" y="-647700"/>
            <a:chExt cx="2133600" cy="762000"/>
          </a:xfrm>
          <a:effectLst/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CC36B8-C3F4-91FC-E0D4-A07673978B1C}"/>
                </a:ext>
              </a:extLst>
            </p:cNvPr>
            <p:cNvSpPr txBox="1"/>
            <p:nvPr/>
          </p:nvSpPr>
          <p:spPr>
            <a:xfrm>
              <a:off x="5410200" y="-266700"/>
              <a:ext cx="1676400" cy="381000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Save file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4AC2E3D-F7AB-661A-E072-05CB0C404E6F}"/>
                </a:ext>
              </a:extLst>
            </p:cNvPr>
            <p:cNvCxnSpPr/>
            <p:nvPr/>
          </p:nvCxnSpPr>
          <p:spPr>
            <a:xfrm flipV="1">
              <a:off x="7086600" y="-647700"/>
              <a:ext cx="457200" cy="400050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7191323-2257-E9F3-8644-4696E4406A3D}"/>
              </a:ext>
            </a:extLst>
          </p:cNvPr>
          <p:cNvSpPr txBox="1"/>
          <p:nvPr/>
        </p:nvSpPr>
        <p:spPr>
          <a:xfrm>
            <a:off x="4799988" y="6516256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statsim.xlsx | Elasticities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704BB0-FF63-99AC-9391-DFE042219C64}"/>
              </a:ext>
            </a:extLst>
          </p:cNvPr>
          <p:cNvSpPr txBox="1"/>
          <p:nvPr/>
        </p:nvSpPr>
        <p:spPr>
          <a:xfrm>
            <a:off x="395273" y="1176946"/>
            <a:ext cx="443451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Save a copy of your statrep.xlsx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 all import trade elasticities to 0.5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Rerun model and compare new and old output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2F7B51-2582-A059-5CE5-D7798784C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663" y="3200214"/>
            <a:ext cx="3010320" cy="26673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3830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63C1-DFD1-7FA7-805F-272DF306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AF10C-17ED-A72F-08C7-8E361ADF8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/>
              <a:t>Compare the old and new output files: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How did lowering elasticities change macroeconomic outcomes?</a:t>
            </a:r>
          </a:p>
          <a:p>
            <a:pPr lvl="1"/>
            <a:endParaRPr lang="en-US" sz="100" dirty="0"/>
          </a:p>
          <a:p>
            <a:r>
              <a:rPr lang="en-US" dirty="0"/>
              <a:t>Which sectors are hurt or benefits the most under each set of elasticities?</a:t>
            </a:r>
          </a:p>
          <a:p>
            <a:endParaRPr lang="en-US" sz="100" dirty="0"/>
          </a:p>
          <a:p>
            <a:r>
              <a:rPr lang="en-US" dirty="0"/>
              <a:t>How was the distribution of impacts on household consumption affected?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012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0C24-9BE9-D87E-23DC-694377C3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973C4-8116-22DF-B6A7-45F3B006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DFA0-C796-086B-0608-5CF50F6C9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/>
              <a:t>Compare the old and new output files: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How did lowering elasticities change macroeconomic outcomes?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Same change in import taxes / GDP ratio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Smaller import response 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Exchange rate appreciates rather than depreciates (export effect now dominates)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Small decline in household consumption</a:t>
            </a:r>
          </a:p>
          <a:p>
            <a:pPr lvl="1"/>
            <a:endParaRPr lang="en-US" sz="100" dirty="0"/>
          </a:p>
          <a:p>
            <a:r>
              <a:rPr lang="en-US" dirty="0"/>
              <a:t>Which sectors are hurt or benefits the most under each set of elasticities?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Clothing used to benefit the most, and still does with the lower elasticities (high tariffs)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Metals used to be worst affected, but now it is cut flowers (exports hurt by appreciation)</a:t>
            </a:r>
          </a:p>
          <a:p>
            <a:endParaRPr lang="en-US" sz="100" dirty="0"/>
          </a:p>
          <a:p>
            <a:r>
              <a:rPr lang="en-US" dirty="0"/>
              <a:t>How was the distribution of impacts on household consumption affected?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Similar change for Q5 households (due to same deficit and tax increase)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Smaller increase for Q1-Q4 (more output is directed to exports rather than consumption)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918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E30B-A759-4C10-A90C-C51BF94A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Market Closures and Elasticities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B1A35-4D26-42F8-966F-0CAA2FC540C7}"/>
              </a:ext>
            </a:extLst>
          </p:cNvPr>
          <p:cNvSpPr txBox="1"/>
          <p:nvPr/>
        </p:nvSpPr>
        <p:spPr>
          <a:xfrm>
            <a:off x="145464" y="873402"/>
            <a:ext cx="586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Equilibrium:</a:t>
            </a:r>
            <a:r>
              <a:rPr lang="en-US" sz="1400" dirty="0"/>
              <a:t> Total factor supply must equal sum of sectoral factor demand 	(determined by “closure rules”)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A84EACA-6A04-42F7-B960-D89E61EAFA88}"/>
              </a:ext>
            </a:extLst>
          </p:cNvPr>
          <p:cNvSpPr/>
          <p:nvPr/>
        </p:nvSpPr>
        <p:spPr>
          <a:xfrm>
            <a:off x="4873335" y="2066354"/>
            <a:ext cx="3260456" cy="2092217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FF1569-A58C-4BD9-8167-8466F1D8D0AA}"/>
              </a:ext>
            </a:extLst>
          </p:cNvPr>
          <p:cNvSpPr txBox="1"/>
          <p:nvPr/>
        </p:nvSpPr>
        <p:spPr>
          <a:xfrm>
            <a:off x="5050935" y="2668076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761718-4C25-4CEE-B815-E4A1D5BA67C0}"/>
              </a:ext>
            </a:extLst>
          </p:cNvPr>
          <p:cNvSpPr txBox="1"/>
          <p:nvPr/>
        </p:nvSpPr>
        <p:spPr>
          <a:xfrm>
            <a:off x="5050935" y="3189921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6C0EEE-E3CD-4ED1-A0F3-6CB8D1316813}"/>
              </a:ext>
            </a:extLst>
          </p:cNvPr>
          <p:cNvSpPr txBox="1"/>
          <p:nvPr/>
        </p:nvSpPr>
        <p:spPr>
          <a:xfrm>
            <a:off x="5050935" y="3717400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C0AE4-6DF5-40FB-A02D-3D9B33D05C2F}"/>
              </a:ext>
            </a:extLst>
          </p:cNvPr>
          <p:cNvSpPr txBox="1"/>
          <p:nvPr/>
        </p:nvSpPr>
        <p:spPr>
          <a:xfrm>
            <a:off x="6347034" y="3189921"/>
            <a:ext cx="1224792" cy="307777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Value-added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D35E542-73DA-4096-AFB6-1257329E4CB8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5984911" y="3343810"/>
            <a:ext cx="362123" cy="0"/>
          </a:xfrm>
          <a:prstGeom prst="straightConnector1">
            <a:avLst/>
          </a:prstGeom>
          <a:ln w="6350">
            <a:solidFill>
              <a:srgbClr val="E49F8C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885697F-F838-4E7E-B511-D1E450B44517}"/>
              </a:ext>
            </a:extLst>
          </p:cNvPr>
          <p:cNvCxnSpPr>
            <a:cxnSpLocks/>
          </p:cNvCxnSpPr>
          <p:nvPr/>
        </p:nvCxnSpPr>
        <p:spPr>
          <a:xfrm flipV="1">
            <a:off x="6123327" y="2821964"/>
            <a:ext cx="1" cy="1049324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2C04002-FED6-45EE-AD3F-320C11C30FF9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5984910" y="2821965"/>
            <a:ext cx="131427" cy="0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C6DCE6-CD8E-447B-B349-1A8208887669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5984911" y="3871289"/>
            <a:ext cx="131426" cy="1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10546E-2EBD-4634-879A-FBB39B4D014A}"/>
              </a:ext>
            </a:extLst>
          </p:cNvPr>
          <p:cNvSpPr txBox="1"/>
          <p:nvPr/>
        </p:nvSpPr>
        <p:spPr>
          <a:xfrm>
            <a:off x="4869723" y="2066354"/>
            <a:ext cx="326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34E2D"/>
                </a:solidFill>
              </a:rPr>
              <a:t>Factory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9440D-4535-4400-84C5-2C33620301AC}"/>
              </a:ext>
            </a:extLst>
          </p:cNvPr>
          <p:cNvSpPr txBox="1"/>
          <p:nvPr/>
        </p:nvSpPr>
        <p:spPr>
          <a:xfrm>
            <a:off x="6055885" y="329807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9F8C"/>
                </a:solidFill>
              </a:rPr>
              <a:t>×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CEA60E-2F8A-4A19-802F-8E218DBDF96B}"/>
              </a:ext>
            </a:extLst>
          </p:cNvPr>
          <p:cNvSpPr txBox="1"/>
          <p:nvPr/>
        </p:nvSpPr>
        <p:spPr>
          <a:xfrm>
            <a:off x="6418234" y="3640336"/>
            <a:ext cx="1764427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b="1" dirty="0">
                <a:solidFill>
                  <a:srgbClr val="E49F8C"/>
                </a:solidFill>
              </a:rPr>
              <a:t>× </a:t>
            </a:r>
            <a:r>
              <a:rPr lang="en-US" sz="1100" dirty="0">
                <a:solidFill>
                  <a:srgbClr val="E49F8C"/>
                </a:solidFill>
              </a:rPr>
              <a:t>Price-driven substitution</a:t>
            </a:r>
            <a:r>
              <a:rPr lang="en-US" sz="1600" b="1" dirty="0">
                <a:solidFill>
                  <a:srgbClr val="E49F8C"/>
                </a:solidFill>
              </a:rPr>
              <a:t>  </a:t>
            </a:r>
            <a:endParaRPr lang="en-US" sz="1400" b="1" dirty="0">
              <a:solidFill>
                <a:srgbClr val="E49F8C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13F999C-FD6E-4B4D-B53E-FB6D0874161D}"/>
              </a:ext>
            </a:extLst>
          </p:cNvPr>
          <p:cNvSpPr/>
          <p:nvPr/>
        </p:nvSpPr>
        <p:spPr>
          <a:xfrm>
            <a:off x="3541018" y="2067756"/>
            <a:ext cx="1294833" cy="2092217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64F486F-B706-435B-84D7-231A2040A8F5}"/>
              </a:ext>
            </a:extLst>
          </p:cNvPr>
          <p:cNvSpPr txBox="1"/>
          <p:nvPr/>
        </p:nvSpPr>
        <p:spPr>
          <a:xfrm>
            <a:off x="3718618" y="2673936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9C5CD3A-16AA-48F4-A643-4855FA535D5D}"/>
              </a:ext>
            </a:extLst>
          </p:cNvPr>
          <p:cNvSpPr txBox="1"/>
          <p:nvPr/>
        </p:nvSpPr>
        <p:spPr>
          <a:xfrm>
            <a:off x="3718618" y="3195781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9A5284-EC2B-4A91-9803-70757F08CA17}"/>
              </a:ext>
            </a:extLst>
          </p:cNvPr>
          <p:cNvSpPr txBox="1"/>
          <p:nvPr/>
        </p:nvSpPr>
        <p:spPr>
          <a:xfrm>
            <a:off x="3718618" y="3723260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385B07C-B9FA-4F96-A331-3BC7BFBD5693}"/>
              </a:ext>
            </a:extLst>
          </p:cNvPr>
          <p:cNvSpPr/>
          <p:nvPr/>
        </p:nvSpPr>
        <p:spPr>
          <a:xfrm>
            <a:off x="2204243" y="2066354"/>
            <a:ext cx="1294833" cy="2098525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A8EE3C6-B6CB-4569-A50B-85E8656A1090}"/>
              </a:ext>
            </a:extLst>
          </p:cNvPr>
          <p:cNvSpPr txBox="1"/>
          <p:nvPr/>
        </p:nvSpPr>
        <p:spPr>
          <a:xfrm>
            <a:off x="2381843" y="2672534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0D9AA19-5E2A-4A34-BC6F-6376D5C6D35D}"/>
              </a:ext>
            </a:extLst>
          </p:cNvPr>
          <p:cNvSpPr txBox="1"/>
          <p:nvPr/>
        </p:nvSpPr>
        <p:spPr>
          <a:xfrm>
            <a:off x="2381843" y="3194379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8588F31-9B25-4AC2-B288-18871C48F209}"/>
              </a:ext>
            </a:extLst>
          </p:cNvPr>
          <p:cNvSpPr txBox="1"/>
          <p:nvPr/>
        </p:nvSpPr>
        <p:spPr>
          <a:xfrm>
            <a:off x="2381843" y="3721858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B6EBFB0-9BEC-44A6-87E9-BED76EB75627}"/>
              </a:ext>
            </a:extLst>
          </p:cNvPr>
          <p:cNvSpPr txBox="1"/>
          <p:nvPr/>
        </p:nvSpPr>
        <p:spPr>
          <a:xfrm>
            <a:off x="3342288" y="263729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4C6CD10-078C-462D-BAEB-4AB153EE5634}"/>
              </a:ext>
            </a:extLst>
          </p:cNvPr>
          <p:cNvSpPr txBox="1"/>
          <p:nvPr/>
        </p:nvSpPr>
        <p:spPr>
          <a:xfrm>
            <a:off x="4680326" y="2654786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506BDB9-5354-4B23-A12E-0FB5892C8BEE}"/>
              </a:ext>
            </a:extLst>
          </p:cNvPr>
          <p:cNvSpPr txBox="1"/>
          <p:nvPr/>
        </p:nvSpPr>
        <p:spPr>
          <a:xfrm>
            <a:off x="3341803" y="3157412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EB9BD3-83AF-467D-91E8-12038E5D5DFE}"/>
              </a:ext>
            </a:extLst>
          </p:cNvPr>
          <p:cNvSpPr txBox="1"/>
          <p:nvPr/>
        </p:nvSpPr>
        <p:spPr>
          <a:xfrm>
            <a:off x="4679841" y="3174900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0448D39-26F6-490A-979A-45092B637B05}"/>
              </a:ext>
            </a:extLst>
          </p:cNvPr>
          <p:cNvSpPr txBox="1"/>
          <p:nvPr/>
        </p:nvSpPr>
        <p:spPr>
          <a:xfrm>
            <a:off x="3338513" y="3686147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52F344C-6302-4D05-B015-B4B315526A89}"/>
              </a:ext>
            </a:extLst>
          </p:cNvPr>
          <p:cNvSpPr txBox="1"/>
          <p:nvPr/>
        </p:nvSpPr>
        <p:spPr>
          <a:xfrm>
            <a:off x="4676551" y="3703635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83AF9-3DE3-44A2-BC00-DA3656DC5A9D}"/>
              </a:ext>
            </a:extLst>
          </p:cNvPr>
          <p:cNvSpPr txBox="1"/>
          <p:nvPr/>
        </p:nvSpPr>
        <p:spPr>
          <a:xfrm>
            <a:off x="560504" y="2672534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Workforce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A5CC286-46E0-4A47-A1E8-65A49C7B49CD}"/>
              </a:ext>
            </a:extLst>
          </p:cNvPr>
          <p:cNvSpPr txBox="1"/>
          <p:nvPr/>
        </p:nvSpPr>
        <p:spPr>
          <a:xfrm>
            <a:off x="560504" y="3194379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 availability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44C954D-FE68-47E0-881A-7A0417BF58EF}"/>
              </a:ext>
            </a:extLst>
          </p:cNvPr>
          <p:cNvSpPr txBox="1"/>
          <p:nvPr/>
        </p:nvSpPr>
        <p:spPr>
          <a:xfrm>
            <a:off x="560504" y="3721858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 supply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60C91DD-AA11-4E7E-9EC3-D9295C7F558F}"/>
              </a:ext>
            </a:extLst>
          </p:cNvPr>
          <p:cNvSpPr txBox="1"/>
          <p:nvPr/>
        </p:nvSpPr>
        <p:spPr>
          <a:xfrm>
            <a:off x="2007802" y="263729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11B3B5A-C48F-4EC2-80A6-15A3CA6DF1BB}"/>
              </a:ext>
            </a:extLst>
          </p:cNvPr>
          <p:cNvSpPr txBox="1"/>
          <p:nvPr/>
        </p:nvSpPr>
        <p:spPr>
          <a:xfrm>
            <a:off x="2007317" y="3157412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36844E9-A404-4C95-BB96-3BC650B864D1}"/>
              </a:ext>
            </a:extLst>
          </p:cNvPr>
          <p:cNvSpPr txBox="1"/>
          <p:nvPr/>
        </p:nvSpPr>
        <p:spPr>
          <a:xfrm>
            <a:off x="2004027" y="3686147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E475AC5-D501-468C-8267-56DDCE15EE28}"/>
              </a:ext>
            </a:extLst>
          </p:cNvPr>
          <p:cNvGrpSpPr/>
          <p:nvPr/>
        </p:nvGrpSpPr>
        <p:grpSpPr>
          <a:xfrm>
            <a:off x="2733792" y="4489789"/>
            <a:ext cx="9607057" cy="2126165"/>
            <a:chOff x="908637" y="391127"/>
            <a:chExt cx="14166230" cy="2922936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6379AC46-1E18-4C07-A70B-F07BA8AE4933}"/>
                </a:ext>
              </a:extLst>
            </p:cNvPr>
            <p:cNvGrpSpPr/>
            <p:nvPr/>
          </p:nvGrpSpPr>
          <p:grpSpPr>
            <a:xfrm>
              <a:off x="908637" y="391127"/>
              <a:ext cx="6703074" cy="2903826"/>
              <a:chOff x="1533712" y="3745468"/>
              <a:chExt cx="6703074" cy="2903826"/>
            </a:xfrm>
          </p:grpSpPr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59AEFFA4-6575-425C-871A-234EC9BF9827}"/>
                  </a:ext>
                </a:extLst>
              </p:cNvPr>
              <p:cNvGrpSpPr/>
              <p:nvPr/>
            </p:nvGrpSpPr>
            <p:grpSpPr>
              <a:xfrm>
                <a:off x="4948405" y="3745468"/>
                <a:ext cx="3288381" cy="2903826"/>
                <a:chOff x="1172349" y="2746321"/>
                <a:chExt cx="3288381" cy="2903826"/>
              </a:xfrm>
            </p:grpSpPr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017854CA-2EAD-47F7-8C7D-D74AA2E24F61}"/>
                    </a:ext>
                  </a:extLst>
                </p:cNvPr>
                <p:cNvCxnSpPr/>
                <p:nvPr/>
              </p:nvCxnSpPr>
              <p:spPr>
                <a:xfrm flipV="1">
                  <a:off x="1740239" y="2746321"/>
                  <a:ext cx="0" cy="243840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27D00C65-B4BF-42A3-9F9A-1112D0F46EE1}"/>
                    </a:ext>
                  </a:extLst>
                </p:cNvPr>
                <p:cNvCxnSpPr/>
                <p:nvPr/>
              </p:nvCxnSpPr>
              <p:spPr>
                <a:xfrm>
                  <a:off x="1740239" y="5184721"/>
                  <a:ext cx="2720491" cy="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A2E9A26-7131-4963-ABEC-AB6FC46F9CAF}"/>
                    </a:ext>
                  </a:extLst>
                </p:cNvPr>
                <p:cNvSpPr txBox="1"/>
                <p:nvPr/>
              </p:nvSpPr>
              <p:spPr>
                <a:xfrm>
                  <a:off x="1172349" y="2782676"/>
                  <a:ext cx="635371" cy="2402044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Wages</a:t>
                  </a: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23E32086-7ACF-4910-B5A0-434FD4A7E65A}"/>
                    </a:ext>
                  </a:extLst>
                </p:cNvPr>
                <p:cNvSpPr txBox="1"/>
                <p:nvPr/>
              </p:nvSpPr>
              <p:spPr>
                <a:xfrm>
                  <a:off x="1680864" y="5184721"/>
                  <a:ext cx="2703666" cy="465426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Employment</a:t>
                  </a:r>
                </a:p>
              </p:txBody>
            </p:sp>
          </p:grp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BC6A28D1-6AC8-4030-AFEE-9A98E120468C}"/>
                  </a:ext>
                </a:extLst>
              </p:cNvPr>
              <p:cNvCxnSpPr/>
              <p:nvPr/>
            </p:nvCxnSpPr>
            <p:spPr>
              <a:xfrm flipH="1" flipV="1">
                <a:off x="6703236" y="4223216"/>
                <a:ext cx="8544" cy="1938754"/>
              </a:xfrm>
              <a:prstGeom prst="line">
                <a:avLst/>
              </a:prstGeom>
              <a:ln w="15875">
                <a:solidFill>
                  <a:srgbClr val="C34E2D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TextBox 8">
                <a:extLst>
                  <a:ext uri="{FF2B5EF4-FFF2-40B4-BE49-F238E27FC236}">
                    <a16:creationId xmlns:a16="http://schemas.microsoft.com/office/drawing/2014/main" id="{D1D37C25-0141-47B4-9E37-C45A5EC7D6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3712" y="4785408"/>
                <a:ext cx="3200400" cy="803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 b="1" dirty="0">
                    <a:latin typeface="Calibri" pitchFamily="34" charset="0"/>
                  </a:rPr>
                  <a:t>Option 1</a:t>
                </a:r>
              </a:p>
              <a:p>
                <a:pPr algn="r"/>
                <a:r>
                  <a:rPr lang="en-US" sz="1600" dirty="0">
                    <a:latin typeface="Calibri" pitchFamily="34" charset="0"/>
                  </a:rPr>
                  <a:t>Full employment</a:t>
                </a:r>
              </a:p>
            </p:txBody>
          </p:sp>
        </p:grp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9C396538-FD5F-4CC5-A21D-9B50FA0D94A5}"/>
                </a:ext>
              </a:extLst>
            </p:cNvPr>
            <p:cNvCxnSpPr/>
            <p:nvPr/>
          </p:nvCxnSpPr>
          <p:spPr>
            <a:xfrm flipH="1" flipV="1">
              <a:off x="5239961" y="1451465"/>
              <a:ext cx="1385984" cy="1165180"/>
            </a:xfrm>
            <a:prstGeom prst="line">
              <a:avLst/>
            </a:prstGeom>
            <a:ln w="15875">
              <a:solidFill>
                <a:srgbClr val="C34E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D45CD31-4D9F-403A-B23E-DF092D245DC9}"/>
                </a:ext>
              </a:extLst>
            </p:cNvPr>
            <p:cNvCxnSpPr/>
            <p:nvPr/>
          </p:nvCxnSpPr>
          <p:spPr>
            <a:xfrm flipH="1" flipV="1">
              <a:off x="5468561" y="1021275"/>
              <a:ext cx="1385984" cy="1165180"/>
            </a:xfrm>
            <a:prstGeom prst="line">
              <a:avLst/>
            </a:prstGeom>
            <a:ln w="15875">
              <a:solidFill>
                <a:srgbClr val="0B8EB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C4A25D8-82C0-4435-A866-15663B39AEC2}"/>
                </a:ext>
              </a:extLst>
            </p:cNvPr>
            <p:cNvGrpSpPr/>
            <p:nvPr/>
          </p:nvGrpSpPr>
          <p:grpSpPr>
            <a:xfrm>
              <a:off x="8221312" y="410237"/>
              <a:ext cx="6853555" cy="2903826"/>
              <a:chOff x="4883987" y="3745468"/>
              <a:chExt cx="6853555" cy="290382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E14CA3FC-2E9D-4791-BB18-49E5027651E1}"/>
                  </a:ext>
                </a:extLst>
              </p:cNvPr>
              <p:cNvGrpSpPr/>
              <p:nvPr/>
            </p:nvGrpSpPr>
            <p:grpSpPr>
              <a:xfrm>
                <a:off x="4883987" y="3745468"/>
                <a:ext cx="3352799" cy="2903826"/>
                <a:chOff x="1107931" y="2746321"/>
                <a:chExt cx="3352799" cy="2903826"/>
              </a:xfrm>
            </p:grpSpPr>
            <p:cxnSp>
              <p:nvCxnSpPr>
                <p:cNvPr id="168" name="Straight Arrow Connector 167">
                  <a:extLst>
                    <a:ext uri="{FF2B5EF4-FFF2-40B4-BE49-F238E27FC236}">
                      <a16:creationId xmlns:a16="http://schemas.microsoft.com/office/drawing/2014/main" id="{A6E3A00A-F1C1-4912-876A-71B63C9013B4}"/>
                    </a:ext>
                  </a:extLst>
                </p:cNvPr>
                <p:cNvCxnSpPr/>
                <p:nvPr/>
              </p:nvCxnSpPr>
              <p:spPr>
                <a:xfrm flipV="1">
                  <a:off x="1740239" y="2746321"/>
                  <a:ext cx="0" cy="243840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>
                  <a:extLst>
                    <a:ext uri="{FF2B5EF4-FFF2-40B4-BE49-F238E27FC236}">
                      <a16:creationId xmlns:a16="http://schemas.microsoft.com/office/drawing/2014/main" id="{A5A057E8-0200-47EC-806C-BA7792B82DCC}"/>
                    </a:ext>
                  </a:extLst>
                </p:cNvPr>
                <p:cNvCxnSpPr/>
                <p:nvPr/>
              </p:nvCxnSpPr>
              <p:spPr>
                <a:xfrm>
                  <a:off x="1740239" y="5184721"/>
                  <a:ext cx="2720491" cy="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1AA3D68-7994-4F8A-B7CD-5536D171F534}"/>
                    </a:ext>
                  </a:extLst>
                </p:cNvPr>
                <p:cNvSpPr txBox="1"/>
                <p:nvPr/>
              </p:nvSpPr>
              <p:spPr>
                <a:xfrm>
                  <a:off x="1107931" y="2776230"/>
                  <a:ext cx="635371" cy="240204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Wages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50A2DDF-2A86-4305-A984-C15CEEC782FD}"/>
                    </a:ext>
                  </a:extLst>
                </p:cNvPr>
                <p:cNvSpPr txBox="1"/>
                <p:nvPr/>
              </p:nvSpPr>
              <p:spPr>
                <a:xfrm>
                  <a:off x="2128766" y="5184721"/>
                  <a:ext cx="2255764" cy="465426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Employment</a:t>
                  </a:r>
                </a:p>
              </p:txBody>
            </p:sp>
          </p:grp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BE10830-BA49-4E41-A402-DF5E2D74A291}"/>
                  </a:ext>
                </a:extLst>
              </p:cNvPr>
              <p:cNvCxnSpPr/>
              <p:nvPr/>
            </p:nvCxnSpPr>
            <p:spPr>
              <a:xfrm flipH="1">
                <a:off x="5516296" y="5214491"/>
                <a:ext cx="2644290" cy="1"/>
              </a:xfrm>
              <a:prstGeom prst="line">
                <a:avLst/>
              </a:prstGeom>
              <a:ln w="15875">
                <a:solidFill>
                  <a:srgbClr val="C34E2D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TextBox 8">
                <a:extLst>
                  <a:ext uri="{FF2B5EF4-FFF2-40B4-BE49-F238E27FC236}">
                    <a16:creationId xmlns:a16="http://schemas.microsoft.com/office/drawing/2014/main" id="{92639434-1BB1-429E-B813-8CF284046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37142" y="4766298"/>
                <a:ext cx="3200400" cy="803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b="1" dirty="0">
                    <a:latin typeface="Calibri" pitchFamily="34" charset="0"/>
                  </a:rPr>
                  <a:t>Option 2</a:t>
                </a:r>
              </a:p>
              <a:p>
                <a:r>
                  <a:rPr lang="en-US" sz="1600" dirty="0">
                    <a:latin typeface="Calibri" pitchFamily="34" charset="0"/>
                  </a:rPr>
                  <a:t>Unemployment</a:t>
                </a:r>
              </a:p>
            </p:txBody>
          </p:sp>
        </p:grp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3BC0EE0-1431-4466-91F4-3631AC6CCD11}"/>
                </a:ext>
              </a:extLst>
            </p:cNvPr>
            <p:cNvCxnSpPr/>
            <p:nvPr/>
          </p:nvCxnSpPr>
          <p:spPr>
            <a:xfrm flipH="1" flipV="1">
              <a:off x="9627811" y="1531482"/>
              <a:ext cx="1385984" cy="1165180"/>
            </a:xfrm>
            <a:prstGeom prst="line">
              <a:avLst/>
            </a:prstGeom>
            <a:ln w="15875">
              <a:solidFill>
                <a:srgbClr val="C34E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95592FE-9FFA-48A0-979D-6D84AACB3113}"/>
                </a:ext>
              </a:extLst>
            </p:cNvPr>
            <p:cNvCxnSpPr/>
            <p:nvPr/>
          </p:nvCxnSpPr>
          <p:spPr>
            <a:xfrm flipH="1" flipV="1">
              <a:off x="9856411" y="1101292"/>
              <a:ext cx="1385984" cy="1165180"/>
            </a:xfrm>
            <a:prstGeom prst="line">
              <a:avLst/>
            </a:prstGeom>
            <a:ln w="15875">
              <a:solidFill>
                <a:srgbClr val="0B8EB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7603FD-DD8D-C8CE-357F-8B62F3001D09}"/>
              </a:ext>
            </a:extLst>
          </p:cNvPr>
          <p:cNvSpPr txBox="1"/>
          <p:nvPr/>
        </p:nvSpPr>
        <p:spPr>
          <a:xfrm>
            <a:off x="516659" y="4432319"/>
            <a:ext cx="2915905" cy="923330"/>
          </a:xfrm>
          <a:prstGeom prst="rect">
            <a:avLst/>
          </a:prstGeom>
          <a:noFill/>
          <a:ln w="12700">
            <a:solidFill>
              <a:srgbClr val="C34E2D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Factor market 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Adjust total factor supply?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Adjust wages?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44E21-7471-679E-FB19-68517226A834}"/>
              </a:ext>
            </a:extLst>
          </p:cNvPr>
          <p:cNvSpPr txBox="1"/>
          <p:nvPr/>
        </p:nvSpPr>
        <p:spPr>
          <a:xfrm>
            <a:off x="8362073" y="2633914"/>
            <a:ext cx="3421980" cy="1477328"/>
          </a:xfrm>
          <a:prstGeom prst="rect">
            <a:avLst/>
          </a:prstGeom>
          <a:noFill/>
          <a:ln w="12700">
            <a:solidFill>
              <a:srgbClr val="C34E2D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Factor substitution elasticities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How easily can producers substitute between factors in response to changes in relative factor prices?</a:t>
            </a:r>
          </a:p>
        </p:txBody>
      </p:sp>
    </p:spTree>
    <p:extLst>
      <p:ext uri="{BB962C8B-B14F-4D97-AF65-F5344CB8AC3E}">
        <p14:creationId xmlns:p14="http://schemas.microsoft.com/office/powerpoint/2010/main" val="298856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E8D7-E435-03AD-D97A-F9D7776D7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8EC43-AFC7-6E36-FF09-B8D7F7AD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Agricultural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559D-F878-BB8C-A477-11B2BCC45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0" y="1025034"/>
            <a:ext cx="9925501" cy="4254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Increase paddy rice TFP by 50%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(just in agriculture)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US" sz="100" b="1" dirty="0"/>
          </a:p>
          <a:p>
            <a:pPr marL="0" indent="0">
              <a:buNone/>
            </a:pPr>
            <a:r>
              <a:rPr lang="en-US" sz="2400" b="1" dirty="0"/>
              <a:t>Three different sets of closures</a:t>
            </a:r>
          </a:p>
          <a:p>
            <a:r>
              <a:rPr lang="en-US" sz="100" b="1" dirty="0"/>
              <a:t>[</a:t>
            </a:r>
          </a:p>
          <a:p>
            <a:r>
              <a:rPr lang="en-US" sz="1800" b="1" dirty="0"/>
              <a:t>Sim1</a:t>
            </a:r>
            <a:r>
              <a:rPr lang="en-US" sz="1800" dirty="0"/>
              <a:t>: Labor</a:t>
            </a:r>
            <a:r>
              <a:rPr lang="en-US" sz="1800" dirty="0">
                <a:solidFill>
                  <a:srgbClr val="C00000"/>
                </a:solidFill>
              </a:rPr>
              <a:t>/land</a:t>
            </a:r>
            <a:r>
              <a:rPr lang="en-US" sz="1800" dirty="0"/>
              <a:t> full employment, capital sector-specific, savings-driven investment, deficit financed</a:t>
            </a:r>
          </a:p>
          <a:p>
            <a:endParaRPr lang="en-US" sz="100" dirty="0"/>
          </a:p>
          <a:p>
            <a:r>
              <a:rPr lang="en-US" sz="1800" b="1" dirty="0"/>
              <a:t>Sim2</a:t>
            </a:r>
            <a:r>
              <a:rPr lang="en-US" sz="1800" dirty="0"/>
              <a:t>: Labor full employment, capital</a:t>
            </a:r>
            <a:r>
              <a:rPr lang="en-US" sz="1800" dirty="0">
                <a:solidFill>
                  <a:srgbClr val="C00000"/>
                </a:solidFill>
              </a:rPr>
              <a:t>/land</a:t>
            </a:r>
            <a:r>
              <a:rPr lang="en-US" sz="1800" dirty="0"/>
              <a:t> sector-specific, savings-driven investment, deficit financed</a:t>
            </a:r>
          </a:p>
          <a:p>
            <a:endParaRPr lang="en-US" sz="100" dirty="0"/>
          </a:p>
          <a:p>
            <a:r>
              <a:rPr lang="en-US" sz="1800" b="1" dirty="0"/>
              <a:t>Sim3</a:t>
            </a:r>
            <a:r>
              <a:rPr lang="en-US" sz="1800" dirty="0"/>
              <a:t>: Urban labor full employment, rural labor </a:t>
            </a:r>
            <a:r>
              <a:rPr lang="en-US" sz="1800" dirty="0">
                <a:solidFill>
                  <a:srgbClr val="C00000"/>
                </a:solidFill>
              </a:rPr>
              <a:t>unemployment</a:t>
            </a:r>
            <a:r>
              <a:rPr lang="en-US" sz="1800" dirty="0"/>
              <a:t>, capital</a:t>
            </a:r>
            <a:r>
              <a:rPr lang="en-US" sz="1800" dirty="0">
                <a:solidFill>
                  <a:srgbClr val="C00000"/>
                </a:solidFill>
              </a:rPr>
              <a:t>/land</a:t>
            </a:r>
            <a:r>
              <a:rPr lang="en-US" sz="1800" dirty="0"/>
              <a:t> sector-specific, savings-driven investment, deficit financed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54C1F-AE06-D9EF-F5FA-2F5B14D4866D}"/>
              </a:ext>
            </a:extLst>
          </p:cNvPr>
          <p:cNvSpPr/>
          <p:nvPr/>
        </p:nvSpPr>
        <p:spPr>
          <a:xfrm>
            <a:off x="5058270" y="4571494"/>
            <a:ext cx="3260456" cy="1661950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07FE3-841F-08B3-CE31-F2D3A35C5664}"/>
              </a:ext>
            </a:extLst>
          </p:cNvPr>
          <p:cNvSpPr txBox="1"/>
          <p:nvPr/>
        </p:nvSpPr>
        <p:spPr>
          <a:xfrm>
            <a:off x="5235870" y="4742949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7FF05-B228-C97C-FE27-507B8054FEB3}"/>
              </a:ext>
            </a:extLst>
          </p:cNvPr>
          <p:cNvSpPr txBox="1"/>
          <p:nvPr/>
        </p:nvSpPr>
        <p:spPr>
          <a:xfrm>
            <a:off x="5235870" y="5264794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B028E-B25B-63DE-1306-12EE0AFB25C0}"/>
              </a:ext>
            </a:extLst>
          </p:cNvPr>
          <p:cNvSpPr txBox="1"/>
          <p:nvPr/>
        </p:nvSpPr>
        <p:spPr>
          <a:xfrm>
            <a:off x="5235870" y="5792273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94246-E0D1-4AAC-5521-93ACCB353A42}"/>
              </a:ext>
            </a:extLst>
          </p:cNvPr>
          <p:cNvSpPr txBox="1"/>
          <p:nvPr/>
        </p:nvSpPr>
        <p:spPr>
          <a:xfrm>
            <a:off x="6531969" y="5264794"/>
            <a:ext cx="1224792" cy="307777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Value-added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260CAB-0F22-4265-61B2-55C610364E8A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6169846" y="5418683"/>
            <a:ext cx="362123" cy="0"/>
          </a:xfrm>
          <a:prstGeom prst="straightConnector1">
            <a:avLst/>
          </a:prstGeom>
          <a:ln w="6350">
            <a:solidFill>
              <a:srgbClr val="E49F8C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468E61-AB49-DCE2-B14D-483C0B9516DF}"/>
              </a:ext>
            </a:extLst>
          </p:cNvPr>
          <p:cNvCxnSpPr>
            <a:cxnSpLocks/>
          </p:cNvCxnSpPr>
          <p:nvPr/>
        </p:nvCxnSpPr>
        <p:spPr>
          <a:xfrm flipV="1">
            <a:off x="6308262" y="4896837"/>
            <a:ext cx="1" cy="1049324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64E5B5-79E2-54E6-DE88-2EEAF405513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169845" y="4896838"/>
            <a:ext cx="131427" cy="0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9FBDAC-CE55-D08D-A863-E7C3B3DDB98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169846" y="5946162"/>
            <a:ext cx="131426" cy="1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39A689-4A31-ACB3-78B4-7D0F2C7CD63C}"/>
              </a:ext>
            </a:extLst>
          </p:cNvPr>
          <p:cNvSpPr txBox="1"/>
          <p:nvPr/>
        </p:nvSpPr>
        <p:spPr>
          <a:xfrm>
            <a:off x="6240820" y="5372951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9F8C"/>
                </a:solidFill>
              </a:rPr>
              <a:t>×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5A9590-2A66-4E46-3595-10CD369061AA}"/>
              </a:ext>
            </a:extLst>
          </p:cNvPr>
          <p:cNvSpPr txBox="1"/>
          <p:nvPr/>
        </p:nvSpPr>
        <p:spPr>
          <a:xfrm>
            <a:off x="6603169" y="5715209"/>
            <a:ext cx="1764427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b="1" dirty="0">
                <a:solidFill>
                  <a:srgbClr val="E49F8C"/>
                </a:solidFill>
              </a:rPr>
              <a:t>× </a:t>
            </a:r>
            <a:r>
              <a:rPr lang="en-US" sz="1100" dirty="0">
                <a:solidFill>
                  <a:srgbClr val="E49F8C"/>
                </a:solidFill>
              </a:rPr>
              <a:t>Price-driven substitution</a:t>
            </a:r>
            <a:r>
              <a:rPr lang="en-US" sz="1600" b="1" dirty="0">
                <a:solidFill>
                  <a:srgbClr val="E49F8C"/>
                </a:solidFill>
              </a:rPr>
              <a:t>  </a:t>
            </a:r>
            <a:endParaRPr lang="en-US" sz="1400" b="1" dirty="0">
              <a:solidFill>
                <a:srgbClr val="E49F8C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8AD224-A265-991A-5F10-8BB94D1BCBDD}"/>
              </a:ext>
            </a:extLst>
          </p:cNvPr>
          <p:cNvSpPr/>
          <p:nvPr/>
        </p:nvSpPr>
        <p:spPr>
          <a:xfrm>
            <a:off x="3725953" y="4571494"/>
            <a:ext cx="1294833" cy="1663352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61E4BD-3BCD-5D12-77F7-413C973866A4}"/>
              </a:ext>
            </a:extLst>
          </p:cNvPr>
          <p:cNvSpPr txBox="1"/>
          <p:nvPr/>
        </p:nvSpPr>
        <p:spPr>
          <a:xfrm>
            <a:off x="3903553" y="4748809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0D81D3-10C9-C919-1FC7-72B03481B4EE}"/>
              </a:ext>
            </a:extLst>
          </p:cNvPr>
          <p:cNvSpPr txBox="1"/>
          <p:nvPr/>
        </p:nvSpPr>
        <p:spPr>
          <a:xfrm>
            <a:off x="3903553" y="5270654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9F4AD-0419-18FC-F831-C07171E2393F}"/>
              </a:ext>
            </a:extLst>
          </p:cNvPr>
          <p:cNvSpPr txBox="1"/>
          <p:nvPr/>
        </p:nvSpPr>
        <p:spPr>
          <a:xfrm>
            <a:off x="3903553" y="5798133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417921-9369-ED83-8DB7-49362B03D9F2}"/>
              </a:ext>
            </a:extLst>
          </p:cNvPr>
          <p:cNvSpPr/>
          <p:nvPr/>
        </p:nvSpPr>
        <p:spPr>
          <a:xfrm>
            <a:off x="2389178" y="4571494"/>
            <a:ext cx="1294833" cy="1668258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22F0B-B7CB-2965-BD07-67ADEBFDCB88}"/>
              </a:ext>
            </a:extLst>
          </p:cNvPr>
          <p:cNvSpPr txBox="1"/>
          <p:nvPr/>
        </p:nvSpPr>
        <p:spPr>
          <a:xfrm>
            <a:off x="2566778" y="4747407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EBA70-832A-BFBB-08B1-6E086A8EABF6}"/>
              </a:ext>
            </a:extLst>
          </p:cNvPr>
          <p:cNvSpPr txBox="1"/>
          <p:nvPr/>
        </p:nvSpPr>
        <p:spPr>
          <a:xfrm>
            <a:off x="2566778" y="5269252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420FE3-69D1-45AC-D720-008315FA0FC5}"/>
              </a:ext>
            </a:extLst>
          </p:cNvPr>
          <p:cNvSpPr txBox="1"/>
          <p:nvPr/>
        </p:nvSpPr>
        <p:spPr>
          <a:xfrm>
            <a:off x="2566778" y="5796731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A5FD19-D685-8BCD-6AF4-EFC05FD543A3}"/>
              </a:ext>
            </a:extLst>
          </p:cNvPr>
          <p:cNvSpPr txBox="1"/>
          <p:nvPr/>
        </p:nvSpPr>
        <p:spPr>
          <a:xfrm>
            <a:off x="3527223" y="4712171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8D732F-D294-A537-CBA7-DCD3F73B4356}"/>
              </a:ext>
            </a:extLst>
          </p:cNvPr>
          <p:cNvSpPr txBox="1"/>
          <p:nvPr/>
        </p:nvSpPr>
        <p:spPr>
          <a:xfrm>
            <a:off x="4865261" y="4729659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095F19-AAB4-352A-E7D3-768E83EB3799}"/>
              </a:ext>
            </a:extLst>
          </p:cNvPr>
          <p:cNvSpPr txBox="1"/>
          <p:nvPr/>
        </p:nvSpPr>
        <p:spPr>
          <a:xfrm>
            <a:off x="3526738" y="5232285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1AF2C7-25A8-42CE-DC6A-900F6B269D9B}"/>
              </a:ext>
            </a:extLst>
          </p:cNvPr>
          <p:cNvSpPr txBox="1"/>
          <p:nvPr/>
        </p:nvSpPr>
        <p:spPr>
          <a:xfrm>
            <a:off x="4864776" y="5249773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925A5-103F-3EFB-25BD-034062549233}"/>
              </a:ext>
            </a:extLst>
          </p:cNvPr>
          <p:cNvSpPr txBox="1"/>
          <p:nvPr/>
        </p:nvSpPr>
        <p:spPr>
          <a:xfrm>
            <a:off x="3523448" y="5761020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13A04A-B237-9F97-4718-67B2FB5FB058}"/>
              </a:ext>
            </a:extLst>
          </p:cNvPr>
          <p:cNvSpPr txBox="1"/>
          <p:nvPr/>
        </p:nvSpPr>
        <p:spPr>
          <a:xfrm>
            <a:off x="4861486" y="577850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EF07A4-20DE-9D6E-8D43-7C880EBEFF35}"/>
              </a:ext>
            </a:extLst>
          </p:cNvPr>
          <p:cNvSpPr txBox="1"/>
          <p:nvPr/>
        </p:nvSpPr>
        <p:spPr>
          <a:xfrm>
            <a:off x="745439" y="4747407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Workforce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C5F196-CE3E-EE58-1928-75D75C554714}"/>
              </a:ext>
            </a:extLst>
          </p:cNvPr>
          <p:cNvSpPr txBox="1"/>
          <p:nvPr/>
        </p:nvSpPr>
        <p:spPr>
          <a:xfrm>
            <a:off x="745439" y="5269252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 availability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0F87A0-796C-937F-C2DA-EA375CD13E28}"/>
              </a:ext>
            </a:extLst>
          </p:cNvPr>
          <p:cNvSpPr txBox="1"/>
          <p:nvPr/>
        </p:nvSpPr>
        <p:spPr>
          <a:xfrm>
            <a:off x="745439" y="5796731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 supply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7362B4-63DF-5D7F-0C69-2DC042BE228A}"/>
              </a:ext>
            </a:extLst>
          </p:cNvPr>
          <p:cNvSpPr txBox="1"/>
          <p:nvPr/>
        </p:nvSpPr>
        <p:spPr>
          <a:xfrm>
            <a:off x="2192737" y="4712171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5231C7-B59F-239B-B7E3-52C3E6CF94CE}"/>
              </a:ext>
            </a:extLst>
          </p:cNvPr>
          <p:cNvSpPr txBox="1"/>
          <p:nvPr/>
        </p:nvSpPr>
        <p:spPr>
          <a:xfrm>
            <a:off x="2192252" y="5232285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3D06B-8B17-F65C-92EC-FD18E0A0BB1D}"/>
              </a:ext>
            </a:extLst>
          </p:cNvPr>
          <p:cNvSpPr txBox="1"/>
          <p:nvPr/>
        </p:nvSpPr>
        <p:spPr>
          <a:xfrm>
            <a:off x="2188962" y="5761020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F2B4D5-88ED-11AC-15C9-FA0996F10F32}"/>
              </a:ext>
            </a:extLst>
          </p:cNvPr>
          <p:cNvSpPr txBox="1"/>
          <p:nvPr/>
        </p:nvSpPr>
        <p:spPr>
          <a:xfrm>
            <a:off x="8712601" y="4782786"/>
            <a:ext cx="2628674" cy="1200329"/>
          </a:xfrm>
          <a:prstGeom prst="rect">
            <a:avLst/>
          </a:prstGeom>
          <a:noFill/>
          <a:ln w="12700">
            <a:solidFill>
              <a:srgbClr val="C34E2D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Base factor substitution elasticities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Agriculture =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Non-agriculture = 2.0</a:t>
            </a:r>
          </a:p>
        </p:txBody>
      </p:sp>
    </p:spTree>
    <p:extLst>
      <p:ext uri="{BB962C8B-B14F-4D97-AF65-F5344CB8AC3E}">
        <p14:creationId xmlns:p14="http://schemas.microsoft.com/office/powerpoint/2010/main" val="2992730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0A2B-09B4-6E3C-92C2-42B11FF2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A900-725A-EE19-7A6E-F8E6689E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430C-14F3-B2B9-4790-923C54D23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Look at the results: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What happens to rice production/trade quantities and prices? How do closures affect these?</a:t>
            </a:r>
          </a:p>
          <a:p>
            <a:pPr lvl="1"/>
            <a:endParaRPr lang="en-US" sz="100" dirty="0"/>
          </a:p>
          <a:p>
            <a:r>
              <a:rPr lang="en-US" dirty="0"/>
              <a:t>What happens to production of other crops?</a:t>
            </a:r>
          </a:p>
          <a:p>
            <a:endParaRPr lang="en-US" sz="100" dirty="0"/>
          </a:p>
          <a:p>
            <a:r>
              <a:rPr lang="en-US" dirty="0"/>
              <a:t>What happens to rural employment and land rents?</a:t>
            </a:r>
          </a:p>
          <a:p>
            <a:endParaRPr lang="en-US" sz="100" dirty="0"/>
          </a:p>
          <a:p>
            <a:r>
              <a:rPr lang="en-US" dirty="0"/>
              <a:t>Which households benefit the most from rice productivity gains?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15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E088F-45E0-71FC-227C-94CF5BE1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EE05-D5BF-A727-DF26-89804323B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B9840-4E28-B957-5B92-6B8F20BD8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Look at the results: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What happens to rice production/trade quantities and prices? How do closures affect these?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Rice production increases by &gt;30%, rice prices fall by &gt;30%, and milled rice imports fall by &gt;30%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Production increase and price/trade declines are larger with sector-specific cropland</a:t>
            </a:r>
          </a:p>
          <a:p>
            <a:pPr lvl="1"/>
            <a:endParaRPr lang="en-US" sz="100" dirty="0"/>
          </a:p>
          <a:p>
            <a:r>
              <a:rPr lang="en-US" dirty="0"/>
              <a:t>What happens to production of other crops?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Production increases for most non-rice crops when land is flexible, but falls when it is fixed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Cut flowers, jute and nut production expand strongly, but only when land is flexible</a:t>
            </a:r>
          </a:p>
          <a:p>
            <a:endParaRPr lang="en-US" sz="100" dirty="0"/>
          </a:p>
          <a:p>
            <a:r>
              <a:rPr lang="en-US" dirty="0"/>
              <a:t>What happens to rural employment and land rents?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Rural employment increases, but land rents fall considerably, esp. when land is fixed</a:t>
            </a:r>
          </a:p>
          <a:p>
            <a:r>
              <a:rPr lang="en-US" sz="100" dirty="0"/>
              <a:t>[</a:t>
            </a:r>
          </a:p>
          <a:p>
            <a:r>
              <a:rPr lang="en-US" dirty="0"/>
              <a:t>Which households benefit the most from rice productivity gains?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Urban and rural nonfarm households are the main beneficiaries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Rural farmers are adversely affected, esp. when land is fixed (due to falling rice prices)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Having unemployed rural labor doesn’t do enough to reverse declines for rural farmers in Q2-Q4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331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2795-D907-8964-610E-61CD0D54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AF1F8ED-0493-57CD-53FA-B63B7DF61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834" y="1090377"/>
            <a:ext cx="4622166" cy="57931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C0BC47-F8BB-99A9-43C0-62267830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Changing Factor Substitution Elasticities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096DC-F8F5-4DAD-1511-68F8D34D7135}"/>
              </a:ext>
            </a:extLst>
          </p:cNvPr>
          <p:cNvSpPr txBox="1"/>
          <p:nvPr/>
        </p:nvSpPr>
        <p:spPr bwMode="auto">
          <a:xfrm>
            <a:off x="10345697" y="513260"/>
            <a:ext cx="1674057" cy="369332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basemod.xlsx</a:t>
            </a:r>
          </a:p>
        </p:txBody>
      </p:sp>
      <p:grpSp>
        <p:nvGrpSpPr>
          <p:cNvPr id="11" name="Group 15">
            <a:extLst>
              <a:ext uri="{FF2B5EF4-FFF2-40B4-BE49-F238E27FC236}">
                <a16:creationId xmlns:a16="http://schemas.microsoft.com/office/drawing/2014/main" id="{9860A47A-9A29-7B8F-96CC-71C4D3F5E8AD}"/>
              </a:ext>
            </a:extLst>
          </p:cNvPr>
          <p:cNvGrpSpPr>
            <a:grpSpLocks/>
          </p:cNvGrpSpPr>
          <p:nvPr/>
        </p:nvGrpSpPr>
        <p:grpSpPr bwMode="auto">
          <a:xfrm>
            <a:off x="9324012" y="6057899"/>
            <a:ext cx="2043325" cy="484915"/>
            <a:chOff x="5257800" y="685800"/>
            <a:chExt cx="2043325" cy="484915"/>
          </a:xfrm>
          <a:effectLst/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5360F0-D0CB-B3C8-6C02-863717531A3D}"/>
                </a:ext>
              </a:extLst>
            </p:cNvPr>
            <p:cNvSpPr txBox="1"/>
            <p:nvPr/>
          </p:nvSpPr>
          <p:spPr>
            <a:xfrm>
              <a:off x="5257800" y="685800"/>
              <a:ext cx="1371600" cy="381000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Elasticities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1C9489C-E493-289C-C8C5-18DFCCAAAAB1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6629400" y="876300"/>
              <a:ext cx="671725" cy="294415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084B-BA64-E9D1-8711-D9DEAC3FF85F}"/>
              </a:ext>
            </a:extLst>
          </p:cNvPr>
          <p:cNvSpPr/>
          <p:nvPr/>
        </p:nvSpPr>
        <p:spPr>
          <a:xfrm>
            <a:off x="8348423" y="1846048"/>
            <a:ext cx="672363" cy="4275760"/>
          </a:xfrm>
          <a:prstGeom prst="rect">
            <a:avLst/>
          </a:prstGeom>
          <a:solidFill>
            <a:srgbClr val="0B8EB8">
              <a:alpha val="38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54544B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FBFA9A-CF77-866D-27D3-E8890AB27A56}"/>
              </a:ext>
            </a:extLst>
          </p:cNvPr>
          <p:cNvCxnSpPr>
            <a:cxnSpLocks/>
          </p:cNvCxnSpPr>
          <p:nvPr/>
        </p:nvCxnSpPr>
        <p:spPr>
          <a:xfrm flipV="1">
            <a:off x="7191983" y="2936134"/>
            <a:ext cx="986246" cy="1047794"/>
          </a:xfrm>
          <a:prstGeom prst="straightConnector1">
            <a:avLst/>
          </a:prstGeom>
          <a:ln>
            <a:solidFill>
              <a:srgbClr val="0B8EB8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38">
            <a:extLst>
              <a:ext uri="{FF2B5EF4-FFF2-40B4-BE49-F238E27FC236}">
                <a16:creationId xmlns:a16="http://schemas.microsoft.com/office/drawing/2014/main" id="{60CBF91F-81B9-3110-117C-C98B4DFF2FC7}"/>
              </a:ext>
            </a:extLst>
          </p:cNvPr>
          <p:cNvGrpSpPr>
            <a:grpSpLocks/>
          </p:cNvGrpSpPr>
          <p:nvPr/>
        </p:nvGrpSpPr>
        <p:grpSpPr bwMode="auto">
          <a:xfrm>
            <a:off x="5286983" y="1445998"/>
            <a:ext cx="2133600" cy="762000"/>
            <a:chOff x="5410200" y="-647700"/>
            <a:chExt cx="2133600" cy="762000"/>
          </a:xfrm>
          <a:effectLst/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5D02E1-D78C-AA58-1E3E-DC4E53BB1536}"/>
                </a:ext>
              </a:extLst>
            </p:cNvPr>
            <p:cNvSpPr txBox="1"/>
            <p:nvPr/>
          </p:nvSpPr>
          <p:spPr>
            <a:xfrm>
              <a:off x="5410200" y="-266700"/>
              <a:ext cx="1676400" cy="381000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Save file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3213931-EAFA-5555-FB78-69E572B14E3E}"/>
                </a:ext>
              </a:extLst>
            </p:cNvPr>
            <p:cNvCxnSpPr/>
            <p:nvPr/>
          </p:nvCxnSpPr>
          <p:spPr>
            <a:xfrm flipV="1">
              <a:off x="7086600" y="-647700"/>
              <a:ext cx="457200" cy="400050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332233F-FE87-3159-16E7-0E236C90D0CF}"/>
              </a:ext>
            </a:extLst>
          </p:cNvPr>
          <p:cNvSpPr txBox="1"/>
          <p:nvPr/>
        </p:nvSpPr>
        <p:spPr>
          <a:xfrm>
            <a:off x="4770193" y="6542814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statsim.xlsx | Elasticities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B411BA-DF3B-2342-99DD-EAF5A23F4AAF}"/>
              </a:ext>
            </a:extLst>
          </p:cNvPr>
          <p:cNvSpPr txBox="1"/>
          <p:nvPr/>
        </p:nvSpPr>
        <p:spPr>
          <a:xfrm>
            <a:off x="395273" y="1176946"/>
            <a:ext cx="443451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Save a copy of your statrep.xlsx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Set agricultural factor substitution elasticities to 1.5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Rerun model and compare new and old output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AECB3-D216-FAEF-A26D-CA2B5152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031" y="3983928"/>
            <a:ext cx="3057952" cy="241016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2255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5F014-0B00-59D6-1705-488BC65D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B79D-2193-34B8-7465-7D0194DA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7E666-5298-7B9C-7B0C-C58637304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/>
              <a:t>Compare the old and new output files: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What happens to rice production/trade quantities and prices now that elasticity are larger? </a:t>
            </a:r>
          </a:p>
          <a:p>
            <a:pPr lvl="1"/>
            <a:endParaRPr lang="en-US" sz="100" dirty="0"/>
          </a:p>
          <a:p>
            <a:r>
              <a:rPr lang="en-US" dirty="0"/>
              <a:t>What happens to production of other crops?</a:t>
            </a:r>
          </a:p>
          <a:p>
            <a:endParaRPr lang="en-US" sz="100" dirty="0"/>
          </a:p>
          <a:p>
            <a:r>
              <a:rPr lang="en-US" dirty="0"/>
              <a:t>What happens to rural labor employment and land rents when elasticities are increased? </a:t>
            </a:r>
          </a:p>
          <a:p>
            <a:r>
              <a:rPr lang="en-US" sz="100" dirty="0"/>
              <a:t>[</a:t>
            </a:r>
          </a:p>
          <a:p>
            <a:r>
              <a:rPr lang="en-US" dirty="0"/>
              <a:t>Which households benefit the most from rice productivity gains?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190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FD30-5A98-E48A-831C-29771898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6656-C71D-6E75-569C-2C66AD3D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9EAB-523A-8FC3-6761-BBB88BDC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/>
              <a:t>Compare the old and new output files: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What happens to rice production/trade quantities and prices now that elasticity are larger? 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Rice production increases and price/trade declines are now smaller (rice sector can shed workers)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Gaps between “closure scenarios” are now slightly smaller</a:t>
            </a:r>
          </a:p>
          <a:p>
            <a:pPr lvl="1"/>
            <a:endParaRPr lang="en-US" sz="100" dirty="0"/>
          </a:p>
          <a:p>
            <a:r>
              <a:rPr lang="en-US" dirty="0"/>
              <a:t>What happens to production of other crops?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Cut flowers now grows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very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fast when land is flexible (can more easily absorb displaced workers)</a:t>
            </a:r>
          </a:p>
          <a:p>
            <a:endParaRPr lang="en-US" sz="100" dirty="0"/>
          </a:p>
          <a:p>
            <a:r>
              <a:rPr lang="en-US" dirty="0"/>
              <a:t>What happens to rural labor employment and land rents when elasticities are increased? 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Increase in rural labor employment is lower with higher elasticities (more workers released from rice)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Land rents were declining a lot, but decline is now smaller</a:t>
            </a:r>
          </a:p>
          <a:p>
            <a:r>
              <a:rPr lang="en-US" sz="100" dirty="0"/>
              <a:t>[</a:t>
            </a:r>
          </a:p>
          <a:p>
            <a:r>
              <a:rPr lang="en-US" dirty="0"/>
              <a:t>Which households benefit the most from rice productivity gains?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Rural farm households’ consumption outcomes are much better with higher elasticities (because land returns don’t fall as much)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656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FE27-0C79-4B31-BBE4-63094EA2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|  </a:t>
            </a:r>
            <a:r>
              <a:rPr lang="en-US" b="0" dirty="0"/>
              <a:t>Foreign Capital Outflows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ACC8-8700-4C54-BB0E-4DAC8E86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0" y="1025035"/>
            <a:ext cx="11609403" cy="31067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Decrease foreign capital outflows by 50%</a:t>
            </a:r>
            <a:endParaRPr lang="en-US" dirty="0"/>
          </a:p>
          <a:p>
            <a:pPr marL="0" indent="0">
              <a:buNone/>
            </a:pPr>
            <a:endParaRPr lang="en-US" sz="100" b="1" dirty="0"/>
          </a:p>
          <a:p>
            <a:pPr marL="0" indent="0">
              <a:buNone/>
            </a:pPr>
            <a:r>
              <a:rPr lang="en-US" sz="2400" b="1" dirty="0"/>
              <a:t>Four sets of closures</a:t>
            </a:r>
          </a:p>
          <a:p>
            <a:r>
              <a:rPr lang="en-US" sz="1800" b="1" dirty="0"/>
              <a:t>Sim1</a:t>
            </a:r>
            <a:r>
              <a:rPr lang="en-US" sz="1800" dirty="0"/>
              <a:t>: Full employment, savings-driven investment   	</a:t>
            </a:r>
            <a:r>
              <a:rPr lang="en-US" sz="1200" dirty="0"/>
              <a:t>(fixed savings rates, flexible investment) </a:t>
            </a:r>
            <a:endParaRPr lang="en-US" sz="1800" dirty="0"/>
          </a:p>
          <a:p>
            <a:r>
              <a:rPr lang="en-US" sz="1800" b="1" dirty="0"/>
              <a:t>Sim2</a:t>
            </a:r>
            <a:r>
              <a:rPr lang="en-US" sz="1800" dirty="0"/>
              <a:t>: Full employment, investment-driven savings   	</a:t>
            </a:r>
            <a:r>
              <a:rPr lang="en-US" sz="1200" dirty="0"/>
              <a:t>(fixed investment, flexible savings rates, scaled MPS adjustment)</a:t>
            </a:r>
            <a:endParaRPr lang="en-US" sz="1800" dirty="0"/>
          </a:p>
          <a:p>
            <a:r>
              <a:rPr lang="en-US" sz="1800" b="1" dirty="0"/>
              <a:t>Sim3</a:t>
            </a:r>
            <a:r>
              <a:rPr lang="en-US" sz="1800" dirty="0"/>
              <a:t>: Unemployment, investment-driven savings     	</a:t>
            </a:r>
            <a:r>
              <a:rPr lang="en-US" sz="1200" dirty="0"/>
              <a:t>(fixed wage rate, flexible labor supply , scaled MPS adjustment)</a:t>
            </a:r>
          </a:p>
          <a:p>
            <a:r>
              <a:rPr lang="en-US" sz="1800" b="1" dirty="0"/>
              <a:t>Sim4</a:t>
            </a:r>
            <a:r>
              <a:rPr lang="en-US" sz="1800" dirty="0"/>
              <a:t>: Unemployment, investment-driven savings     	</a:t>
            </a:r>
            <a:r>
              <a:rPr lang="en-US" sz="1200" dirty="0"/>
              <a:t>(fixed wage rate, flexible labor supply , uniform MPS adjustment)</a:t>
            </a:r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8C28D-DF2A-42ED-AEFA-58FCFE5A5D72}"/>
              </a:ext>
            </a:extLst>
          </p:cNvPr>
          <p:cNvGrpSpPr/>
          <p:nvPr/>
        </p:nvGrpSpPr>
        <p:grpSpPr>
          <a:xfrm>
            <a:off x="430850" y="4120673"/>
            <a:ext cx="8897860" cy="1214622"/>
            <a:chOff x="457511" y="5261050"/>
            <a:chExt cx="8897860" cy="121462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33D4DA-0FAF-4558-914A-018D246C05E8}"/>
                </a:ext>
              </a:extLst>
            </p:cNvPr>
            <p:cNvSpPr/>
            <p:nvPr/>
          </p:nvSpPr>
          <p:spPr>
            <a:xfrm>
              <a:off x="457511" y="5261050"/>
              <a:ext cx="8897860" cy="1214622"/>
            </a:xfrm>
            <a:prstGeom prst="rect">
              <a:avLst/>
            </a:prstGeom>
            <a:solidFill>
              <a:srgbClr val="0B8EB8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DC6173-8F5B-4CAB-86D6-58DABB946860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Exports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2D690E-EACF-4CF3-A088-9AC1CB149394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Grants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C813336-5502-4FAB-9AFF-BEBE9999311F}"/>
                </a:ext>
              </a:extLst>
            </p:cNvPr>
            <p:cNvSpPr txBox="1"/>
            <p:nvPr/>
          </p:nvSpPr>
          <p:spPr>
            <a:xfrm>
              <a:off x="4067160" y="5967680"/>
              <a:ext cx="135009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Remittances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DA97A0-A2DA-4AF1-B125-1EE2968A30BC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B8EB8"/>
                  </a:solidFill>
                </a:rPr>
                <a:t>+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B70F93-1682-4BD3-9DBC-5B8888487D19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B8EB8"/>
                  </a:solidFill>
                </a:rPr>
                <a:t>+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4C25C3-C947-41C2-9B14-816A284D7964}"/>
                </a:ext>
              </a:extLst>
            </p:cNvPr>
            <p:cNvSpPr txBox="1"/>
            <p:nvPr/>
          </p:nvSpPr>
          <p:spPr>
            <a:xfrm>
              <a:off x="5773957" y="5972963"/>
              <a:ext cx="1392612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F3DADE-332D-45F1-B3B6-D63249DAEE50}"/>
                </a:ext>
              </a:extLst>
            </p:cNvPr>
            <p:cNvSpPr txBox="1"/>
            <p:nvPr/>
          </p:nvSpPr>
          <p:spPr>
            <a:xfrm>
              <a:off x="7803428" y="5971567"/>
              <a:ext cx="135078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Imports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C1C57F-444D-4A92-9D4A-3465958AC5C8}"/>
                </a:ext>
              </a:extLst>
            </p:cNvPr>
            <p:cNvSpPr txBox="1"/>
            <p:nvPr/>
          </p:nvSpPr>
          <p:spPr>
            <a:xfrm>
              <a:off x="5416906" y="5952291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B8EB8"/>
                  </a:solidFill>
                </a:rPr>
                <a:t>+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54C0EE-0660-4FF2-BFA9-289E8588D905}"/>
                </a:ext>
              </a:extLst>
            </p:cNvPr>
            <p:cNvSpPr txBox="1"/>
            <p:nvPr/>
          </p:nvSpPr>
          <p:spPr>
            <a:xfrm>
              <a:off x="7303064" y="5906124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B8EB8"/>
                  </a:solidFill>
                </a:rPr>
                <a:t>=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BCB0A9-709E-40EA-9C55-A4BF74706F30}"/>
                </a:ext>
              </a:extLst>
            </p:cNvPr>
            <p:cNvSpPr txBox="1"/>
            <p:nvPr/>
          </p:nvSpPr>
          <p:spPr>
            <a:xfrm>
              <a:off x="457511" y="5272186"/>
              <a:ext cx="8897860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B8EB8"/>
                  </a:solidFill>
                </a:rPr>
                <a:t>Current account</a:t>
              </a:r>
            </a:p>
            <a:p>
              <a:r>
                <a:rPr lang="en-US" sz="1050" dirty="0">
                  <a:solidFill>
                    <a:srgbClr val="0B8EB8"/>
                  </a:solidFill>
                </a:rPr>
                <a:t>Total inflow of foreign exchange (exports, grants and remittances) must equal total outflows (imports)</a:t>
              </a:r>
            </a:p>
            <a:p>
              <a:endParaRPr lang="en-US" sz="2000" b="1" dirty="0">
                <a:solidFill>
                  <a:srgbClr val="0B8EB8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F02AFA-35E6-402A-A28F-0BE065A57F60}"/>
              </a:ext>
            </a:extLst>
          </p:cNvPr>
          <p:cNvGrpSpPr/>
          <p:nvPr/>
        </p:nvGrpSpPr>
        <p:grpSpPr>
          <a:xfrm>
            <a:off x="430850" y="5500846"/>
            <a:ext cx="7481379" cy="1214622"/>
            <a:chOff x="457511" y="5261050"/>
            <a:chExt cx="7481379" cy="121462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4AFDC5-237E-4448-A410-C42036989A5F}"/>
                </a:ext>
              </a:extLst>
            </p:cNvPr>
            <p:cNvSpPr/>
            <p:nvPr/>
          </p:nvSpPr>
          <p:spPr>
            <a:xfrm>
              <a:off x="457511" y="5261050"/>
              <a:ext cx="7160066" cy="1214622"/>
            </a:xfrm>
            <a:prstGeom prst="rect">
              <a:avLst/>
            </a:prstGeom>
            <a:solidFill>
              <a:srgbClr val="5C8E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BB5657-F45B-4E27-BA7D-B47644243DBF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Private saving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E21597-F863-4F09-B08D-F3CF3E8EF010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9AD20E-0A50-480A-B576-E960E943CF79}"/>
                </a:ext>
              </a:extLst>
            </p:cNvPr>
            <p:cNvSpPr txBox="1"/>
            <p:nvPr/>
          </p:nvSpPr>
          <p:spPr>
            <a:xfrm>
              <a:off x="4067160" y="5967680"/>
              <a:ext cx="1378005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B5925A-4419-45C8-97DA-600C961C348E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9CB9B8-68C2-481F-95E8-18AEA1830945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272892-3777-4D04-9367-AFEE7E81F5A5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Investment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F1A154-F3D9-4254-BFAD-4DCEE0641BE1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5C8E3A"/>
                  </a:solidFill>
                </a:rPr>
                <a:t>=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4A79B5-8EF5-4858-87C6-C1F987898D13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C8E3A"/>
                  </a:solidFill>
                </a:rPr>
                <a:t>Savings – Investment </a:t>
              </a:r>
            </a:p>
            <a:p>
              <a:r>
                <a:rPr lang="en-US" sz="1050" dirty="0">
                  <a:solidFill>
                    <a:srgbClr val="5C8E3A"/>
                  </a:solidFill>
                </a:rPr>
                <a:t>Total supply of loanable funds (savings) must equal total investment demand</a:t>
              </a:r>
            </a:p>
            <a:p>
              <a:endParaRPr lang="en-US" sz="2000" b="1" dirty="0">
                <a:solidFill>
                  <a:srgbClr val="5C8E3A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619DFCE-66B3-4D5C-8D4C-AC69C65091FB}"/>
              </a:ext>
            </a:extLst>
          </p:cNvPr>
          <p:cNvSpPr txBox="1"/>
          <p:nvPr/>
        </p:nvSpPr>
        <p:spPr>
          <a:xfrm>
            <a:off x="9320721" y="4355189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0B8EB8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0B8EB8"/>
                </a:solidFill>
              </a:rPr>
              <a:t>Exchange rate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0B8EB8"/>
                </a:solidFill>
              </a:rPr>
              <a:t>Foreign savings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13044-D054-4531-A070-CAECCBD49F2D}"/>
              </a:ext>
            </a:extLst>
          </p:cNvPr>
          <p:cNvSpPr txBox="1"/>
          <p:nvPr/>
        </p:nvSpPr>
        <p:spPr>
          <a:xfrm>
            <a:off x="7590916" y="5754214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5C8E3A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Savings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8592044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CFF7-B33D-4012-BFD6-7EDE91CC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</a:t>
            </a:r>
            <a:r>
              <a:rPr lang="en-US" b="0" dirty="0"/>
              <a:t>| 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DEB5-5AE8-421B-AC4D-6C85290B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Macro</a:t>
            </a:r>
          </a:p>
          <a:p>
            <a:r>
              <a:rPr lang="en-US" dirty="0"/>
              <a:t>↓Foreign savings = Exchange shortage    →    </a:t>
            </a:r>
            <a:r>
              <a:rPr lang="en-US" dirty="0">
                <a:solidFill>
                  <a:srgbClr val="0B8EB8"/>
                </a:solidFill>
              </a:rPr>
              <a:t>Real exchange rate depreciation</a:t>
            </a:r>
            <a:r>
              <a:rPr lang="en-US" dirty="0"/>
              <a:t>    →    ↑Exports &amp; ↓Imports</a:t>
            </a:r>
          </a:p>
          <a:p>
            <a:r>
              <a:rPr lang="en-US" dirty="0"/>
              <a:t>↓Foreign savings = ↓Loanable funds    →    </a:t>
            </a:r>
            <a:r>
              <a:rPr lang="en-US" dirty="0">
                <a:solidFill>
                  <a:srgbClr val="5C8E3A"/>
                </a:solidFill>
              </a:rPr>
              <a:t>↓Investment   </a:t>
            </a:r>
            <a:r>
              <a:rPr lang="en-US" u="sng" dirty="0">
                <a:solidFill>
                  <a:srgbClr val="5C8E3A"/>
                </a:solidFill>
              </a:rPr>
              <a:t>OR</a:t>
            </a:r>
            <a:r>
              <a:rPr lang="en-US" dirty="0">
                <a:solidFill>
                  <a:srgbClr val="5C8E3A"/>
                </a:solidFill>
              </a:rPr>
              <a:t>   ↑Private savings</a:t>
            </a:r>
          </a:p>
          <a:p>
            <a:pPr marL="0" indent="0">
              <a:buNone/>
            </a:pPr>
            <a:r>
              <a:rPr lang="en-US" dirty="0"/>
              <a:t>							       ↑Private savings    →     ↓Private consumption</a:t>
            </a:r>
          </a:p>
          <a:p>
            <a:pPr marL="0" indent="0">
              <a:buNone/>
            </a:pPr>
            <a:r>
              <a:rPr lang="en-US" b="1" dirty="0"/>
              <a:t>Trade (+ Base)</a:t>
            </a:r>
          </a:p>
          <a:p>
            <a:r>
              <a:rPr lang="en-US" dirty="0"/>
              <a:t>Depreciation  →   ↑Export-oriented products (e.g., flowers)  &amp; ↓Import-intensive products (e.g., machinery)</a:t>
            </a:r>
          </a:p>
          <a:p>
            <a:pPr marL="0" indent="0">
              <a:buNone/>
            </a:pPr>
            <a:r>
              <a:rPr lang="en-US" b="1" dirty="0"/>
              <a:t>Sector</a:t>
            </a:r>
          </a:p>
          <a:p>
            <a:r>
              <a:rPr lang="en-US" dirty="0"/>
              <a:t>↓Investment    →     ↓Construction </a:t>
            </a:r>
          </a:p>
          <a:p>
            <a:r>
              <a:rPr lang="en-US" dirty="0"/>
              <a:t>↓Private consumption     →     ↓Food</a:t>
            </a:r>
          </a:p>
          <a:p>
            <a:pPr marL="0" indent="0">
              <a:buNone/>
            </a:pPr>
            <a:r>
              <a:rPr lang="en-US" b="1" dirty="0"/>
              <a:t>Factors</a:t>
            </a:r>
          </a:p>
          <a:p>
            <a:r>
              <a:rPr lang="en-US" dirty="0">
                <a:solidFill>
                  <a:srgbClr val="C34E2D"/>
                </a:solidFill>
              </a:rPr>
              <a:t>↓Wages     OR   ↑↓Employment     </a:t>
            </a:r>
            <a:r>
              <a:rPr lang="en-US" dirty="0"/>
              <a:t>(larger ↓wage with ↓construction, which is capital-intensive)</a:t>
            </a:r>
          </a:p>
          <a:p>
            <a:pPr marL="0" indent="0">
              <a:buNone/>
            </a:pPr>
            <a:r>
              <a:rPr lang="en-US" b="1" dirty="0"/>
              <a:t>Households</a:t>
            </a:r>
          </a:p>
          <a:p>
            <a:r>
              <a:rPr lang="en-US" dirty="0"/>
              <a:t>↓Private consumption    (larger with ↑private savings &amp; unemployment)</a:t>
            </a:r>
          </a:p>
          <a:p>
            <a:r>
              <a:rPr lang="en-US" dirty="0"/>
              <a:t>High income households are worst-affected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868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B17C-8B4B-FA5F-91A0-18801BF5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4201-518D-4648-C212-16742112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|  </a:t>
            </a:r>
            <a:r>
              <a:rPr lang="en-US" b="0" dirty="0"/>
              <a:t>Cash Transfers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FBD22-EA43-793E-94C2-E6DC5F6CF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0" y="1025035"/>
            <a:ext cx="11609403" cy="31067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Double household transfers from government</a:t>
            </a:r>
            <a:endParaRPr lang="en-US" dirty="0"/>
          </a:p>
          <a:p>
            <a:pPr marL="0" indent="0">
              <a:buNone/>
            </a:pPr>
            <a:endParaRPr lang="en-US" sz="100" b="1" dirty="0"/>
          </a:p>
          <a:p>
            <a:pPr marL="0" indent="0">
              <a:buNone/>
            </a:pPr>
            <a:r>
              <a:rPr lang="en-US" sz="2400" b="1" dirty="0"/>
              <a:t>Four sets of closures</a:t>
            </a:r>
          </a:p>
          <a:p>
            <a:r>
              <a:rPr lang="en-US" sz="1800" b="1" dirty="0"/>
              <a:t>Sim1</a:t>
            </a:r>
            <a:r>
              <a:rPr lang="en-US" sz="1800" dirty="0"/>
              <a:t>: Full employment, savings-driven investment   	</a:t>
            </a:r>
            <a:r>
              <a:rPr lang="en-US" sz="1200" dirty="0"/>
              <a:t>(fixed savings rates, flexible investment) </a:t>
            </a:r>
            <a:endParaRPr lang="en-US" sz="1800" dirty="0"/>
          </a:p>
          <a:p>
            <a:r>
              <a:rPr lang="en-US" sz="1800" b="1" dirty="0"/>
              <a:t>Sim2</a:t>
            </a:r>
            <a:r>
              <a:rPr lang="en-US" sz="1800" dirty="0"/>
              <a:t>: Full employment, savings-driven investment   	</a:t>
            </a:r>
            <a:r>
              <a:rPr lang="en-US" sz="1200" dirty="0"/>
              <a:t>(fixed investment, flexible savings rates, scaled tax rate adjustment)</a:t>
            </a:r>
            <a:endParaRPr lang="en-US" sz="1800" dirty="0"/>
          </a:p>
          <a:p>
            <a:r>
              <a:rPr lang="en-US" sz="1800" b="1" dirty="0"/>
              <a:t>Sim3</a:t>
            </a:r>
            <a:r>
              <a:rPr lang="en-US" sz="1800" dirty="0"/>
              <a:t>: Full employment, savings-driven investment     	</a:t>
            </a:r>
            <a:r>
              <a:rPr lang="en-US" sz="1200" dirty="0"/>
              <a:t>(fixed wage rate, flexible labor supply , uniform tax rate adjustment)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223103-3F62-AA0D-E51C-D99D1B4BD57C}"/>
              </a:ext>
            </a:extLst>
          </p:cNvPr>
          <p:cNvGrpSpPr/>
          <p:nvPr/>
        </p:nvGrpSpPr>
        <p:grpSpPr>
          <a:xfrm>
            <a:off x="430850" y="3844135"/>
            <a:ext cx="10640966" cy="1214622"/>
            <a:chOff x="457511" y="5261050"/>
            <a:chExt cx="10640966" cy="12146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DA7B90-AB5D-5FFF-6E7A-48933BA3ADDC}"/>
                </a:ext>
              </a:extLst>
            </p:cNvPr>
            <p:cNvSpPr/>
            <p:nvPr/>
          </p:nvSpPr>
          <p:spPr>
            <a:xfrm>
              <a:off x="457511" y="5261050"/>
              <a:ext cx="10640966" cy="1214622"/>
            </a:xfrm>
            <a:prstGeom prst="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59A0EF-88B2-A5A2-F83A-8C81375894A2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Direct taxes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382631-AA35-300B-6AC6-B51FC7F89610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Indirect taxes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4B71A1-1022-C61D-01AA-8F5648D1C48C}"/>
                </a:ext>
              </a:extLst>
            </p:cNvPr>
            <p:cNvSpPr txBox="1"/>
            <p:nvPr/>
          </p:nvSpPr>
          <p:spPr>
            <a:xfrm>
              <a:off x="4067160" y="5967680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Grants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97F754B-8A6A-7B7E-69B5-8625ED854F2A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91A076-677E-58AC-1EAF-6D930FF6F9BA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0559F8B-F27A-0BF2-5553-EE0E3069870B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Consumption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468DDAF-5078-2313-AA39-0633939CFD86}"/>
                </a:ext>
              </a:extLst>
            </p:cNvPr>
            <p:cNvSpPr txBox="1"/>
            <p:nvPr/>
          </p:nvSpPr>
          <p:spPr>
            <a:xfrm>
              <a:off x="7803428" y="5971567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Transfers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3FC2DAB-6897-8290-ACB9-94A76CB5BBE2}"/>
                </a:ext>
              </a:extLst>
            </p:cNvPr>
            <p:cNvSpPr txBox="1"/>
            <p:nvPr/>
          </p:nvSpPr>
          <p:spPr>
            <a:xfrm>
              <a:off x="9508877" y="5972701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75C68D-4642-AABA-F38B-6D9EF93478A3}"/>
                </a:ext>
              </a:extLst>
            </p:cNvPr>
            <p:cNvSpPr txBox="1"/>
            <p:nvPr/>
          </p:nvSpPr>
          <p:spPr>
            <a:xfrm>
              <a:off x="7448760" y="5956178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86190B-D722-A06C-EA5B-F36444A0B8FA}"/>
                </a:ext>
              </a:extLst>
            </p:cNvPr>
            <p:cNvSpPr txBox="1"/>
            <p:nvPr/>
          </p:nvSpPr>
          <p:spPr>
            <a:xfrm>
              <a:off x="9153864" y="5950955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DF67BD-4A58-0EAA-04EB-DBDAE8BBF84C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=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3216DC4-4210-7DDC-F20A-C9EE7954B12F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Government</a:t>
              </a:r>
            </a:p>
            <a:p>
              <a:r>
                <a:rPr lang="en-US" sz="1050" dirty="0">
                  <a:solidFill>
                    <a:schemeClr val="accent2">
                      <a:lumMod val="75000"/>
                    </a:schemeClr>
                  </a:solidFill>
                </a:rPr>
                <a:t>Recurrent fiscal deficit (savings) equals total revenues (taxes and grants) less total expenditures (consumption and transfers)</a:t>
              </a:r>
            </a:p>
            <a:p>
              <a:endParaRPr 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521705C-93CB-6B02-FA70-BCD21338A95C}"/>
              </a:ext>
            </a:extLst>
          </p:cNvPr>
          <p:cNvSpPr txBox="1"/>
          <p:nvPr/>
        </p:nvSpPr>
        <p:spPr>
          <a:xfrm>
            <a:off x="11071816" y="4016043"/>
            <a:ext cx="10385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Fix two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Tax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Consumption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Public savings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35EBA8-E8D9-A0FC-7F9C-AA9AEB3F8BE7}"/>
              </a:ext>
            </a:extLst>
          </p:cNvPr>
          <p:cNvGrpSpPr/>
          <p:nvPr/>
        </p:nvGrpSpPr>
        <p:grpSpPr>
          <a:xfrm>
            <a:off x="430850" y="5191482"/>
            <a:ext cx="7481379" cy="1214622"/>
            <a:chOff x="457511" y="5261050"/>
            <a:chExt cx="7481379" cy="1214622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69EE3B1-1146-7578-891A-C6FC32FCD031}"/>
                </a:ext>
              </a:extLst>
            </p:cNvPr>
            <p:cNvSpPr/>
            <p:nvPr/>
          </p:nvSpPr>
          <p:spPr>
            <a:xfrm>
              <a:off x="457511" y="5261050"/>
              <a:ext cx="7160066" cy="1214622"/>
            </a:xfrm>
            <a:prstGeom prst="rect">
              <a:avLst/>
            </a:prstGeom>
            <a:solidFill>
              <a:srgbClr val="5C8E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F6E0410-D01F-B9DB-455E-AE961D9A7BC0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Private saving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7165AF-DF2C-4152-23E0-3F4D3DEC5276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BF9445D-0ABC-F4F5-A230-D40FE60C6EF6}"/>
                </a:ext>
              </a:extLst>
            </p:cNvPr>
            <p:cNvSpPr txBox="1"/>
            <p:nvPr/>
          </p:nvSpPr>
          <p:spPr>
            <a:xfrm>
              <a:off x="4067160" y="5967680"/>
              <a:ext cx="1378005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8E336E-B97B-4B31-5474-750DFD8A65AC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472D534-A055-80BA-605B-BFF12758D6D4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06FCD17-EF18-106F-7E16-E528E5FB38DE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Investment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851BE15-8E0D-678F-F0D1-687C44612A79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5C8E3A"/>
                  </a:solidFill>
                </a:rPr>
                <a:t>=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AB5B2-0A8B-AA9E-8A05-B24D7C543EF6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C8E3A"/>
                  </a:solidFill>
                </a:rPr>
                <a:t>Savings – Investment </a:t>
              </a:r>
            </a:p>
            <a:p>
              <a:r>
                <a:rPr lang="en-US" sz="1050" dirty="0">
                  <a:solidFill>
                    <a:srgbClr val="5C8E3A"/>
                  </a:solidFill>
                </a:rPr>
                <a:t>Total supply of loanable funds (savings) must equal total investment demand</a:t>
              </a:r>
            </a:p>
            <a:p>
              <a:endParaRPr lang="en-US" sz="2000" b="1" dirty="0">
                <a:solidFill>
                  <a:srgbClr val="5C8E3A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601EB18-89E7-8034-94CF-35014617FB0F}"/>
              </a:ext>
            </a:extLst>
          </p:cNvPr>
          <p:cNvSpPr txBox="1"/>
          <p:nvPr/>
        </p:nvSpPr>
        <p:spPr>
          <a:xfrm>
            <a:off x="7590916" y="5444850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5C8E3A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Savings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36019755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5B01-9B12-0A3E-5D10-409096E9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ED01-1B31-8D90-4943-837AF1989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9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Advanced Static Modeling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Complicated Scenarios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AFDCDCE6-F432-2899-66B4-B04CAE2A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24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2E1C-691E-D00A-E3CA-379801DB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50D6-3DB6-53D9-3AF6-2CAE26A2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C97C7-E086-FBC5-79E5-76D10A0CE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000" b="1" dirty="0"/>
          </a:p>
          <a:p>
            <a:r>
              <a:rPr lang="en-US" dirty="0"/>
              <a:t>Climate shocks and social transfers</a:t>
            </a:r>
          </a:p>
          <a:p>
            <a:pPr lvl="1"/>
            <a:r>
              <a:rPr lang="en-US" u="sng" dirty="0"/>
              <a:t>Exercise 5</a:t>
            </a:r>
            <a:r>
              <a:rPr lang="en-US" dirty="0"/>
              <a:t>: Climate shocks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(short vs. long-run impacts)</a:t>
            </a:r>
          </a:p>
          <a:p>
            <a:endParaRPr lang="en-US" sz="1000" dirty="0"/>
          </a:p>
          <a:p>
            <a:r>
              <a:rPr lang="en-US" dirty="0"/>
              <a:t>Global energy shock</a:t>
            </a:r>
          </a:p>
          <a:p>
            <a:pPr lvl="1"/>
            <a:r>
              <a:rPr lang="en-US" u="sng" dirty="0"/>
              <a:t>Exercise 6</a:t>
            </a:r>
            <a:r>
              <a:rPr lang="en-US" dirty="0"/>
              <a:t>: Fuel price spike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(short vs. long-run impacts)</a:t>
            </a:r>
          </a:p>
          <a:p>
            <a:endParaRPr lang="en-US" sz="1000" dirty="0"/>
          </a:p>
          <a:p>
            <a:r>
              <a:rPr lang="en-US" dirty="0"/>
              <a:t>Macro closures</a:t>
            </a:r>
          </a:p>
          <a:p>
            <a:pPr lvl="1"/>
            <a:r>
              <a:rPr lang="en-US" u="sng" dirty="0"/>
              <a:t>Exercise 7</a:t>
            </a:r>
            <a:r>
              <a:rPr lang="en-US" dirty="0"/>
              <a:t>: Foreign capital outflows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(foreign inflows + impact on capital supplies)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4DBE1-576E-B154-97F4-91790D6A7DC8}"/>
              </a:ext>
            </a:extLst>
          </p:cNvPr>
          <p:cNvSpPr txBox="1"/>
          <p:nvPr/>
        </p:nvSpPr>
        <p:spPr>
          <a:xfrm>
            <a:off x="2517541" y="4702776"/>
            <a:ext cx="3460350" cy="1446550"/>
          </a:xfrm>
          <a:prstGeom prst="rect">
            <a:avLst/>
          </a:prstGeom>
          <a:noFill/>
          <a:ln w="12700">
            <a:solidFill>
              <a:srgbClr val="C34E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34E2D"/>
                </a:solidFill>
              </a:rPr>
              <a:t>Short-run</a:t>
            </a:r>
            <a:endParaRPr lang="en-US" sz="2000" b="1" dirty="0">
              <a:solidFill>
                <a:srgbClr val="C34E2D"/>
              </a:solidFill>
            </a:endParaRPr>
          </a:p>
          <a:p>
            <a:pPr algn="ctr"/>
            <a:endParaRPr lang="en-US" sz="1000" dirty="0">
              <a:solidFill>
                <a:srgbClr val="C34E2D"/>
              </a:solidFill>
            </a:endParaRPr>
          </a:p>
          <a:p>
            <a:pPr algn="ctr"/>
            <a:r>
              <a:rPr lang="en-US" dirty="0">
                <a:solidFill>
                  <a:srgbClr val="C34E2D"/>
                </a:solidFill>
              </a:rPr>
              <a:t>Limited ability to respond to shocks by changing resource allocations and changing behavior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59353-3583-E88D-A459-757CEF704451}"/>
              </a:ext>
            </a:extLst>
          </p:cNvPr>
          <p:cNvSpPr txBox="1"/>
          <p:nvPr/>
        </p:nvSpPr>
        <p:spPr>
          <a:xfrm>
            <a:off x="6447516" y="4702776"/>
            <a:ext cx="3460350" cy="1446550"/>
          </a:xfrm>
          <a:prstGeom prst="rect">
            <a:avLst/>
          </a:prstGeom>
          <a:noFill/>
          <a:ln w="12700">
            <a:solidFill>
              <a:srgbClr val="C34E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34E2D"/>
                </a:solidFill>
              </a:rPr>
              <a:t>Long-run</a:t>
            </a:r>
            <a:endParaRPr lang="en-US" sz="2000" b="1" dirty="0">
              <a:solidFill>
                <a:srgbClr val="C34E2D"/>
              </a:solidFill>
            </a:endParaRPr>
          </a:p>
          <a:p>
            <a:pPr algn="ctr"/>
            <a:endParaRPr lang="en-US" sz="1000" dirty="0">
              <a:solidFill>
                <a:srgbClr val="C34E2D"/>
              </a:solidFill>
            </a:endParaRPr>
          </a:p>
          <a:p>
            <a:pPr algn="ctr"/>
            <a:r>
              <a:rPr lang="en-US" dirty="0">
                <a:solidFill>
                  <a:srgbClr val="C34E2D"/>
                </a:solidFill>
              </a:rPr>
              <a:t>Greater ability to reallocate resources and change behavior to limit impacts of shocks</a:t>
            </a:r>
          </a:p>
        </p:txBody>
      </p:sp>
    </p:spTree>
    <p:extLst>
      <p:ext uri="{BB962C8B-B14F-4D97-AF65-F5344CB8AC3E}">
        <p14:creationId xmlns:p14="http://schemas.microsoft.com/office/powerpoint/2010/main" val="35275213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3CA9B-ED55-F371-E5D8-030C78DE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66EB-154F-0EE8-F22D-290C9B25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  |  </a:t>
            </a:r>
            <a:r>
              <a:rPr lang="en-US" b="0" dirty="0"/>
              <a:t>Climate Shocks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D52E-0842-0A4A-FBEB-F5E8F087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1" y="1025034"/>
            <a:ext cx="3432490" cy="5204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Reduce productivity of all crops, livestock and fisheries by 20%</a:t>
            </a:r>
          </a:p>
          <a:p>
            <a:r>
              <a:rPr lang="en-US" sz="1800" dirty="0"/>
              <a:t>Increase cash transfers to offset impacts on poorer households</a:t>
            </a:r>
          </a:p>
          <a:p>
            <a:r>
              <a:rPr lang="en-US" sz="1800" dirty="0"/>
              <a:t>Increase foreign payments to government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b="1" dirty="0"/>
              <a:t>Closures</a:t>
            </a:r>
            <a:endParaRPr lang="en-US" sz="1800" b="1" dirty="0"/>
          </a:p>
          <a:p>
            <a:r>
              <a:rPr lang="en-US" sz="1800" dirty="0"/>
              <a:t>Labor full employment </a:t>
            </a:r>
          </a:p>
          <a:p>
            <a:r>
              <a:rPr lang="en-US" sz="1800" dirty="0"/>
              <a:t>Capital sector-specific </a:t>
            </a:r>
          </a:p>
          <a:p>
            <a:r>
              <a:rPr lang="en-US" sz="1800" dirty="0"/>
              <a:t>Savings-driven investment</a:t>
            </a:r>
          </a:p>
          <a:p>
            <a:r>
              <a:rPr lang="en-US" sz="1800" dirty="0"/>
              <a:t>Exchange rate flexible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A566FA-A5A0-5A89-4920-2F36F9679878}"/>
              </a:ext>
            </a:extLst>
          </p:cNvPr>
          <p:cNvGraphicFramePr>
            <a:graphicFrameLocks noGrp="1"/>
          </p:cNvGraphicFramePr>
          <p:nvPr/>
        </p:nvGraphicFramePr>
        <p:xfrm>
          <a:off x="4583430" y="1154114"/>
          <a:ext cx="7006593" cy="53322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35531">
                  <a:extLst>
                    <a:ext uri="{9D8B030D-6E8A-4147-A177-3AD203B41FA5}">
                      <a16:colId xmlns:a16="http://schemas.microsoft.com/office/drawing/2014/main" val="4282794279"/>
                    </a:ext>
                  </a:extLst>
                </a:gridCol>
                <a:gridCol w="2335531">
                  <a:extLst>
                    <a:ext uri="{9D8B030D-6E8A-4147-A177-3AD203B41FA5}">
                      <a16:colId xmlns:a16="http://schemas.microsoft.com/office/drawing/2014/main" val="943624877"/>
                    </a:ext>
                  </a:extLst>
                </a:gridCol>
                <a:gridCol w="2335531">
                  <a:extLst>
                    <a:ext uri="{9D8B030D-6E8A-4147-A177-3AD203B41FA5}">
                      <a16:colId xmlns:a16="http://schemas.microsoft.com/office/drawing/2014/main" val="701381828"/>
                    </a:ext>
                  </a:extLst>
                </a:gridCol>
              </a:tblGrid>
              <a:tr h="10534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Fixed land </a:t>
                      </a:r>
                    </a:p>
                    <a:p>
                      <a:pPr algn="ctr"/>
                      <a:r>
                        <a:rPr lang="en-US" sz="2000" dirty="0"/>
                        <a:t>by crop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Flexible land </a:t>
                      </a:r>
                    </a:p>
                    <a:p>
                      <a:pPr algn="ctr"/>
                      <a:r>
                        <a:rPr lang="en-US" sz="2000" dirty="0"/>
                        <a:t>across crops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44061368"/>
                  </a:ext>
                </a:extLst>
              </a:tr>
              <a:tr h="111850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No transfers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1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no response)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2</a:t>
                      </a:r>
                    </a:p>
                    <a:p>
                      <a:pPr algn="ctr"/>
                      <a:r>
                        <a:rPr lang="en-US" sz="1800" b="0" dirty="0"/>
                        <a:t>(long-term change, </a:t>
                      </a:r>
                    </a:p>
                    <a:p>
                      <a:pPr algn="ctr"/>
                      <a:r>
                        <a:rPr lang="en-US" sz="1800" b="0" dirty="0"/>
                        <a:t>no response)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98418592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Deficit financed transfers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3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short-term response)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  <a:p>
                      <a:pPr algn="ctr"/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10395746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Tax financed 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transfers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4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long-term response)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10969137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Foreign financed transfers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5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long-term response)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212683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0F7315-0B86-8B3E-28A5-EDBFF20E703B}"/>
              </a:ext>
            </a:extLst>
          </p:cNvPr>
          <p:cNvSpPr txBox="1"/>
          <p:nvPr/>
        </p:nvSpPr>
        <p:spPr>
          <a:xfrm>
            <a:off x="4583430" y="1154114"/>
            <a:ext cx="1920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Four simulations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2464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D591-59BC-B787-DD31-0F074906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7D2B-5A84-5013-7F01-991101A27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  |  </a:t>
            </a:r>
            <a:r>
              <a:rPr lang="en-US" b="0" dirty="0"/>
              <a:t>Fuel Prices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564A-729E-3272-F7AC-DA6A32FA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1" y="1025034"/>
            <a:ext cx="3432490" cy="4644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Increase world petroleum and crude oil prices by 50%</a:t>
            </a:r>
          </a:p>
          <a:p>
            <a:r>
              <a:rPr lang="en-US" sz="1800" dirty="0"/>
              <a:t>Subsidize petroleum prices to offset household impacts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b="1" dirty="0"/>
              <a:t>Closures</a:t>
            </a:r>
            <a:endParaRPr lang="en-US" sz="1800" b="1" dirty="0"/>
          </a:p>
          <a:p>
            <a:r>
              <a:rPr lang="en-US" sz="1800" dirty="0"/>
              <a:t>Labor full employment </a:t>
            </a:r>
          </a:p>
          <a:p>
            <a:r>
              <a:rPr lang="en-US" sz="1800" dirty="0"/>
              <a:t>Capital sector-specific </a:t>
            </a:r>
          </a:p>
          <a:p>
            <a:r>
              <a:rPr lang="en-US" sz="1800" dirty="0"/>
              <a:t>Savings-driven investment</a:t>
            </a:r>
          </a:p>
          <a:p>
            <a:r>
              <a:rPr lang="en-US" sz="1800" dirty="0"/>
              <a:t>Flexible government savings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A974D1-5BBD-6AFF-C9A2-BDDB7D7C9913}"/>
              </a:ext>
            </a:extLst>
          </p:cNvPr>
          <p:cNvGraphicFramePr>
            <a:graphicFrameLocks noGrp="1"/>
          </p:cNvGraphicFramePr>
          <p:nvPr/>
        </p:nvGraphicFramePr>
        <p:xfrm>
          <a:off x="4640580" y="2034224"/>
          <a:ext cx="7006593" cy="32253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35531">
                  <a:extLst>
                    <a:ext uri="{9D8B030D-6E8A-4147-A177-3AD203B41FA5}">
                      <a16:colId xmlns:a16="http://schemas.microsoft.com/office/drawing/2014/main" val="4282794279"/>
                    </a:ext>
                  </a:extLst>
                </a:gridCol>
                <a:gridCol w="2335531">
                  <a:extLst>
                    <a:ext uri="{9D8B030D-6E8A-4147-A177-3AD203B41FA5}">
                      <a16:colId xmlns:a16="http://schemas.microsoft.com/office/drawing/2014/main" val="943624877"/>
                    </a:ext>
                  </a:extLst>
                </a:gridCol>
                <a:gridCol w="2335531">
                  <a:extLst>
                    <a:ext uri="{9D8B030D-6E8A-4147-A177-3AD203B41FA5}">
                      <a16:colId xmlns:a16="http://schemas.microsoft.com/office/drawing/2014/main" val="701381828"/>
                    </a:ext>
                  </a:extLst>
                </a:gridCol>
              </a:tblGrid>
              <a:tr h="10534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Flexible </a:t>
                      </a:r>
                    </a:p>
                    <a:p>
                      <a:pPr algn="ctr"/>
                      <a:r>
                        <a:rPr lang="en-US" sz="2000" dirty="0"/>
                        <a:t>foreign savings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Flexible </a:t>
                      </a:r>
                    </a:p>
                    <a:p>
                      <a:pPr algn="ctr"/>
                      <a:r>
                        <a:rPr lang="en-US" sz="2000" dirty="0"/>
                        <a:t>exchange rate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44061368"/>
                  </a:ext>
                </a:extLst>
              </a:tr>
              <a:tr h="111850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No energy 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subsidies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1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no adjustment)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2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some adjustment)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98418592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With energy subsidies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3</a:t>
                      </a:r>
                    </a:p>
                    <a:p>
                      <a:pPr algn="ctr"/>
                      <a:r>
                        <a:rPr lang="en-US" sz="1800" b="0" dirty="0"/>
                        <a:t>(sudden shock, </a:t>
                      </a:r>
                    </a:p>
                    <a:p>
                      <a:pPr algn="ctr"/>
                      <a:r>
                        <a:rPr lang="en-US" sz="1800" b="0" dirty="0"/>
                        <a:t>short-term response)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103957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116011-9F5B-D67A-6B4A-F3C8AF5D39C2}"/>
              </a:ext>
            </a:extLst>
          </p:cNvPr>
          <p:cNvSpPr txBox="1"/>
          <p:nvPr/>
        </p:nvSpPr>
        <p:spPr>
          <a:xfrm>
            <a:off x="4640580" y="2034224"/>
            <a:ext cx="18516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Three simulations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01119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18BA-8841-C00F-E6E8-9123C834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9277-5629-69D6-2EA2-F31E660C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7  |  </a:t>
            </a:r>
            <a:r>
              <a:rPr lang="en-US" b="0" dirty="0"/>
              <a:t>Capital Outflows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F5BCA-69BC-CDBB-CC81-806BAE867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1" y="1025034"/>
            <a:ext cx="3432490" cy="4644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Increase foreign capital outflows by 500%</a:t>
            </a:r>
          </a:p>
          <a:p>
            <a:r>
              <a:rPr lang="en-US" sz="1800" dirty="0"/>
              <a:t>Reduce capital supply by 3%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b="1" dirty="0"/>
              <a:t>Closures</a:t>
            </a:r>
            <a:endParaRPr lang="en-US" sz="1800" b="1" dirty="0"/>
          </a:p>
          <a:p>
            <a:r>
              <a:rPr lang="en-US" sz="1800" dirty="0"/>
              <a:t>Labor full employment </a:t>
            </a:r>
          </a:p>
          <a:p>
            <a:r>
              <a:rPr lang="en-US" sz="1800" dirty="0"/>
              <a:t>Land fixed by sector</a:t>
            </a:r>
          </a:p>
          <a:p>
            <a:r>
              <a:rPr lang="en-US" sz="1800" dirty="0"/>
              <a:t>Capital fully employed</a:t>
            </a:r>
          </a:p>
          <a:p>
            <a:r>
              <a:rPr lang="en-US" sz="1800" dirty="0"/>
              <a:t>Flexible government savings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97967E-D3C9-3874-B559-C514A25FCC9F}"/>
              </a:ext>
            </a:extLst>
          </p:cNvPr>
          <p:cNvGraphicFramePr>
            <a:graphicFrameLocks noGrp="1"/>
          </p:cNvGraphicFramePr>
          <p:nvPr/>
        </p:nvGraphicFramePr>
        <p:xfrm>
          <a:off x="4640580" y="2034224"/>
          <a:ext cx="4671062" cy="32253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35531">
                  <a:extLst>
                    <a:ext uri="{9D8B030D-6E8A-4147-A177-3AD203B41FA5}">
                      <a16:colId xmlns:a16="http://schemas.microsoft.com/office/drawing/2014/main" val="4282794279"/>
                    </a:ext>
                  </a:extLst>
                </a:gridCol>
                <a:gridCol w="2335531">
                  <a:extLst>
                    <a:ext uri="{9D8B030D-6E8A-4147-A177-3AD203B41FA5}">
                      <a16:colId xmlns:a16="http://schemas.microsoft.com/office/drawing/2014/main" val="943624877"/>
                    </a:ext>
                  </a:extLst>
                </a:gridCol>
              </a:tblGrid>
              <a:tr h="10534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Flexible </a:t>
                      </a:r>
                    </a:p>
                    <a:p>
                      <a:pPr algn="ctr"/>
                      <a:r>
                        <a:rPr lang="en-US" sz="2000" dirty="0"/>
                        <a:t>Savings rates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44061368"/>
                  </a:ext>
                </a:extLst>
              </a:tr>
              <a:tr h="111850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No change in 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capital supply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1</a:t>
                      </a:r>
                    </a:p>
                    <a:p>
                      <a:pPr algn="ctr"/>
                      <a:r>
                        <a:rPr lang="en-US" sz="1800" b="0" dirty="0"/>
                        <a:t>(short-run shock)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98418592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Reduced 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capital supply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 2</a:t>
                      </a:r>
                    </a:p>
                    <a:p>
                      <a:pPr algn="ctr"/>
                      <a:r>
                        <a:rPr lang="en-US" sz="1800" b="0" dirty="0"/>
                        <a:t>(longer-run shock)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103957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0F554B-F84A-C4D8-4F9E-CA5F03249109}"/>
              </a:ext>
            </a:extLst>
          </p:cNvPr>
          <p:cNvSpPr txBox="1"/>
          <p:nvPr/>
        </p:nvSpPr>
        <p:spPr>
          <a:xfrm>
            <a:off x="4640580" y="2034224"/>
            <a:ext cx="18516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Two</a:t>
            </a:r>
          </a:p>
          <a:p>
            <a:r>
              <a:rPr lang="en-US" sz="2400" b="1" dirty="0"/>
              <a:t>simulations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81752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10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Introduction to Dynamic Modeling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Recursive dynamics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2AC32E12-FFB4-5C05-3B6D-2010C5494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82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0661-FECD-024C-398B-BC1BAF3B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Counterfactual Analysis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BCFD3-05FC-3AC2-C0D2-B84E9F47DD09}"/>
              </a:ext>
            </a:extLst>
          </p:cNvPr>
          <p:cNvCxnSpPr>
            <a:cxnSpLocks/>
          </p:cNvCxnSpPr>
          <p:nvPr/>
        </p:nvCxnSpPr>
        <p:spPr>
          <a:xfrm>
            <a:off x="8937931" y="2078619"/>
            <a:ext cx="16954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C50CD9-44F6-C5A2-6D18-ADF9969CA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10" y="1441495"/>
            <a:ext cx="4895320" cy="4835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CGE model is a laboratory for experimenting with different policies and shocks</a:t>
            </a:r>
            <a:r>
              <a:rPr lang="en-US" sz="100" dirty="0"/>
              <a:t>[</a:t>
            </a:r>
            <a:endParaRPr lang="en-US" sz="2000" dirty="0"/>
          </a:p>
          <a:p>
            <a:r>
              <a:rPr lang="en-US" dirty="0"/>
              <a:t>C</a:t>
            </a:r>
            <a:r>
              <a:rPr lang="en-US" sz="2000" dirty="0"/>
              <a:t>ounterfactual analysis measures outcomes with (before) and without (after) shock or intervention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/>
              <a:t>Can be used as either static or dynamic model</a:t>
            </a:r>
          </a:p>
          <a:p>
            <a:r>
              <a:rPr lang="en-US" sz="2000" dirty="0"/>
              <a:t>Choice depends on the policy or shock being analyzed (e.g., impacts of a rapid onset shock vs. designing long-term investment strategies)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6C37CB-37F8-7BF7-BD07-059586246E1A}"/>
              </a:ext>
            </a:extLst>
          </p:cNvPr>
          <p:cNvCxnSpPr/>
          <p:nvPr/>
        </p:nvCxnSpPr>
        <p:spPr>
          <a:xfrm>
            <a:off x="9976156" y="1510294"/>
            <a:ext cx="6667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89A38A1-9E33-845D-04E1-2C8C7B7FD8EB}"/>
              </a:ext>
            </a:extLst>
          </p:cNvPr>
          <p:cNvSpPr/>
          <p:nvPr/>
        </p:nvSpPr>
        <p:spPr>
          <a:xfrm>
            <a:off x="6026718" y="2011944"/>
            <a:ext cx="2059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 a static model: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E79CA-44F4-A35B-FE04-C7972F2E76E9}"/>
              </a:ext>
            </a:extLst>
          </p:cNvPr>
          <p:cNvSpPr/>
          <p:nvPr/>
        </p:nvSpPr>
        <p:spPr>
          <a:xfrm>
            <a:off x="5832781" y="4527719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 a dynamic model: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23D2E4-BC50-73E2-AF14-24A88936649A}"/>
              </a:ext>
            </a:extLst>
          </p:cNvPr>
          <p:cNvCxnSpPr/>
          <p:nvPr/>
        </p:nvCxnSpPr>
        <p:spPr>
          <a:xfrm>
            <a:off x="8086544" y="3970212"/>
            <a:ext cx="0" cy="1914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7A6F43-12DA-A6DE-3622-519C3D81EA8C}"/>
              </a:ext>
            </a:extLst>
          </p:cNvPr>
          <p:cNvCxnSpPr>
            <a:cxnSpLocks/>
          </p:cNvCxnSpPr>
          <p:nvPr/>
        </p:nvCxnSpPr>
        <p:spPr>
          <a:xfrm flipH="1">
            <a:off x="8086544" y="5884737"/>
            <a:ext cx="2623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D40654-AAFC-B1D5-A54C-57B3282E2C62}"/>
              </a:ext>
            </a:extLst>
          </p:cNvPr>
          <p:cNvCxnSpPr>
            <a:cxnSpLocks/>
          </p:cNvCxnSpPr>
          <p:nvPr/>
        </p:nvCxnSpPr>
        <p:spPr>
          <a:xfrm flipH="1">
            <a:off x="8377057" y="4927474"/>
            <a:ext cx="2256324" cy="619127"/>
          </a:xfrm>
          <a:prstGeom prst="line">
            <a:avLst/>
          </a:prstGeom>
          <a:ln w="1905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B84678-FD0A-F5B6-7F4F-ECF3EE6E9FCD}"/>
              </a:ext>
            </a:extLst>
          </p:cNvPr>
          <p:cNvCxnSpPr>
            <a:cxnSpLocks/>
          </p:cNvCxnSpPr>
          <p:nvPr/>
        </p:nvCxnSpPr>
        <p:spPr>
          <a:xfrm flipH="1">
            <a:off x="8386582" y="4306399"/>
            <a:ext cx="2246799" cy="1247345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457858-0BBE-AD19-F7F6-F0D7C7C2CC29}"/>
              </a:ext>
            </a:extLst>
          </p:cNvPr>
          <p:cNvCxnSpPr>
            <a:cxnSpLocks/>
          </p:cNvCxnSpPr>
          <p:nvPr/>
        </p:nvCxnSpPr>
        <p:spPr>
          <a:xfrm>
            <a:off x="10713245" y="4325449"/>
            <a:ext cx="0" cy="547473"/>
          </a:xfrm>
          <a:prstGeom prst="line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2BFA85-0E1D-8A1F-867F-F25908263AC8}"/>
              </a:ext>
            </a:extLst>
          </p:cNvPr>
          <p:cNvSpPr txBox="1"/>
          <p:nvPr/>
        </p:nvSpPr>
        <p:spPr>
          <a:xfrm>
            <a:off x="9543319" y="5181536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Without policy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(baseline)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2C9952-FE10-7252-6C17-AC46A851D0E6}"/>
              </a:ext>
            </a:extLst>
          </p:cNvPr>
          <p:cNvSpPr txBox="1"/>
          <p:nvPr/>
        </p:nvSpPr>
        <p:spPr>
          <a:xfrm>
            <a:off x="9562369" y="4020548"/>
            <a:ext cx="1257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With policy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1E4BB-A582-D5FC-9289-C26F57B0F612}"/>
              </a:ext>
            </a:extLst>
          </p:cNvPr>
          <p:cNvSpPr txBox="1"/>
          <p:nvPr/>
        </p:nvSpPr>
        <p:spPr>
          <a:xfrm>
            <a:off x="10729548" y="429825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Impact of policy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FEE3D4-F624-23E0-5872-DAE94D1C6953}"/>
              </a:ext>
            </a:extLst>
          </p:cNvPr>
          <p:cNvSpPr txBox="1"/>
          <p:nvPr/>
        </p:nvSpPr>
        <p:spPr>
          <a:xfrm>
            <a:off x="7861606" y="5969654"/>
            <a:ext cx="123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Base year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AB0ED0-0506-66A9-799F-C1A55995972F}"/>
              </a:ext>
            </a:extLst>
          </p:cNvPr>
          <p:cNvSpPr txBox="1"/>
          <p:nvPr/>
        </p:nvSpPr>
        <p:spPr>
          <a:xfrm>
            <a:off x="10047319" y="5977093"/>
            <a:ext cx="123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year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6A98E36-2A98-D92F-E965-C74318D0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594" y="1148195"/>
            <a:ext cx="3336036" cy="21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815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A8E9-310C-2BBC-4F09-D3935056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Annual Updates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2214D6-C66D-D39C-4698-348C3ED318F3}"/>
              </a:ext>
            </a:extLst>
          </p:cNvPr>
          <p:cNvGrpSpPr/>
          <p:nvPr/>
        </p:nvGrpSpPr>
        <p:grpSpPr>
          <a:xfrm>
            <a:off x="330511" y="2282724"/>
            <a:ext cx="5366999" cy="4070942"/>
            <a:chOff x="528475" y="981825"/>
            <a:chExt cx="5399903" cy="407094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F9CDBB-8714-EB78-1D33-7DFA50213C65}"/>
                </a:ext>
              </a:extLst>
            </p:cNvPr>
            <p:cNvSpPr/>
            <p:nvPr/>
          </p:nvSpPr>
          <p:spPr>
            <a:xfrm>
              <a:off x="528475" y="981825"/>
              <a:ext cx="5399903" cy="4070942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56D460-3813-BB69-BD90-54783B5A237D}"/>
                </a:ext>
              </a:extLst>
            </p:cNvPr>
            <p:cNvSpPr/>
            <p:nvPr/>
          </p:nvSpPr>
          <p:spPr>
            <a:xfrm>
              <a:off x="528475" y="981825"/>
              <a:ext cx="5399903" cy="409653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CA00E8-A71A-6AD9-25E3-8867D1ED6921}"/>
                </a:ext>
              </a:extLst>
            </p:cNvPr>
            <p:cNvSpPr txBox="1"/>
            <p:nvPr/>
          </p:nvSpPr>
          <p:spPr>
            <a:xfrm>
              <a:off x="596348" y="1001985"/>
              <a:ext cx="5280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Endogenous Updating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41671A5-769F-9478-AA2A-E62476D89A5B}"/>
              </a:ext>
            </a:extLst>
          </p:cNvPr>
          <p:cNvGrpSpPr/>
          <p:nvPr/>
        </p:nvGrpSpPr>
        <p:grpSpPr>
          <a:xfrm>
            <a:off x="5996664" y="2282724"/>
            <a:ext cx="5839858" cy="4070942"/>
            <a:chOff x="528475" y="981825"/>
            <a:chExt cx="5399903" cy="407094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10D5B1-08E9-4A01-FAC6-DEDFAA39D7FF}"/>
                </a:ext>
              </a:extLst>
            </p:cNvPr>
            <p:cNvSpPr/>
            <p:nvPr/>
          </p:nvSpPr>
          <p:spPr>
            <a:xfrm>
              <a:off x="528475" y="981825"/>
              <a:ext cx="5399903" cy="4070942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E341AF-3613-EC4A-4C92-4195F1D2805F}"/>
                </a:ext>
              </a:extLst>
            </p:cNvPr>
            <p:cNvSpPr/>
            <p:nvPr/>
          </p:nvSpPr>
          <p:spPr>
            <a:xfrm>
              <a:off x="528475" y="981825"/>
              <a:ext cx="5399903" cy="409653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942336-4A2B-DB84-4010-599CE9C5F347}"/>
                </a:ext>
              </a:extLst>
            </p:cNvPr>
            <p:cNvSpPr txBox="1"/>
            <p:nvPr/>
          </p:nvSpPr>
          <p:spPr>
            <a:xfrm>
              <a:off x="596348" y="1001985"/>
              <a:ext cx="5280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Exogenous Updating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BD4170D-9FE7-31D5-6DD8-C080A7566072}"/>
              </a:ext>
            </a:extLst>
          </p:cNvPr>
          <p:cNvSpPr txBox="1"/>
          <p:nvPr/>
        </p:nvSpPr>
        <p:spPr>
          <a:xfrm>
            <a:off x="330511" y="1080524"/>
            <a:ext cx="8431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CGE model is solved annually with inter-annual updates to key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Endogenous</a:t>
            </a:r>
            <a:r>
              <a:rPr lang="en-US" dirty="0"/>
              <a:t> updates depend on results from previous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Exogenous</a:t>
            </a:r>
            <a:r>
              <a:rPr lang="en-US" dirty="0"/>
              <a:t> updates are fixed over time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F6D53B-F295-2ED9-5660-AA21B969DEA9}"/>
              </a:ext>
            </a:extLst>
          </p:cNvPr>
          <p:cNvSpPr txBox="1"/>
          <p:nvPr/>
        </p:nvSpPr>
        <p:spPr>
          <a:xfrm>
            <a:off x="397970" y="2901062"/>
            <a:ext cx="5126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Capital accumulation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previous year’s investment levels, which are themselves endogenous (i.e., of national incomes and savings rates)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Capital allocation by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past investment allocations and previous year’s relative profits across sectors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7A913C-2424-8D02-B9EF-16EB14034927}"/>
              </a:ext>
            </a:extLst>
          </p:cNvPr>
          <p:cNvSpPr txBox="1"/>
          <p:nvPr/>
        </p:nvSpPr>
        <p:spPr>
          <a:xfrm>
            <a:off x="6096000" y="2915315"/>
            <a:ext cx="56853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Population &amp; labor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Rural &amp; urban projections from UNDESA or official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Labor adjusted using labor force survey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Land supply &amp; agric.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FAO or official trends (total cultivated area)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Macroeconomy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Baseline assumes trends from previous decade continues (incl. GDP growth by sector, absorption structure, trade balance, remittances/FDI, etc.)</a:t>
            </a:r>
          </a:p>
        </p:txBody>
      </p:sp>
    </p:spTree>
    <p:extLst>
      <p:ext uri="{BB962C8B-B14F-4D97-AF65-F5344CB8AC3E}">
        <p14:creationId xmlns:p14="http://schemas.microsoft.com/office/powerpoint/2010/main" val="19025644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74F1-4D1A-750C-D3C4-8737588F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Endogenous Capital Accumulation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3DB49D-95F8-D8E6-413E-D22919595DC9}"/>
              </a:ext>
            </a:extLst>
          </p:cNvPr>
          <p:cNvCxnSpPr/>
          <p:nvPr/>
        </p:nvCxnSpPr>
        <p:spPr>
          <a:xfrm flipH="1">
            <a:off x="4702869" y="4307882"/>
            <a:ext cx="2358218" cy="492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F825A5C-597C-6D31-D24E-C9808D3680BB}"/>
              </a:ext>
            </a:extLst>
          </p:cNvPr>
          <p:cNvSpPr/>
          <p:nvPr/>
        </p:nvSpPr>
        <p:spPr>
          <a:xfrm>
            <a:off x="5178431" y="4257011"/>
            <a:ext cx="79999" cy="92869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6E5402-C33A-B0A6-09F5-31055780C5E7}"/>
              </a:ext>
            </a:extLst>
          </p:cNvPr>
          <p:cNvGrpSpPr/>
          <p:nvPr/>
        </p:nvGrpSpPr>
        <p:grpSpPr>
          <a:xfrm>
            <a:off x="1857512" y="1278803"/>
            <a:ext cx="8066983" cy="4770748"/>
            <a:chOff x="274823" y="1213657"/>
            <a:chExt cx="8066983" cy="477074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8134853-E175-B4D9-53B9-3AC8C5EDAC9D}"/>
                </a:ext>
              </a:extLst>
            </p:cNvPr>
            <p:cNvCxnSpPr/>
            <p:nvPr/>
          </p:nvCxnSpPr>
          <p:spPr>
            <a:xfrm flipV="1">
              <a:off x="4024714" y="2529868"/>
              <a:ext cx="0" cy="379608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4AC400-C337-8784-BB48-95C0EC8DF370}"/>
                </a:ext>
              </a:extLst>
            </p:cNvPr>
            <p:cNvSpPr txBox="1"/>
            <p:nvPr/>
          </p:nvSpPr>
          <p:spPr>
            <a:xfrm>
              <a:off x="4019001" y="3621859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Social transfers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59ABBB-3898-4F29-D98C-30019F4FB502}"/>
                </a:ext>
              </a:extLst>
            </p:cNvPr>
            <p:cNvSpPr txBox="1"/>
            <p:nvPr/>
          </p:nvSpPr>
          <p:spPr>
            <a:xfrm>
              <a:off x="804863" y="5348521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Exports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A587DE-9101-006E-FD73-32CD707CE709}"/>
                </a:ext>
              </a:extLst>
            </p:cNvPr>
            <p:cNvGrpSpPr/>
            <p:nvPr/>
          </p:nvGrpSpPr>
          <p:grpSpPr>
            <a:xfrm>
              <a:off x="1566572" y="1422279"/>
              <a:ext cx="1558637" cy="646331"/>
              <a:chOff x="332509" y="3092335"/>
              <a:chExt cx="1989513" cy="64633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1BC8202-D7A1-67B0-F571-ECDAED1E49A2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59D9129-D00F-6269-30C1-7DE972378D8E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Factor Markets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625F1E-E125-4EBB-DFD6-7B2685D804C9}"/>
                </a:ext>
              </a:extLst>
            </p:cNvPr>
            <p:cNvGrpSpPr/>
            <p:nvPr/>
          </p:nvGrpSpPr>
          <p:grpSpPr>
            <a:xfrm>
              <a:off x="2852650" y="2895367"/>
              <a:ext cx="1558637" cy="369333"/>
              <a:chOff x="332509" y="3092335"/>
              <a:chExt cx="1989513" cy="369333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21F132C-A206-5F95-9A49-2E45C2DD8C8B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143356-6BBB-4C3E-E54B-ACDAA75271B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1A163D9-8794-7723-BB16-473360D8756D}"/>
                </a:ext>
              </a:extLst>
            </p:cNvPr>
            <p:cNvGrpSpPr/>
            <p:nvPr/>
          </p:nvGrpSpPr>
          <p:grpSpPr>
            <a:xfrm>
              <a:off x="274823" y="2891327"/>
              <a:ext cx="1562884" cy="369333"/>
              <a:chOff x="332509" y="3092335"/>
              <a:chExt cx="1994934" cy="369333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7C0511B-6082-7329-F766-A8376A406C68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1FF777C-54DB-E607-80D6-E664EA1F0A8D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94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Firms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36EB2A4-52DC-D8D6-E632-179CB9A2CEAC}"/>
                </a:ext>
              </a:extLst>
            </p:cNvPr>
            <p:cNvGrpSpPr/>
            <p:nvPr/>
          </p:nvGrpSpPr>
          <p:grpSpPr>
            <a:xfrm>
              <a:off x="6783169" y="2904495"/>
              <a:ext cx="1558637" cy="651480"/>
              <a:chOff x="332509" y="3087186"/>
              <a:chExt cx="1989513" cy="65148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0835AF2-A300-C317-F59E-B30A7E9FC3EA}"/>
                  </a:ext>
                </a:extLst>
              </p:cNvPr>
              <p:cNvSpPr/>
              <p:nvPr/>
            </p:nvSpPr>
            <p:spPr>
              <a:xfrm>
                <a:off x="332509" y="3087186"/>
                <a:ext cx="1989513" cy="651480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A816CB-8170-B299-D80E-59543268133F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77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Savings &amp; Investment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2BBA07-291F-3758-DA58-39808E65EED3}"/>
                </a:ext>
              </a:extLst>
            </p:cNvPr>
            <p:cNvGrpSpPr/>
            <p:nvPr/>
          </p:nvGrpSpPr>
          <p:grpSpPr>
            <a:xfrm>
              <a:off x="4835039" y="2891327"/>
              <a:ext cx="1558637" cy="369333"/>
              <a:chOff x="332509" y="3092335"/>
              <a:chExt cx="1989513" cy="36933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4002F04-E79E-1512-8C49-88D2CFDF2929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A889223-0484-8DBE-00D1-8866949B02D2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E507703-1762-2324-60BB-677FBB72BC7A}"/>
                </a:ext>
              </a:extLst>
            </p:cNvPr>
            <p:cNvGrpSpPr/>
            <p:nvPr/>
          </p:nvGrpSpPr>
          <p:grpSpPr>
            <a:xfrm>
              <a:off x="1571066" y="4083373"/>
              <a:ext cx="1558637" cy="646331"/>
              <a:chOff x="332509" y="3092335"/>
              <a:chExt cx="1989513" cy="646331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24AFD4-4773-8668-92A8-C7E5CB8DEC0C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1D786F7-57DC-4FE1-A87C-FAD858E0D979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0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Product Markets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7C7578-1CD5-D8A2-4B44-785D03E4B649}"/>
                </a:ext>
              </a:extLst>
            </p:cNvPr>
            <p:cNvGrpSpPr/>
            <p:nvPr/>
          </p:nvGrpSpPr>
          <p:grpSpPr>
            <a:xfrm>
              <a:off x="1571523" y="5338074"/>
              <a:ext cx="1561272" cy="646331"/>
              <a:chOff x="332509" y="3092335"/>
              <a:chExt cx="1992877" cy="646331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F322BF9-CCF5-8CDD-1EAF-C58A1C94AEB0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525624A-3FA8-F6EB-E735-C7537A582F54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9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Foreign Markets</a:t>
                </a: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B562A5-427A-F726-DA58-8C9789B9A74E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 flipV="1">
              <a:off x="1054141" y="1745443"/>
              <a:ext cx="512431" cy="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E9029-8EDC-8161-CAF6-E6104F37F409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 flipH="1" flipV="1">
              <a:off x="1054141" y="1745444"/>
              <a:ext cx="2124" cy="1145883"/>
            </a:xfrm>
            <a:prstGeom prst="line">
              <a:avLst/>
            </a:prstGeom>
            <a:ln w="12700">
              <a:solidFill>
                <a:srgbClr val="5454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66AC82-26A3-14C9-067E-F1C1B3A1AC8F}"/>
                </a:ext>
              </a:extLst>
            </p:cNvPr>
            <p:cNvCxnSpPr>
              <a:cxnSpLocks/>
              <a:endCxn id="70" idx="3"/>
            </p:cNvCxnSpPr>
            <p:nvPr/>
          </p:nvCxnSpPr>
          <p:spPr>
            <a:xfrm flipH="1">
              <a:off x="3120179" y="1745442"/>
              <a:ext cx="511789" cy="3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93A97CE-CA39-F923-BBEF-88DB65A73BDB}"/>
                </a:ext>
              </a:extLst>
            </p:cNvPr>
            <p:cNvCxnSpPr>
              <a:cxnSpLocks/>
              <a:stCxn id="68" idx="0"/>
            </p:cNvCxnSpPr>
            <p:nvPr/>
          </p:nvCxnSpPr>
          <p:spPr>
            <a:xfrm flipH="1" flipV="1">
              <a:off x="3631968" y="1745443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88A90F-7C37-7907-99F5-4A1C12E3E561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 flipH="1" flipV="1">
              <a:off x="3631969" y="3264699"/>
              <a:ext cx="1" cy="114184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422F06-BEAE-5776-BADE-01F6B1B7C510}"/>
                </a:ext>
              </a:extLst>
            </p:cNvPr>
            <p:cNvCxnSpPr>
              <a:cxnSpLocks/>
              <a:endCxn id="66" idx="2"/>
            </p:cNvCxnSpPr>
            <p:nvPr/>
          </p:nvCxnSpPr>
          <p:spPr>
            <a:xfrm flipV="1">
              <a:off x="1054143" y="3260659"/>
              <a:ext cx="2122" cy="114588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92EDB3-4286-9348-37FB-26A4A3A7FBF2}"/>
                </a:ext>
              </a:extLst>
            </p:cNvPr>
            <p:cNvCxnSpPr>
              <a:cxnSpLocks/>
              <a:endCxn id="60" idx="3"/>
            </p:cNvCxnSpPr>
            <p:nvPr/>
          </p:nvCxnSpPr>
          <p:spPr>
            <a:xfrm flipH="1">
              <a:off x="3122922" y="4406534"/>
              <a:ext cx="4439566" cy="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1842A0-D023-D226-6D24-7D79C291D4B0}"/>
                </a:ext>
              </a:extLst>
            </p:cNvPr>
            <p:cNvCxnSpPr>
              <a:cxnSpLocks/>
              <a:stCxn id="60" idx="1"/>
            </p:cNvCxnSpPr>
            <p:nvPr/>
          </p:nvCxnSpPr>
          <p:spPr>
            <a:xfrm flipH="1" flipV="1">
              <a:off x="1056390" y="4406538"/>
              <a:ext cx="514676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D28405-B628-EA69-E13B-D267209A901C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2346994" y="3075990"/>
              <a:ext cx="3389" cy="1007383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B6431C1-999B-2373-5F2F-BC56482D8F5E}"/>
                </a:ext>
              </a:extLst>
            </p:cNvPr>
            <p:cNvCxnSpPr/>
            <p:nvPr/>
          </p:nvCxnSpPr>
          <p:spPr>
            <a:xfrm flipH="1">
              <a:off x="1833461" y="3075989"/>
              <a:ext cx="511841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E280B70-2106-F46F-80D5-C609971C7432}"/>
                </a:ext>
              </a:extLst>
            </p:cNvPr>
            <p:cNvSpPr txBox="1"/>
            <p:nvPr/>
          </p:nvSpPr>
          <p:spPr>
            <a:xfrm>
              <a:off x="3047166" y="441154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Private consumption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9385F3-4A57-E7A6-0DDE-BE36B5B429F7}"/>
                </a:ext>
              </a:extLst>
            </p:cNvPr>
            <p:cNvSpPr txBox="1"/>
            <p:nvPr/>
          </p:nvSpPr>
          <p:spPr>
            <a:xfrm>
              <a:off x="3125208" y="1222031"/>
              <a:ext cx="742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54544B"/>
                  </a:solidFill>
                </a:rPr>
                <a:t>Wages &amp; rents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029EE7-9114-D6B1-FCD3-EF8EE0E3953D}"/>
                </a:ext>
              </a:extLst>
            </p:cNvPr>
            <p:cNvSpPr txBox="1"/>
            <p:nvPr/>
          </p:nvSpPr>
          <p:spPr>
            <a:xfrm>
              <a:off x="1095585" y="3395682"/>
              <a:ext cx="126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Intermediate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AE99DE4-4E2A-92E0-2085-661FE398B426}"/>
                </a:ext>
              </a:extLst>
            </p:cNvPr>
            <p:cNvCxnSpPr>
              <a:cxnSpLocks/>
              <a:stCxn id="58" idx="0"/>
              <a:endCxn id="60" idx="2"/>
            </p:cNvCxnSpPr>
            <p:nvPr/>
          </p:nvCxnSpPr>
          <p:spPr>
            <a:xfrm flipH="1" flipV="1">
              <a:off x="2346994" y="4729704"/>
              <a:ext cx="5166" cy="608370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65DE22E-6A51-7B1B-49E6-CF6FD62A198F}"/>
                </a:ext>
              </a:extLst>
            </p:cNvPr>
            <p:cNvCxnSpPr/>
            <p:nvPr/>
          </p:nvCxnSpPr>
          <p:spPr>
            <a:xfrm flipV="1">
              <a:off x="822326" y="3265230"/>
              <a:ext cx="734" cy="240430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A2E22D-994B-4F0C-7081-C433EC5B66BA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flipH="1">
              <a:off x="822326" y="5661240"/>
              <a:ext cx="749198" cy="550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02A4F3-C6DC-49DF-DF15-168870E8EEFE}"/>
                </a:ext>
              </a:extLst>
            </p:cNvPr>
            <p:cNvSpPr txBox="1"/>
            <p:nvPr/>
          </p:nvSpPr>
          <p:spPr>
            <a:xfrm>
              <a:off x="925483" y="4406534"/>
              <a:ext cx="641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Sales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6B4EC7-175C-604B-C6F7-BFE854D585AD}"/>
                </a:ext>
              </a:extLst>
            </p:cNvPr>
            <p:cNvSpPr txBox="1"/>
            <p:nvPr/>
          </p:nvSpPr>
          <p:spPr>
            <a:xfrm>
              <a:off x="1572738" y="5030860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Imports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FD26F00-C873-913B-97B4-B3EA5D9606BA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flipH="1" flipV="1">
              <a:off x="5614357" y="3260659"/>
              <a:ext cx="1" cy="1146827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077C850-D187-0A52-EF63-7E0C9AC86057}"/>
                </a:ext>
              </a:extLst>
            </p:cNvPr>
            <p:cNvCxnSpPr>
              <a:cxnSpLocks/>
              <a:endCxn id="64" idx="2"/>
            </p:cNvCxnSpPr>
            <p:nvPr/>
          </p:nvCxnSpPr>
          <p:spPr>
            <a:xfrm flipH="1" flipV="1">
              <a:off x="7557730" y="3555975"/>
              <a:ext cx="4757" cy="845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C74AFE-F1AA-A6AD-53D8-AD18F6B7DF0F}"/>
                </a:ext>
              </a:extLst>
            </p:cNvPr>
            <p:cNvSpPr txBox="1"/>
            <p:nvPr/>
          </p:nvSpPr>
          <p:spPr>
            <a:xfrm>
              <a:off x="925483" y="1213657"/>
              <a:ext cx="641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Factor costs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D76260-10A6-53DF-90CE-7AF9B9417970}"/>
                </a:ext>
              </a:extLst>
            </p:cNvPr>
            <p:cNvSpPr txBox="1"/>
            <p:nvPr/>
          </p:nvSpPr>
          <p:spPr>
            <a:xfrm>
              <a:off x="5025984" y="441789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consumption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E3F4DE6-BBD5-9FC7-B79C-B8E7B2BFE3AA}"/>
                </a:ext>
              </a:extLst>
            </p:cNvPr>
            <p:cNvSpPr txBox="1"/>
            <p:nvPr/>
          </p:nvSpPr>
          <p:spPr>
            <a:xfrm>
              <a:off x="6634163" y="4413135"/>
              <a:ext cx="1001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Investment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C0A1AD2-49D7-E216-B6AF-DDA65E1AA012}"/>
                </a:ext>
              </a:extLst>
            </p:cNvPr>
            <p:cNvCxnSpPr/>
            <p:nvPr/>
          </p:nvCxnSpPr>
          <p:spPr>
            <a:xfrm flipH="1">
              <a:off x="3831116" y="1748548"/>
              <a:ext cx="3731370" cy="498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9EB2266-D85B-A1D9-640C-B79AD1728E4E}"/>
                </a:ext>
              </a:extLst>
            </p:cNvPr>
            <p:cNvCxnSpPr/>
            <p:nvPr/>
          </p:nvCxnSpPr>
          <p:spPr>
            <a:xfrm flipH="1" flipV="1">
              <a:off x="3828341" y="1746786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8DB47DB-EAFA-75B9-2D12-8F0DA76D273E}"/>
                </a:ext>
              </a:extLst>
            </p:cNvPr>
            <p:cNvCxnSpPr>
              <a:cxnSpLocks/>
              <a:stCxn id="64" idx="0"/>
            </p:cNvCxnSpPr>
            <p:nvPr/>
          </p:nvCxnSpPr>
          <p:spPr>
            <a:xfrm flipV="1">
              <a:off x="7557730" y="1740897"/>
              <a:ext cx="4756" cy="1168747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187F63-D628-6F4A-D678-3B5D56692BCB}"/>
                </a:ext>
              </a:extLst>
            </p:cNvPr>
            <p:cNvSpPr txBox="1"/>
            <p:nvPr/>
          </p:nvSpPr>
          <p:spPr>
            <a:xfrm>
              <a:off x="5494193" y="1438300"/>
              <a:ext cx="2068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Domestic private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2199956-7C1A-01C1-472F-88E8AD64C081}"/>
                </a:ext>
              </a:extLst>
            </p:cNvPr>
            <p:cNvCxnSpPr/>
            <p:nvPr/>
          </p:nvCxnSpPr>
          <p:spPr>
            <a:xfrm flipH="1">
              <a:off x="4025901" y="2524891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7669AA7-6283-6848-8E1D-D39208DEE4AB}"/>
                </a:ext>
              </a:extLst>
            </p:cNvPr>
            <p:cNvCxnSpPr/>
            <p:nvPr/>
          </p:nvCxnSpPr>
          <p:spPr>
            <a:xfrm flipH="1" flipV="1">
              <a:off x="5351673" y="2525672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E61D750-EDFB-D691-8AAF-58384C70A31F}"/>
                </a:ext>
              </a:extLst>
            </p:cNvPr>
            <p:cNvCxnSpPr/>
            <p:nvPr/>
          </p:nvCxnSpPr>
          <p:spPr>
            <a:xfrm flipH="1" flipV="1">
              <a:off x="5750407" y="252061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1F0F3AE-373B-D5CA-4C71-22261AEA83E7}"/>
                </a:ext>
              </a:extLst>
            </p:cNvPr>
            <p:cNvCxnSpPr/>
            <p:nvPr/>
          </p:nvCxnSpPr>
          <p:spPr>
            <a:xfrm flipH="1">
              <a:off x="5751446" y="252332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E6AC72E-0661-0C71-2138-19627A8B82BE}"/>
                </a:ext>
              </a:extLst>
            </p:cNvPr>
            <p:cNvCxnSpPr/>
            <p:nvPr/>
          </p:nvCxnSpPr>
          <p:spPr>
            <a:xfrm flipH="1" flipV="1">
              <a:off x="7072484" y="2530461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5AE7ADE-F3D8-4E3C-8D82-ED8F0DBDEA8C}"/>
                </a:ext>
              </a:extLst>
            </p:cNvPr>
            <p:cNvCxnSpPr/>
            <p:nvPr/>
          </p:nvCxnSpPr>
          <p:spPr>
            <a:xfrm flipH="1" flipV="1">
              <a:off x="5346081" y="3260426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19BAEF1-327E-862A-43C3-48DC87389B71}"/>
                </a:ext>
              </a:extLst>
            </p:cNvPr>
            <p:cNvCxnSpPr/>
            <p:nvPr/>
          </p:nvCxnSpPr>
          <p:spPr>
            <a:xfrm flipH="1" flipV="1">
              <a:off x="4023248" y="325968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00E00FE-4436-155A-D1DA-3E196AF7BE87}"/>
                </a:ext>
              </a:extLst>
            </p:cNvPr>
            <p:cNvCxnSpPr/>
            <p:nvPr/>
          </p:nvCxnSpPr>
          <p:spPr>
            <a:xfrm flipH="1">
              <a:off x="4025901" y="362315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4735F5-52DD-7A43-C45A-7A4AB356E8DE}"/>
                </a:ext>
              </a:extLst>
            </p:cNvPr>
            <p:cNvSpPr txBox="1"/>
            <p:nvPr/>
          </p:nvSpPr>
          <p:spPr>
            <a:xfrm>
              <a:off x="5739385" y="221323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0B39DFC-9C68-457F-9F2A-B236FB39D4E0}"/>
                </a:ext>
              </a:extLst>
            </p:cNvPr>
            <p:cNvSpPr txBox="1"/>
            <p:nvPr/>
          </p:nvSpPr>
          <p:spPr>
            <a:xfrm>
              <a:off x="4009508" y="221709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Direct taxes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C9EA7D-28DC-53D9-4996-232E55593615}"/>
                </a:ext>
              </a:extLst>
            </p:cNvPr>
            <p:cNvCxnSpPr/>
            <p:nvPr/>
          </p:nvCxnSpPr>
          <p:spPr>
            <a:xfrm flipH="1">
              <a:off x="3122922" y="5656298"/>
              <a:ext cx="4674416" cy="0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D8F13F7-30A4-7BB5-4F55-35F313396D7C}"/>
                </a:ext>
              </a:extLst>
            </p:cNvPr>
            <p:cNvCxnSpPr/>
            <p:nvPr/>
          </p:nvCxnSpPr>
          <p:spPr>
            <a:xfrm flipV="1">
              <a:off x="7795022" y="3555975"/>
              <a:ext cx="2316" cy="21003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4E01032-E7B9-BE4B-E0B8-82D090FFA1F1}"/>
                </a:ext>
              </a:extLst>
            </p:cNvPr>
            <p:cNvSpPr txBox="1"/>
            <p:nvPr/>
          </p:nvSpPr>
          <p:spPr>
            <a:xfrm>
              <a:off x="5144823" y="5338074"/>
              <a:ext cx="26652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Foreign savings or capital inflows</a:t>
              </a:r>
              <a:endParaRPr lang="en-US" dirty="0">
                <a:solidFill>
                  <a:srgbClr val="54544B"/>
                </a:solidFill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3BFD32E-270D-6287-F2D0-A9625359419D}"/>
              </a:ext>
            </a:extLst>
          </p:cNvPr>
          <p:cNvCxnSpPr/>
          <p:nvPr/>
        </p:nvCxnSpPr>
        <p:spPr>
          <a:xfrm flipH="1" flipV="1">
            <a:off x="7062144" y="3321562"/>
            <a:ext cx="452" cy="98210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C09E77A-C12E-027B-2D0E-C73776EBCC40}"/>
              </a:ext>
            </a:extLst>
          </p:cNvPr>
          <p:cNvSpPr txBox="1"/>
          <p:nvPr/>
        </p:nvSpPr>
        <p:spPr>
          <a:xfrm>
            <a:off x="5717957" y="4000099"/>
            <a:ext cx="1350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Indirect taxes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08A322C-040C-0DB1-DAF7-39D487CFF5CF}"/>
              </a:ext>
            </a:extLst>
          </p:cNvPr>
          <p:cNvCxnSpPr/>
          <p:nvPr/>
        </p:nvCxnSpPr>
        <p:spPr>
          <a:xfrm flipH="1">
            <a:off x="4857237" y="1555365"/>
            <a:ext cx="496649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AC4D4CD-7C5A-9D3B-2A3B-13B71AAF0A90}"/>
              </a:ext>
            </a:extLst>
          </p:cNvPr>
          <p:cNvCxnSpPr/>
          <p:nvPr/>
        </p:nvCxnSpPr>
        <p:spPr>
          <a:xfrm>
            <a:off x="9823732" y="1555365"/>
            <a:ext cx="0" cy="1427162"/>
          </a:xfrm>
          <a:prstGeom prst="straightConnector1">
            <a:avLst/>
          </a:prstGeom>
          <a:ln w="28575">
            <a:solidFill>
              <a:srgbClr val="C00000"/>
            </a:solidFill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Box 47">
            <a:extLst>
              <a:ext uri="{FF2B5EF4-FFF2-40B4-BE49-F238E27FC236}">
                <a16:creationId xmlns:a16="http://schemas.microsoft.com/office/drawing/2014/main" id="{C5785B0F-BA04-80D8-C21C-F5BA7DD8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232" y="1128087"/>
            <a:ext cx="32131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sz="2000" b="1" dirty="0">
                <a:solidFill>
                  <a:srgbClr val="C00000"/>
                </a:solidFill>
              </a:rPr>
              <a:t>Capital accumulation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76" name="Text Box 47">
            <a:extLst>
              <a:ext uri="{FF2B5EF4-FFF2-40B4-BE49-F238E27FC236}">
                <a16:creationId xmlns:a16="http://schemas.microsoft.com/office/drawing/2014/main" id="{F0967458-6491-A922-68C8-8193C040B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817" y="2355891"/>
            <a:ext cx="32131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sz="2000" b="1" dirty="0">
                <a:solidFill>
                  <a:srgbClr val="C00000"/>
                </a:solidFill>
              </a:rPr>
              <a:t>Labor supply</a:t>
            </a:r>
            <a:endParaRPr lang="en-US" sz="1600" b="1" dirty="0">
              <a:solidFill>
                <a:srgbClr val="C00000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7DEF119-37B2-AA7D-06C1-1FD0145778E6}"/>
              </a:ext>
            </a:extLst>
          </p:cNvPr>
          <p:cNvCxnSpPr/>
          <p:nvPr/>
        </p:nvCxnSpPr>
        <p:spPr>
          <a:xfrm flipH="1" flipV="1">
            <a:off x="4631858" y="2160324"/>
            <a:ext cx="471488" cy="790297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Box 47">
            <a:extLst>
              <a:ext uri="{FF2B5EF4-FFF2-40B4-BE49-F238E27FC236}">
                <a16:creationId xmlns:a16="http://schemas.microsoft.com/office/drawing/2014/main" id="{2ACE7E7E-80AA-5378-32C8-8CC8869EA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932" y="2240987"/>
            <a:ext cx="141201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sz="2000" b="1" dirty="0">
                <a:solidFill>
                  <a:srgbClr val="C00000"/>
                </a:solidFill>
              </a:rPr>
              <a:t>TFP growth</a:t>
            </a:r>
            <a:endParaRPr lang="en-US" sz="1600" b="1" dirty="0">
              <a:solidFill>
                <a:srgbClr val="C0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A20EF6A-D8DB-BDA8-64A7-CCB26E2BFAD1}"/>
              </a:ext>
            </a:extLst>
          </p:cNvPr>
          <p:cNvCxnSpPr/>
          <p:nvPr/>
        </p:nvCxnSpPr>
        <p:spPr>
          <a:xfrm flipV="1">
            <a:off x="2392478" y="2039573"/>
            <a:ext cx="713635" cy="2437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0AD14AE-4AE8-6D74-1919-A46C697E6B98}"/>
              </a:ext>
            </a:extLst>
          </p:cNvPr>
          <p:cNvSpPr txBox="1"/>
          <p:nvPr/>
        </p:nvSpPr>
        <p:spPr>
          <a:xfrm>
            <a:off x="5280227" y="5298630"/>
            <a:ext cx="408285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Foreign savings or capital inflows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7DB86D-9A6E-CE11-3B9A-A840760C4C30}"/>
              </a:ext>
            </a:extLst>
          </p:cNvPr>
          <p:cNvSpPr txBox="1"/>
          <p:nvPr/>
        </p:nvSpPr>
        <p:spPr>
          <a:xfrm>
            <a:off x="6158224" y="4521166"/>
            <a:ext cx="205983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Public Consumption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E67126-923C-1094-BA16-58F1CFA1EDD0}"/>
              </a:ext>
            </a:extLst>
          </p:cNvPr>
          <p:cNvSpPr txBox="1"/>
          <p:nvPr/>
        </p:nvSpPr>
        <p:spPr>
          <a:xfrm>
            <a:off x="7938609" y="4521166"/>
            <a:ext cx="142316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Investment demand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5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8" grpId="0"/>
      <p:bldP spid="80" grpId="0" animBg="1"/>
      <p:bldP spid="81" grpId="0" animBg="1"/>
      <p:bldP spid="8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2007AD-D312-7422-33B9-081F48A312D0}"/>
              </a:ext>
            </a:extLst>
          </p:cNvPr>
          <p:cNvCxnSpPr>
            <a:cxnSpLocks/>
          </p:cNvCxnSpPr>
          <p:nvPr/>
        </p:nvCxnSpPr>
        <p:spPr>
          <a:xfrm flipV="1">
            <a:off x="3859657" y="2398756"/>
            <a:ext cx="4195600" cy="2635321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DBB4090-4BD9-DF42-A137-D99DA98F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Simulation Structure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6E2E64-3976-E6FB-B138-31B5B49D9DA7}"/>
              </a:ext>
            </a:extLst>
          </p:cNvPr>
          <p:cNvSpPr/>
          <p:nvPr/>
        </p:nvSpPr>
        <p:spPr>
          <a:xfrm>
            <a:off x="1155304" y="5546749"/>
            <a:ext cx="257930" cy="2491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733992-1604-133D-D350-4A0D374990AF}"/>
              </a:ext>
            </a:extLst>
          </p:cNvPr>
          <p:cNvCxnSpPr/>
          <p:nvPr/>
        </p:nvCxnSpPr>
        <p:spPr>
          <a:xfrm>
            <a:off x="1284269" y="1797978"/>
            <a:ext cx="0" cy="387335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A89CF0-4FB7-2A76-D942-3ED989F54640}"/>
              </a:ext>
            </a:extLst>
          </p:cNvPr>
          <p:cNvCxnSpPr>
            <a:cxnSpLocks/>
          </p:cNvCxnSpPr>
          <p:nvPr/>
        </p:nvCxnSpPr>
        <p:spPr>
          <a:xfrm flipH="1">
            <a:off x="1284269" y="5671335"/>
            <a:ext cx="697786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F3C715F-4CA6-0399-E3A2-E53CB19D7C5F}"/>
              </a:ext>
            </a:extLst>
          </p:cNvPr>
          <p:cNvSpPr/>
          <p:nvPr/>
        </p:nvSpPr>
        <p:spPr>
          <a:xfrm>
            <a:off x="2345394" y="5235284"/>
            <a:ext cx="257930" cy="24917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69DCE7-470F-4BF9-D757-FAB2EC3DB930}"/>
              </a:ext>
            </a:extLst>
          </p:cNvPr>
          <p:cNvCxnSpPr/>
          <p:nvPr/>
        </p:nvCxnSpPr>
        <p:spPr>
          <a:xfrm flipV="1">
            <a:off x="1284269" y="3914454"/>
            <a:ext cx="6822041" cy="1756881"/>
          </a:xfrm>
          <a:prstGeom prst="line">
            <a:avLst/>
          </a:prstGeom>
          <a:ln w="158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61120E-C47C-C5C7-B974-FEE70D308AB9}"/>
              </a:ext>
            </a:extLst>
          </p:cNvPr>
          <p:cNvSpPr/>
          <p:nvPr/>
        </p:nvSpPr>
        <p:spPr>
          <a:xfrm>
            <a:off x="3730692" y="4904798"/>
            <a:ext cx="257930" cy="24917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A0770A-B99A-8E13-DCF5-01B4FEC1F2D9}"/>
              </a:ext>
            </a:extLst>
          </p:cNvPr>
          <p:cNvSpPr/>
          <p:nvPr/>
        </p:nvSpPr>
        <p:spPr>
          <a:xfrm>
            <a:off x="5126265" y="4509242"/>
            <a:ext cx="257930" cy="24917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E0B805-F5CB-4F8A-9A72-9D307B243282}"/>
              </a:ext>
            </a:extLst>
          </p:cNvPr>
          <p:cNvSpPr/>
          <p:nvPr/>
        </p:nvSpPr>
        <p:spPr>
          <a:xfrm>
            <a:off x="6492728" y="4155637"/>
            <a:ext cx="257930" cy="24917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E58343-AF71-B355-CD27-A83DF4BAB92D}"/>
              </a:ext>
            </a:extLst>
          </p:cNvPr>
          <p:cNvSpPr/>
          <p:nvPr/>
        </p:nvSpPr>
        <p:spPr>
          <a:xfrm>
            <a:off x="7926292" y="3789867"/>
            <a:ext cx="257930" cy="24917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4066B7D-4261-28D0-E35F-8B242F18F59F}"/>
              </a:ext>
            </a:extLst>
          </p:cNvPr>
          <p:cNvSpPr/>
          <p:nvPr/>
        </p:nvSpPr>
        <p:spPr>
          <a:xfrm>
            <a:off x="5126265" y="4001388"/>
            <a:ext cx="257930" cy="24917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E83911-696F-DB8F-C256-0AB11B234F7D}"/>
              </a:ext>
            </a:extLst>
          </p:cNvPr>
          <p:cNvSpPr/>
          <p:nvPr/>
        </p:nvSpPr>
        <p:spPr>
          <a:xfrm>
            <a:off x="6492728" y="3160600"/>
            <a:ext cx="257930" cy="24917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ADFFA2-FCAB-6244-2D6F-B3AF595F7524}"/>
              </a:ext>
            </a:extLst>
          </p:cNvPr>
          <p:cNvSpPr/>
          <p:nvPr/>
        </p:nvSpPr>
        <p:spPr>
          <a:xfrm>
            <a:off x="7926292" y="2274198"/>
            <a:ext cx="257930" cy="24917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51AEF2-E24B-6F08-AB3C-28AE6AF98AF9}"/>
              </a:ext>
            </a:extLst>
          </p:cNvPr>
          <p:cNvSpPr txBox="1"/>
          <p:nvPr/>
        </p:nvSpPr>
        <p:spPr>
          <a:xfrm>
            <a:off x="8295305" y="3716416"/>
            <a:ext cx="207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Baseline scenario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9FBBBD-DC0D-E70F-E52F-D1175786E0C5}"/>
              </a:ext>
            </a:extLst>
          </p:cNvPr>
          <p:cNvSpPr txBox="1"/>
          <p:nvPr/>
        </p:nvSpPr>
        <p:spPr>
          <a:xfrm>
            <a:off x="8295305" y="2214090"/>
            <a:ext cx="207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Simulation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B53D48-3525-6138-0943-1E642F7B9879}"/>
              </a:ext>
            </a:extLst>
          </p:cNvPr>
          <p:cNvSpPr txBox="1"/>
          <p:nvPr/>
        </p:nvSpPr>
        <p:spPr>
          <a:xfrm>
            <a:off x="565078" y="5837667"/>
            <a:ext cx="1438382" cy="37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Base year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A02516-703B-8533-3ECE-49668E8D0B63}"/>
              </a:ext>
            </a:extLst>
          </p:cNvPr>
          <p:cNvSpPr txBox="1"/>
          <p:nvPr/>
        </p:nvSpPr>
        <p:spPr>
          <a:xfrm>
            <a:off x="1755168" y="5840211"/>
            <a:ext cx="1438382" cy="37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4BFA30-9D76-1D78-0ABE-132AE1A41180}"/>
              </a:ext>
            </a:extLst>
          </p:cNvPr>
          <p:cNvSpPr txBox="1"/>
          <p:nvPr/>
        </p:nvSpPr>
        <p:spPr>
          <a:xfrm>
            <a:off x="3140466" y="5839537"/>
            <a:ext cx="1438382" cy="37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428535-993C-0F70-5A22-CC7F1DFAE75C}"/>
              </a:ext>
            </a:extLst>
          </p:cNvPr>
          <p:cNvSpPr txBox="1"/>
          <p:nvPr/>
        </p:nvSpPr>
        <p:spPr>
          <a:xfrm>
            <a:off x="4489266" y="5837666"/>
            <a:ext cx="1438382" cy="37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BE97-D4EA-60A5-5E5E-BEEE6162DE3B}"/>
              </a:ext>
            </a:extLst>
          </p:cNvPr>
          <p:cNvSpPr txBox="1"/>
          <p:nvPr/>
        </p:nvSpPr>
        <p:spPr>
          <a:xfrm>
            <a:off x="5957457" y="5837666"/>
            <a:ext cx="1438382" cy="37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3EDC7B-4914-B788-E1D6-A2F70DDFD036}"/>
              </a:ext>
            </a:extLst>
          </p:cNvPr>
          <p:cNvSpPr txBox="1"/>
          <p:nvPr/>
        </p:nvSpPr>
        <p:spPr>
          <a:xfrm>
            <a:off x="7336066" y="5844999"/>
            <a:ext cx="1438382" cy="37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244044-5D8C-EE36-E642-DD1B77ECE723}"/>
              </a:ext>
            </a:extLst>
          </p:cNvPr>
          <p:cNvSpPr txBox="1"/>
          <p:nvPr/>
        </p:nvSpPr>
        <p:spPr>
          <a:xfrm>
            <a:off x="223145" y="1797978"/>
            <a:ext cx="9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GDP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C0B4FC-6D0A-A7C8-6D10-09BB08E8618E}"/>
              </a:ext>
            </a:extLst>
          </p:cNvPr>
          <p:cNvSpPr txBox="1"/>
          <p:nvPr/>
        </p:nvSpPr>
        <p:spPr>
          <a:xfrm>
            <a:off x="1726352" y="1256086"/>
            <a:ext cx="293439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Static models have base years, but dynamic models have baseline scenarios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055A32-D029-8961-289E-AD820F21F15B}"/>
              </a:ext>
            </a:extLst>
          </p:cNvPr>
          <p:cNvSpPr txBox="1"/>
          <p:nvPr/>
        </p:nvSpPr>
        <p:spPr>
          <a:xfrm>
            <a:off x="8444235" y="4644072"/>
            <a:ext cx="218641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1: </a:t>
            </a:r>
            <a:r>
              <a:rPr lang="en-US" dirty="0"/>
              <a:t>Establish a baseline scenario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3530EC-E291-19BD-DE3B-C91EE37561B5}"/>
              </a:ext>
            </a:extLst>
          </p:cNvPr>
          <p:cNvSpPr txBox="1"/>
          <p:nvPr/>
        </p:nvSpPr>
        <p:spPr>
          <a:xfrm>
            <a:off x="8444234" y="1033835"/>
            <a:ext cx="218641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</a:t>
            </a:r>
            <a:r>
              <a:rPr lang="en-US" dirty="0"/>
              <a:t>Apply shocks to the baseline</a:t>
            </a:r>
          </a:p>
        </p:txBody>
      </p:sp>
      <p:sp>
        <p:nvSpPr>
          <p:cNvPr id="36" name="Arrow: Curved Up 35">
            <a:extLst>
              <a:ext uri="{FF2B5EF4-FFF2-40B4-BE49-F238E27FC236}">
                <a16:creationId xmlns:a16="http://schemas.microsoft.com/office/drawing/2014/main" id="{2E898389-AF79-5FC5-E52C-9901BD1C2B41}"/>
              </a:ext>
            </a:extLst>
          </p:cNvPr>
          <p:cNvSpPr/>
          <p:nvPr/>
        </p:nvSpPr>
        <p:spPr>
          <a:xfrm rot="20792322">
            <a:off x="2654976" y="5284609"/>
            <a:ext cx="1200293" cy="335390"/>
          </a:xfrm>
          <a:prstGeom prst="curved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Curved Up 36">
            <a:extLst>
              <a:ext uri="{FF2B5EF4-FFF2-40B4-BE49-F238E27FC236}">
                <a16:creationId xmlns:a16="http://schemas.microsoft.com/office/drawing/2014/main" id="{4BEC5B17-69EF-5A74-B1AA-C4065F7D8926}"/>
              </a:ext>
            </a:extLst>
          </p:cNvPr>
          <p:cNvSpPr/>
          <p:nvPr/>
        </p:nvSpPr>
        <p:spPr>
          <a:xfrm rot="20792322">
            <a:off x="4065597" y="4950068"/>
            <a:ext cx="1200293" cy="335390"/>
          </a:xfrm>
          <a:prstGeom prst="curved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Arrow: Curved Up 37">
            <a:extLst>
              <a:ext uri="{FF2B5EF4-FFF2-40B4-BE49-F238E27FC236}">
                <a16:creationId xmlns:a16="http://schemas.microsoft.com/office/drawing/2014/main" id="{FA374190-4BD7-5D91-021B-E687152F4314}"/>
              </a:ext>
            </a:extLst>
          </p:cNvPr>
          <p:cNvSpPr/>
          <p:nvPr/>
        </p:nvSpPr>
        <p:spPr>
          <a:xfrm rot="20792322">
            <a:off x="5476217" y="4605469"/>
            <a:ext cx="1200293" cy="335390"/>
          </a:xfrm>
          <a:prstGeom prst="curved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Arrow: Curved Up 38">
            <a:extLst>
              <a:ext uri="{FF2B5EF4-FFF2-40B4-BE49-F238E27FC236}">
                <a16:creationId xmlns:a16="http://schemas.microsoft.com/office/drawing/2014/main" id="{9D90870F-C53B-80AD-3519-38AC42DC1286}"/>
              </a:ext>
            </a:extLst>
          </p:cNvPr>
          <p:cNvSpPr/>
          <p:nvPr/>
        </p:nvSpPr>
        <p:spPr>
          <a:xfrm rot="20792322">
            <a:off x="6849430" y="4237113"/>
            <a:ext cx="1200293" cy="335390"/>
          </a:xfrm>
          <a:prstGeom prst="curved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Curved Up 39">
            <a:extLst>
              <a:ext uri="{FF2B5EF4-FFF2-40B4-BE49-F238E27FC236}">
                <a16:creationId xmlns:a16="http://schemas.microsoft.com/office/drawing/2014/main" id="{B0D656F6-3776-6253-639F-E7E21B62355B}"/>
              </a:ext>
            </a:extLst>
          </p:cNvPr>
          <p:cNvSpPr/>
          <p:nvPr/>
        </p:nvSpPr>
        <p:spPr>
          <a:xfrm rot="20792322">
            <a:off x="1470494" y="5619557"/>
            <a:ext cx="1200293" cy="335390"/>
          </a:xfrm>
          <a:prstGeom prst="curved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ED2543-8EDC-2C5D-988D-F9D0E37300F3}"/>
              </a:ext>
            </a:extLst>
          </p:cNvPr>
          <p:cNvSpPr txBox="1"/>
          <p:nvPr/>
        </p:nvSpPr>
        <p:spPr>
          <a:xfrm>
            <a:off x="1726352" y="2342744"/>
            <a:ext cx="293439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Model must solve each year within each scenario (i.e., it loops over sims and years)</a:t>
            </a:r>
          </a:p>
        </p:txBody>
      </p:sp>
    </p:spTree>
    <p:extLst>
      <p:ext uri="{BB962C8B-B14F-4D97-AF65-F5344CB8AC3E}">
        <p14:creationId xmlns:p14="http://schemas.microsoft.com/office/powerpoint/2010/main" val="39461657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63D1-7C31-F636-D620-4AB7B760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Capital Accumulation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19093-5B08-05EF-C558-92265EE616DF}"/>
              </a:ext>
            </a:extLst>
          </p:cNvPr>
          <p:cNvSpPr txBox="1"/>
          <p:nvPr/>
        </p:nvSpPr>
        <p:spPr>
          <a:xfrm>
            <a:off x="791111" y="2059778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GDP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E5520-5FCD-1A94-C478-642483F63BAD}"/>
              </a:ext>
            </a:extLst>
          </p:cNvPr>
          <p:cNvSpPr txBox="1"/>
          <p:nvPr/>
        </p:nvSpPr>
        <p:spPr>
          <a:xfrm>
            <a:off x="2248329" y="2059777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Taxes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9A360-A7E9-E480-3E6E-CC22A6CDB4B4}"/>
              </a:ext>
            </a:extLst>
          </p:cNvPr>
          <p:cNvSpPr txBox="1"/>
          <p:nvPr/>
        </p:nvSpPr>
        <p:spPr>
          <a:xfrm>
            <a:off x="4210693" y="2059776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6EC4C-3A27-4C30-8BAF-9781493FBF93}"/>
              </a:ext>
            </a:extLst>
          </p:cNvPr>
          <p:cNvSpPr txBox="1"/>
          <p:nvPr/>
        </p:nvSpPr>
        <p:spPr>
          <a:xfrm>
            <a:off x="5546334" y="2059776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6EC91-922C-F56B-47CF-B872BAEA6EA3}"/>
              </a:ext>
            </a:extLst>
          </p:cNvPr>
          <p:cNvSpPr txBox="1"/>
          <p:nvPr/>
        </p:nvSpPr>
        <p:spPr>
          <a:xfrm>
            <a:off x="6881975" y="2059776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57EFD-30F2-0697-2005-DCF3741FA237}"/>
              </a:ext>
            </a:extLst>
          </p:cNvPr>
          <p:cNvSpPr txBox="1"/>
          <p:nvPr/>
        </p:nvSpPr>
        <p:spPr>
          <a:xfrm>
            <a:off x="8215905" y="2059775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AA97F-ACC2-42A7-BFE5-9D586FDE92EB}"/>
              </a:ext>
            </a:extLst>
          </p:cNvPr>
          <p:cNvSpPr txBox="1"/>
          <p:nvPr/>
        </p:nvSpPr>
        <p:spPr>
          <a:xfrm>
            <a:off x="9498461" y="2059774"/>
            <a:ext cx="9965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510D6-7BEA-5413-67AC-2B0E7D55D536}"/>
              </a:ext>
            </a:extLst>
          </p:cNvPr>
          <p:cNvSpPr txBox="1"/>
          <p:nvPr/>
        </p:nvSpPr>
        <p:spPr>
          <a:xfrm>
            <a:off x="1667840" y="2026383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09EA5C-7A3C-04D1-F373-E54D71845143}"/>
              </a:ext>
            </a:extLst>
          </p:cNvPr>
          <p:cNvSpPr txBox="1"/>
          <p:nvPr/>
        </p:nvSpPr>
        <p:spPr>
          <a:xfrm>
            <a:off x="5034341" y="2059773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BD9A6-CB4E-19BB-2403-B6023FD5B29D}"/>
              </a:ext>
            </a:extLst>
          </p:cNvPr>
          <p:cNvSpPr txBox="1"/>
          <p:nvPr/>
        </p:nvSpPr>
        <p:spPr>
          <a:xfrm>
            <a:off x="6367413" y="2059772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FBD40-A6C9-C44B-18EB-607841CAB66B}"/>
              </a:ext>
            </a:extLst>
          </p:cNvPr>
          <p:cNvSpPr txBox="1"/>
          <p:nvPr/>
        </p:nvSpPr>
        <p:spPr>
          <a:xfrm>
            <a:off x="7700485" y="2059772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1BECF-9B30-4F81-8964-D117DD6D97D2}"/>
              </a:ext>
            </a:extLst>
          </p:cNvPr>
          <p:cNvSpPr txBox="1"/>
          <p:nvPr/>
        </p:nvSpPr>
        <p:spPr>
          <a:xfrm>
            <a:off x="9005303" y="2059772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D382A5-D83D-19CF-4645-7F24399225C0}"/>
              </a:ext>
            </a:extLst>
          </p:cNvPr>
          <p:cNvSpPr txBox="1"/>
          <p:nvPr/>
        </p:nvSpPr>
        <p:spPr>
          <a:xfrm>
            <a:off x="3437136" y="2059433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893D80-B6B6-8DF8-382E-0D3B086C6E4F}"/>
              </a:ext>
            </a:extLst>
          </p:cNvPr>
          <p:cNvSpPr txBox="1"/>
          <p:nvPr/>
        </p:nvSpPr>
        <p:spPr>
          <a:xfrm>
            <a:off x="5544633" y="1070199"/>
            <a:ext cx="996593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Saving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BC45A-54C9-18AC-10B4-FFE5973CF572}"/>
              </a:ext>
            </a:extLst>
          </p:cNvPr>
          <p:cNvSpPr txBox="1"/>
          <p:nvPr/>
        </p:nvSpPr>
        <p:spPr>
          <a:xfrm>
            <a:off x="5114389" y="3470095"/>
            <a:ext cx="18604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New capital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35FEBE-F848-88E7-89CE-0D69B866D524}"/>
              </a:ext>
            </a:extLst>
          </p:cNvPr>
          <p:cNvSpPr txBox="1"/>
          <p:nvPr/>
        </p:nvSpPr>
        <p:spPr>
          <a:xfrm>
            <a:off x="5114389" y="4416142"/>
            <a:ext cx="1860481" cy="830997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Installed capital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889761-BF7F-ECC8-4510-37AD0F92C6E1}"/>
              </a:ext>
            </a:extLst>
          </p:cNvPr>
          <p:cNvSpPr txBox="1"/>
          <p:nvPr/>
        </p:nvSpPr>
        <p:spPr>
          <a:xfrm>
            <a:off x="737599" y="4416483"/>
            <a:ext cx="1860481" cy="830997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Previous capital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5B3ECB-E335-3937-5D2C-0042214757A2}"/>
              </a:ext>
            </a:extLst>
          </p:cNvPr>
          <p:cNvSpPr txBox="1"/>
          <p:nvPr/>
        </p:nvSpPr>
        <p:spPr>
          <a:xfrm>
            <a:off x="2883186" y="4416141"/>
            <a:ext cx="1860481" cy="830997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Depreciation of capital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E834C6-CB89-66B8-6657-FBD0E74AD0BC}"/>
              </a:ext>
            </a:extLst>
          </p:cNvPr>
          <p:cNvSpPr txBox="1"/>
          <p:nvPr/>
        </p:nvSpPr>
        <p:spPr>
          <a:xfrm>
            <a:off x="4578851" y="4375095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E83474-98D0-8900-E221-9C8BF84CCB2D}"/>
              </a:ext>
            </a:extLst>
          </p:cNvPr>
          <p:cNvSpPr txBox="1"/>
          <p:nvPr/>
        </p:nvSpPr>
        <p:spPr>
          <a:xfrm>
            <a:off x="2374836" y="4408145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-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380F4A9-82A2-856A-089D-E566A917D169}"/>
              </a:ext>
            </a:extLst>
          </p:cNvPr>
          <p:cNvCxnSpPr>
            <a:cxnSpLocks/>
          </p:cNvCxnSpPr>
          <p:nvPr/>
        </p:nvCxnSpPr>
        <p:spPr>
          <a:xfrm>
            <a:off x="6072032" y="2521098"/>
            <a:ext cx="0" cy="787181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9AF4D1E-D318-01DF-E8CD-45CDA163636D}"/>
              </a:ext>
            </a:extLst>
          </p:cNvPr>
          <p:cNvSpPr txBox="1"/>
          <p:nvPr/>
        </p:nvSpPr>
        <p:spPr>
          <a:xfrm>
            <a:off x="5700444" y="3943266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+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3A5A47-B75C-B29B-E9D4-43A9ECFEC762}"/>
              </a:ext>
            </a:extLst>
          </p:cNvPr>
          <p:cNvCxnSpPr/>
          <p:nvPr/>
        </p:nvCxnSpPr>
        <p:spPr>
          <a:xfrm>
            <a:off x="6042929" y="1531864"/>
            <a:ext cx="0" cy="39499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A5FE5D-5971-BC1E-00C2-111C0E726C4B}"/>
              </a:ext>
            </a:extLst>
          </p:cNvPr>
          <p:cNvSpPr txBox="1"/>
          <p:nvPr/>
        </p:nvSpPr>
        <p:spPr>
          <a:xfrm>
            <a:off x="791111" y="1575917"/>
            <a:ext cx="318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Previous period GDP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672C1C-831F-015E-B474-9A3ACD0A09A1}"/>
              </a:ext>
            </a:extLst>
          </p:cNvPr>
          <p:cNvSpPr txBox="1"/>
          <p:nvPr/>
        </p:nvSpPr>
        <p:spPr>
          <a:xfrm>
            <a:off x="709131" y="3931760"/>
            <a:ext cx="318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Previous period capital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DD3C47-89C4-9E00-FC61-60B78A3CC157}"/>
              </a:ext>
            </a:extLst>
          </p:cNvPr>
          <p:cNvSpPr txBox="1"/>
          <p:nvPr/>
        </p:nvSpPr>
        <p:spPr>
          <a:xfrm>
            <a:off x="6445334" y="2951718"/>
            <a:ext cx="318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Current period capital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369D5-26A1-B917-4EB7-3942324EB448}"/>
              </a:ext>
            </a:extLst>
          </p:cNvPr>
          <p:cNvSpPr txBox="1"/>
          <p:nvPr/>
        </p:nvSpPr>
        <p:spPr>
          <a:xfrm>
            <a:off x="5112688" y="5631049"/>
            <a:ext cx="1860481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Available capital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5AF2D0-6CF5-DE7F-2C40-FFF272C6BD66}"/>
              </a:ext>
            </a:extLst>
          </p:cNvPr>
          <p:cNvSpPr txBox="1"/>
          <p:nvPr/>
        </p:nvSpPr>
        <p:spPr>
          <a:xfrm>
            <a:off x="5697880" y="5169384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EA9749-2E39-8A20-62AF-81C58D40EB46}"/>
              </a:ext>
            </a:extLst>
          </p:cNvPr>
          <p:cNvSpPr txBox="1"/>
          <p:nvPr/>
        </p:nvSpPr>
        <p:spPr>
          <a:xfrm>
            <a:off x="7927382" y="4984718"/>
            <a:ext cx="293439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Current available capital is equal the new capital from previous period investment, plus the old capital that remains after depreciation</a:t>
            </a:r>
          </a:p>
        </p:txBody>
      </p:sp>
    </p:spTree>
    <p:extLst>
      <p:ext uri="{BB962C8B-B14F-4D97-AF65-F5344CB8AC3E}">
        <p14:creationId xmlns:p14="http://schemas.microsoft.com/office/powerpoint/2010/main" val="9950072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4729-A0F8-1ED8-2625-7B1FB7A7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Capital Allocation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823F3-94D6-26FC-CDF8-57AEC99F7652}"/>
              </a:ext>
            </a:extLst>
          </p:cNvPr>
          <p:cNvSpPr txBox="1"/>
          <p:nvPr/>
        </p:nvSpPr>
        <p:spPr>
          <a:xfrm>
            <a:off x="2259885" y="3892686"/>
            <a:ext cx="18604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Activity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8D9A7-990D-2527-7F10-0F062294FC77}"/>
              </a:ext>
            </a:extLst>
          </p:cNvPr>
          <p:cNvSpPr txBox="1"/>
          <p:nvPr/>
        </p:nvSpPr>
        <p:spPr>
          <a:xfrm>
            <a:off x="5011646" y="1487182"/>
            <a:ext cx="18604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New capital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24A81-C7FE-8129-67AB-BA5E4A336A39}"/>
              </a:ext>
            </a:extLst>
          </p:cNvPr>
          <p:cNvSpPr txBox="1"/>
          <p:nvPr/>
        </p:nvSpPr>
        <p:spPr>
          <a:xfrm>
            <a:off x="5011646" y="3892685"/>
            <a:ext cx="18604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Activity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525A-2FB4-5D86-C9E7-C7CCF3F668CA}"/>
              </a:ext>
            </a:extLst>
          </p:cNvPr>
          <p:cNvSpPr txBox="1"/>
          <p:nvPr/>
        </p:nvSpPr>
        <p:spPr>
          <a:xfrm>
            <a:off x="7763407" y="3892684"/>
            <a:ext cx="18604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Activity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413F4-4798-5819-E57A-7B710EAB72E0}"/>
              </a:ext>
            </a:extLst>
          </p:cNvPr>
          <p:cNvSpPr txBox="1"/>
          <p:nvPr/>
        </p:nvSpPr>
        <p:spPr>
          <a:xfrm>
            <a:off x="2259884" y="4509136"/>
            <a:ext cx="1860481" cy="830997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Installed capital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D88DF-26E0-60E2-19FE-F5078E0CBF5B}"/>
              </a:ext>
            </a:extLst>
          </p:cNvPr>
          <p:cNvSpPr txBox="1"/>
          <p:nvPr/>
        </p:nvSpPr>
        <p:spPr>
          <a:xfrm>
            <a:off x="5011646" y="4509136"/>
            <a:ext cx="1860481" cy="830997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Installed capital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1D3E3-DC6D-AC8B-B439-C551B3ABECCD}"/>
              </a:ext>
            </a:extLst>
          </p:cNvPr>
          <p:cNvSpPr txBox="1"/>
          <p:nvPr/>
        </p:nvSpPr>
        <p:spPr>
          <a:xfrm>
            <a:off x="7763407" y="4509136"/>
            <a:ext cx="1860481" cy="830997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Installed capital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2220C0-9495-34B8-A4D1-C32037F0352B}"/>
              </a:ext>
            </a:extLst>
          </p:cNvPr>
          <p:cNvCxnSpPr>
            <a:cxnSpLocks/>
          </p:cNvCxnSpPr>
          <p:nvPr/>
        </p:nvCxnSpPr>
        <p:spPr>
          <a:xfrm flipH="1">
            <a:off x="3241490" y="2116477"/>
            <a:ext cx="2702098" cy="158222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51B3F6-57CE-3580-82AC-CB4F7A3F4B39}"/>
              </a:ext>
            </a:extLst>
          </p:cNvPr>
          <p:cNvCxnSpPr>
            <a:cxnSpLocks/>
          </p:cNvCxnSpPr>
          <p:nvPr/>
        </p:nvCxnSpPr>
        <p:spPr>
          <a:xfrm>
            <a:off x="5943588" y="2116477"/>
            <a:ext cx="0" cy="158222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0DB41E-04EB-2B6B-D066-F6C0C94165C0}"/>
              </a:ext>
            </a:extLst>
          </p:cNvPr>
          <p:cNvCxnSpPr>
            <a:cxnSpLocks/>
          </p:cNvCxnSpPr>
          <p:nvPr/>
        </p:nvCxnSpPr>
        <p:spPr>
          <a:xfrm>
            <a:off x="5943588" y="2116477"/>
            <a:ext cx="2630184" cy="158222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13B49D5-D393-B993-7811-A3A8420493EA}"/>
              </a:ext>
            </a:extLst>
          </p:cNvPr>
          <p:cNvSpPr txBox="1"/>
          <p:nvPr/>
        </p:nvSpPr>
        <p:spPr>
          <a:xfrm>
            <a:off x="2512029" y="5494918"/>
            <a:ext cx="135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F47531-B18A-4CB0-50F7-1DBD51B9801C}"/>
              </a:ext>
            </a:extLst>
          </p:cNvPr>
          <p:cNvSpPr txBox="1"/>
          <p:nvPr/>
        </p:nvSpPr>
        <p:spPr>
          <a:xfrm>
            <a:off x="5263791" y="5549333"/>
            <a:ext cx="135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8D6E17-1860-8E52-EBAA-EF69BE28BEFF}"/>
              </a:ext>
            </a:extLst>
          </p:cNvPr>
          <p:cNvSpPr txBox="1"/>
          <p:nvPr/>
        </p:nvSpPr>
        <p:spPr>
          <a:xfrm>
            <a:off x="8015553" y="5549333"/>
            <a:ext cx="135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B5BF44-0FD3-44C9-5D95-35DCA6602259}"/>
              </a:ext>
            </a:extLst>
          </p:cNvPr>
          <p:cNvSpPr txBox="1"/>
          <p:nvPr/>
        </p:nvSpPr>
        <p:spPr>
          <a:xfrm>
            <a:off x="10089220" y="5549332"/>
            <a:ext cx="135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   100%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B21FAC-3E87-F697-FD07-31B1A40495C0}"/>
              </a:ext>
            </a:extLst>
          </p:cNvPr>
          <p:cNvSpPr txBox="1"/>
          <p:nvPr/>
        </p:nvSpPr>
        <p:spPr>
          <a:xfrm>
            <a:off x="409250" y="5448751"/>
            <a:ext cx="1744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Beta </a:t>
            </a:r>
          </a:p>
          <a:p>
            <a:r>
              <a:rPr lang="en-US" dirty="0"/>
              <a:t>Share of existing capital stock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897C6E-247E-7A66-E6B2-A8FE37C9B094}"/>
              </a:ext>
            </a:extLst>
          </p:cNvPr>
          <p:cNvSpPr txBox="1"/>
          <p:nvPr/>
        </p:nvSpPr>
        <p:spPr>
          <a:xfrm>
            <a:off x="402827" y="1067711"/>
            <a:ext cx="2296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Allocation</a:t>
            </a:r>
            <a:r>
              <a:rPr lang="en-US" dirty="0"/>
              <a:t> </a:t>
            </a:r>
          </a:p>
          <a:p>
            <a:r>
              <a:rPr lang="en-US" dirty="0"/>
              <a:t>New capital must be allocated to sectors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9F9BD6-723A-267E-B99F-58725A46559B}"/>
              </a:ext>
            </a:extLst>
          </p:cNvPr>
          <p:cNvSpPr txBox="1"/>
          <p:nvPr/>
        </p:nvSpPr>
        <p:spPr>
          <a:xfrm>
            <a:off x="409250" y="2364020"/>
            <a:ext cx="32586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Profit rate differentials</a:t>
            </a:r>
            <a:r>
              <a:rPr lang="en-US" dirty="0"/>
              <a:t> </a:t>
            </a:r>
          </a:p>
          <a:p>
            <a:r>
              <a:rPr lang="en-US" dirty="0"/>
              <a:t>Used to allocate new capital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101664-96AE-4E72-A56B-D5F548C91E76}"/>
              </a:ext>
            </a:extLst>
          </p:cNvPr>
          <p:cNvSpPr txBox="1"/>
          <p:nvPr/>
        </p:nvSpPr>
        <p:spPr>
          <a:xfrm>
            <a:off x="7310048" y="2486885"/>
            <a:ext cx="3424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Differential = (WF x WFDIST) / WF</a:t>
            </a:r>
          </a:p>
        </p:txBody>
      </p:sp>
    </p:spTree>
    <p:extLst>
      <p:ext uri="{BB962C8B-B14F-4D97-AF65-F5344CB8AC3E}">
        <p14:creationId xmlns:p14="http://schemas.microsoft.com/office/powerpoint/2010/main" val="686356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BB24-C5B4-EBD1-641B-EAE0997F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Growth Effects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8B38DE-EF69-6031-9520-CFAC07D2F63F}"/>
              </a:ext>
            </a:extLst>
          </p:cNvPr>
          <p:cNvSpPr txBox="1"/>
          <p:nvPr/>
        </p:nvSpPr>
        <p:spPr>
          <a:xfrm>
            <a:off x="1097505" y="3360259"/>
            <a:ext cx="139939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GDP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A5F561-9BC5-CC54-6CCE-867F1D237B1A}"/>
              </a:ext>
            </a:extLst>
          </p:cNvPr>
          <p:cNvSpPr txBox="1"/>
          <p:nvPr/>
        </p:nvSpPr>
        <p:spPr>
          <a:xfrm>
            <a:off x="5617230" y="3356315"/>
            <a:ext cx="13993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982B6C-82AD-D3E9-FC28-78CE9A560CCA}"/>
              </a:ext>
            </a:extLst>
          </p:cNvPr>
          <p:cNvSpPr txBox="1"/>
          <p:nvPr/>
        </p:nvSpPr>
        <p:spPr>
          <a:xfrm>
            <a:off x="7434159" y="3352372"/>
            <a:ext cx="139939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BB1F4A-B62B-E784-E586-C35638F3E9E2}"/>
              </a:ext>
            </a:extLst>
          </p:cNvPr>
          <p:cNvSpPr txBox="1"/>
          <p:nvPr/>
        </p:nvSpPr>
        <p:spPr>
          <a:xfrm>
            <a:off x="9251088" y="3352372"/>
            <a:ext cx="1399393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29AB2E-D678-D824-78AF-79FA80993692}"/>
              </a:ext>
            </a:extLst>
          </p:cNvPr>
          <p:cNvSpPr txBox="1"/>
          <p:nvPr/>
        </p:nvSpPr>
        <p:spPr>
          <a:xfrm>
            <a:off x="3276497" y="3360869"/>
            <a:ext cx="1399393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TFP</a:t>
            </a:r>
          </a:p>
        </p:txBody>
      </p:sp>
      <p:sp>
        <p:nvSpPr>
          <p:cNvPr id="41" name="Left Bracket 40">
            <a:extLst>
              <a:ext uri="{FF2B5EF4-FFF2-40B4-BE49-F238E27FC236}">
                <a16:creationId xmlns:a16="http://schemas.microsoft.com/office/drawing/2014/main" id="{4C0C7DC6-594C-AC81-B5B7-80F17637C9D9}"/>
              </a:ext>
            </a:extLst>
          </p:cNvPr>
          <p:cNvSpPr/>
          <p:nvPr/>
        </p:nvSpPr>
        <p:spPr>
          <a:xfrm>
            <a:off x="5368509" y="3100318"/>
            <a:ext cx="143838" cy="965771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A5C6DF62-F5E1-CE26-3239-20CEA7DDD597}"/>
              </a:ext>
            </a:extLst>
          </p:cNvPr>
          <p:cNvSpPr/>
          <p:nvPr/>
        </p:nvSpPr>
        <p:spPr>
          <a:xfrm rot="10800000">
            <a:off x="10756270" y="3100317"/>
            <a:ext cx="143838" cy="965771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61A846-0C08-F94A-1B42-82D94FD2DF69}"/>
              </a:ext>
            </a:extLst>
          </p:cNvPr>
          <p:cNvSpPr txBox="1"/>
          <p:nvPr/>
        </p:nvSpPr>
        <p:spPr>
          <a:xfrm>
            <a:off x="6883425" y="3360260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9DE0B5-E338-0C67-BB57-39FC8585B071}"/>
              </a:ext>
            </a:extLst>
          </p:cNvPr>
          <p:cNvSpPr txBox="1"/>
          <p:nvPr/>
        </p:nvSpPr>
        <p:spPr>
          <a:xfrm>
            <a:off x="8683932" y="3360260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5787B6-8C7B-9487-DB5F-C0001693C4F2}"/>
              </a:ext>
            </a:extLst>
          </p:cNvPr>
          <p:cNvSpPr txBox="1"/>
          <p:nvPr/>
        </p:nvSpPr>
        <p:spPr>
          <a:xfrm>
            <a:off x="2549793" y="3360259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AB1910-0F75-B714-CCDF-40E7545D1874}"/>
              </a:ext>
            </a:extLst>
          </p:cNvPr>
          <p:cNvSpPr txBox="1"/>
          <p:nvPr/>
        </p:nvSpPr>
        <p:spPr>
          <a:xfrm>
            <a:off x="4663425" y="3352369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9720EA-CEBF-DB46-A654-86502C88F699}"/>
              </a:ext>
            </a:extLst>
          </p:cNvPr>
          <p:cNvSpPr txBox="1"/>
          <p:nvPr/>
        </p:nvSpPr>
        <p:spPr>
          <a:xfrm>
            <a:off x="912571" y="1336377"/>
            <a:ext cx="4222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production (GDP) is determined by factor availability and factor productivity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ECA3AE-9911-2267-1D64-F9D794784524}"/>
              </a:ext>
            </a:extLst>
          </p:cNvPr>
          <p:cNvSpPr txBox="1"/>
          <p:nvPr/>
        </p:nvSpPr>
        <p:spPr>
          <a:xfrm>
            <a:off x="6971987" y="4108765"/>
            <a:ext cx="252873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Factor availability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17BAAE-B8B0-A18B-CA2B-EFFBB904094C}"/>
              </a:ext>
            </a:extLst>
          </p:cNvPr>
          <p:cNvSpPr txBox="1"/>
          <p:nvPr/>
        </p:nvSpPr>
        <p:spPr>
          <a:xfrm>
            <a:off x="2711825" y="4108765"/>
            <a:ext cx="252873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Productivity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6AC00C-FAFB-B59D-8C53-6A0A561D3027}"/>
              </a:ext>
            </a:extLst>
          </p:cNvPr>
          <p:cNvSpPr txBox="1"/>
          <p:nvPr/>
        </p:nvSpPr>
        <p:spPr>
          <a:xfrm>
            <a:off x="9251088" y="1363991"/>
            <a:ext cx="1399393" cy="461665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969B7D-939C-6853-3FCC-B226BF54160D}"/>
              </a:ext>
            </a:extLst>
          </p:cNvPr>
          <p:cNvSpPr txBox="1"/>
          <p:nvPr/>
        </p:nvSpPr>
        <p:spPr>
          <a:xfrm>
            <a:off x="9251088" y="2310038"/>
            <a:ext cx="1399393" cy="461665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Installed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118424-CEEF-78FB-C4AD-9A373DB39C9E}"/>
              </a:ext>
            </a:extLst>
          </p:cNvPr>
          <p:cNvSpPr txBox="1"/>
          <p:nvPr/>
        </p:nvSpPr>
        <p:spPr>
          <a:xfrm>
            <a:off x="9628464" y="1825656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91F2CF-FD50-47A8-1D54-9EE285DE8C0F}"/>
              </a:ext>
            </a:extLst>
          </p:cNvPr>
          <p:cNvSpPr txBox="1"/>
          <p:nvPr/>
        </p:nvSpPr>
        <p:spPr>
          <a:xfrm>
            <a:off x="9628464" y="2787719"/>
            <a:ext cx="70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=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81BE3A0-A64E-5D84-37F3-4774B408F0E8}"/>
              </a:ext>
            </a:extLst>
          </p:cNvPr>
          <p:cNvCxnSpPr>
            <a:cxnSpLocks/>
          </p:cNvCxnSpPr>
          <p:nvPr/>
        </p:nvCxnSpPr>
        <p:spPr>
          <a:xfrm flipV="1">
            <a:off x="6435072" y="4745272"/>
            <a:ext cx="0" cy="679483"/>
          </a:xfrm>
          <a:prstGeom prst="straightConnector1">
            <a:avLst/>
          </a:prstGeom>
          <a:ln w="6350">
            <a:solidFill>
              <a:schemeClr val="accent1">
                <a:lumMod val="50000"/>
              </a:schemeClr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ADC6150-0910-CA94-91D5-6C7932672EA5}"/>
              </a:ext>
            </a:extLst>
          </p:cNvPr>
          <p:cNvSpPr txBox="1"/>
          <p:nvPr/>
        </p:nvSpPr>
        <p:spPr>
          <a:xfrm>
            <a:off x="5489849" y="5473448"/>
            <a:ext cx="189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Exogenous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1C1DC8-37DD-5A07-2509-4181C569BEF8}"/>
              </a:ext>
            </a:extLst>
          </p:cNvPr>
          <p:cNvCxnSpPr>
            <a:cxnSpLocks/>
          </p:cNvCxnSpPr>
          <p:nvPr/>
        </p:nvCxnSpPr>
        <p:spPr>
          <a:xfrm flipV="1">
            <a:off x="8221063" y="4737384"/>
            <a:ext cx="0" cy="679483"/>
          </a:xfrm>
          <a:prstGeom prst="straightConnector1">
            <a:avLst/>
          </a:prstGeom>
          <a:ln w="6350">
            <a:solidFill>
              <a:schemeClr val="accent1">
                <a:lumMod val="50000"/>
              </a:schemeClr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F67775F-A9AA-5174-BD5B-64847BCBCF1B}"/>
              </a:ext>
            </a:extLst>
          </p:cNvPr>
          <p:cNvSpPr txBox="1"/>
          <p:nvPr/>
        </p:nvSpPr>
        <p:spPr>
          <a:xfrm>
            <a:off x="7275840" y="5465560"/>
            <a:ext cx="189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Exogenous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FEE7466-AB04-8F8F-AC38-8A11F7CBC282}"/>
              </a:ext>
            </a:extLst>
          </p:cNvPr>
          <p:cNvCxnSpPr>
            <a:cxnSpLocks/>
          </p:cNvCxnSpPr>
          <p:nvPr/>
        </p:nvCxnSpPr>
        <p:spPr>
          <a:xfrm flipV="1">
            <a:off x="9997719" y="4745272"/>
            <a:ext cx="0" cy="679483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318B2D3-03E3-801E-5EC8-49F98C544B2C}"/>
              </a:ext>
            </a:extLst>
          </p:cNvPr>
          <p:cNvSpPr txBox="1"/>
          <p:nvPr/>
        </p:nvSpPr>
        <p:spPr>
          <a:xfrm>
            <a:off x="9052496" y="5473448"/>
            <a:ext cx="189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Endogenous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B40BF0-8715-D06F-477A-18603818A115}"/>
              </a:ext>
            </a:extLst>
          </p:cNvPr>
          <p:cNvCxnSpPr>
            <a:cxnSpLocks/>
          </p:cNvCxnSpPr>
          <p:nvPr/>
        </p:nvCxnSpPr>
        <p:spPr>
          <a:xfrm flipV="1">
            <a:off x="3992451" y="4737384"/>
            <a:ext cx="0" cy="679483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68C121B-5998-73F3-ACFA-4E7F51F4266C}"/>
              </a:ext>
            </a:extLst>
          </p:cNvPr>
          <p:cNvSpPr txBox="1"/>
          <p:nvPr/>
        </p:nvSpPr>
        <p:spPr>
          <a:xfrm>
            <a:off x="3047228" y="5465560"/>
            <a:ext cx="189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Exogenous</a:t>
            </a:r>
          </a:p>
        </p:txBody>
      </p:sp>
    </p:spTree>
    <p:extLst>
      <p:ext uri="{BB962C8B-B14F-4D97-AF65-F5344CB8AC3E}">
        <p14:creationId xmlns:p14="http://schemas.microsoft.com/office/powerpoint/2010/main" val="6648637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F92B-BCA2-7B77-233D-83DE34EC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EC32-7E3B-08BE-942B-085B97499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10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Introduction to Dynamic Modeling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Dynamic model files</a:t>
            </a:r>
            <a:br>
              <a:rPr lang="en-US" sz="2800" dirty="0">
                <a:solidFill>
                  <a:srgbClr val="C00000"/>
                </a:solidFill>
              </a:rPr>
            </a:br>
            <a:br>
              <a:rPr lang="en-US" sz="28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617CD61C-A0FE-A964-AB4D-2337221EC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221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>
            <a:extLst>
              <a:ext uri="{FF2B5EF4-FFF2-40B4-BE49-F238E27FC236}">
                <a16:creationId xmlns:a16="http://schemas.microsoft.com/office/drawing/2014/main" id="{B97AB10F-A296-1A15-2350-78627FA05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4" y="2634010"/>
            <a:ext cx="4930586" cy="4223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6FC88-9489-B929-D7E2-AA4921D7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in the Folder </a:t>
            </a:r>
            <a:r>
              <a:rPr lang="en-US" b="0" baseline="-25000" dirty="0"/>
              <a:t>(using GAMS Studio)</a:t>
            </a:r>
          </a:p>
        </p:txBody>
      </p:sp>
      <p:sp>
        <p:nvSpPr>
          <p:cNvPr id="33" name="Text Box 5">
            <a:extLst>
              <a:ext uri="{FF2B5EF4-FFF2-40B4-BE49-F238E27FC236}">
                <a16:creationId xmlns:a16="http://schemas.microsoft.com/office/drawing/2014/main" id="{EF3E803C-0A09-2D05-A45D-4113439E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598" y="3061019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Data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basemod.xlsx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Text Box 12">
            <a:extLst>
              <a:ext uri="{FF2B5EF4-FFF2-40B4-BE49-F238E27FC236}">
                <a16:creationId xmlns:a16="http://schemas.microsoft.com/office/drawing/2014/main" id="{3702F62D-8BC5-6E5F-30CA-9698E5327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1909267"/>
            <a:ext cx="2068604" cy="50783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Control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0control.gms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A1D696-343F-F4DB-4A53-EB7B165376FE}"/>
              </a:ext>
            </a:extLst>
          </p:cNvPr>
          <p:cNvSpPr/>
          <p:nvPr/>
        </p:nvSpPr>
        <p:spPr>
          <a:xfrm>
            <a:off x="1231587" y="2933176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DC43A1-05CC-03DD-4B15-791A260DBC3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430202" y="3314935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BCD840-4D50-740C-7052-64DD0477EEF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949874" y="3574407"/>
            <a:ext cx="0" cy="53510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B894FB6-40B7-8A9C-10FC-05C945F1D364}"/>
              </a:ext>
            </a:extLst>
          </p:cNvPr>
          <p:cNvSpPr txBox="1"/>
          <p:nvPr/>
        </p:nvSpPr>
        <p:spPr>
          <a:xfrm>
            <a:off x="1006236" y="2917887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DCA54B15-1B70-A4CA-FA32-56395EC72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3066576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1model.gms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87CBCD74-A849-1959-6A27-3AFDE619F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4237355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2simulation_dyn.gms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BA23BFD-973B-C876-C0BA-0930D66C705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949874" y="4745186"/>
            <a:ext cx="0" cy="59134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5">
            <a:extLst>
              <a:ext uri="{FF2B5EF4-FFF2-40B4-BE49-F238E27FC236}">
                <a16:creationId xmlns:a16="http://schemas.microsoft.com/office/drawing/2014/main" id="{6833F9F6-492A-231F-428F-BE0BD2630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5408134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Results File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dynrep.xlsx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AB55AB5-3CDE-F837-B657-E31BC0D9C12A}"/>
              </a:ext>
            </a:extLst>
          </p:cNvPr>
          <p:cNvSpPr/>
          <p:nvPr/>
        </p:nvSpPr>
        <p:spPr>
          <a:xfrm>
            <a:off x="3785561" y="5280291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F8F53F-521F-CE94-B6DB-2E638F9FF3F5}"/>
              </a:ext>
            </a:extLst>
          </p:cNvPr>
          <p:cNvSpPr txBox="1"/>
          <p:nvPr/>
        </p:nvSpPr>
        <p:spPr>
          <a:xfrm>
            <a:off x="3560210" y="5265002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C0B0DF7-C34F-8A80-1392-BECADCDCA80D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949874" y="2417098"/>
            <a:ext cx="0" cy="516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84A72562-43E6-EAEC-0C8E-38F32D4F8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226" y="692462"/>
            <a:ext cx="3223257" cy="8164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986AF586-F55F-B95A-F89F-FE9C6418F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918" y="1739662"/>
            <a:ext cx="1990702" cy="6987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C13DCE14-8FB2-CE5A-C493-4E6DE8606E7F}"/>
              </a:ext>
            </a:extLst>
          </p:cNvPr>
          <p:cNvSpPr/>
          <p:nvPr/>
        </p:nvSpPr>
        <p:spPr>
          <a:xfrm>
            <a:off x="9240819" y="4240281"/>
            <a:ext cx="2799434" cy="772784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86F7657-FE59-D515-BBE6-0B8DC652EA16}"/>
              </a:ext>
            </a:extLst>
          </p:cNvPr>
          <p:cNvSpPr/>
          <p:nvPr/>
        </p:nvSpPr>
        <p:spPr>
          <a:xfrm>
            <a:off x="9226858" y="5162748"/>
            <a:ext cx="1659881" cy="646381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CAE9759-6042-F153-FC8C-035046425953}"/>
              </a:ext>
            </a:extLst>
          </p:cNvPr>
          <p:cNvCxnSpPr>
            <a:cxnSpLocks/>
          </p:cNvCxnSpPr>
          <p:nvPr/>
        </p:nvCxnSpPr>
        <p:spPr>
          <a:xfrm>
            <a:off x="9404538" y="1508939"/>
            <a:ext cx="0" cy="2529483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3BBE141-5FE4-F1E7-EDD2-3039ED74F0D0}"/>
              </a:ext>
            </a:extLst>
          </p:cNvPr>
          <p:cNvCxnSpPr>
            <a:cxnSpLocks/>
          </p:cNvCxnSpPr>
          <p:nvPr/>
        </p:nvCxnSpPr>
        <p:spPr>
          <a:xfrm>
            <a:off x="10374519" y="2461060"/>
            <a:ext cx="0" cy="262376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5">
            <a:extLst>
              <a:ext uri="{FF2B5EF4-FFF2-40B4-BE49-F238E27FC236}">
                <a16:creationId xmlns:a16="http://schemas.microsoft.com/office/drawing/2014/main" id="{EA039D0A-DA37-95E0-E182-24E86BA97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740" y="4237355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Data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dynsim.xlsx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E0CF2C-5AF0-0537-419B-FD305559CC26}"/>
              </a:ext>
            </a:extLst>
          </p:cNvPr>
          <p:cNvSpPr/>
          <p:nvPr/>
        </p:nvSpPr>
        <p:spPr>
          <a:xfrm>
            <a:off x="1227729" y="4109512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994D60-C275-D603-7B85-921E099F598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426344" y="4491271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BAAAAC-8882-4295-FB84-D9BFEB4EDB1F}"/>
              </a:ext>
            </a:extLst>
          </p:cNvPr>
          <p:cNvSpPr txBox="1"/>
          <p:nvPr/>
        </p:nvSpPr>
        <p:spPr>
          <a:xfrm>
            <a:off x="1002378" y="4094223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2734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DCDA-EAE4-E70C-98E0-541B3419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File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FF37B-6AFE-D140-6CE6-763C521659CE}"/>
              </a:ext>
            </a:extLst>
          </p:cNvPr>
          <p:cNvSpPr txBox="1"/>
          <p:nvPr/>
        </p:nvSpPr>
        <p:spPr>
          <a:xfrm>
            <a:off x="1855754" y="957569"/>
            <a:ext cx="1123665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0Control.gms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5DFD2-D7D6-7D59-B582-88AB79C4850F}"/>
              </a:ext>
            </a:extLst>
          </p:cNvPr>
          <p:cNvSpPr txBox="1"/>
          <p:nvPr/>
        </p:nvSpPr>
        <p:spPr>
          <a:xfrm>
            <a:off x="2624222" y="1857776"/>
            <a:ext cx="1471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1model_base.gms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A8DE8-EEBB-4197-44DE-35B0E869B48A}"/>
              </a:ext>
            </a:extLst>
          </p:cNvPr>
          <p:cNvSpPr txBox="1"/>
          <p:nvPr/>
        </p:nvSpPr>
        <p:spPr>
          <a:xfrm>
            <a:off x="2633229" y="3194797"/>
            <a:ext cx="1471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2simulation_stat.gms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1EAD2-7896-42DD-1D25-5C4D6D046236}"/>
              </a:ext>
            </a:extLst>
          </p:cNvPr>
          <p:cNvSpPr txBox="1"/>
          <p:nvPr/>
        </p:nvSpPr>
        <p:spPr>
          <a:xfrm>
            <a:off x="4311416" y="1549999"/>
            <a:ext cx="14716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base_data.inc</a:t>
            </a:r>
          </a:p>
          <a:p>
            <a:endParaRPr lang="en-US" sz="1000" dirty="0"/>
          </a:p>
          <a:p>
            <a:r>
              <a:rPr lang="en-US" sz="1000" dirty="0"/>
              <a:t>base_calibration.inc</a:t>
            </a:r>
          </a:p>
          <a:p>
            <a:endParaRPr lang="en-US" sz="1000" dirty="0"/>
          </a:p>
          <a:p>
            <a:r>
              <a:rPr lang="en-US" sz="1000" dirty="0"/>
              <a:t>base_report.inc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A4C41-8772-3327-A03E-FDF9DB343266}"/>
              </a:ext>
            </a:extLst>
          </p:cNvPr>
          <p:cNvSpPr txBox="1"/>
          <p:nvPr/>
        </p:nvSpPr>
        <p:spPr>
          <a:xfrm>
            <a:off x="3034122" y="3554290"/>
            <a:ext cx="225696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stat_shocks.inc</a:t>
            </a:r>
          </a:p>
          <a:p>
            <a:pPr>
              <a:tabLst>
                <a:tab pos="400050" algn="l"/>
              </a:tabLst>
            </a:pPr>
            <a:r>
              <a:rPr lang="en-US" sz="1000" dirty="0"/>
              <a:t>	stat_process.inc</a:t>
            </a:r>
          </a:p>
          <a:p>
            <a:endParaRPr lang="en-US" sz="1000" dirty="0"/>
          </a:p>
          <a:p>
            <a:r>
              <a:rPr lang="en-US" sz="1000" dirty="0"/>
              <a:t>stat_repsetup.inc</a:t>
            </a:r>
          </a:p>
          <a:p>
            <a:endParaRPr lang="en-US" sz="1000" dirty="0"/>
          </a:p>
          <a:p>
            <a:r>
              <a:rPr lang="en-US" sz="1000" dirty="0"/>
              <a:t>stat_varinit.inc</a:t>
            </a:r>
          </a:p>
          <a:p>
            <a:endParaRPr lang="en-US" sz="1000" dirty="0"/>
          </a:p>
          <a:p>
            <a:r>
              <a:rPr lang="en-US" sz="1000" dirty="0"/>
              <a:t>stat_closures.inc</a:t>
            </a:r>
          </a:p>
          <a:p>
            <a:endParaRPr lang="en-US" sz="1000" dirty="0"/>
          </a:p>
          <a:p>
            <a:r>
              <a:rPr lang="en-US" sz="1000" dirty="0"/>
              <a:t>stat_reploop.inc</a:t>
            </a:r>
          </a:p>
          <a:p>
            <a:endParaRPr lang="en-US" sz="1000" dirty="0"/>
          </a:p>
          <a:p>
            <a:r>
              <a:rPr lang="en-US" sz="1000" dirty="0"/>
              <a:t>stat_report.inc</a:t>
            </a:r>
          </a:p>
          <a:p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65254-6C65-C259-D0CF-2C2AEA3C3119}"/>
              </a:ext>
            </a:extLst>
          </p:cNvPr>
          <p:cNvSpPr txBox="1"/>
          <p:nvPr/>
        </p:nvSpPr>
        <p:spPr>
          <a:xfrm>
            <a:off x="5690986" y="3194797"/>
            <a:ext cx="1471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2simulation_dyn.gms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AF9FC-4B37-E143-0518-D6F9DBEB93B2}"/>
              </a:ext>
            </a:extLst>
          </p:cNvPr>
          <p:cNvSpPr txBox="1"/>
          <p:nvPr/>
        </p:nvSpPr>
        <p:spPr>
          <a:xfrm>
            <a:off x="6091879" y="3554290"/>
            <a:ext cx="225696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dyn_shocks.inc</a:t>
            </a:r>
          </a:p>
          <a:p>
            <a:pPr>
              <a:tabLst>
                <a:tab pos="400050" algn="l"/>
              </a:tabLst>
            </a:pPr>
            <a:r>
              <a:rPr lang="en-US" sz="1000" dirty="0"/>
              <a:t>	dyn_process.inc</a:t>
            </a:r>
          </a:p>
          <a:p>
            <a:endParaRPr lang="en-US" sz="1000" dirty="0"/>
          </a:p>
          <a:p>
            <a:r>
              <a:rPr lang="en-US" sz="1000" dirty="0"/>
              <a:t>dyn_repsetup.inc</a:t>
            </a:r>
          </a:p>
          <a:p>
            <a:endParaRPr lang="en-US" sz="1000" dirty="0"/>
          </a:p>
          <a:p>
            <a:r>
              <a:rPr lang="en-US" sz="1000" dirty="0"/>
              <a:t>dyn_varinit.inc</a:t>
            </a:r>
          </a:p>
          <a:p>
            <a:endParaRPr lang="en-US" sz="1000" dirty="0"/>
          </a:p>
          <a:p>
            <a:r>
              <a:rPr lang="en-US" sz="1000" dirty="0"/>
              <a:t>dyn_closures.inc</a:t>
            </a:r>
          </a:p>
          <a:p>
            <a:endParaRPr lang="en-US" sz="1000" dirty="0"/>
          </a:p>
          <a:p>
            <a:r>
              <a:rPr lang="en-US" sz="1000" dirty="0"/>
              <a:t>dyn_reploop.inc</a:t>
            </a:r>
          </a:p>
          <a:p>
            <a:endParaRPr lang="en-US" sz="1000" dirty="0"/>
          </a:p>
          <a:p>
            <a:r>
              <a:rPr lang="en-US" sz="1000" dirty="0"/>
              <a:t>dyn_report.inc</a:t>
            </a:r>
          </a:p>
          <a:p>
            <a:endParaRPr lang="en-US" sz="1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C31091-F32D-E863-CBEB-86F09C855E52}"/>
              </a:ext>
            </a:extLst>
          </p:cNvPr>
          <p:cNvCxnSpPr>
            <a:cxnSpLocks/>
          </p:cNvCxnSpPr>
          <p:nvPr/>
        </p:nvCxnSpPr>
        <p:spPr>
          <a:xfrm flipH="1">
            <a:off x="3968613" y="1986882"/>
            <a:ext cx="238735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52848B-3CB8-C839-14BD-E7F20CCD0444}"/>
              </a:ext>
            </a:extLst>
          </p:cNvPr>
          <p:cNvCxnSpPr>
            <a:cxnSpLocks/>
          </p:cNvCxnSpPr>
          <p:nvPr/>
        </p:nvCxnSpPr>
        <p:spPr>
          <a:xfrm>
            <a:off x="4209682" y="1640970"/>
            <a:ext cx="0" cy="693683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8232C6-41D1-CEC1-5048-790BDC063264}"/>
              </a:ext>
            </a:extLst>
          </p:cNvPr>
          <p:cNvCxnSpPr>
            <a:cxnSpLocks/>
          </p:cNvCxnSpPr>
          <p:nvPr/>
        </p:nvCxnSpPr>
        <p:spPr>
          <a:xfrm flipH="1">
            <a:off x="4209682" y="2324894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D63251-A178-61FD-89DF-6C02B828AC00}"/>
              </a:ext>
            </a:extLst>
          </p:cNvPr>
          <p:cNvCxnSpPr>
            <a:cxnSpLocks/>
          </p:cNvCxnSpPr>
          <p:nvPr/>
        </p:nvCxnSpPr>
        <p:spPr>
          <a:xfrm flipH="1">
            <a:off x="4211568" y="1989886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C43BE5-6112-6FCD-9143-126A4D8DBC24}"/>
              </a:ext>
            </a:extLst>
          </p:cNvPr>
          <p:cNvCxnSpPr>
            <a:cxnSpLocks/>
          </p:cNvCxnSpPr>
          <p:nvPr/>
        </p:nvCxnSpPr>
        <p:spPr>
          <a:xfrm flipH="1">
            <a:off x="4209682" y="1640970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FF56A4-FD02-CFFB-9786-BFA6C0012529}"/>
              </a:ext>
            </a:extLst>
          </p:cNvPr>
          <p:cNvCxnSpPr>
            <a:cxnSpLocks/>
          </p:cNvCxnSpPr>
          <p:nvPr/>
        </p:nvCxnSpPr>
        <p:spPr>
          <a:xfrm flipV="1">
            <a:off x="2904817" y="3441018"/>
            <a:ext cx="0" cy="1873738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885928-3F60-8A15-CFFF-5ED4C21034D8}"/>
              </a:ext>
            </a:extLst>
          </p:cNvPr>
          <p:cNvCxnSpPr>
            <a:cxnSpLocks/>
          </p:cNvCxnSpPr>
          <p:nvPr/>
        </p:nvCxnSpPr>
        <p:spPr>
          <a:xfrm flipH="1">
            <a:off x="2904817" y="3686135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7901C-A1CC-1EA9-694A-A5015582D50A}"/>
              </a:ext>
            </a:extLst>
          </p:cNvPr>
          <p:cNvCxnSpPr>
            <a:cxnSpLocks/>
          </p:cNvCxnSpPr>
          <p:nvPr/>
        </p:nvCxnSpPr>
        <p:spPr>
          <a:xfrm flipH="1">
            <a:off x="2904817" y="4136578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4A8792-E616-C3FC-609B-084B7E680EB0}"/>
              </a:ext>
            </a:extLst>
          </p:cNvPr>
          <p:cNvCxnSpPr>
            <a:cxnSpLocks/>
          </p:cNvCxnSpPr>
          <p:nvPr/>
        </p:nvCxnSpPr>
        <p:spPr>
          <a:xfrm flipH="1">
            <a:off x="2904817" y="4433120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FCAE3B-079C-42F3-E196-D929F633B46B}"/>
              </a:ext>
            </a:extLst>
          </p:cNvPr>
          <p:cNvCxnSpPr>
            <a:cxnSpLocks/>
          </p:cNvCxnSpPr>
          <p:nvPr/>
        </p:nvCxnSpPr>
        <p:spPr>
          <a:xfrm flipH="1">
            <a:off x="2904817" y="4738670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CA342C-A8CD-9A87-0A9A-C638FD8A8B6A}"/>
              </a:ext>
            </a:extLst>
          </p:cNvPr>
          <p:cNvCxnSpPr>
            <a:cxnSpLocks/>
          </p:cNvCxnSpPr>
          <p:nvPr/>
        </p:nvCxnSpPr>
        <p:spPr>
          <a:xfrm flipH="1">
            <a:off x="2904817" y="5066743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007190-9F71-A81C-EB25-8F7B7D922599}"/>
              </a:ext>
            </a:extLst>
          </p:cNvPr>
          <p:cNvCxnSpPr>
            <a:cxnSpLocks/>
          </p:cNvCxnSpPr>
          <p:nvPr/>
        </p:nvCxnSpPr>
        <p:spPr>
          <a:xfrm flipH="1">
            <a:off x="2904817" y="5328269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D95157-D726-01AD-A2AA-963737068A35}"/>
              </a:ext>
            </a:extLst>
          </p:cNvPr>
          <p:cNvCxnSpPr>
            <a:cxnSpLocks/>
          </p:cNvCxnSpPr>
          <p:nvPr/>
        </p:nvCxnSpPr>
        <p:spPr>
          <a:xfrm flipV="1">
            <a:off x="5936245" y="3496251"/>
            <a:ext cx="0" cy="1873738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B987C8-0008-0285-9DF7-A50418A592D4}"/>
              </a:ext>
            </a:extLst>
          </p:cNvPr>
          <p:cNvCxnSpPr>
            <a:cxnSpLocks/>
          </p:cNvCxnSpPr>
          <p:nvPr/>
        </p:nvCxnSpPr>
        <p:spPr>
          <a:xfrm flipH="1">
            <a:off x="5936245" y="3741368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858717-B709-C898-64F9-81486BA95491}"/>
              </a:ext>
            </a:extLst>
          </p:cNvPr>
          <p:cNvCxnSpPr>
            <a:cxnSpLocks/>
          </p:cNvCxnSpPr>
          <p:nvPr/>
        </p:nvCxnSpPr>
        <p:spPr>
          <a:xfrm flipH="1">
            <a:off x="5936245" y="4191811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F7391C-3A14-2C20-BCEF-32FCCAB11DBA}"/>
              </a:ext>
            </a:extLst>
          </p:cNvPr>
          <p:cNvCxnSpPr>
            <a:cxnSpLocks/>
          </p:cNvCxnSpPr>
          <p:nvPr/>
        </p:nvCxnSpPr>
        <p:spPr>
          <a:xfrm flipH="1">
            <a:off x="5936245" y="4488353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1FBC79-E5E0-C9DB-4BCB-0534457664D3}"/>
              </a:ext>
            </a:extLst>
          </p:cNvPr>
          <p:cNvCxnSpPr>
            <a:cxnSpLocks/>
          </p:cNvCxnSpPr>
          <p:nvPr/>
        </p:nvCxnSpPr>
        <p:spPr>
          <a:xfrm flipH="1">
            <a:off x="5936245" y="4793903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6A5337-3EE7-0067-222F-62CC62082181}"/>
              </a:ext>
            </a:extLst>
          </p:cNvPr>
          <p:cNvCxnSpPr>
            <a:cxnSpLocks/>
          </p:cNvCxnSpPr>
          <p:nvPr/>
        </p:nvCxnSpPr>
        <p:spPr>
          <a:xfrm flipH="1">
            <a:off x="5936245" y="5121976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D7B5EC-95EF-27B6-E117-BCE0D1AD7A01}"/>
              </a:ext>
            </a:extLst>
          </p:cNvPr>
          <p:cNvCxnSpPr>
            <a:cxnSpLocks/>
          </p:cNvCxnSpPr>
          <p:nvPr/>
        </p:nvCxnSpPr>
        <p:spPr>
          <a:xfrm flipH="1">
            <a:off x="5936245" y="5383502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03A75D-B0EF-7A8A-2284-F9B7FD768F55}"/>
              </a:ext>
            </a:extLst>
          </p:cNvPr>
          <p:cNvCxnSpPr>
            <a:cxnSpLocks/>
          </p:cNvCxnSpPr>
          <p:nvPr/>
        </p:nvCxnSpPr>
        <p:spPr>
          <a:xfrm flipH="1">
            <a:off x="3295235" y="3849047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F266E3-E75C-3728-D428-44CD90403C00}"/>
              </a:ext>
            </a:extLst>
          </p:cNvPr>
          <p:cNvCxnSpPr>
            <a:cxnSpLocks/>
          </p:cNvCxnSpPr>
          <p:nvPr/>
        </p:nvCxnSpPr>
        <p:spPr>
          <a:xfrm flipV="1">
            <a:off x="3295235" y="3741368"/>
            <a:ext cx="0" cy="99419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15D027-B04D-E209-716C-EA4EC1A5BD26}"/>
              </a:ext>
            </a:extLst>
          </p:cNvPr>
          <p:cNvCxnSpPr>
            <a:cxnSpLocks/>
          </p:cNvCxnSpPr>
          <p:nvPr/>
        </p:nvCxnSpPr>
        <p:spPr>
          <a:xfrm flipH="1">
            <a:off x="6357496" y="3861061"/>
            <a:ext cx="162910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6C2CCA8-214A-2C82-52ED-16178E5A9865}"/>
              </a:ext>
            </a:extLst>
          </p:cNvPr>
          <p:cNvCxnSpPr>
            <a:cxnSpLocks/>
          </p:cNvCxnSpPr>
          <p:nvPr/>
        </p:nvCxnSpPr>
        <p:spPr>
          <a:xfrm flipV="1">
            <a:off x="6357496" y="3753382"/>
            <a:ext cx="0" cy="99419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40CFAA-3552-4A7F-D1F9-353A285B9B7F}"/>
              </a:ext>
            </a:extLst>
          </p:cNvPr>
          <p:cNvCxnSpPr>
            <a:cxnSpLocks/>
          </p:cNvCxnSpPr>
          <p:nvPr/>
        </p:nvCxnSpPr>
        <p:spPr>
          <a:xfrm>
            <a:off x="2408584" y="1242615"/>
            <a:ext cx="0" cy="744267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1E54ED-7896-EDF7-B738-A0AA91704A11}"/>
              </a:ext>
            </a:extLst>
          </p:cNvPr>
          <p:cNvCxnSpPr>
            <a:cxnSpLocks/>
          </p:cNvCxnSpPr>
          <p:nvPr/>
        </p:nvCxnSpPr>
        <p:spPr>
          <a:xfrm>
            <a:off x="2408584" y="1985953"/>
            <a:ext cx="1958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17B354-EE9A-CF67-70F9-612E4D5DB7B8}"/>
              </a:ext>
            </a:extLst>
          </p:cNvPr>
          <p:cNvCxnSpPr>
            <a:cxnSpLocks/>
          </p:cNvCxnSpPr>
          <p:nvPr/>
        </p:nvCxnSpPr>
        <p:spPr>
          <a:xfrm>
            <a:off x="2408584" y="2138791"/>
            <a:ext cx="0" cy="1172794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463450A-1957-9942-E5B0-EB97854365B3}"/>
              </a:ext>
            </a:extLst>
          </p:cNvPr>
          <p:cNvCxnSpPr>
            <a:cxnSpLocks/>
          </p:cNvCxnSpPr>
          <p:nvPr/>
        </p:nvCxnSpPr>
        <p:spPr>
          <a:xfrm>
            <a:off x="2408584" y="3327527"/>
            <a:ext cx="1958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A953737-6E1B-1CC5-B315-712552353412}"/>
              </a:ext>
            </a:extLst>
          </p:cNvPr>
          <p:cNvSpPr txBox="1"/>
          <p:nvPr/>
        </p:nvSpPr>
        <p:spPr>
          <a:xfrm>
            <a:off x="4412376" y="3126919"/>
            <a:ext cx="83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E314DC-1121-5668-6CF8-B95EC8DB3603}"/>
              </a:ext>
            </a:extLst>
          </p:cNvPr>
          <p:cNvCxnSpPr>
            <a:cxnSpLocks/>
          </p:cNvCxnSpPr>
          <p:nvPr/>
        </p:nvCxnSpPr>
        <p:spPr>
          <a:xfrm flipH="1">
            <a:off x="2385944" y="3460257"/>
            <a:ext cx="31643" cy="2823054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5BF5AC-6BB1-249C-1B3A-6929556355D0}"/>
              </a:ext>
            </a:extLst>
          </p:cNvPr>
          <p:cNvCxnSpPr>
            <a:cxnSpLocks/>
          </p:cNvCxnSpPr>
          <p:nvPr/>
        </p:nvCxnSpPr>
        <p:spPr>
          <a:xfrm>
            <a:off x="2377720" y="6284239"/>
            <a:ext cx="1958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2B6527-045A-4C86-66F3-0B17F26EF63B}"/>
              </a:ext>
            </a:extLst>
          </p:cNvPr>
          <p:cNvSpPr txBox="1"/>
          <p:nvPr/>
        </p:nvSpPr>
        <p:spPr>
          <a:xfrm>
            <a:off x="2633229" y="6161128"/>
            <a:ext cx="1471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3report_stat.gms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6626E0-71F7-61D0-0447-541B8D50F77F}"/>
              </a:ext>
            </a:extLst>
          </p:cNvPr>
          <p:cNvSpPr txBox="1"/>
          <p:nvPr/>
        </p:nvSpPr>
        <p:spPr>
          <a:xfrm>
            <a:off x="5690986" y="6161128"/>
            <a:ext cx="1471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3report_dyn.gms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462487-FED7-9783-43F7-E52C0D56DE24}"/>
              </a:ext>
            </a:extLst>
          </p:cNvPr>
          <p:cNvSpPr txBox="1"/>
          <p:nvPr/>
        </p:nvSpPr>
        <p:spPr>
          <a:xfrm>
            <a:off x="4412376" y="6093250"/>
            <a:ext cx="83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8F081D-7B80-295F-D83E-10BB93DD4BA0}"/>
              </a:ext>
            </a:extLst>
          </p:cNvPr>
          <p:cNvSpPr txBox="1"/>
          <p:nvPr/>
        </p:nvSpPr>
        <p:spPr>
          <a:xfrm>
            <a:off x="871901" y="1440915"/>
            <a:ext cx="1431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MODSIM = 1 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Only run base model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F8C990-D7E0-FEE7-78C8-45A4DC2AB211}"/>
              </a:ext>
            </a:extLst>
          </p:cNvPr>
          <p:cNvSpPr txBox="1"/>
          <p:nvPr/>
        </p:nvSpPr>
        <p:spPr>
          <a:xfrm>
            <a:off x="856282" y="2138791"/>
            <a:ext cx="1431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MODSIM = 2 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Run base model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+ Simulations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+ Standard reporting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B2ED83-59EF-A50E-CCBC-1965F90DC61F}"/>
              </a:ext>
            </a:extLst>
          </p:cNvPr>
          <p:cNvSpPr txBox="1"/>
          <p:nvPr/>
        </p:nvSpPr>
        <p:spPr>
          <a:xfrm>
            <a:off x="597130" y="4246787"/>
            <a:ext cx="17027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MODSIM = 3 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Run base model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+ Simulations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+ Standard reporting</a:t>
            </a:r>
          </a:p>
          <a:p>
            <a:pPr algn="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+ User-defined  reporting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1AB9B4-6808-259B-6C82-7BB2078202F5}"/>
              </a:ext>
            </a:extLst>
          </p:cNvPr>
          <p:cNvSpPr txBox="1"/>
          <p:nvPr/>
        </p:nvSpPr>
        <p:spPr>
          <a:xfrm>
            <a:off x="2604459" y="2815687"/>
            <a:ext cx="1431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STATDYN = 1 </a:t>
            </a:r>
          </a:p>
          <a:p>
            <a:pPr algn="ct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Run static model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E80CBF-ECDD-222C-3C05-1EFAE977E8F5}"/>
              </a:ext>
            </a:extLst>
          </p:cNvPr>
          <p:cNvSpPr txBox="1"/>
          <p:nvPr/>
        </p:nvSpPr>
        <p:spPr>
          <a:xfrm>
            <a:off x="5797152" y="2815687"/>
            <a:ext cx="1431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STATDYN = 2 </a:t>
            </a:r>
          </a:p>
          <a:p>
            <a:pPr algn="ct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Run dynamic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368E99-AEBA-08A9-DE7C-BDF610F47033}"/>
              </a:ext>
            </a:extLst>
          </p:cNvPr>
          <p:cNvSpPr txBox="1"/>
          <p:nvPr/>
        </p:nvSpPr>
        <p:spPr>
          <a:xfrm>
            <a:off x="2538809" y="5802520"/>
            <a:ext cx="1431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STATDYN = 1 </a:t>
            </a:r>
          </a:p>
          <a:p>
            <a:pPr algn="ct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Run static model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36F8A9-9FF0-741D-0CE2-A4FC8574B4E8}"/>
              </a:ext>
            </a:extLst>
          </p:cNvPr>
          <p:cNvSpPr txBox="1"/>
          <p:nvPr/>
        </p:nvSpPr>
        <p:spPr>
          <a:xfrm>
            <a:off x="5731502" y="5802520"/>
            <a:ext cx="1431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STATDYN = 2 </a:t>
            </a:r>
          </a:p>
          <a:p>
            <a:pPr algn="ct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Run dynamic model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718BFE-4391-9F6E-07F5-B0CD6BDB7218}"/>
              </a:ext>
            </a:extLst>
          </p:cNvPr>
          <p:cNvSpPr txBox="1"/>
          <p:nvPr/>
        </p:nvSpPr>
        <p:spPr>
          <a:xfrm>
            <a:off x="5427383" y="1538890"/>
            <a:ext cx="1369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[basemod.xlsx]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7C0AF8-FE3B-75B0-9EAB-91ABC85B642C}"/>
              </a:ext>
            </a:extLst>
          </p:cNvPr>
          <p:cNvSpPr txBox="1"/>
          <p:nvPr/>
        </p:nvSpPr>
        <p:spPr>
          <a:xfrm>
            <a:off x="4285602" y="3523717"/>
            <a:ext cx="1369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[statsim.xlsx]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793765-C26E-45D5-B6DF-CEDC22629BB7}"/>
              </a:ext>
            </a:extLst>
          </p:cNvPr>
          <p:cNvSpPr txBox="1"/>
          <p:nvPr/>
        </p:nvSpPr>
        <p:spPr>
          <a:xfrm>
            <a:off x="7459759" y="3523717"/>
            <a:ext cx="1369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[dynsim.xlsx]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09FEC8-0847-EC0F-8E14-DCBC8B41B16B}"/>
              </a:ext>
            </a:extLst>
          </p:cNvPr>
          <p:cNvSpPr txBox="1"/>
          <p:nvPr/>
        </p:nvSpPr>
        <p:spPr>
          <a:xfrm>
            <a:off x="4285602" y="5246876"/>
            <a:ext cx="1369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[statrep.xlsx]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FD9F4F-D25D-AAF4-A41F-52DE9D7433CF}"/>
              </a:ext>
            </a:extLst>
          </p:cNvPr>
          <p:cNvSpPr txBox="1"/>
          <p:nvPr/>
        </p:nvSpPr>
        <p:spPr>
          <a:xfrm>
            <a:off x="7414443" y="5205158"/>
            <a:ext cx="1369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[dynrep.xlsx]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900EC26-E585-0914-B127-483356E99AF9}"/>
              </a:ext>
            </a:extLst>
          </p:cNvPr>
          <p:cNvCxnSpPr>
            <a:cxnSpLocks/>
          </p:cNvCxnSpPr>
          <p:nvPr/>
        </p:nvCxnSpPr>
        <p:spPr>
          <a:xfrm flipH="1">
            <a:off x="5250371" y="1661812"/>
            <a:ext cx="238735" cy="0"/>
          </a:xfrm>
          <a:prstGeom prst="straightConnector1">
            <a:avLst/>
          </a:prstGeom>
          <a:ln w="9525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F4DD2BD-F75B-F954-5C3C-0E701B4E7484}"/>
              </a:ext>
            </a:extLst>
          </p:cNvPr>
          <p:cNvCxnSpPr>
            <a:cxnSpLocks/>
          </p:cNvCxnSpPr>
          <p:nvPr/>
        </p:nvCxnSpPr>
        <p:spPr>
          <a:xfrm flipH="1">
            <a:off x="4095905" y="3653405"/>
            <a:ext cx="238735" cy="0"/>
          </a:xfrm>
          <a:prstGeom prst="straightConnector1">
            <a:avLst/>
          </a:prstGeom>
          <a:ln w="9525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0FA08DB-8695-C503-3BD5-07EB50A59961}"/>
              </a:ext>
            </a:extLst>
          </p:cNvPr>
          <p:cNvCxnSpPr>
            <a:cxnSpLocks/>
          </p:cNvCxnSpPr>
          <p:nvPr/>
        </p:nvCxnSpPr>
        <p:spPr>
          <a:xfrm flipH="1">
            <a:off x="7228319" y="3653405"/>
            <a:ext cx="238735" cy="0"/>
          </a:xfrm>
          <a:prstGeom prst="straightConnector1">
            <a:avLst/>
          </a:prstGeom>
          <a:ln w="9525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CC55392-EA77-6FAD-F4CD-CB65AABA0781}"/>
              </a:ext>
            </a:extLst>
          </p:cNvPr>
          <p:cNvCxnSpPr>
            <a:cxnSpLocks/>
          </p:cNvCxnSpPr>
          <p:nvPr/>
        </p:nvCxnSpPr>
        <p:spPr>
          <a:xfrm>
            <a:off x="4010957" y="5369986"/>
            <a:ext cx="303298" cy="0"/>
          </a:xfrm>
          <a:prstGeom prst="straightConnector1">
            <a:avLst/>
          </a:prstGeom>
          <a:ln w="9525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04931C-46D1-9570-5310-B1B07D4665B2}"/>
              </a:ext>
            </a:extLst>
          </p:cNvPr>
          <p:cNvCxnSpPr>
            <a:cxnSpLocks/>
          </p:cNvCxnSpPr>
          <p:nvPr/>
        </p:nvCxnSpPr>
        <p:spPr>
          <a:xfrm>
            <a:off x="7076670" y="5359572"/>
            <a:ext cx="303298" cy="0"/>
          </a:xfrm>
          <a:prstGeom prst="straightConnector1">
            <a:avLst/>
          </a:prstGeom>
          <a:ln w="9525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1338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91A4-7A2B-2EBD-1928-E81436E6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37FC3-EC93-A9C5-B121-1BC19791A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10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Introduction to Dynamic Modeling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Establishing a baseline</a:t>
            </a:r>
            <a:br>
              <a:rPr lang="en-US" sz="2800" dirty="0">
                <a:solidFill>
                  <a:srgbClr val="C00000"/>
                </a:solidFill>
              </a:rPr>
            </a:br>
            <a:br>
              <a:rPr lang="en-US" sz="28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9395E305-2204-BC4A-D317-2EF770FDF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753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192E-DE20-94BE-A1FF-013BF31A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FB76-2F2D-A5AC-CC6D-CC13DA2D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 </a:t>
            </a:r>
            <a:r>
              <a:rPr lang="en-US" b="0" dirty="0"/>
              <a:t>|  Setting Up the Baseline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3A295C1-8F10-D8DB-B596-40DB63D0C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579" y="2915612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Data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basemod.xlsx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92EEEDF7-5E48-CBCA-D386-80959399F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553" y="1763860"/>
            <a:ext cx="2068604" cy="50783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Control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0control.gms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4BC46A-CDC9-70BA-319A-E5AC4535B0CC}"/>
              </a:ext>
            </a:extLst>
          </p:cNvPr>
          <p:cNvSpPr/>
          <p:nvPr/>
        </p:nvSpPr>
        <p:spPr>
          <a:xfrm>
            <a:off x="2963568" y="2787769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F0E0F7-8A8D-0636-5B31-F88991EB0A8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162183" y="3169528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C20239-876A-DF1C-AC9B-2CCC8D8999F9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681855" y="3429000"/>
            <a:ext cx="0" cy="53510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CDF570-0524-78D9-DCD7-F9C323194808}"/>
              </a:ext>
            </a:extLst>
          </p:cNvPr>
          <p:cNvSpPr txBox="1"/>
          <p:nvPr/>
        </p:nvSpPr>
        <p:spPr>
          <a:xfrm>
            <a:off x="2738217" y="2772480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EF66F3D0-2BC9-FAEB-0B69-10469903A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553" y="2921169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1model.gms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593994F1-21C5-56F8-BE74-7FFBEB12A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553" y="4091948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2simulation_dyn.gms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A6A3E2-B910-B92C-4B68-C87B3DF6E81D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681855" y="4599779"/>
            <a:ext cx="0" cy="59134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5">
            <a:extLst>
              <a:ext uri="{FF2B5EF4-FFF2-40B4-BE49-F238E27FC236}">
                <a16:creationId xmlns:a16="http://schemas.microsoft.com/office/drawing/2014/main" id="{58B70567-67F1-DE6F-09A1-D2BE2DF20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553" y="5262727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Results File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dynrep.xlsx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AC759C7-2420-4760-3FB5-07FD51694A08}"/>
              </a:ext>
            </a:extLst>
          </p:cNvPr>
          <p:cNvSpPr/>
          <p:nvPr/>
        </p:nvSpPr>
        <p:spPr>
          <a:xfrm>
            <a:off x="5517542" y="5134884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E29095-1FB3-561A-6C4B-BEB748696B83}"/>
              </a:ext>
            </a:extLst>
          </p:cNvPr>
          <p:cNvSpPr txBox="1"/>
          <p:nvPr/>
        </p:nvSpPr>
        <p:spPr>
          <a:xfrm>
            <a:off x="5292191" y="5119595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BE099D3-015E-F5CE-6E8E-FD4F61F2B4E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681855" y="2271691"/>
            <a:ext cx="0" cy="516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5">
            <a:extLst>
              <a:ext uri="{FF2B5EF4-FFF2-40B4-BE49-F238E27FC236}">
                <a16:creationId xmlns:a16="http://schemas.microsoft.com/office/drawing/2014/main" id="{849098D1-A716-ACE5-D830-D2B565201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21" y="4091948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Data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dynsim.xlsx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BD0C30-750B-4EEA-409C-D97CD22094EC}"/>
              </a:ext>
            </a:extLst>
          </p:cNvPr>
          <p:cNvSpPr/>
          <p:nvPr/>
        </p:nvSpPr>
        <p:spPr>
          <a:xfrm>
            <a:off x="2959710" y="3964105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30BDBD-00B8-38B0-37F6-0A9867E36B5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5158325" y="4345864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B34A2F-E728-FF25-1DB1-6E187145F016}"/>
              </a:ext>
            </a:extLst>
          </p:cNvPr>
          <p:cNvSpPr txBox="1"/>
          <p:nvPr/>
        </p:nvSpPr>
        <p:spPr>
          <a:xfrm>
            <a:off x="2734359" y="3948816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773DAB-64D5-A6CE-D33A-0855F99CF046}"/>
              </a:ext>
            </a:extLst>
          </p:cNvPr>
          <p:cNvSpPr txBox="1"/>
          <p:nvPr/>
        </p:nvSpPr>
        <p:spPr>
          <a:xfrm>
            <a:off x="1739870" y="4870311"/>
            <a:ext cx="247511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Step 1: </a:t>
            </a:r>
            <a:r>
              <a:rPr lang="en-US" dirty="0"/>
              <a:t>Enter baseline parameter growth rates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D027CB-9D0F-44A1-CF09-76D3DEEA61F0}"/>
              </a:ext>
            </a:extLst>
          </p:cNvPr>
          <p:cNvSpPr txBox="1"/>
          <p:nvPr/>
        </p:nvSpPr>
        <p:spPr>
          <a:xfrm>
            <a:off x="8052121" y="1694609"/>
            <a:ext cx="24473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Step 2: </a:t>
            </a:r>
            <a:r>
              <a:rPr lang="en-US" dirty="0"/>
              <a:t>Run GAMS files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23EB31-5AFB-652E-2D88-2DC577B7CEE7}"/>
              </a:ext>
            </a:extLst>
          </p:cNvPr>
          <p:cNvSpPr txBox="1"/>
          <p:nvPr/>
        </p:nvSpPr>
        <p:spPr>
          <a:xfrm>
            <a:off x="8052121" y="5067403"/>
            <a:ext cx="23074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Step 3: </a:t>
            </a:r>
            <a:r>
              <a:rPr lang="en-US" dirty="0"/>
              <a:t>Review baseline growth rates</a:t>
            </a:r>
          </a:p>
        </p:txBody>
      </p:sp>
    </p:spTree>
    <p:extLst>
      <p:ext uri="{BB962C8B-B14F-4D97-AF65-F5344CB8AC3E}">
        <p14:creationId xmlns:p14="http://schemas.microsoft.com/office/powerpoint/2010/main" val="7478000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F032-4561-DAE1-DEB2-8B3E5935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 </a:t>
            </a:r>
            <a:r>
              <a:rPr lang="en-US" b="0" dirty="0"/>
              <a:t>|  Baseline Data Input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5679B-CB72-26D5-C0C9-F266712B0CDD}"/>
              </a:ext>
            </a:extLst>
          </p:cNvPr>
          <p:cNvSpPr txBox="1"/>
          <p:nvPr/>
        </p:nvSpPr>
        <p:spPr>
          <a:xfrm>
            <a:off x="3234594" y="2141947"/>
            <a:ext cx="1476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Select active years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C87E32-4DC3-8A31-1246-B46D2811B383}"/>
              </a:ext>
            </a:extLst>
          </p:cNvPr>
          <p:cNvSpPr txBox="1"/>
          <p:nvPr/>
        </p:nvSpPr>
        <p:spPr>
          <a:xfrm>
            <a:off x="8086152" y="2370101"/>
            <a:ext cx="4122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Enter growth parameters at detailed activity, factor and commodity levels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598AC-97AA-8F6F-11B3-7C71022B8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278" y="3378920"/>
            <a:ext cx="6877722" cy="35076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9D3ED1-93C0-4E7D-C151-95876C9B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152" y="6548173"/>
            <a:ext cx="4105848" cy="3620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BD5B2B-24E6-905F-E49F-3C8B3093E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8920"/>
            <a:ext cx="4204263" cy="34514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27AA59-92BC-1141-217D-5C81F0620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897" y="6515031"/>
            <a:ext cx="3391373" cy="37152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9033C0-D8CB-1DBA-A3EB-0DE3F3A24B6F}"/>
              </a:ext>
            </a:extLst>
          </p:cNvPr>
          <p:cNvCxnSpPr>
            <a:cxnSpLocks/>
          </p:cNvCxnSpPr>
          <p:nvPr/>
        </p:nvCxnSpPr>
        <p:spPr>
          <a:xfrm>
            <a:off x="11506114" y="3016432"/>
            <a:ext cx="0" cy="1196319"/>
          </a:xfrm>
          <a:prstGeom prst="straightConnector1">
            <a:avLst/>
          </a:prstGeom>
          <a:ln w="15875">
            <a:solidFill>
              <a:srgbClr val="C34E2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A2EB6F-A5F8-6E95-0100-4D1509389AB4}"/>
              </a:ext>
            </a:extLst>
          </p:cNvPr>
          <p:cNvCxnSpPr>
            <a:cxnSpLocks/>
          </p:cNvCxnSpPr>
          <p:nvPr/>
        </p:nvCxnSpPr>
        <p:spPr>
          <a:xfrm>
            <a:off x="3972901" y="2785185"/>
            <a:ext cx="0" cy="1127495"/>
          </a:xfrm>
          <a:prstGeom prst="straightConnector1">
            <a:avLst/>
          </a:prstGeom>
          <a:ln w="15875">
            <a:solidFill>
              <a:srgbClr val="C34E2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BE7814-E598-0DE6-3E5B-18DB6E566F81}"/>
              </a:ext>
            </a:extLst>
          </p:cNvPr>
          <p:cNvSpPr txBox="1"/>
          <p:nvPr/>
        </p:nvSpPr>
        <p:spPr bwMode="auto">
          <a:xfrm>
            <a:off x="428074" y="1256867"/>
            <a:ext cx="1674057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dynsim.xlsx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19381-CC7C-2FE0-A248-CECDE7568766}"/>
              </a:ext>
            </a:extLst>
          </p:cNvPr>
          <p:cNvSpPr txBox="1"/>
          <p:nvPr/>
        </p:nvSpPr>
        <p:spPr bwMode="auto">
          <a:xfrm>
            <a:off x="267370" y="2831766"/>
            <a:ext cx="99772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Main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B8CD88-984F-1C5E-2F19-96CF1A52158D}"/>
              </a:ext>
            </a:extLst>
          </p:cNvPr>
          <p:cNvSpPr txBox="1"/>
          <p:nvPr/>
        </p:nvSpPr>
        <p:spPr bwMode="auto">
          <a:xfrm>
            <a:off x="5530663" y="2831766"/>
            <a:ext cx="99772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30017280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ECD4B3-76C5-E8A2-3827-C6E92176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6" y="1749820"/>
            <a:ext cx="11315700" cy="43217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5DB504-FFD0-2EDB-7A75-624BD90C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 </a:t>
            </a:r>
            <a:r>
              <a:rPr lang="en-US" b="0" dirty="0"/>
              <a:t>|  Baseline Output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E377-CA1D-A998-CBB0-38F73BFA7E6E}"/>
              </a:ext>
            </a:extLst>
          </p:cNvPr>
          <p:cNvSpPr txBox="1"/>
          <p:nvPr/>
        </p:nvSpPr>
        <p:spPr>
          <a:xfrm>
            <a:off x="460261" y="1086018"/>
            <a:ext cx="301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Base year economic structure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3C396D-27A9-D7CD-566C-185D545F30EC}"/>
              </a:ext>
            </a:extLst>
          </p:cNvPr>
          <p:cNvCxnSpPr>
            <a:cxnSpLocks/>
          </p:cNvCxnSpPr>
          <p:nvPr/>
        </p:nvCxnSpPr>
        <p:spPr>
          <a:xfrm>
            <a:off x="1157011" y="1455350"/>
            <a:ext cx="0" cy="847321"/>
          </a:xfrm>
          <a:prstGeom prst="straightConnector1">
            <a:avLst/>
          </a:prstGeom>
          <a:ln w="15875">
            <a:solidFill>
              <a:srgbClr val="C34E2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06D421-667C-A6AF-8E7D-B9BA109B5EF2}"/>
              </a:ext>
            </a:extLst>
          </p:cNvPr>
          <p:cNvSpPr txBox="1"/>
          <p:nvPr/>
        </p:nvSpPr>
        <p:spPr>
          <a:xfrm>
            <a:off x="8373911" y="1086018"/>
            <a:ext cx="254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Base year tax structure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F68545-3F84-687A-1BD0-E1DC941953A9}"/>
              </a:ext>
            </a:extLst>
          </p:cNvPr>
          <p:cNvCxnSpPr>
            <a:cxnSpLocks/>
          </p:cNvCxnSpPr>
          <p:nvPr/>
        </p:nvCxnSpPr>
        <p:spPr>
          <a:xfrm>
            <a:off x="9044863" y="1455350"/>
            <a:ext cx="0" cy="847321"/>
          </a:xfrm>
          <a:prstGeom prst="straightConnector1">
            <a:avLst/>
          </a:prstGeom>
          <a:ln w="15875">
            <a:solidFill>
              <a:srgbClr val="C34E2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A99E164-F6D0-3335-A4F8-45913C5D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07" y="6265426"/>
            <a:ext cx="5656698" cy="3776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41675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5461-0E9A-1E59-9BF2-6019683A4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03960E-0F12-ADAC-532B-D9FB3ACBF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31" y="2071575"/>
            <a:ext cx="5977805" cy="40942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C089DF-E570-FDD4-6EF3-61853E70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 </a:t>
            </a:r>
            <a:r>
              <a:rPr lang="en-US" b="0" dirty="0"/>
              <a:t>|  Baseline Output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58C1D-67F5-984E-9DAB-3C1C7E7738F1}"/>
              </a:ext>
            </a:extLst>
          </p:cNvPr>
          <p:cNvSpPr txBox="1"/>
          <p:nvPr/>
        </p:nvSpPr>
        <p:spPr>
          <a:xfrm>
            <a:off x="2466913" y="1393443"/>
            <a:ext cx="397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Base year values (shares, amounts)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22E650-5364-81D6-B351-680D80A814E5}"/>
              </a:ext>
            </a:extLst>
          </p:cNvPr>
          <p:cNvCxnSpPr>
            <a:cxnSpLocks/>
          </p:cNvCxnSpPr>
          <p:nvPr/>
        </p:nvCxnSpPr>
        <p:spPr>
          <a:xfrm>
            <a:off x="5879449" y="1762775"/>
            <a:ext cx="0" cy="121513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2B85A4-E6CF-BBE0-1F05-6FB1A9FABCB7}"/>
              </a:ext>
            </a:extLst>
          </p:cNvPr>
          <p:cNvSpPr txBox="1"/>
          <p:nvPr/>
        </p:nvSpPr>
        <p:spPr>
          <a:xfrm>
            <a:off x="5722891" y="969378"/>
            <a:ext cx="557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Average </a:t>
            </a:r>
            <a:r>
              <a:rPr lang="en-US" b="1" dirty="0">
                <a:solidFill>
                  <a:srgbClr val="C00000"/>
                </a:solidFill>
              </a:rPr>
              <a:t>annual growth rate </a:t>
            </a:r>
            <a:r>
              <a:rPr lang="en-US" dirty="0">
                <a:solidFill>
                  <a:srgbClr val="C00000"/>
                </a:solidFill>
              </a:rPr>
              <a:t>in the baseline scenario (%)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26BD61-B084-660E-FEF9-4EAC7771741C}"/>
              </a:ext>
            </a:extLst>
          </p:cNvPr>
          <p:cNvCxnSpPr>
            <a:cxnSpLocks/>
          </p:cNvCxnSpPr>
          <p:nvPr/>
        </p:nvCxnSpPr>
        <p:spPr>
          <a:xfrm>
            <a:off x="6536706" y="1372993"/>
            <a:ext cx="0" cy="1604912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1AA05B-45D3-D935-E63C-588525290461}"/>
              </a:ext>
            </a:extLst>
          </p:cNvPr>
          <p:cNvCxnSpPr>
            <a:cxnSpLocks/>
          </p:cNvCxnSpPr>
          <p:nvPr/>
        </p:nvCxnSpPr>
        <p:spPr>
          <a:xfrm>
            <a:off x="7047251" y="2176367"/>
            <a:ext cx="0" cy="801538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4F40BF-758C-EB6D-EA8D-7F11CB0A91F8}"/>
              </a:ext>
            </a:extLst>
          </p:cNvPr>
          <p:cNvSpPr txBox="1"/>
          <p:nvPr/>
        </p:nvSpPr>
        <p:spPr>
          <a:xfrm>
            <a:off x="6728427" y="1381977"/>
            <a:ext cx="4564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Deviation in </a:t>
            </a:r>
            <a:r>
              <a:rPr lang="en-US" b="1" dirty="0">
                <a:solidFill>
                  <a:srgbClr val="C00000"/>
                </a:solidFill>
              </a:rPr>
              <a:t>annual growth rate </a:t>
            </a:r>
            <a:r>
              <a:rPr lang="en-US" dirty="0">
                <a:solidFill>
                  <a:srgbClr val="C00000"/>
                </a:solidFill>
              </a:rPr>
              <a:t>from baseline (%-point)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B7CF99-5F4D-C965-F414-33CC68B7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231" y="6279351"/>
            <a:ext cx="6258798" cy="3905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5863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E236F-6B2B-E9DC-DB16-C9A97110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Accelerating Baseline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CC82-92EB-2C02-B562-D2E066DCF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Update the existing baseline file to accelerate national GDP growth from 3% per year to 4% per year</a:t>
            </a:r>
          </a:p>
          <a:p>
            <a:endParaRPr lang="en-US" dirty="0"/>
          </a:p>
          <a:p>
            <a:r>
              <a:rPr lang="en-US" b="1" dirty="0"/>
              <a:t>Closures</a:t>
            </a:r>
          </a:p>
          <a:p>
            <a:pPr lvl="1"/>
            <a:r>
              <a:rPr lang="en-US" dirty="0"/>
              <a:t>Savings-driven investment</a:t>
            </a:r>
          </a:p>
          <a:p>
            <a:pPr lvl="1"/>
            <a:r>
              <a:rPr lang="en-US" dirty="0"/>
              <a:t>Full employment for all factors</a:t>
            </a:r>
          </a:p>
          <a:p>
            <a:pPr lvl="1"/>
            <a:endParaRPr lang="en-US" dirty="0"/>
          </a:p>
          <a:p>
            <a:r>
              <a:rPr lang="en-US" b="1" dirty="0"/>
              <a:t>Notes</a:t>
            </a:r>
          </a:p>
          <a:p>
            <a:pPr lvl="1"/>
            <a:r>
              <a:rPr lang="en-US" dirty="0"/>
              <a:t>Adjust growth of demand-side GDP components to ensure “stable” or “steady state” growth path </a:t>
            </a:r>
          </a:p>
          <a:p>
            <a:pPr marL="457200" lvl="1" indent="0">
              <a:buNone/>
            </a:pPr>
            <a:r>
              <a:rPr lang="en-US" dirty="0"/>
              <a:t>	(check investment/GDP ratio)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0324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8FC5-948E-B7A6-E79F-D4ED6555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340E-EBBE-9378-DE4D-888A3AD5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Uneven Baseline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3CA2B-7FDC-BCC6-A956-8ED0134AE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Update the existing baseline file broad sectors grow at different annual rates</a:t>
            </a:r>
          </a:p>
          <a:p>
            <a:pPr lvl="2"/>
            <a:r>
              <a:rPr lang="en-US" sz="2000" dirty="0"/>
              <a:t>Agriculture 	= 3% per year</a:t>
            </a:r>
          </a:p>
          <a:p>
            <a:pPr lvl="2"/>
            <a:r>
              <a:rPr lang="en-US" sz="2000" dirty="0"/>
              <a:t>Industry 	= 5% per year</a:t>
            </a:r>
          </a:p>
          <a:p>
            <a:pPr lvl="2"/>
            <a:r>
              <a:rPr lang="en-US" sz="2000" dirty="0"/>
              <a:t>Services 	= 5% per year</a:t>
            </a:r>
          </a:p>
          <a:p>
            <a:pPr lvl="1"/>
            <a:endParaRPr lang="en-US" sz="100" dirty="0"/>
          </a:p>
          <a:p>
            <a:pPr lvl="1"/>
            <a:r>
              <a:rPr lang="en-US" sz="2200" dirty="0"/>
              <a:t>Slow down crop land growth rate to 0.5% per year</a:t>
            </a:r>
          </a:p>
          <a:p>
            <a:endParaRPr lang="en-US" dirty="0"/>
          </a:p>
          <a:p>
            <a:r>
              <a:rPr lang="en-US" b="1" dirty="0"/>
              <a:t>Closures</a:t>
            </a:r>
          </a:p>
          <a:p>
            <a:pPr lvl="1"/>
            <a:r>
              <a:rPr lang="en-US" dirty="0"/>
              <a:t>Savings-driven investment</a:t>
            </a:r>
          </a:p>
          <a:p>
            <a:pPr lvl="1"/>
            <a:r>
              <a:rPr lang="en-US" dirty="0"/>
              <a:t>Full employment for all factors</a:t>
            </a:r>
          </a:p>
          <a:p>
            <a:pPr lvl="1"/>
            <a:endParaRPr lang="en-US" dirty="0"/>
          </a:p>
          <a:p>
            <a:r>
              <a:rPr lang="en-US" b="1" dirty="0"/>
              <a:t>Notes</a:t>
            </a:r>
          </a:p>
          <a:p>
            <a:pPr lvl="1"/>
            <a:r>
              <a:rPr lang="en-US" dirty="0"/>
              <a:t>Adjust growth of demand-side GDP components to ensure “stable” or “steady state” growth path </a:t>
            </a:r>
          </a:p>
          <a:p>
            <a:pPr marL="457200" lvl="1" indent="0">
              <a:buNone/>
            </a:pPr>
            <a:r>
              <a:rPr lang="en-US" dirty="0"/>
              <a:t>	(check investment/GDP ratio)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219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D7E36-2302-B86E-3CCC-9307A9CC3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EA40-B26E-4610-9F3B-5CE15C476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10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Introduction to Dynamic Modeling</a:t>
            </a:r>
            <a:br>
              <a:rPr lang="en-US" sz="4000" dirty="0"/>
            </a:br>
            <a:r>
              <a:rPr lang="en-US" sz="2800" dirty="0">
                <a:solidFill>
                  <a:srgbClr val="C00000"/>
                </a:solidFill>
              </a:rPr>
              <a:t>Designing simulations</a:t>
            </a:r>
            <a:br>
              <a:rPr lang="en-US" sz="2800" dirty="0">
                <a:solidFill>
                  <a:srgbClr val="C00000"/>
                </a:solidFill>
              </a:rPr>
            </a:br>
            <a:br>
              <a:rPr lang="en-US" sz="28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BA34B46E-CBC2-E98F-74D2-BB1664F4B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947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D1690D2-46A3-2E16-E706-524ADB19D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865" y="1595109"/>
            <a:ext cx="5629699" cy="52628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6FC88-9489-B929-D7E2-AA4921D7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Simulations</a:t>
            </a:r>
            <a:endParaRPr lang="en-US" b="0" baseline="-25000" dirty="0"/>
          </a:p>
        </p:txBody>
      </p:sp>
      <p:sp>
        <p:nvSpPr>
          <p:cNvPr id="33" name="Text Box 5">
            <a:extLst>
              <a:ext uri="{FF2B5EF4-FFF2-40B4-BE49-F238E27FC236}">
                <a16:creationId xmlns:a16="http://schemas.microsoft.com/office/drawing/2014/main" id="{EF3E803C-0A09-2D05-A45D-4113439E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598" y="3061019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Data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basemod.xlsx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Text Box 12">
            <a:extLst>
              <a:ext uri="{FF2B5EF4-FFF2-40B4-BE49-F238E27FC236}">
                <a16:creationId xmlns:a16="http://schemas.microsoft.com/office/drawing/2014/main" id="{3702F62D-8BC5-6E5F-30CA-9698E5327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1909267"/>
            <a:ext cx="2068604" cy="50783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Control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0control.gms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A1D696-343F-F4DB-4A53-EB7B165376FE}"/>
              </a:ext>
            </a:extLst>
          </p:cNvPr>
          <p:cNvSpPr/>
          <p:nvPr/>
        </p:nvSpPr>
        <p:spPr>
          <a:xfrm>
            <a:off x="1231587" y="2933176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DC43A1-05CC-03DD-4B15-791A260DBC3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430202" y="3314935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BCD840-4D50-740C-7052-64DD0477EEF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949874" y="3574407"/>
            <a:ext cx="0" cy="53510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B894FB6-40B7-8A9C-10FC-05C945F1D364}"/>
              </a:ext>
            </a:extLst>
          </p:cNvPr>
          <p:cNvSpPr txBox="1"/>
          <p:nvPr/>
        </p:nvSpPr>
        <p:spPr>
          <a:xfrm>
            <a:off x="1006236" y="2917887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DCA54B15-1B70-A4CA-FA32-56395EC72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3066576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1model.gms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87CBCD74-A849-1959-6A27-3AFDE619F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4237355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2simulation_dyn.gms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BA23BFD-973B-C876-C0BA-0930D66C705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949874" y="4745186"/>
            <a:ext cx="0" cy="59134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5">
            <a:extLst>
              <a:ext uri="{FF2B5EF4-FFF2-40B4-BE49-F238E27FC236}">
                <a16:creationId xmlns:a16="http://schemas.microsoft.com/office/drawing/2014/main" id="{6833F9F6-492A-231F-428F-BE0BD2630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5408134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Results File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dynrep.xlsx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AB55AB5-3CDE-F837-B657-E31BC0D9C12A}"/>
              </a:ext>
            </a:extLst>
          </p:cNvPr>
          <p:cNvSpPr/>
          <p:nvPr/>
        </p:nvSpPr>
        <p:spPr>
          <a:xfrm>
            <a:off x="3785561" y="5280291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F8F53F-521F-CE94-B6DB-2E638F9FF3F5}"/>
              </a:ext>
            </a:extLst>
          </p:cNvPr>
          <p:cNvSpPr txBox="1"/>
          <p:nvPr/>
        </p:nvSpPr>
        <p:spPr>
          <a:xfrm>
            <a:off x="3560210" y="5265002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C0B0DF7-C34F-8A80-1392-BECADCDCA80D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949874" y="2417098"/>
            <a:ext cx="0" cy="516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84A72562-43E6-EAEC-0C8E-38F32D4F8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293" y="1143786"/>
            <a:ext cx="3223257" cy="8164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C13DCE14-8FB2-CE5A-C493-4E6DE8606E7F}"/>
              </a:ext>
            </a:extLst>
          </p:cNvPr>
          <p:cNvSpPr/>
          <p:nvPr/>
        </p:nvSpPr>
        <p:spPr>
          <a:xfrm>
            <a:off x="9220953" y="3626302"/>
            <a:ext cx="2799434" cy="772784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86F7657-FE59-D515-BBE6-0B8DC652EA16}"/>
              </a:ext>
            </a:extLst>
          </p:cNvPr>
          <p:cNvSpPr/>
          <p:nvPr/>
        </p:nvSpPr>
        <p:spPr>
          <a:xfrm>
            <a:off x="9220953" y="4658509"/>
            <a:ext cx="2799434" cy="877467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CAE9759-6042-F153-FC8C-035046425953}"/>
              </a:ext>
            </a:extLst>
          </p:cNvPr>
          <p:cNvCxnSpPr>
            <a:cxnSpLocks/>
          </p:cNvCxnSpPr>
          <p:nvPr/>
        </p:nvCxnSpPr>
        <p:spPr>
          <a:xfrm>
            <a:off x="9404538" y="1960263"/>
            <a:ext cx="0" cy="2594152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3BBE141-5FE4-F1E7-EDD2-3039ED74F0D0}"/>
              </a:ext>
            </a:extLst>
          </p:cNvPr>
          <p:cNvCxnSpPr>
            <a:cxnSpLocks/>
          </p:cNvCxnSpPr>
          <p:nvPr/>
        </p:nvCxnSpPr>
        <p:spPr>
          <a:xfrm>
            <a:off x="11253750" y="1164476"/>
            <a:ext cx="0" cy="2404374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5">
            <a:extLst>
              <a:ext uri="{FF2B5EF4-FFF2-40B4-BE49-F238E27FC236}">
                <a16:creationId xmlns:a16="http://schemas.microsoft.com/office/drawing/2014/main" id="{EA039D0A-DA37-95E0-E182-24E86BA97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740" y="4237355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Data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dynsim.xlsx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E0CF2C-5AF0-0537-419B-FD305559CC26}"/>
              </a:ext>
            </a:extLst>
          </p:cNvPr>
          <p:cNvSpPr/>
          <p:nvPr/>
        </p:nvSpPr>
        <p:spPr>
          <a:xfrm>
            <a:off x="1227729" y="4109512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994D60-C275-D603-7B85-921E099F598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426344" y="4491271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BAAAAC-8882-4295-FB84-D9BFEB4EDB1F}"/>
              </a:ext>
            </a:extLst>
          </p:cNvPr>
          <p:cNvSpPr txBox="1"/>
          <p:nvPr/>
        </p:nvSpPr>
        <p:spPr>
          <a:xfrm>
            <a:off x="1002378" y="4094223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84F3F4-3A93-EDC9-4A4C-941489739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307" y="284404"/>
            <a:ext cx="1699396" cy="7247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644148-E63A-9154-012E-26460A145E9C}"/>
              </a:ext>
            </a:extLst>
          </p:cNvPr>
          <p:cNvSpPr txBox="1"/>
          <p:nvPr/>
        </p:nvSpPr>
        <p:spPr>
          <a:xfrm>
            <a:off x="869200" y="5078136"/>
            <a:ext cx="190051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Step 1: </a:t>
            </a:r>
            <a:r>
              <a:rPr lang="en-US" dirty="0"/>
              <a:t>Enter shock parameters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06382-1F7C-E075-A295-DD55F03A4501}"/>
              </a:ext>
            </a:extLst>
          </p:cNvPr>
          <p:cNvSpPr txBox="1"/>
          <p:nvPr/>
        </p:nvSpPr>
        <p:spPr>
          <a:xfrm>
            <a:off x="3726202" y="1319467"/>
            <a:ext cx="24473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Step 2: </a:t>
            </a:r>
            <a:r>
              <a:rPr lang="en-US" dirty="0"/>
              <a:t>Run GAMS 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8F1587-E2C4-FCA9-74BB-7F8A32B83159}"/>
              </a:ext>
            </a:extLst>
          </p:cNvPr>
          <p:cNvSpPr txBox="1"/>
          <p:nvPr/>
        </p:nvSpPr>
        <p:spPr>
          <a:xfrm>
            <a:off x="1772370" y="6023343"/>
            <a:ext cx="19844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Step 3: </a:t>
            </a:r>
            <a:r>
              <a:rPr lang="en-US" dirty="0"/>
              <a:t>Review 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6289695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9633-AF8C-F3DE-DF0F-E3DC6DE2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4FA705-594B-54A8-CD62-69E84C5B1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19" y="1338399"/>
            <a:ext cx="7381981" cy="47673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9E0F92-C7FB-C654-5424-7173EEA8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 </a:t>
            </a:r>
            <a:r>
              <a:rPr lang="en-US" b="0" dirty="0"/>
              <a:t>|  Data Input 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AF13BE-7902-684A-45C3-681A4F0306D1}"/>
              </a:ext>
            </a:extLst>
          </p:cNvPr>
          <p:cNvSpPr txBox="1"/>
          <p:nvPr/>
        </p:nvSpPr>
        <p:spPr>
          <a:xfrm>
            <a:off x="2383617" y="3059668"/>
            <a:ext cx="368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Select shock period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A997EF-48C9-47D9-2ED3-A4586F374FC5}"/>
              </a:ext>
            </a:extLst>
          </p:cNvPr>
          <p:cNvCxnSpPr>
            <a:cxnSpLocks/>
          </p:cNvCxnSpPr>
          <p:nvPr/>
        </p:nvCxnSpPr>
        <p:spPr>
          <a:xfrm>
            <a:off x="4499710" y="3244334"/>
            <a:ext cx="853012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579B48-485F-85D7-479C-D67D360A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194" y="6300812"/>
            <a:ext cx="4372585" cy="3715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D95DC4-C8FB-279F-66AB-CB7810548EE2}"/>
              </a:ext>
            </a:extLst>
          </p:cNvPr>
          <p:cNvSpPr txBox="1"/>
          <p:nvPr/>
        </p:nvSpPr>
        <p:spPr>
          <a:xfrm>
            <a:off x="1340126" y="3707766"/>
            <a:ext cx="368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Multiplicative or additive shock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5D7330-47DE-5192-BD5B-6F8A41C46713}"/>
              </a:ext>
            </a:extLst>
          </p:cNvPr>
          <p:cNvCxnSpPr>
            <a:cxnSpLocks/>
          </p:cNvCxnSpPr>
          <p:nvPr/>
        </p:nvCxnSpPr>
        <p:spPr>
          <a:xfrm>
            <a:off x="4499710" y="3892432"/>
            <a:ext cx="853012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0485C1-2A09-A780-5E9F-76CD32CDD2ED}"/>
              </a:ext>
            </a:extLst>
          </p:cNvPr>
          <p:cNvCxnSpPr>
            <a:cxnSpLocks/>
          </p:cNvCxnSpPr>
          <p:nvPr/>
        </p:nvCxnSpPr>
        <p:spPr>
          <a:xfrm>
            <a:off x="4493759" y="4679533"/>
            <a:ext cx="853012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B0120DF-5FB8-E790-BDBE-91CA932B0867}"/>
              </a:ext>
            </a:extLst>
          </p:cNvPr>
          <p:cNvSpPr txBox="1"/>
          <p:nvPr/>
        </p:nvSpPr>
        <p:spPr>
          <a:xfrm>
            <a:off x="1637762" y="4494867"/>
            <a:ext cx="368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Shock to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11543894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ED26-DD37-0149-7E29-E31F708B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9374-5A9E-D79A-087A-E87553E3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</a:t>
            </a:r>
            <a:r>
              <a:rPr lang="en-US" b="0" dirty="0"/>
              <a:t>|  Foreign Capital Outflow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8148A-B377-414D-3C86-F31EB92E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Halve foreign capital inflows in 2027 (-50%).</a:t>
            </a:r>
            <a:endParaRPr lang="en-US" sz="2200" dirty="0"/>
          </a:p>
          <a:p>
            <a:endParaRPr lang="en-US" dirty="0"/>
          </a:p>
          <a:p>
            <a:r>
              <a:rPr lang="en-US" b="1" dirty="0"/>
              <a:t>Closures</a:t>
            </a:r>
          </a:p>
          <a:p>
            <a:pPr lvl="1"/>
            <a:r>
              <a:rPr lang="en-US" dirty="0"/>
              <a:t>Savings-driven investment</a:t>
            </a:r>
          </a:p>
          <a:p>
            <a:pPr lvl="1"/>
            <a:r>
              <a:rPr lang="en-US" dirty="0"/>
              <a:t>Full employment for all factors</a:t>
            </a:r>
          </a:p>
          <a:p>
            <a:pPr lvl="1"/>
            <a:endParaRPr lang="en-US" dirty="0"/>
          </a:p>
          <a:p>
            <a:r>
              <a:rPr lang="en-US" b="1" dirty="0"/>
              <a:t>Questions</a:t>
            </a:r>
          </a:p>
          <a:p>
            <a:pPr lvl="1"/>
            <a:r>
              <a:rPr lang="en-US" dirty="0"/>
              <a:t>What happens to investment growth and the rate of capital accumulation?</a:t>
            </a:r>
          </a:p>
          <a:p>
            <a:pPr lvl="1"/>
            <a:r>
              <a:rPr lang="en-US" dirty="0"/>
              <a:t>How is total GDP growth affected?</a:t>
            </a:r>
          </a:p>
          <a:p>
            <a:pPr lvl="1"/>
            <a:r>
              <a:rPr lang="en-US" dirty="0"/>
              <a:t>Which sectors are worst-affected by the capital outflow?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5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9DF3-E8D5-0E00-A55F-6C9060DE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26A5-C6D2-8EEA-547F-669FE98D0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11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Dynamic Model Exercises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AAE6D090-E96A-EE96-0BB9-52E3581CF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873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31BB-7446-2535-FB85-F09C7F52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585-B17F-6144-4408-1EDF40FC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</a:t>
            </a:r>
            <a:r>
              <a:rPr lang="en-US" b="0" dirty="0"/>
              <a:t>|  Drought Shock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70F3-A863-9D2C-5B76-466C2CD09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Reduce agricultural TFP by 10% in 2020</a:t>
            </a:r>
          </a:p>
          <a:p>
            <a:pPr lvl="1"/>
            <a:r>
              <a:rPr lang="en-US" dirty="0"/>
              <a:t>Reduce electricity TFP by 25% in 2020</a:t>
            </a:r>
          </a:p>
          <a:p>
            <a:endParaRPr lang="en-US" sz="1000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fixed exchange rate, flexible government savings </a:t>
            </a:r>
          </a:p>
          <a:p>
            <a:pPr lvl="1"/>
            <a:r>
              <a:rPr lang="en-US" dirty="0"/>
              <a:t>Sector-specific capital, labor upward sloping supply curve for less educated workers (0.4 elasticity)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endParaRPr lang="en-US" sz="100" b="1" dirty="0"/>
          </a:p>
          <a:p>
            <a:pPr lvl="1"/>
            <a:r>
              <a:rPr lang="en-US" b="1" dirty="0"/>
              <a:t>Sim 1: </a:t>
            </a:r>
            <a:r>
              <a:rPr lang="en-US" dirty="0"/>
              <a:t>Sector-specific land</a:t>
            </a:r>
          </a:p>
          <a:p>
            <a:pPr lvl="1"/>
            <a:endParaRPr lang="en-US" sz="500" dirty="0"/>
          </a:p>
          <a:p>
            <a:pPr lvl="1"/>
            <a:r>
              <a:rPr lang="en-US" b="1" dirty="0"/>
              <a:t>Sim 2: </a:t>
            </a:r>
            <a:r>
              <a:rPr lang="en-US" dirty="0"/>
              <a:t>Flexible land (leave crops fixed in the baseline)</a:t>
            </a:r>
          </a:p>
          <a:p>
            <a:pPr lvl="1"/>
            <a:endParaRPr lang="en-US" sz="500" b="1" dirty="0"/>
          </a:p>
          <a:p>
            <a:pPr lvl="1"/>
            <a:r>
              <a:rPr lang="en-US" b="1" dirty="0"/>
              <a:t>Sim 3: </a:t>
            </a:r>
            <a:r>
              <a:rPr lang="en-US" dirty="0"/>
              <a:t>Flexible land (above)	+  Subsidize electricity for consumers (negative </a:t>
            </a:r>
            <a:r>
              <a:rPr lang="en-US" i="1" dirty="0" err="1"/>
              <a:t>tq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				</a:t>
            </a:r>
            <a:endParaRPr lang="en-US" sz="2000" dirty="0">
              <a:solidFill>
                <a:srgbClr val="C00000"/>
              </a:solidFill>
            </a:endParaRPr>
          </a:p>
          <a:p>
            <a:pPr marL="914400" lvl="2" indent="0">
              <a:buNone/>
            </a:pPr>
            <a:r>
              <a:rPr lang="en-US" dirty="0"/>
              <a:t>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2330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797F-7D03-7E47-9FA6-4EA0D9AB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8597-5327-7B71-47E7-18021F12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  </a:t>
            </a:r>
            <a:r>
              <a:rPr lang="en-US" b="0" dirty="0"/>
              <a:t>|  Tariffs on Exports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D173-218B-780C-BB36-A41E0A5D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Reduce world export prices by 10% in 2020</a:t>
            </a:r>
          </a:p>
          <a:p>
            <a:endParaRPr lang="en-US" sz="1000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fixed exchange rate, flexible government savings </a:t>
            </a:r>
          </a:p>
          <a:p>
            <a:pPr lvl="1"/>
            <a:r>
              <a:rPr lang="en-US" dirty="0"/>
              <a:t>Sector-specific capital, flexible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endParaRPr lang="en-US" sz="100" b="1" dirty="0"/>
          </a:p>
          <a:p>
            <a:pPr lvl="1"/>
            <a:r>
              <a:rPr lang="en-US" b="1" dirty="0"/>
              <a:t>Sim 1: </a:t>
            </a:r>
            <a:r>
              <a:rPr lang="en-US" dirty="0"/>
              <a:t>Fully employed labor</a:t>
            </a:r>
          </a:p>
          <a:p>
            <a:pPr lvl="1"/>
            <a:endParaRPr lang="en-US" sz="500" dirty="0"/>
          </a:p>
          <a:p>
            <a:pPr lvl="1"/>
            <a:r>
              <a:rPr lang="en-US" b="1" dirty="0"/>
              <a:t>Sim 2: </a:t>
            </a:r>
            <a:r>
              <a:rPr lang="en-US" dirty="0"/>
              <a:t>Fully employed labor  +  Flexible land (leave crops fixed in the baseline)</a:t>
            </a:r>
          </a:p>
          <a:p>
            <a:pPr lvl="1"/>
            <a:endParaRPr lang="en-US" sz="500" b="1" dirty="0"/>
          </a:p>
          <a:p>
            <a:pPr lvl="1"/>
            <a:r>
              <a:rPr lang="en-US" b="1" dirty="0"/>
              <a:t>Sim 3: </a:t>
            </a:r>
            <a:r>
              <a:rPr lang="en-US" dirty="0"/>
              <a:t>Less educated workers unemployed (rural and urban)  +  Flexible land 	</a:t>
            </a:r>
          </a:p>
          <a:p>
            <a:pPr marL="457200" lvl="1" indent="0">
              <a:buNone/>
            </a:pPr>
            <a:r>
              <a:rPr lang="en-US" dirty="0"/>
              <a:t>				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30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223D-078F-F801-78DE-466E8A1E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3453-3F82-205A-B04B-7AD98922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  </a:t>
            </a:r>
            <a:r>
              <a:rPr lang="en-US" b="0" dirty="0"/>
              <a:t>|  Tariff Liberalization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5F9E-19E8-89BF-704F-804CCCCB8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Eliminate all import tariffs (i.e., -100% in 2020)</a:t>
            </a:r>
            <a:endParaRPr lang="en-US" sz="2200" dirty="0">
              <a:solidFill>
                <a:srgbClr val="C00000"/>
              </a:solidFill>
            </a:endParaRPr>
          </a:p>
          <a:p>
            <a:endParaRPr lang="en-US" sz="1000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fixed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b="1" dirty="0"/>
              <a:t>Sim 1: </a:t>
            </a:r>
            <a:r>
              <a:rPr lang="en-US" dirty="0"/>
              <a:t>Flexible government savings 	Labor fully employed </a:t>
            </a:r>
          </a:p>
          <a:p>
            <a:pPr lvl="1"/>
            <a:r>
              <a:rPr lang="en-US" b="1" dirty="0"/>
              <a:t>Sim 2: </a:t>
            </a:r>
            <a:r>
              <a:rPr lang="en-US" dirty="0"/>
              <a:t>Flexible government savings	Less educated workers unemployed (rural + urban)</a:t>
            </a:r>
          </a:p>
          <a:p>
            <a:pPr lvl="1"/>
            <a:r>
              <a:rPr lang="en-US" b="1" dirty="0"/>
              <a:t>Sim 3: </a:t>
            </a:r>
            <a:r>
              <a:rPr lang="en-US" dirty="0"/>
              <a:t>Flexible direct taxes (scaled) 	Less educated workers unemployed (rural + urban)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687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C843-CF52-B2A6-C6EB-4053AA3F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1BE2A-E7A8-3105-0885-0B8B733C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7  </a:t>
            </a:r>
            <a:r>
              <a:rPr lang="en-US" b="0" dirty="0"/>
              <a:t>|  Climate 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3E9D-6721-D86C-CD3B-CB01495FF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Reduce crop yields (-1% TFP growth per year until 2035)</a:t>
            </a:r>
          </a:p>
          <a:p>
            <a:pPr lvl="1"/>
            <a:r>
              <a:rPr lang="en-US" dirty="0"/>
              <a:t>Reduce hydropower production (-1% growth per year until 2025 in electricity sectors)</a:t>
            </a:r>
          </a:p>
          <a:p>
            <a:pPr lvl="1"/>
            <a:r>
              <a:rPr lang="en-US" dirty="0"/>
              <a:t>Reduce labor productivity (-0.25% growth per year until 2035 in agriculture and construction) </a:t>
            </a:r>
          </a:p>
          <a:p>
            <a:endParaRPr lang="en-US" b="1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fixed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dirty="0"/>
              <a:t>Identify 2+ policies that the government could introduce to mitigate impacts  on worst affected sectors and/or households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9074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FE4F-0150-A52E-0374-057AD117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835F-6099-C943-9336-E7F5F041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8  </a:t>
            </a:r>
            <a:r>
              <a:rPr lang="en-US" b="0" dirty="0"/>
              <a:t>|  Global Market Crisis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4FD6-30D3-10D6-11A0-2A3B18E75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Increase world food prices (+25% cereals and oilseed prices per year in 2026 and 2027)</a:t>
            </a:r>
          </a:p>
          <a:p>
            <a:pPr lvl="1"/>
            <a:r>
              <a:rPr lang="en-US" dirty="0"/>
              <a:t>Increase world fuel and fertilizer prices (+50% chemicals price per year in 2026 and 2027)</a:t>
            </a:r>
          </a:p>
          <a:p>
            <a:endParaRPr lang="en-US" b="1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fixed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dirty="0"/>
              <a:t>Identify 2+ policies that the government could introduce to mitigate impacts  on worst affected sectors and/or households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9251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B093-80D6-E8B1-54F0-292C210B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2318-65CA-FF0E-4EB9-96894411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  </a:t>
            </a:r>
            <a:r>
              <a:rPr lang="en-US" b="0" dirty="0"/>
              <a:t>|  US Import Restrictions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BDE3-4D25-1137-99FF-47D76E9A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Increase US tariff rates to 50% on all products exported to US market</a:t>
            </a:r>
          </a:p>
          <a:p>
            <a:pPr lvl="1"/>
            <a:r>
              <a:rPr lang="en-US" b="1" dirty="0"/>
              <a:t>Note</a:t>
            </a:r>
            <a:r>
              <a:rPr lang="en-US" dirty="0"/>
              <a:t>: You need to do some background analysis to isolate US trade from trade with other countries</a:t>
            </a:r>
          </a:p>
          <a:p>
            <a:endParaRPr lang="en-US" b="1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fixed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b="1" dirty="0"/>
              <a:t>Retaliation</a:t>
            </a:r>
            <a:r>
              <a:rPr lang="en-US" dirty="0"/>
              <a:t>: Increase own tariffs to 50% on all products imported from the US market</a:t>
            </a:r>
          </a:p>
          <a:p>
            <a:pPr lvl="1"/>
            <a:r>
              <a:rPr lang="en-US" dirty="0"/>
              <a:t>Identify 2+ </a:t>
            </a:r>
            <a:r>
              <a:rPr lang="en-US" u="sng" dirty="0"/>
              <a:t>alternative</a:t>
            </a:r>
            <a:r>
              <a:rPr lang="en-US" dirty="0"/>
              <a:t> policies that the government could introduce to mitigate impacts  on worst affected sectors and/or households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604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8D58-510C-5DE7-5129-FB39C0B8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8BBF-FE2F-4610-0FD5-40AEDD598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12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Microsimulation Module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4F62D8EC-9855-AA79-222E-BBE0DC75C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888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4B26-DB1E-1AD3-3ACD-DCACFDBF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Microsimulation  </a:t>
            </a:r>
            <a:r>
              <a:rPr lang="en-US" b="0" dirty="0"/>
              <a:t>|  Linking to Survey Households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6178-40C2-12B1-D33B-3394BDAD8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56" y="1253447"/>
            <a:ext cx="11505996" cy="1571946"/>
          </a:xfrm>
        </p:spPr>
        <p:txBody>
          <a:bodyPr>
            <a:normAutofit/>
          </a:bodyPr>
          <a:lstStyle/>
          <a:p>
            <a:r>
              <a:rPr lang="en-US" sz="2400" dirty="0"/>
              <a:t>Each household in the CGE model represents a group of individual households in the household survey (like survey weights)</a:t>
            </a:r>
          </a:p>
          <a:p>
            <a:r>
              <a:rPr lang="en-US" sz="100" dirty="0"/>
              <a:t>[</a:t>
            </a:r>
          </a:p>
          <a:p>
            <a:r>
              <a:rPr lang="en-US" sz="2400" dirty="0"/>
              <a:t>Each CGE household is linked to its corresponding survey households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D8F34-3DA1-0C2B-DF81-2760B2390918}"/>
              </a:ext>
            </a:extLst>
          </p:cNvPr>
          <p:cNvSpPr txBox="1"/>
          <p:nvPr/>
        </p:nvSpPr>
        <p:spPr bwMode="auto">
          <a:xfrm>
            <a:off x="3384005" y="4312928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household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A7B94-2511-74D3-E046-7E45DC7E945D}"/>
              </a:ext>
            </a:extLst>
          </p:cNvPr>
          <p:cNvSpPr txBox="1"/>
          <p:nvPr/>
        </p:nvSpPr>
        <p:spPr bwMode="auto">
          <a:xfrm>
            <a:off x="3384005" y="3121271"/>
            <a:ext cx="2286000" cy="64633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CGE household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RURAL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2FFE75-2821-E8D0-8DE5-743C7BD5191E}"/>
              </a:ext>
            </a:extLst>
          </p:cNvPr>
          <p:cNvCxnSpPr>
            <a:stCxn id="5" idx="2"/>
            <a:endCxn id="4" idx="0"/>
          </p:cNvCxnSpPr>
          <p:nvPr/>
        </p:nvCxnSpPr>
        <p:spPr bwMode="auto">
          <a:xfrm>
            <a:off x="4527005" y="3767602"/>
            <a:ext cx="0" cy="545326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0AEE5A-6455-4A19-1F9F-7AD737311041}"/>
              </a:ext>
            </a:extLst>
          </p:cNvPr>
          <p:cNvSpPr txBox="1"/>
          <p:nvPr/>
        </p:nvSpPr>
        <p:spPr bwMode="auto">
          <a:xfrm>
            <a:off x="3384005" y="4782054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EDF30-876E-BC40-1DB4-68364FB933B8}"/>
              </a:ext>
            </a:extLst>
          </p:cNvPr>
          <p:cNvSpPr txBox="1"/>
          <p:nvPr/>
        </p:nvSpPr>
        <p:spPr bwMode="auto">
          <a:xfrm>
            <a:off x="3384005" y="5249983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AB557-1DDD-4873-2021-C9399C57AB4D}"/>
              </a:ext>
            </a:extLst>
          </p:cNvPr>
          <p:cNvSpPr txBox="1"/>
          <p:nvPr/>
        </p:nvSpPr>
        <p:spPr bwMode="auto">
          <a:xfrm>
            <a:off x="3384005" y="5717912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80D21-FA3F-9759-6D4C-B186F1B630E5}"/>
              </a:ext>
            </a:extLst>
          </p:cNvPr>
          <p:cNvSpPr txBox="1"/>
          <p:nvPr/>
        </p:nvSpPr>
        <p:spPr bwMode="auto">
          <a:xfrm>
            <a:off x="5948480" y="3121271"/>
            <a:ext cx="2285999" cy="64633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CGE household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Urban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1E12B9-439D-C060-B137-9BD548D261C6}"/>
              </a:ext>
            </a:extLst>
          </p:cNvPr>
          <p:cNvCxnSpPr>
            <a:stCxn id="10" idx="2"/>
            <a:endCxn id="12" idx="0"/>
          </p:cNvCxnSpPr>
          <p:nvPr/>
        </p:nvCxnSpPr>
        <p:spPr bwMode="auto">
          <a:xfrm>
            <a:off x="7091480" y="3767602"/>
            <a:ext cx="0" cy="545325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FEB5AA-466D-A26B-3154-C200FF9F9D24}"/>
              </a:ext>
            </a:extLst>
          </p:cNvPr>
          <p:cNvSpPr txBox="1"/>
          <p:nvPr/>
        </p:nvSpPr>
        <p:spPr bwMode="auto">
          <a:xfrm>
            <a:off x="5948480" y="4312927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household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F4E5B-8BCE-4F05-E84B-BE09AC0B7BE7}"/>
              </a:ext>
            </a:extLst>
          </p:cNvPr>
          <p:cNvSpPr txBox="1"/>
          <p:nvPr/>
        </p:nvSpPr>
        <p:spPr bwMode="auto">
          <a:xfrm>
            <a:off x="5948480" y="4782053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6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C6677-78E1-74D6-1499-E269225968C2}"/>
              </a:ext>
            </a:extLst>
          </p:cNvPr>
          <p:cNvSpPr txBox="1"/>
          <p:nvPr/>
        </p:nvSpPr>
        <p:spPr bwMode="auto">
          <a:xfrm>
            <a:off x="5948480" y="5249982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7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FD5320-4C53-08B9-4606-1D0EB0332721}"/>
              </a:ext>
            </a:extLst>
          </p:cNvPr>
          <p:cNvSpPr txBox="1"/>
          <p:nvPr/>
        </p:nvSpPr>
        <p:spPr bwMode="auto">
          <a:xfrm>
            <a:off x="5948480" y="5717911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8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248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B5AA-4CE8-1E90-B18A-C3E1985E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Microsimulation  </a:t>
            </a:r>
            <a:r>
              <a:rPr lang="en-US" b="0" dirty="0"/>
              <a:t>|  Tracking Household Level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099B-1CB8-9ABF-D889-64E39270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24" y="1295922"/>
            <a:ext cx="5242162" cy="4266156"/>
          </a:xfrm>
        </p:spPr>
        <p:txBody>
          <a:bodyPr>
            <a:normAutofit/>
          </a:bodyPr>
          <a:lstStyle/>
          <a:p>
            <a:r>
              <a:rPr lang="en-US" sz="2400" b="1" dirty="0"/>
              <a:t>Pass down changes in key variables from CGE model to survey</a:t>
            </a:r>
          </a:p>
          <a:p>
            <a:pPr lvl="1"/>
            <a:r>
              <a:rPr lang="en-US" sz="2200" dirty="0"/>
              <a:t>Recalculate per capita expenditures for survey households</a:t>
            </a:r>
          </a:p>
          <a:p>
            <a:endParaRPr lang="en-US" sz="2400" dirty="0"/>
          </a:p>
          <a:p>
            <a:r>
              <a:rPr lang="en-US" sz="2400" b="1" dirty="0"/>
              <a:t>Some microsimulation models estimate who loses or gains a job </a:t>
            </a:r>
          </a:p>
          <a:p>
            <a:pPr lvl="1"/>
            <a:r>
              <a:rPr lang="en-US" sz="2200" dirty="0"/>
              <a:t>e.g., Occupational choice models</a:t>
            </a:r>
          </a:p>
          <a:p>
            <a:pPr lvl="1"/>
            <a:r>
              <a:rPr lang="en-US" sz="2200" dirty="0"/>
              <a:t>Some also pass information back up to the CGE model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981B8-56CA-68A3-0B83-D9DA26517B74}"/>
              </a:ext>
            </a:extLst>
          </p:cNvPr>
          <p:cNvSpPr txBox="1"/>
          <p:nvPr/>
        </p:nvSpPr>
        <p:spPr bwMode="auto">
          <a:xfrm>
            <a:off x="7867653" y="4091690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Household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9BDD7-1677-8E26-2A28-B2D1EEF4B80F}"/>
              </a:ext>
            </a:extLst>
          </p:cNvPr>
          <p:cNvSpPr txBox="1"/>
          <p:nvPr/>
        </p:nvSpPr>
        <p:spPr bwMode="auto">
          <a:xfrm>
            <a:off x="7867653" y="1844046"/>
            <a:ext cx="2286000" cy="369332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CGE model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D26AD-9E4C-2C0B-9F14-2A7A9F1364E0}"/>
              </a:ext>
            </a:extLst>
          </p:cNvPr>
          <p:cNvCxnSpPr>
            <a:stCxn id="5" idx="2"/>
            <a:endCxn id="4" idx="0"/>
          </p:cNvCxnSpPr>
          <p:nvPr/>
        </p:nvCxnSpPr>
        <p:spPr bwMode="auto">
          <a:xfrm>
            <a:off x="9010653" y="2213378"/>
            <a:ext cx="0" cy="1878312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47">
            <a:extLst>
              <a:ext uri="{FF2B5EF4-FFF2-40B4-BE49-F238E27FC236}">
                <a16:creationId xmlns:a16="http://schemas.microsoft.com/office/drawing/2014/main" id="{6225F0E3-FCEF-2149-CA5A-70685EC30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1216" y="2552369"/>
            <a:ext cx="2372203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r">
              <a:spcBef>
                <a:spcPct val="0"/>
              </a:spcBef>
            </a:pPr>
            <a:r>
              <a:rPr lang="en-US" dirty="0"/>
              <a:t>Employment levels </a:t>
            </a:r>
          </a:p>
          <a:p>
            <a:pPr marL="342900" indent="-342900" algn="r">
              <a:spcBef>
                <a:spcPct val="0"/>
              </a:spcBef>
            </a:pPr>
            <a:r>
              <a:rPr lang="en-US" dirty="0"/>
              <a:t>Factor incomes</a:t>
            </a:r>
          </a:p>
          <a:p>
            <a:pPr marL="342900" indent="-342900" algn="r">
              <a:spcBef>
                <a:spcPct val="0"/>
              </a:spcBef>
            </a:pPr>
            <a:r>
              <a:rPr lang="en-US" sz="1800" dirty="0"/>
              <a:t>Commodity prices</a:t>
            </a:r>
          </a:p>
          <a:p>
            <a:pPr marL="342900" indent="-342900" algn="r">
              <a:spcBef>
                <a:spcPct val="0"/>
              </a:spcBef>
            </a:pPr>
            <a:r>
              <a:rPr lang="en-US" dirty="0"/>
              <a:t>Consumption levels</a:t>
            </a:r>
            <a:endParaRPr lang="en-US" sz="1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B2EDBA-0632-1771-766A-4D02DE8D9332}"/>
              </a:ext>
            </a:extLst>
          </p:cNvPr>
          <p:cNvCxnSpPr>
            <a:cxnSpLocks/>
          </p:cNvCxnSpPr>
          <p:nvPr/>
        </p:nvCxnSpPr>
        <p:spPr bwMode="auto">
          <a:xfrm>
            <a:off x="9205121" y="2213378"/>
            <a:ext cx="0" cy="1878312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dash"/>
            <a:headEnd type="triangle" w="lg" len="med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3345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77A0-C56B-1242-C1AE-40BBDA28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 </a:t>
            </a:r>
            <a:r>
              <a:rPr lang="en-US" b="0" dirty="0"/>
              <a:t>|  Poverty and Diet Module</a:t>
            </a:r>
            <a:endParaRPr lang="en-US" dirty="0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FB3F2355-9EB5-5782-88D4-370E49D67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Outputs from the CGE model</a:t>
            </a:r>
          </a:p>
          <a:p>
            <a:pPr lvl="1"/>
            <a:r>
              <a:rPr lang="en-US" dirty="0"/>
              <a:t>Change in real consumption levels for each commodity group for each representative household group</a:t>
            </a:r>
          </a:p>
          <a:p>
            <a:pPr lvl="1"/>
            <a:r>
              <a:rPr lang="en-US" dirty="0"/>
              <a:t>Change in real commodity prices for each commodity group</a:t>
            </a:r>
          </a:p>
          <a:p>
            <a:endParaRPr lang="en-US" sz="100" dirty="0"/>
          </a:p>
          <a:p>
            <a:r>
              <a:rPr lang="en-US" b="1" dirty="0"/>
              <a:t>Inputs in the poverty-diet module</a:t>
            </a:r>
          </a:p>
          <a:p>
            <a:pPr lvl="1"/>
            <a:r>
              <a:rPr lang="en-US" dirty="0"/>
              <a:t>Mapping between model and survey households/commodities (with survey weights)</a:t>
            </a:r>
          </a:p>
          <a:p>
            <a:pPr lvl="1"/>
            <a:r>
              <a:rPr lang="en-US" dirty="0"/>
              <a:t>Base year estimates of </a:t>
            </a:r>
            <a:r>
              <a:rPr lang="en-US" u="sng" dirty="0"/>
              <a:t>latent</a:t>
            </a:r>
            <a:r>
              <a:rPr lang="en-US" dirty="0"/>
              <a:t> consumption levels for each commodity group for each survey household</a:t>
            </a:r>
          </a:p>
          <a:p>
            <a:pPr lvl="1"/>
            <a:r>
              <a:rPr lang="en-US" dirty="0"/>
              <a:t>Poverty line </a:t>
            </a:r>
          </a:p>
          <a:p>
            <a:pPr lvl="1"/>
            <a:r>
              <a:rPr lang="en-US" dirty="0"/>
              <a:t>Cost of a reference healthy diet (i.e., minimum consumption required in each major food group)</a:t>
            </a:r>
          </a:p>
          <a:p>
            <a:pPr lvl="1"/>
            <a:endParaRPr lang="en-US" sz="100" dirty="0"/>
          </a:p>
          <a:p>
            <a:r>
              <a:rPr lang="en-US" b="1" dirty="0"/>
              <a:t>Outputs from the poverty-diet module</a:t>
            </a:r>
          </a:p>
          <a:p>
            <a:pPr lvl="1"/>
            <a:r>
              <a:rPr lang="en-US" dirty="0"/>
              <a:t>Poverty</a:t>
            </a:r>
          </a:p>
          <a:p>
            <a:pPr lvl="1"/>
            <a:r>
              <a:rPr lang="en-US" dirty="0"/>
              <a:t>Inequality </a:t>
            </a:r>
          </a:p>
          <a:p>
            <a:pPr lvl="1"/>
            <a:r>
              <a:rPr lang="en-US" dirty="0"/>
              <a:t>Undernourishment</a:t>
            </a:r>
          </a:p>
          <a:p>
            <a:pPr lvl="1"/>
            <a:r>
              <a:rPr lang="en-US" dirty="0"/>
              <a:t>Cost of a healthy diet</a:t>
            </a:r>
          </a:p>
          <a:p>
            <a:pPr lvl="1"/>
            <a:r>
              <a:rPr lang="en-US" dirty="0"/>
              <a:t>Diet quality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2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FA24-E37D-5796-13C9-2909DC30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 </a:t>
            </a:r>
            <a:r>
              <a:rPr lang="en-US" b="0" dirty="0"/>
              <a:t>|  Outcome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FFC6F-9493-F8CA-7992-30D6D8CFD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PTAB : Poverty</a:t>
            </a:r>
          </a:p>
          <a:p>
            <a:pPr lvl="1"/>
            <a:r>
              <a:rPr lang="en-US" dirty="0"/>
              <a:t>Poverty headcount and gap measures (i.e., rates and number of poor people)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1800" dirty="0">
                <a:solidFill>
                  <a:srgbClr val="C00000"/>
                </a:solidFill>
              </a:rPr>
              <a:t>Total consumption for each survey household is updated and compared to the poverty line</a:t>
            </a:r>
            <a:endParaRPr lang="en-US" dirty="0">
              <a:solidFill>
                <a:srgbClr val="C00000"/>
              </a:solidFill>
            </a:endParaRPr>
          </a:p>
          <a:p>
            <a:endParaRPr lang="en-US" sz="100" dirty="0"/>
          </a:p>
          <a:p>
            <a:r>
              <a:rPr lang="en-US" b="1" dirty="0"/>
              <a:t>ITAB : Inequality </a:t>
            </a:r>
          </a:p>
          <a:p>
            <a:pPr lvl="1"/>
            <a:r>
              <a:rPr lang="en-US" dirty="0"/>
              <a:t>Thiel index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1800" dirty="0">
                <a:solidFill>
                  <a:srgbClr val="C00000"/>
                </a:solidFill>
              </a:rPr>
              <a:t>Total consumption for each survey household is updated and used to calculate index</a:t>
            </a:r>
          </a:p>
          <a:p>
            <a:endParaRPr lang="en-US" sz="100" dirty="0"/>
          </a:p>
          <a:p>
            <a:r>
              <a:rPr lang="en-US" b="1" dirty="0"/>
              <a:t>HTAB : Undernourishment</a:t>
            </a:r>
          </a:p>
          <a:p>
            <a:pPr lvl="1"/>
            <a:r>
              <a:rPr lang="en-US" dirty="0"/>
              <a:t>Prevalence of undernourishment (</a:t>
            </a:r>
            <a:r>
              <a:rPr lang="en-US" dirty="0" err="1"/>
              <a:t>PoU</a:t>
            </a:r>
            <a:r>
              <a:rPr lang="en-US" dirty="0"/>
              <a:t>) ≈ Hunger headcount (rate and hungry people)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1800" dirty="0">
                <a:solidFill>
                  <a:srgbClr val="C00000"/>
                </a:solidFill>
              </a:rPr>
              <a:t>Consumption by food group is converted to calories and compared to FAO’s minimum daily calorie requirement</a:t>
            </a:r>
            <a:endParaRPr lang="en-US" dirty="0">
              <a:solidFill>
                <a:srgbClr val="C00000"/>
              </a:solidFill>
            </a:endParaRPr>
          </a:p>
          <a:p>
            <a:endParaRPr lang="en-US" sz="100" dirty="0"/>
          </a:p>
          <a:p>
            <a:r>
              <a:rPr lang="en-US" b="1" dirty="0"/>
              <a:t>CTAB : Cost of a healthy diet</a:t>
            </a:r>
          </a:p>
          <a:p>
            <a:pPr lvl="1"/>
            <a:r>
              <a:rPr lang="en-US" dirty="0"/>
              <a:t>Real cost of a healthy reference diet (total and by major food group)</a:t>
            </a:r>
          </a:p>
          <a:p>
            <a:endParaRPr lang="en-US" sz="100" dirty="0"/>
          </a:p>
          <a:p>
            <a:r>
              <a:rPr lang="en-US" b="1" dirty="0"/>
              <a:t>DTAB : Diet quality </a:t>
            </a:r>
          </a:p>
          <a:p>
            <a:pPr lvl="1"/>
            <a:r>
              <a:rPr lang="en-US" dirty="0"/>
              <a:t>Reference Diet Deprivation (</a:t>
            </a:r>
            <a:r>
              <a:rPr lang="en-US" dirty="0" err="1"/>
              <a:t>ReDD</a:t>
            </a:r>
            <a:r>
              <a:rPr lang="en-US" dirty="0"/>
              <a:t>) index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708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FB35-9F21-51E5-8B14-B5405DCB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 </a:t>
            </a:r>
            <a:r>
              <a:rPr lang="en-US" b="0" dirty="0"/>
              <a:t>|  Tracking Diet Costs and 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39D36-25A7-C10D-769E-C5C0F77A4B15}"/>
              </a:ext>
            </a:extLst>
          </p:cNvPr>
          <p:cNvSpPr/>
          <p:nvPr/>
        </p:nvSpPr>
        <p:spPr>
          <a:xfrm>
            <a:off x="4540250" y="1044264"/>
            <a:ext cx="7340465" cy="56232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34979-9DEA-BCE8-2253-FC09FC13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749" y="1050938"/>
            <a:ext cx="3658292" cy="2138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BAA7B-128D-0736-D6F4-47EEC9312CF9}"/>
              </a:ext>
            </a:extLst>
          </p:cNvPr>
          <p:cNvSpPr txBox="1"/>
          <p:nvPr/>
        </p:nvSpPr>
        <p:spPr>
          <a:xfrm>
            <a:off x="4598912" y="1070960"/>
            <a:ext cx="5453027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400" b="1" dirty="0"/>
              <a:t>ReDD </a:t>
            </a:r>
            <a:r>
              <a:rPr lang="en-US" sz="2000" dirty="0"/>
              <a:t>| Reference Diet Deprivation Index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D1147D-F877-7E25-2EAF-B7592C969313}"/>
              </a:ext>
            </a:extLst>
          </p:cNvPr>
          <p:cNvGrpSpPr/>
          <p:nvPr/>
        </p:nvGrpSpPr>
        <p:grpSpPr>
          <a:xfrm>
            <a:off x="4598912" y="1989740"/>
            <a:ext cx="3707378" cy="4385282"/>
            <a:chOff x="4293140" y="2120163"/>
            <a:chExt cx="3707378" cy="438528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77BBFA-BE05-D5C8-1ACA-3311C76ADDF4}"/>
                </a:ext>
              </a:extLst>
            </p:cNvPr>
            <p:cNvSpPr/>
            <p:nvPr/>
          </p:nvSpPr>
          <p:spPr>
            <a:xfrm>
              <a:off x="5493960" y="2136811"/>
              <a:ext cx="1201401" cy="1182391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C0DBAAB-E0EC-D8F0-CBA3-4B3AF4D3490E}"/>
                </a:ext>
              </a:extLst>
            </p:cNvPr>
            <p:cNvSpPr/>
            <p:nvPr/>
          </p:nvSpPr>
          <p:spPr>
            <a:xfrm>
              <a:off x="6464918" y="3538799"/>
              <a:ext cx="1201401" cy="1182391"/>
            </a:xfrm>
            <a:prstGeom prst="ellipse">
              <a:avLst/>
            </a:prstGeom>
            <a:solidFill>
              <a:srgbClr val="D97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B0F94C-D2CB-55F8-2B33-11A54194F630}"/>
                </a:ext>
              </a:extLst>
            </p:cNvPr>
            <p:cNvSpPr/>
            <p:nvPr/>
          </p:nvSpPr>
          <p:spPr>
            <a:xfrm>
              <a:off x="5489482" y="4934591"/>
              <a:ext cx="1201401" cy="1182391"/>
            </a:xfrm>
            <a:prstGeom prst="ellipse">
              <a:avLst/>
            </a:prstGeom>
            <a:solidFill>
              <a:srgbClr val="C34E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7850EB66-3615-BDB9-F181-98882A584C3F}"/>
                </a:ext>
              </a:extLst>
            </p:cNvPr>
            <p:cNvSpPr/>
            <p:nvPr/>
          </p:nvSpPr>
          <p:spPr>
            <a:xfrm>
              <a:off x="6221475" y="2734202"/>
              <a:ext cx="844144" cy="1403521"/>
            </a:xfrm>
            <a:prstGeom prst="arc">
              <a:avLst/>
            </a:prstGeom>
            <a:ln w="31750">
              <a:solidFill>
                <a:srgbClr val="59595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58F84EFE-5902-28BA-0A24-93BB147F1665}"/>
                </a:ext>
              </a:extLst>
            </p:cNvPr>
            <p:cNvSpPr/>
            <p:nvPr/>
          </p:nvSpPr>
          <p:spPr>
            <a:xfrm flipH="1">
              <a:off x="6042845" y="4162068"/>
              <a:ext cx="844145" cy="1403521"/>
            </a:xfrm>
            <a:prstGeom prst="arc">
              <a:avLst/>
            </a:prstGeom>
            <a:ln w="31750">
              <a:solidFill>
                <a:srgbClr val="D9785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823B21DC-A344-B6E5-5C39-CE938C80A992}"/>
                </a:ext>
              </a:extLst>
            </p:cNvPr>
            <p:cNvSpPr/>
            <p:nvPr/>
          </p:nvSpPr>
          <p:spPr>
            <a:xfrm rot="20259413" flipH="1">
              <a:off x="5724425" y="2911915"/>
              <a:ext cx="1127011" cy="3593530"/>
            </a:xfrm>
            <a:prstGeom prst="arc">
              <a:avLst/>
            </a:prstGeom>
            <a:ln w="31750">
              <a:solidFill>
                <a:srgbClr val="59595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ABCD519-3DB1-1C41-4B74-DCE35BEF502A}"/>
                </a:ext>
              </a:extLst>
            </p:cNvPr>
            <p:cNvSpPr txBox="1"/>
            <p:nvPr/>
          </p:nvSpPr>
          <p:spPr>
            <a:xfrm>
              <a:off x="5549551" y="2493198"/>
              <a:ext cx="10812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2F2F2"/>
                  </a:solidFill>
                </a:rPr>
                <a:t>RIAPA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DDD7AA-30FA-C0AE-5398-EC22758B2A64}"/>
                </a:ext>
              </a:extLst>
            </p:cNvPr>
            <p:cNvSpPr txBox="1"/>
            <p:nvPr/>
          </p:nvSpPr>
          <p:spPr>
            <a:xfrm>
              <a:off x="6524987" y="3831588"/>
              <a:ext cx="108126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2F2F2"/>
                  </a:solidFill>
                </a:rPr>
                <a:t>CoRD</a:t>
              </a:r>
            </a:p>
            <a:p>
              <a:pPr algn="ctr"/>
              <a:r>
                <a:rPr lang="en-US" sz="900" dirty="0">
                  <a:solidFill>
                    <a:srgbClr val="F2F2F2"/>
                  </a:solidFill>
                </a:rPr>
                <a:t>EAT-Lancet </a:t>
              </a:r>
            </a:p>
            <a:p>
              <a:pPr algn="ctr"/>
              <a:r>
                <a:rPr lang="en-US" sz="900" dirty="0">
                  <a:solidFill>
                    <a:srgbClr val="F2F2F2"/>
                  </a:solidFill>
                </a:rPr>
                <a:t>WB ICP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BF5E0C-1371-9D4A-BAAD-D5DD8E38795C}"/>
                </a:ext>
              </a:extLst>
            </p:cNvPr>
            <p:cNvSpPr txBox="1"/>
            <p:nvPr/>
          </p:nvSpPr>
          <p:spPr>
            <a:xfrm>
              <a:off x="5549550" y="5263974"/>
              <a:ext cx="108126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2F2F2"/>
                  </a:solidFill>
                </a:rPr>
                <a:t>ReDD</a:t>
              </a:r>
            </a:p>
            <a:p>
              <a:pPr algn="ctr"/>
              <a:r>
                <a:rPr lang="en-US" sz="900" dirty="0">
                  <a:solidFill>
                    <a:srgbClr val="F2F2F2"/>
                  </a:solidFill>
                </a:rPr>
                <a:t>LSMS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4B05D5-B288-0ABF-6153-65BBC41B7704}"/>
                </a:ext>
              </a:extLst>
            </p:cNvPr>
            <p:cNvSpPr/>
            <p:nvPr/>
          </p:nvSpPr>
          <p:spPr>
            <a:xfrm rot="19478989">
              <a:off x="6570488" y="3876110"/>
              <a:ext cx="123799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1100" b="1" cap="none" spc="0" dirty="0">
                  <a:ln w="0"/>
                  <a:solidFill>
                    <a:srgbClr val="D9785D"/>
                  </a:solidFill>
                  <a:effectLst/>
                </a:rPr>
                <a:t>Cost of Reference Diet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4B02E6E-16AF-08F8-C7DE-946740389F45}"/>
                </a:ext>
              </a:extLst>
            </p:cNvPr>
            <p:cNvSpPr/>
            <p:nvPr/>
          </p:nvSpPr>
          <p:spPr>
            <a:xfrm rot="20126085">
              <a:off x="5555335" y="5271425"/>
              <a:ext cx="123799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1100" b="1" cap="none" spc="0" dirty="0">
                  <a:ln w="0"/>
                  <a:solidFill>
                    <a:srgbClr val="C34E2D"/>
                  </a:solidFill>
                  <a:effectLst/>
                </a:rPr>
                <a:t>Diet Deprivation Index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D241665-EAF5-E1E0-5FC0-1FC053355CE5}"/>
                </a:ext>
              </a:extLst>
            </p:cNvPr>
            <p:cNvSpPr/>
            <p:nvPr/>
          </p:nvSpPr>
          <p:spPr>
            <a:xfrm rot="18951045">
              <a:off x="5343002" y="2120163"/>
              <a:ext cx="1155639" cy="9039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100" b="1" cap="none" spc="0" dirty="0">
                  <a:ln w="0"/>
                  <a:solidFill>
                    <a:srgbClr val="595959"/>
                  </a:solidFill>
                  <a:effectLst/>
                </a:rPr>
                <a:t>Economywide model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4AEA01-9DF1-9621-3D04-BAFFB857E8A4}"/>
                </a:ext>
              </a:extLst>
            </p:cNvPr>
            <p:cNvSpPr txBox="1"/>
            <p:nvPr/>
          </p:nvSpPr>
          <p:spPr>
            <a:xfrm>
              <a:off x="4293140" y="3652621"/>
              <a:ext cx="11296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95959"/>
                  </a:solidFill>
                </a:rPr>
                <a:t>Consumption amounts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200461-E342-A597-1A3A-D1D570C13DE2}"/>
                </a:ext>
              </a:extLst>
            </p:cNvPr>
            <p:cNvSpPr txBox="1"/>
            <p:nvPr/>
          </p:nvSpPr>
          <p:spPr>
            <a:xfrm>
              <a:off x="6983832" y="2601758"/>
              <a:ext cx="1016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595959"/>
                  </a:solidFill>
                </a:rPr>
                <a:t>Price changes</a:t>
              </a:r>
            </a:p>
          </p:txBody>
        </p:sp>
      </p:grp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1FAC28EA-D57A-844F-AEE9-082412DB3E33}"/>
              </a:ext>
            </a:extLst>
          </p:cNvPr>
          <p:cNvGraphicFramePr>
            <a:graphicFrameLocks/>
          </p:cNvGraphicFramePr>
          <p:nvPr/>
        </p:nvGraphicFramePr>
        <p:xfrm>
          <a:off x="8411863" y="3329936"/>
          <a:ext cx="3022943" cy="3305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94524E2-7C8A-3397-5162-67B36701BC93}"/>
              </a:ext>
            </a:extLst>
          </p:cNvPr>
          <p:cNvSpPr txBox="1"/>
          <p:nvPr/>
        </p:nvSpPr>
        <p:spPr>
          <a:xfrm>
            <a:off x="8525876" y="2947145"/>
            <a:ext cx="2912267" cy="46935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b="1" dirty="0"/>
              <a:t>National ReDD indices</a:t>
            </a:r>
          </a:p>
          <a:p>
            <a:r>
              <a:rPr lang="en-US" sz="1000" dirty="0"/>
              <a:t>Deprivation gap decomposed by major food group</a:t>
            </a:r>
            <a:endParaRPr 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CA97E7-04EA-AEEC-C29B-8347AFC1010F}"/>
              </a:ext>
            </a:extLst>
          </p:cNvPr>
          <p:cNvSpPr txBox="1"/>
          <p:nvPr/>
        </p:nvSpPr>
        <p:spPr>
          <a:xfrm>
            <a:off x="8622332" y="5548342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2015/16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12A099-1221-76F2-CCC8-F0B6E38A3D1D}"/>
              </a:ext>
            </a:extLst>
          </p:cNvPr>
          <p:cNvSpPr txBox="1"/>
          <p:nvPr/>
        </p:nvSpPr>
        <p:spPr>
          <a:xfrm>
            <a:off x="8624724" y="4142796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2015/16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06A39A-6505-34BA-A4C0-37CFBFE934C9}"/>
              </a:ext>
            </a:extLst>
          </p:cNvPr>
          <p:cNvSpPr txBox="1"/>
          <p:nvPr/>
        </p:nvSpPr>
        <p:spPr>
          <a:xfrm>
            <a:off x="8624724" y="5260769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2016/17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0B60B5-4BA9-45B5-BF8E-C79CEF203BFF}"/>
              </a:ext>
            </a:extLst>
          </p:cNvPr>
          <p:cNvSpPr txBox="1"/>
          <p:nvPr/>
        </p:nvSpPr>
        <p:spPr>
          <a:xfrm>
            <a:off x="8622332" y="3855223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2016/17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1635B5-5B77-1602-45DB-D7C26D841B78}"/>
              </a:ext>
            </a:extLst>
          </p:cNvPr>
          <p:cNvSpPr txBox="1"/>
          <p:nvPr/>
        </p:nvSpPr>
        <p:spPr>
          <a:xfrm>
            <a:off x="4544987" y="6388902"/>
            <a:ext cx="19573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See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Pauw et al. (2022)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DE7357-6D01-E0E9-5CA6-0FCA588591CC}"/>
              </a:ext>
            </a:extLst>
          </p:cNvPr>
          <p:cNvSpPr/>
          <p:nvPr/>
        </p:nvSpPr>
        <p:spPr>
          <a:xfrm>
            <a:off x="359183" y="1036925"/>
            <a:ext cx="3830590" cy="390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6BDB8F-D0D7-ED13-6B3C-C19DBD2A903F}"/>
              </a:ext>
            </a:extLst>
          </p:cNvPr>
          <p:cNvSpPr/>
          <p:nvPr/>
        </p:nvSpPr>
        <p:spPr>
          <a:xfrm>
            <a:off x="359183" y="1036928"/>
            <a:ext cx="3830590" cy="3833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676134-84AD-DF9E-9C10-7EFB921E8270}"/>
              </a:ext>
            </a:extLst>
          </p:cNvPr>
          <p:cNvSpPr txBox="1"/>
          <p:nvPr/>
        </p:nvSpPr>
        <p:spPr>
          <a:xfrm>
            <a:off x="359183" y="1050938"/>
            <a:ext cx="383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Factoring diets into decision-making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B3B48D-7FFC-2690-07AD-B51A3AE52225}"/>
              </a:ext>
            </a:extLst>
          </p:cNvPr>
          <p:cNvGrpSpPr/>
          <p:nvPr/>
        </p:nvGrpSpPr>
        <p:grpSpPr>
          <a:xfrm>
            <a:off x="1167165" y="5203413"/>
            <a:ext cx="4218793" cy="1017179"/>
            <a:chOff x="565480" y="4803893"/>
            <a:chExt cx="4218793" cy="101717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743ABCF-2A21-43CD-96C5-6FAAD0FACCA5}"/>
                </a:ext>
              </a:extLst>
            </p:cNvPr>
            <p:cNvSpPr/>
            <p:nvPr/>
          </p:nvSpPr>
          <p:spPr>
            <a:xfrm>
              <a:off x="565480" y="4803893"/>
              <a:ext cx="4218793" cy="10171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6B69FA-3F9E-0C25-E0E6-F8D77D9054B0}"/>
                </a:ext>
              </a:extLst>
            </p:cNvPr>
            <p:cNvSpPr txBox="1"/>
            <p:nvPr/>
          </p:nvSpPr>
          <p:spPr>
            <a:xfrm>
              <a:off x="601981" y="4861560"/>
              <a:ext cx="4173562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ReDD is a compound deprivation measure</a:t>
              </a:r>
            </a:p>
            <a:p>
              <a:pPr>
                <a:tabLst>
                  <a:tab pos="800100" algn="l"/>
                </a:tabLst>
              </a:pPr>
              <a:endParaRPr lang="en-US" sz="200" b="1" dirty="0"/>
            </a:p>
            <a:p>
              <a:pPr>
                <a:tabLst>
                  <a:tab pos="800100" algn="l"/>
                </a:tabLst>
              </a:pPr>
              <a:r>
                <a:rPr lang="en-US" sz="1200" b="1" dirty="0"/>
                <a:t>Incidence</a:t>
              </a:r>
              <a:r>
                <a:rPr lang="en-US" sz="1200" dirty="0"/>
                <a:t>	Share of pop. deprived in at least one food group</a:t>
              </a:r>
            </a:p>
            <a:p>
              <a:pPr>
                <a:tabLst>
                  <a:tab pos="800100" algn="l"/>
                </a:tabLst>
              </a:pPr>
              <a:r>
                <a:rPr lang="en-US" sz="1200" b="1" dirty="0"/>
                <a:t>Breadth	</a:t>
              </a:r>
              <a:r>
                <a:rPr lang="en-US" sz="1200" dirty="0"/>
                <a:t>Number of food groups households are deprived in</a:t>
              </a:r>
              <a:endParaRPr lang="en-US" sz="1200" b="1" dirty="0"/>
            </a:p>
            <a:p>
              <a:pPr>
                <a:tabLst>
                  <a:tab pos="800100" algn="l"/>
                </a:tabLst>
              </a:pPr>
              <a:r>
                <a:rPr lang="en-US" sz="1200" b="1" dirty="0"/>
                <a:t>Depth</a:t>
              </a:r>
              <a:r>
                <a:rPr lang="en-US" sz="1200" dirty="0"/>
                <a:t>	Average six of food consumption gap across groups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D7DAE13-3278-04D9-BC3D-BA38996C1F55}"/>
              </a:ext>
            </a:extLst>
          </p:cNvPr>
          <p:cNvSpPr txBox="1"/>
          <p:nvPr/>
        </p:nvSpPr>
        <p:spPr>
          <a:xfrm>
            <a:off x="427166" y="1531329"/>
            <a:ext cx="359814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/>
              <a:t>Should consider </a:t>
            </a:r>
            <a:r>
              <a:rPr lang="en-US" sz="1400" b="1" dirty="0"/>
              <a:t>dietary change</a:t>
            </a:r>
            <a:r>
              <a:rPr lang="en-US" sz="1400" dirty="0"/>
              <a:t> alongside poverty, jobs and other policy goals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/>
              <a:t>In addition to consumer preferences, diet quality depends on the </a:t>
            </a:r>
            <a:r>
              <a:rPr lang="en-US" sz="1400" b="1" dirty="0"/>
              <a:t>availability, cost, and affordability</a:t>
            </a:r>
            <a:r>
              <a:rPr lang="en-US" sz="1400" dirty="0"/>
              <a:t> of healthy foods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b="1" dirty="0"/>
              <a:t>RIAPA </a:t>
            </a:r>
            <a:r>
              <a:rPr lang="en-US" sz="1400" dirty="0"/>
              <a:t>is a model that tracks both product markets/prices and household incomes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b="1" dirty="0"/>
              <a:t>ReDD index is a gap measure: </a:t>
            </a:r>
            <a:r>
              <a:rPr lang="en-US" sz="1400" dirty="0"/>
              <a:t>tracks how far consumption levels are from a healthy diet, rather than just counting deprived people 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/>
              <a:t>ReDD </a:t>
            </a:r>
            <a:r>
              <a:rPr lang="en-US" sz="1400" b="1" dirty="0"/>
              <a:t>can be tracked over time</a:t>
            </a:r>
            <a:r>
              <a:rPr lang="en-US" sz="1400" dirty="0"/>
              <a:t> using household surveys (not only used in models)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C17EAF-872A-3282-3666-CCCFE1A4EE8C}"/>
              </a:ext>
            </a:extLst>
          </p:cNvPr>
          <p:cNvSpPr/>
          <p:nvPr/>
        </p:nvSpPr>
        <p:spPr>
          <a:xfrm>
            <a:off x="4113694" y="3584181"/>
            <a:ext cx="144061" cy="116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05F829-9851-91FF-DBAA-3503CA32AC59}"/>
              </a:ext>
            </a:extLst>
          </p:cNvPr>
          <p:cNvCxnSpPr>
            <a:cxnSpLocks/>
          </p:cNvCxnSpPr>
          <p:nvPr/>
        </p:nvCxnSpPr>
        <p:spPr>
          <a:xfrm>
            <a:off x="4044718" y="3644251"/>
            <a:ext cx="4004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6F0218-959A-299A-9133-B551A477D828}"/>
              </a:ext>
            </a:extLst>
          </p:cNvPr>
          <p:cNvSpPr txBox="1"/>
          <p:nvPr/>
        </p:nvSpPr>
        <p:spPr>
          <a:xfrm>
            <a:off x="8625348" y="4420781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2014/15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F2F97F-CD62-2375-4586-E61BA8CFD6C8}"/>
              </a:ext>
            </a:extLst>
          </p:cNvPr>
          <p:cNvSpPr txBox="1"/>
          <p:nvPr/>
        </p:nvSpPr>
        <p:spPr>
          <a:xfrm>
            <a:off x="8625351" y="4711687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2011/12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EAA80A-37AA-BF4E-CA39-812045438266}"/>
              </a:ext>
            </a:extLst>
          </p:cNvPr>
          <p:cNvSpPr txBox="1"/>
          <p:nvPr/>
        </p:nvSpPr>
        <p:spPr>
          <a:xfrm>
            <a:off x="8625870" y="4977766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2016/17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4F11C6-1B6B-63E6-0F40-DE0D42E49D38}"/>
              </a:ext>
            </a:extLst>
          </p:cNvPr>
          <p:cNvSpPr txBox="1"/>
          <p:nvPr/>
        </p:nvSpPr>
        <p:spPr>
          <a:xfrm>
            <a:off x="8625751" y="5834372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2010/11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BBF62D-E5A9-5318-F4D9-4CB6228A8336}"/>
              </a:ext>
            </a:extLst>
          </p:cNvPr>
          <p:cNvSpPr txBox="1"/>
          <p:nvPr/>
        </p:nvSpPr>
        <p:spPr>
          <a:xfrm>
            <a:off x="8625751" y="6115640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2016/17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C00D03-8070-302F-D298-E65BC06B924B}"/>
              </a:ext>
            </a:extLst>
          </p:cNvPr>
          <p:cNvSpPr txBox="1"/>
          <p:nvPr/>
        </p:nvSpPr>
        <p:spPr>
          <a:xfrm>
            <a:off x="8620072" y="6398831"/>
            <a:ext cx="6432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chemeClr val="bg1">
                    <a:lumMod val="65000"/>
                  </a:schemeClr>
                </a:solidFill>
              </a:rPr>
              <a:t>2014/15</a:t>
            </a:r>
          </a:p>
        </p:txBody>
      </p:sp>
    </p:spTree>
    <p:extLst>
      <p:ext uri="{BB962C8B-B14F-4D97-AF65-F5344CB8AC3E}">
        <p14:creationId xmlns:p14="http://schemas.microsoft.com/office/powerpoint/2010/main" val="227919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6281</Words>
  <Application>Microsoft Office PowerPoint</Application>
  <PresentationFormat>Widescreen</PresentationFormat>
  <Paragraphs>1415</Paragraphs>
  <Slides>87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Calibri</vt:lpstr>
      <vt:lpstr>Calibri Light</vt:lpstr>
      <vt:lpstr>Cambria Math</vt:lpstr>
      <vt:lpstr>Office Theme</vt:lpstr>
      <vt:lpstr>Equation</vt:lpstr>
      <vt:lpstr>Advanced Course in CGE Modeling Using IFPRI’s Dynamic CGE and Microsimulation Models</vt:lpstr>
      <vt:lpstr>Overview (Parts 8-10)</vt:lpstr>
      <vt:lpstr>Overview</vt:lpstr>
      <vt:lpstr>Part 8  Introduction to GAMS Coding a Multi-Market Model</vt:lpstr>
      <vt:lpstr>What is GAMS?</vt:lpstr>
      <vt:lpstr>Learning GAMS</vt:lpstr>
      <vt:lpstr>Simplest Demand-Supply Model</vt:lpstr>
      <vt:lpstr>Specifying the Demand Curve</vt:lpstr>
      <vt:lpstr>Specifying the Supply Curve</vt:lpstr>
      <vt:lpstr>Mathematical Equations</vt:lpstr>
      <vt:lpstr>Breaking Up the Problem in GAMS</vt:lpstr>
      <vt:lpstr>Exercise 1  |  Simple Model</vt:lpstr>
      <vt:lpstr>Exercise 1  |  Shocking the Model</vt:lpstr>
      <vt:lpstr>Exercise 2  |  Income Elasticities</vt:lpstr>
      <vt:lpstr>Exercise 2  |  Income Elasticities</vt:lpstr>
      <vt:lpstr>Exercise 2  |  Income Elasticities</vt:lpstr>
      <vt:lpstr>Exercise 3  |  Cross-Price Elasticities</vt:lpstr>
      <vt:lpstr>Exercise 3  |  Cross-Price Elasticities</vt:lpstr>
      <vt:lpstr>Exercise 3  |  Cross-Price Elasticities</vt:lpstr>
      <vt:lpstr>Exercise 4  |  Exogenous Imports</vt:lpstr>
      <vt:lpstr>Exercise 4  |  Exogenous Imports</vt:lpstr>
      <vt:lpstr>Exercise 4  |  Exogenous Imports</vt:lpstr>
      <vt:lpstr>Part 8  Introduction to GAMS Walkthrough Standard CGE Model Code</vt:lpstr>
      <vt:lpstr>Tasks</vt:lpstr>
      <vt:lpstr>Standard Model Equations</vt:lpstr>
      <vt:lpstr>Supply Chains  |  From Part 5</vt:lpstr>
      <vt:lpstr>Model’s GAMS Code</vt:lpstr>
      <vt:lpstr>Standard Model’s GAMS Code  |  1model.gms</vt:lpstr>
      <vt:lpstr>Part 9  Advanced Static Modeling Revisiting Elasticities and Closures</vt:lpstr>
      <vt:lpstr>Overview</vt:lpstr>
      <vt:lpstr>Elasticities  |  Functional Forms</vt:lpstr>
      <vt:lpstr>Exercise 1  |  Tariff Liberalization</vt:lpstr>
      <vt:lpstr>Exercise 1  |  Walkthrough</vt:lpstr>
      <vt:lpstr>Exercise 1  |  Files in the Folder</vt:lpstr>
      <vt:lpstr>Exercise 1  |  Changing Import Elasticities</vt:lpstr>
      <vt:lpstr>Exercise 1  |  Questions</vt:lpstr>
      <vt:lpstr>Exercise 1  |  Answers</vt:lpstr>
      <vt:lpstr>Factor Market Closures and Elasticities</vt:lpstr>
      <vt:lpstr>Exercise 2  |  Agricultural Productivity</vt:lpstr>
      <vt:lpstr>Exercise 2  |  Questions</vt:lpstr>
      <vt:lpstr>Exercise 2  |  Answers</vt:lpstr>
      <vt:lpstr>Exercise 2  |  Changing Factor Substitution Elasticities</vt:lpstr>
      <vt:lpstr>Exercise 2  |  Questions</vt:lpstr>
      <vt:lpstr>Exercise 2  |  Answers</vt:lpstr>
      <vt:lpstr>Exercise 3  |  Foreign Capital Outflows</vt:lpstr>
      <vt:lpstr>Exercise 3  |  Walkthrough</vt:lpstr>
      <vt:lpstr>Exercise 4  |  Cash Transfers</vt:lpstr>
      <vt:lpstr>Part 9  Advanced Static Modeling Complicated Scenarios</vt:lpstr>
      <vt:lpstr>Overview</vt:lpstr>
      <vt:lpstr>Exercise 5  |  Climate Shocks</vt:lpstr>
      <vt:lpstr>Exercise 6  |  Fuel Prices</vt:lpstr>
      <vt:lpstr>Exercise 7  |  Capital Outflows</vt:lpstr>
      <vt:lpstr>Part 10  Introduction to Dynamic Modeling Recursive dynamics </vt:lpstr>
      <vt:lpstr>Recursive Dynamics  |  Counterfactual Analysis</vt:lpstr>
      <vt:lpstr>Recursive Dynamics  | Annual Updates</vt:lpstr>
      <vt:lpstr>Recursive Dynamics  |  Endogenous Capital Accumulation</vt:lpstr>
      <vt:lpstr>Recursive Dynamics  |  Simulation Structure</vt:lpstr>
      <vt:lpstr>Recursive Dynamics  |  Capital Accumulation</vt:lpstr>
      <vt:lpstr>Recursive Dynamics  |  Capital Allocation</vt:lpstr>
      <vt:lpstr>Recursive Dynamics  |  Growth Effects</vt:lpstr>
      <vt:lpstr>Part 10  Introduction to Dynamic Modeling Dynamic model files  </vt:lpstr>
      <vt:lpstr>Files in the Folder (using GAMS Studio)</vt:lpstr>
      <vt:lpstr>Detailed File Structure</vt:lpstr>
      <vt:lpstr>Part 10  Introduction to Dynamic Modeling Establishing a baseline  </vt:lpstr>
      <vt:lpstr>Baseline  |  Setting Up the Baseline</vt:lpstr>
      <vt:lpstr>Baseline  |  Baseline Data Input File</vt:lpstr>
      <vt:lpstr>Baseline  |  Baseline Output File</vt:lpstr>
      <vt:lpstr>Baseline  |  Baseline Output File</vt:lpstr>
      <vt:lpstr>Exercise 1  |  Accelerating Baseline Growth</vt:lpstr>
      <vt:lpstr>Exercise 2  |  Uneven Baseline Growth</vt:lpstr>
      <vt:lpstr>Part 10  Introduction to Dynamic Modeling Designing simulations  </vt:lpstr>
      <vt:lpstr>Designing Simulations</vt:lpstr>
      <vt:lpstr>Simulations  |  Data Input File</vt:lpstr>
      <vt:lpstr>Exercise 3  |  Foreign Capital Outflow</vt:lpstr>
      <vt:lpstr>Part 11  Dynamic Model Exercises</vt:lpstr>
      <vt:lpstr>Exercise 4  |  Drought Shock</vt:lpstr>
      <vt:lpstr>Exercise 5  |  Tariffs on Exports</vt:lpstr>
      <vt:lpstr>Exercise 6  |  Tariff Liberalization</vt:lpstr>
      <vt:lpstr>Exercise 7  |  Climate Change</vt:lpstr>
      <vt:lpstr>Exercise 8  |  Global Market Crisis</vt:lpstr>
      <vt:lpstr>Exercise 9  |  US Import Restrictions</vt:lpstr>
      <vt:lpstr>Part 12  Microsimulation Module</vt:lpstr>
      <vt:lpstr>Microsimulation  |  Linking to Survey Households</vt:lpstr>
      <vt:lpstr>Microsimulation  |  Tracking Household Level Outcomes</vt:lpstr>
      <vt:lpstr>Module  |  Poverty and Diet Module</vt:lpstr>
      <vt:lpstr>Module  |  Outcome Metrics</vt:lpstr>
      <vt:lpstr>Module  |  Tracking Diet Costs and Quality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 Economywide Analysis and Policy Prioritization</dc:title>
  <dc:creator>James Thurlow</dc:creator>
  <cp:lastModifiedBy>Thurlow, James (IFPRI)</cp:lastModifiedBy>
  <cp:revision>119</cp:revision>
  <dcterms:created xsi:type="dcterms:W3CDTF">2021-06-25T01:31:33Z</dcterms:created>
  <dcterms:modified xsi:type="dcterms:W3CDTF">2026-01-13T12:35:07Z</dcterms:modified>
</cp:coreProperties>
</file>